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reframing RCA as a world-modeling problem rather than a label prediction problem. Transition by stating that the next slides unpack the three premises that make this view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today's black-box symptom-to-label flow with a world-model loop that hypothesizes and verifies propagation. Transition by asking what assumptions must be true for that loop to be feasible.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first premise: the intervention space is broad but still bounded enough to model. OpenRCA and FORGE demonstrate this with 25 fault types across 6 categories. Transition by noting that bounded atomic faults only help if we can replay them inside a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second premise: if we can inject faults under workload, we can watch failures propagate instead of merely reading symptoms after the fact. Transition by saying replay alone is insufficient unless we can score whether a reasoning path matches reality.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third premise explicit: a diagnosis should earn reward only when the causal path checks out against ground truth. Transition by saying that once world-model RCA is feasible, the real bottleneck becomes how RCA is defined and evaluated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survey's core insight: RCA should output a propagation graph, not just a root-cause node. This is the north star that exposes why current benchmarks are insufficient. Transition to the benchmark crisis: if we measure only point accuracy, we miss the real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dataset study's headline result: simple heuristics are surprisingly competitive with SOTA on public benchmarks. This exposes a fundamental problem: current benchmarks measure point accuracy, not graph-building ability. Transition by asking what structural defects make those benchmarks so forgiving.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Drill into the three structural defects behind the benchmark crisis: shallow labels, static workloads, and point-only metrics. Transition by previewing what a harder benchmark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first section with the benchmark pipeline and the core result numbers: 9,152 injections, 1,430 validated cases, 25 fault types, 0.21 average Top@1, and 0.37 best. Transition by saying the rest of the deck will explain the process-level supervision and benchmark design behind this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survey's Effectiveness-Data-Cost triangle as the governing trade-off behind practical RCA systems. The crucial point: we must measure graph-building quality, not just point accuracy, to make this trade-off worthwhile. Transition to the benchmark crisis: current benchmarks measure the wrong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to separate outcome correctness from process correctness with the 0.76 versus 0.63 comparison. The key insight: 13% of answers are 'lucky guesses' with invalid reasoning paths. Transition by asking how to turn an ill-posed backward RCA task into something verifiable enough to supervise.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information asymmetry at the heart of FORGE: the agent reasons backward, while annotation can verify forward from the known intervention. Transition by turning that verification mechanism into a concrete benchmark identity.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the benchmark identity in three facts: 500 instances, step-wise causal annotations, and process supervision. Transition by broadening from RCA diagnosis to the adjacent triage workflow where multi-agent coordination already shows practical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 TRIANGLE as independent validation of the same research belief: explicit reasoning structures beat black-box approaches. The key evidence is production deployment at scale—structured multi-agent triage works in practice. Transition: if structured reasoning works for triage and RCA evaluation, can we train agents to build reusable world models?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from OpenRCA 2.0's evaluation to the training challenge: we need automated training data generation. The solution is closed-loop training with fault injection simulation—leveraging the same verification mechanism as FORGE. Transition: after collecting many successful traces, what can we do with them?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two is distillation: compress many training traces into one reusable world model. The key challenge: preserve causal structure while generalizing across different incidents. Transition: once we have the world model, how do we maximize its value?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three is about leverage: the same world model enables multiple downstream tasks. This is the payoff of the three-stage roadmap: simulate, compress, then generalize. Transition to the closing takeaways.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three short takeaways rather than a dense recap, keeping the typography strong and the message memorable. End on the final line as the thesis statement for the whole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0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371600"/>
            <a:ext cx="6583680" cy="336803"/>
          </a:xfrm>
          <a:prstGeom prst="round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Research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72996"/>
            <a:ext cx="6583680" cy="1017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2800" b="1" i="0">
                <a:solidFill>
                  <a:srgbClr val="1F3A5F"/>
                </a:solidFill>
                <a:latin typeface="Liberation Sans"/>
              </a:defRPr>
            </a:pPr>
            <a:r>
              <a:t>Building World Models for</a:t>
            </a:r>
          </a:p>
          <a:p>
            <a:pPr algn="l">
              <a:lnSpc>
                <a:spcPct val="125000"/>
              </a:lnSpc>
              <a:defRPr sz="2800" b="1" i="0">
                <a:solidFill>
                  <a:srgbClr val="1F3A5F"/>
                </a:solidFill>
                <a:latin typeface="Liberation Sans"/>
              </a:defRPr>
            </a:pPr>
            <a:r>
              <a:t>Diagnostic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54604"/>
            <a:ext cx="6583680" cy="636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0" i="0">
                <a:solidFill>
                  <a:srgbClr val="546170"/>
                </a:solidFill>
                <a:latin typeface="Liberation Sans"/>
              </a:defRPr>
            </a:pPr>
            <a:r>
              <a:t>From outcome labels to causal process supervision in root cause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55212"/>
            <a:ext cx="6583680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C47A2C"/>
                </a:solidFill>
                <a:latin typeface="Liberation Sans"/>
              </a:defRPr>
            </a:pPr>
            <a:r>
              <a:t>Move RCA from point finding to graph building.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371600"/>
            <a:ext cx="3108960" cy="347472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00000"/>
              </a:lnSpc>
              <a:defRPr sz="900" b="1" i="0">
                <a:solidFill>
                  <a:srgbClr val="B34E48"/>
                </a:solidFill>
                <a:latin typeface="Liberation Sans"/>
              </a:defRPr>
            </a:pPr>
            <a: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55648"/>
            <a:ext cx="3108960" cy="41376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800" b="1" i="0">
                <a:solidFill>
                  <a:srgbClr val="18232F"/>
                </a:solidFill>
                <a:latin typeface="Liberation Sans"/>
              </a:defRPr>
            </a:pPr>
            <a:r>
              <a:t>Oversimplified RCA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388870"/>
            <a:ext cx="3108960" cy="347472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00000"/>
              </a:lnSpc>
              <a:defRPr sz="900" b="1" i="0">
                <a:solidFill>
                  <a:srgbClr val="4B627D"/>
                </a:solidFill>
                <a:latin typeface="Liberation Sans"/>
              </a:defRPr>
            </a:pPr>
            <a:r>
              <a:t>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772918"/>
            <a:ext cx="3108960" cy="41376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800" b="1" i="0">
                <a:solidFill>
                  <a:srgbClr val="18232F"/>
                </a:solidFill>
                <a:latin typeface="Liberation Sans"/>
              </a:defRPr>
            </a:pPr>
            <a:r>
              <a:t>Forward verification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406139"/>
            <a:ext cx="3108960" cy="347472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00000"/>
              </a:lnSpc>
              <a:defRPr sz="900" b="1" i="0">
                <a:solidFill>
                  <a:srgbClr val="2F6B57"/>
                </a:solidFill>
                <a:latin typeface="Liberation Sans"/>
              </a:defRPr>
            </a:pPr>
            <a:r>
              <a:t>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790187"/>
            <a:ext cx="3108960" cy="41376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800" b="1" i="0">
                <a:solidFill>
                  <a:srgbClr val="18232F"/>
                </a:solidFill>
                <a:latin typeface="Liberation Sans"/>
              </a:defRPr>
            </a:pPr>
            <a:r>
              <a:t>Trusted diagnosis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02988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0" i="1">
                <a:solidFill>
                  <a:srgbClr val="546170"/>
                </a:solidFill>
                <a:latin typeface="Liberation Sans"/>
              </a:defRPr>
            </a:pPr>
            <a:r>
              <a:t>Trusted diagnosis needs simulatable failures, verifiable reasoning, and explicit propagation structure.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32F"/>
                </a:solidFill>
                <a:latin typeface="Liberation Sans"/>
              </a:defRPr>
            </a:pPr>
            <a:r>
              <a:t>World-model RCA should verify causal loops, not predict labels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F8A96"/>
                </a:solidFill>
                <a:latin typeface="Liberation Sans"/>
              </a:defRPr>
            </a:pPr>
            <a:r>
              <a:t>Goal-driven RCA survey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663440" cy="41376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800" b="1" i="0">
                <a:solidFill>
                  <a:srgbClr val="1F3A5F"/>
                </a:solidFill>
                <a:latin typeface="Liberation Sans"/>
              </a:defRPr>
            </a:pPr>
            <a:r>
              <a:t>Prediction-oriented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95093"/>
            <a:ext cx="4663440" cy="41376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800" b="1" i="0">
                <a:solidFill>
                  <a:srgbClr val="B34E48"/>
                </a:solidFill>
                <a:latin typeface="Liberation Sans"/>
              </a:defRPr>
            </a:pPr>
            <a:r>
              <a:t>Black-box RCA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55163"/>
            <a:ext cx="732536" cy="749808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18232F"/>
                </a:solidFill>
                <a:latin typeface="Liberation Sans"/>
              </a:defRPr>
            </a:pPr>
            <a:r>
              <a:t>Data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64056" y="2830068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738376" y="2455163"/>
            <a:ext cx="1202436" cy="749808"/>
          </a:xfrm>
          <a:prstGeom prst="roundRect">
            <a:avLst/>
          </a:prstGeom>
          <a:solidFill>
            <a:srgbClr val="B34E48"/>
          </a:solidFill>
          <a:ln w="12700">
            <a:solidFill>
              <a:srgbClr val="B34E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LLM guess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40812" y="2830068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215132" y="2455163"/>
            <a:ext cx="808735" cy="749808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18232F"/>
                </a:solidFill>
                <a:latin typeface="Liberation Sans"/>
              </a:defRPr>
            </a:pPr>
            <a:r>
              <a:t>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51275"/>
            <a:ext cx="4663440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B34E48"/>
                </a:solidFill>
                <a:latin typeface="Liberation Sans"/>
              </a:defRPr>
            </a:pPr>
            <a:r>
              <a:t>What the benchmark rewards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06443"/>
            <a:ext cx="4663440" cy="509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Optimize for a correct answer even if the causal path is hidden or hallucinated.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7568" y="1371600"/>
            <a:ext cx="4663440" cy="41376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800" b="1" i="0">
                <a:solidFill>
                  <a:srgbClr val="4B627D"/>
                </a:solidFill>
                <a:latin typeface="Liberation Sans"/>
              </a:defRPr>
            </a:pPr>
            <a:r>
              <a:t>Verification-oriented framing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87568" y="1895093"/>
            <a:ext cx="4663440" cy="41376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800" b="1" i="0">
                <a:solidFill>
                  <a:srgbClr val="2F6B57"/>
                </a:solidFill>
                <a:latin typeface="Liberation Sans"/>
              </a:defRPr>
            </a:pPr>
            <a:r>
              <a:t>World-model RCA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87568" y="2455163"/>
            <a:ext cx="732536" cy="749808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18232F"/>
                </a:solidFill>
                <a:latin typeface="Liberation Sans"/>
              </a:defRPr>
            </a:pPr>
            <a:r>
              <a:t>Data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20104" y="2830068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694424" y="2455163"/>
            <a:ext cx="834136" cy="749808"/>
          </a:xfrm>
          <a:prstGeom prst="roundRect">
            <a:avLst/>
          </a:prstGeom>
          <a:solidFill>
            <a:srgbClr val="C47A2C"/>
          </a:solidFill>
          <a:ln w="12700">
            <a:solidFill>
              <a:srgbClr val="C47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Verify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528560" y="2830068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802880" y="2455163"/>
            <a:ext cx="846836" cy="749808"/>
          </a:xfrm>
          <a:prstGeom prst="roundRect">
            <a:avLst/>
          </a:prstGeom>
          <a:solidFill>
            <a:srgbClr val="2F6B57"/>
          </a:solidFill>
          <a:ln w="12700">
            <a:solidFill>
              <a:srgbClr val="2F6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87568" y="3351275"/>
            <a:ext cx="4663440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2F6B57"/>
                </a:solidFill>
                <a:latin typeface="Liberation Sans"/>
              </a:defRPr>
            </a:pPr>
            <a:r>
              <a:t>What we actually want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87568" y="3806443"/>
            <a:ext cx="4663440" cy="509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Build and verify a causal loop so the answer and the reasoning are both inspectable.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052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18232F"/>
                </a:solidFill>
                <a:latin typeface="Liberation Sans"/>
              </a:defRPr>
            </a:pPr>
            <a:r>
              <a:t>Black-box RCA predicts an answer; world-model RCA verifies a causal explanation.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32F"/>
                </a:solidFill>
                <a:latin typeface="Liberation Sans"/>
              </a:defRPr>
            </a:pPr>
            <a:r>
              <a:t>Fault injection makes RCA learnable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F8A9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4B627D"/>
                </a:solidFill>
                <a:latin typeface="Liberation Sans"/>
              </a:defRPr>
            </a:pPr>
            <a:r>
              <a:t>Fault detection precedes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6768"/>
            <a:ext cx="10728655" cy="509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Before RCA can begin, we need to know a fault exists. OpenRCA and FORGE show that a bounded set of atomic faults can be systematically injected and observed.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55240"/>
            <a:ext cx="1265936" cy="749808"/>
          </a:xfrm>
          <a:prstGeom prst="roundRect">
            <a:avLst/>
          </a:prstGeom>
          <a:solidFill>
            <a:srgbClr val="4B627D"/>
          </a:solidFill>
          <a:ln w="12700">
            <a:solidFill>
              <a:srgbClr val="4B6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Finite faults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7456" y="2930144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271776" y="2555240"/>
            <a:ext cx="1837436" cy="749808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18232F"/>
                </a:solidFill>
                <a:latin typeface="Liberation Sans"/>
              </a:defRPr>
            </a:pPr>
            <a:r>
              <a:t>Controlled injection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09212" y="2930144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383532" y="2555240"/>
            <a:ext cx="1761236" cy="749808"/>
          </a:xfrm>
          <a:prstGeom prst="roundRect">
            <a:avLst/>
          </a:prstGeom>
          <a:solidFill>
            <a:srgbClr val="C47A2C"/>
          </a:solidFill>
          <a:ln w="12700">
            <a:solidFill>
              <a:srgbClr val="C47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Observable effects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4504"/>
            <a:ext cx="3478682" cy="713232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600" b="0">
                <a:solidFill>
                  <a:srgbClr val="18232F"/>
                </a:solidFill>
                <a:latin typeface="Liberation Sans"/>
              </a:defRPr>
            </a:pPr>
            <a:r>
              <a:t>CPU stress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6506" y="3524504"/>
            <a:ext cx="3478682" cy="713232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600" b="0">
                <a:solidFill>
                  <a:srgbClr val="18232F"/>
                </a:solidFill>
                <a:latin typeface="Liberation Sans"/>
              </a:defRPr>
            </a:pPr>
            <a:r>
              <a:t>Memory leak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81492" y="3524504"/>
            <a:ext cx="3478682" cy="713232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600" b="0">
                <a:solidFill>
                  <a:srgbClr val="18232F"/>
                </a:solidFill>
                <a:latin typeface="Liberation Sans"/>
              </a:defRPr>
            </a:pPr>
            <a:r>
              <a:t>Packet loss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384040"/>
            <a:ext cx="3478682" cy="713232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600" b="0">
                <a:solidFill>
                  <a:srgbClr val="18232F"/>
                </a:solidFill>
                <a:latin typeface="Liberation Sans"/>
              </a:defRPr>
            </a:pPr>
            <a:r>
              <a:t>Delay spike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6506" y="4384040"/>
            <a:ext cx="3478682" cy="713232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600" b="0">
                <a:solidFill>
                  <a:srgbClr val="18232F"/>
                </a:solidFill>
                <a:latin typeface="Liberation Sans"/>
              </a:defRPr>
            </a:pPr>
            <a:r>
              <a:t>Config drift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81492" y="4384040"/>
            <a:ext cx="3478682" cy="713232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600" b="0">
                <a:solidFill>
                  <a:srgbClr val="18232F"/>
                </a:solidFill>
                <a:latin typeface="Liberation Sans"/>
              </a:defRPr>
            </a:pPr>
            <a:r>
              <a:t>Code regression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16727"/>
            <a:ext cx="10728655" cy="636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0" i="1">
                <a:solidFill>
                  <a:srgbClr val="546170"/>
                </a:solidFill>
                <a:latin typeface="Liberation Sans"/>
              </a:defRPr>
            </a:pPr>
            <a:r>
              <a:t>Large incidents are combinations of local faults. The key is bounded atomic faults that can be injected, replayed, and verified.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8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32F"/>
                </a:solidFill>
                <a:latin typeface="Liberation Sans"/>
              </a:defRPr>
            </a:pPr>
            <a:r>
              <a:t>Simulation turns RCA data into controlled experiments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F8A9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431036" cy="749808"/>
          </a:xfrm>
          <a:prstGeom prst="roundRect">
            <a:avLst/>
          </a:prstGeom>
          <a:solidFill>
            <a:srgbClr val="C47A2C"/>
          </a:solidFill>
          <a:ln w="12700">
            <a:solidFill>
              <a:srgbClr val="C47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Fault injection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62556" y="1746504"/>
            <a:ext cx="274319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36875" y="1371600"/>
            <a:ext cx="1761236" cy="749808"/>
          </a:xfrm>
          <a:prstGeom prst="roundRect">
            <a:avLst/>
          </a:prstGeom>
          <a:solidFill>
            <a:srgbClr val="4B627D"/>
          </a:solidFill>
          <a:ln w="12700">
            <a:solidFill>
              <a:srgbClr val="4B6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Dynamic workload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98112" y="1746504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72432" y="1371600"/>
            <a:ext cx="1380236" cy="749808"/>
          </a:xfrm>
          <a:prstGeom prst="round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Observability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52668" y="1746504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126988" y="1371600"/>
            <a:ext cx="1545336" cy="749808"/>
          </a:xfrm>
          <a:prstGeom prst="roundRect">
            <a:avLst/>
          </a:prstGeom>
          <a:solidFill>
            <a:srgbClr val="2F6B57"/>
          </a:solidFill>
          <a:ln w="12700">
            <a:solidFill>
              <a:srgbClr val="2F6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Validated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42032"/>
            <a:ext cx="3466490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4B627D"/>
                </a:solidFill>
                <a:latin typeface="Liberation Sans"/>
              </a:defRPr>
            </a:pPr>
            <a:r>
              <a:t>Replayable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97200"/>
            <a:ext cx="3466490" cy="509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Known interventions make the incident generation process reproducible.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2602" y="2542032"/>
            <a:ext cx="3466490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2F6B57"/>
                </a:solidFill>
                <a:latin typeface="Liberation Sans"/>
              </a:defRPr>
            </a:pPr>
            <a:r>
              <a:t>Operationally relevant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2602" y="2997200"/>
            <a:ext cx="3466490" cy="509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Keep only failures that produce observable user-facing impact.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3684" y="2542032"/>
            <a:ext cx="3466490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C47A2C"/>
                </a:solidFill>
                <a:latin typeface="Liberation Sans"/>
              </a:defRPr>
            </a:pPr>
            <a:r>
              <a:t>Causal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3684" y="2997200"/>
            <a:ext cx="3466490" cy="509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The intervention gives a concrete starting point for tracing propagation.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62248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0" i="1">
                <a:solidFill>
                  <a:srgbClr val="546170"/>
                </a:solidFill>
                <a:latin typeface="Liberation Sans"/>
              </a:defRPr>
            </a:pPr>
            <a:r>
              <a:t>Simulation turns RCA data collection from passive observation into controlled causal experimentation.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8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32F"/>
                </a:solidFill>
                <a:latin typeface="Liberation Sans"/>
              </a:defRPr>
            </a:pPr>
            <a:r>
              <a:t>Verified propagation makes reasoning scoreable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F8A9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227836" cy="749808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18232F"/>
                </a:solidFill>
                <a:latin typeface="Liberation Sans"/>
              </a:defRPr>
            </a:pPr>
            <a:r>
              <a:t>Hypothesis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59356" y="1746504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3676" y="1371600"/>
            <a:ext cx="834136" cy="749808"/>
          </a:xfrm>
          <a:prstGeom prst="roundRect">
            <a:avLst/>
          </a:prstGeom>
          <a:solidFill>
            <a:srgbClr val="4B627D"/>
          </a:solidFill>
          <a:ln w="12700">
            <a:solidFill>
              <a:srgbClr val="4B6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Verify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67812" y="1746504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342132" y="1371600"/>
            <a:ext cx="1304036" cy="749808"/>
          </a:xfrm>
          <a:prstGeom prst="roundRect">
            <a:avLst/>
          </a:prstGeom>
          <a:solidFill>
            <a:srgbClr val="C47A2C"/>
          </a:solidFill>
          <a:ln w="12700">
            <a:solidFill>
              <a:srgbClr val="C47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Reward / fail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646168" y="1746504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920488" y="1371600"/>
            <a:ext cx="923035" cy="749808"/>
          </a:xfrm>
          <a:prstGeom prst="roundRect">
            <a:avLst/>
          </a:prstGeom>
          <a:solidFill>
            <a:srgbClr val="2F6B57"/>
          </a:solidFill>
          <a:ln w="12700">
            <a:solidFill>
              <a:srgbClr val="2F6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Update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14015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2F6B57"/>
                </a:solidFill>
                <a:latin typeface="Liberation Sans"/>
              </a:defRPr>
            </a:pPr>
            <a:r>
              <a:t>Ground truth anchor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69184"/>
            <a:ext cx="10728655" cy="3185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Verified propagation tells us whether the reasoning path is faithful, not just whether the final answer is lucky.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58183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0" i="1">
                <a:solidFill>
                  <a:srgbClr val="546170"/>
                </a:solidFill>
                <a:latin typeface="Liberation Sans"/>
              </a:defRPr>
            </a:pPr>
            <a:r>
              <a:t>Ground truth closes the learning loop: hypotheses are checked against the incident path, then revised.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0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32F"/>
                </a:solidFill>
                <a:latin typeface="Liberation Sans"/>
              </a:defRPr>
            </a:pPr>
            <a:r>
              <a:t>RCA should produce graphs, not isolated answers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F8A96"/>
                </a:solidFill>
                <a:latin typeface="Liberation Sans"/>
              </a:defRPr>
            </a:pPr>
            <a:r>
              <a:t>Goal-driven RCA survey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029200" cy="336803"/>
          </a:xfrm>
          <a:prstGeom prst="roundRect">
            <a:avLst/>
          </a:prstGeom>
          <a:solidFill>
            <a:srgbClr val="B34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Point-finding paradigm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54708"/>
            <a:ext cx="1138936" cy="749808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18232F"/>
                </a:solidFill>
                <a:latin typeface="Liberation Sans"/>
              </a:defRPr>
            </a:pPr>
            <a:r>
              <a:t>Telemetry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70456" y="2229612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44776" y="1854708"/>
            <a:ext cx="1088136" cy="749808"/>
          </a:xfrm>
          <a:prstGeom prst="roundRect">
            <a:avLst/>
          </a:prstGeom>
          <a:solidFill>
            <a:srgbClr val="B34E48"/>
          </a:solidFill>
          <a:ln w="12700">
            <a:solidFill>
              <a:srgbClr val="B34E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Inference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32912" y="2229612"/>
            <a:ext cx="274319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507231" y="1854708"/>
            <a:ext cx="1227836" cy="749808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18232F"/>
                </a:solidFill>
                <a:latin typeface="Liberation Sans"/>
              </a:defRPr>
            </a:pPr>
            <a:r>
              <a:t>Root 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50820"/>
            <a:ext cx="5029200" cy="636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0" i="0">
                <a:solidFill>
                  <a:srgbClr val="18232F"/>
                </a:solidFill>
                <a:latin typeface="Liberation Sans"/>
              </a:defRPr>
            </a:pPr>
            <a:r>
              <a:t>Current methods optimize for identifying the faulty component, ignoring the propagation 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33140"/>
            <a:ext cx="5029200" cy="509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546170"/>
                </a:solidFill>
                <a:latin typeface="Liberation Sans"/>
              </a:defRPr>
            </a:pPr>
            <a:r>
              <a:t>This is insufficient: engineers need to understand why this component caused the symptoms.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371600"/>
            <a:ext cx="5029200" cy="336803"/>
          </a:xfrm>
          <a:prstGeom prst="roundRect">
            <a:avLst/>
          </a:prstGeom>
          <a:solidFill>
            <a:srgbClr val="2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Graph-building paradigm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854708"/>
            <a:ext cx="1138936" cy="749808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18232F"/>
                </a:solidFill>
                <a:latin typeface="Liberation Sans"/>
              </a:defRPr>
            </a:pPr>
            <a:r>
              <a:t>Telemetry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5416" y="2229612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539736" y="1854708"/>
            <a:ext cx="1088136" cy="749808"/>
          </a:xfrm>
          <a:prstGeom prst="roundRect">
            <a:avLst/>
          </a:prstGeom>
          <a:solidFill>
            <a:srgbClr val="C47A2C"/>
          </a:solidFill>
          <a:ln w="12700">
            <a:solidFill>
              <a:srgbClr val="C47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Inference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27872" y="2229612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902192" y="1854708"/>
            <a:ext cx="1367536" cy="749808"/>
          </a:xfrm>
          <a:prstGeom prst="roundRect">
            <a:avLst/>
          </a:prstGeom>
          <a:solidFill>
            <a:srgbClr val="2F6B57"/>
          </a:solidFill>
          <a:ln w="12700">
            <a:solidFill>
              <a:srgbClr val="2F6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Causal graph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750820"/>
            <a:ext cx="5029200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2F6B57"/>
                </a:solidFill>
                <a:latin typeface="Liberation Sans"/>
              </a:defRPr>
            </a:pPr>
            <a:r>
              <a:t>What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205988"/>
            <a:ext cx="5029200" cy="509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The output is not just a node, but the causal graph explaining how the fault propagated to symptoms.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98188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0" i="1">
                <a:solidFill>
                  <a:srgbClr val="546170"/>
                </a:solidFill>
                <a:latin typeface="Liberation Sans"/>
              </a:defRPr>
            </a:pPr>
            <a:r>
              <a:t>Ideal RCA builds an interpretable causal graph, not just a ranked root-cause label.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32F"/>
                </a:solidFill>
                <a:latin typeface="Liberation Sans"/>
              </a:defRPr>
            </a:pPr>
            <a:r>
              <a:t>Public RCA benchmarks reward shortcuts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F8A96"/>
                </a:solidFill>
                <a:latin typeface="Liberation Sans"/>
              </a:defRPr>
            </a:pPr>
            <a:r>
              <a:t>FSE RCA benchmark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663440" cy="41376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800" b="1" i="0">
                <a:solidFill>
                  <a:srgbClr val="1F3A5F"/>
                </a:solidFill>
                <a:latin typeface="Liberation Sans"/>
              </a:defRPr>
            </a:pPr>
            <a:r>
              <a:t>Simple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95093"/>
            <a:ext cx="4663440" cy="336803"/>
          </a:xfrm>
          <a:prstGeom prst="round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Simple baseline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78202"/>
            <a:ext cx="4663440" cy="10058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600" b="0">
                <a:solidFill>
                  <a:srgbClr val="18232F"/>
                </a:solidFill>
                <a:latin typeface="Liberation Sans"/>
              </a:defRPr>
            </a:pPr>
            <a:r>
              <a:t>Alerts + thresholds</a:t>
            </a:r>
            <a:br/>
            <a:r>
              <a:t>rule-based ranking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30345"/>
            <a:ext cx="4663440" cy="636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0" i="0">
                <a:solidFill>
                  <a:srgbClr val="18232F"/>
                </a:solidFill>
                <a:latin typeface="Liberation Sans"/>
              </a:defRPr>
            </a:pPr>
            <a:r>
              <a:t>Can match or beat sophisticated models on several public RCA benchmarks.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371600"/>
            <a:ext cx="4663440" cy="41376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800" b="1" i="0">
                <a:solidFill>
                  <a:srgbClr val="4B627D"/>
                </a:solidFill>
                <a:latin typeface="Liberation Sans"/>
              </a:defRPr>
            </a:pPr>
            <a:r>
              <a:t>Published SOTA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87568" y="1895093"/>
            <a:ext cx="4663440" cy="336803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Published SOTA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87568" y="2378202"/>
            <a:ext cx="4663440" cy="1170432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600" b="0">
                <a:solidFill>
                  <a:srgbClr val="18232F"/>
                </a:solidFill>
                <a:latin typeface="Liberation Sans"/>
              </a:defRPr>
            </a:pPr>
            <a:r>
              <a:t>Graph models</a:t>
            </a:r>
            <a:br/>
            <a:r>
              <a:t>multi-modal reasoning</a:t>
            </a:r>
            <a:br/>
            <a:r>
              <a:t>causal inference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87568" y="3694938"/>
            <a:ext cx="4663440" cy="636015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0" i="0">
                <a:solidFill>
                  <a:srgbClr val="18232F"/>
                </a:solidFill>
                <a:latin typeface="Liberation Sans"/>
              </a:defRPr>
            </a:pPr>
            <a:r>
              <a:t>Looks strong on paper, but the benchmark may be testing easy correlations instead of hard causality.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95546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18232F"/>
                </a:solidFill>
                <a:latin typeface="Liberation Sans"/>
              </a:defRPr>
            </a:pPr>
            <a:r>
              <a:t>If a simple baseline rivals SOTA, the benchmark is not measuring the hardest part of diagnosis.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32F"/>
                </a:solidFill>
                <a:latin typeface="Liberation Sans"/>
              </a:defRPr>
            </a:pPr>
            <a:r>
              <a:t>Existing benchmarks are shallow, static, and point-based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F8A96"/>
                </a:solidFill>
                <a:latin typeface="Liberation Sans"/>
              </a:defRPr>
            </a:pPr>
            <a:r>
              <a:t>FSE RCA benchmark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0" i="0">
                <a:solidFill>
                  <a:srgbClr val="18232F"/>
                </a:solidFill>
                <a:latin typeface="Liberation Sans"/>
              </a:defRPr>
            </a:pPr>
            <a:r>
              <a:t>Three structural defects make public benchmarks too forgiving: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73071"/>
            <a:ext cx="3454298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B34E48"/>
                </a:solidFill>
                <a:latin typeface="Liberation Sans"/>
              </a:defRPr>
            </a:pPr>
            <a:r>
              <a:t>Shallow ground truth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8240"/>
            <a:ext cx="3454298" cy="509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Labels only reach service level. No code-level or propagation-level annotation.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8698" y="1973071"/>
            <a:ext cx="3454298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B34E48"/>
                </a:solidFill>
                <a:latin typeface="Liberation Sans"/>
              </a:defRPr>
            </a:pPr>
            <a:r>
              <a:t>Static workloads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8698" y="2428240"/>
            <a:ext cx="3454298" cy="509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Fixed request patterns hide concurrency and load-dependent fault propagation.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5876" y="1973071"/>
            <a:ext cx="3454298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B34E48"/>
                </a:solidFill>
                <a:latin typeface="Liberation Sans"/>
              </a:defRPr>
            </a:pPr>
            <a:r>
              <a:t>Point-only metrics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5876" y="2428240"/>
            <a:ext cx="3454298" cy="509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Top@K accuracy rewards lucky guesses. No evaluation of causal paths.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6711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A8842C"/>
                </a:solidFill>
                <a:latin typeface="Liberation Sans"/>
              </a:defRPr>
            </a:pPr>
            <a:r>
              <a:t>Consequence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11879"/>
            <a:ext cx="10728655" cy="3185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Simple heuristics exploit these shortcuts. Reported SOTA progress is inflated by benchmark design, not real diagnostic capability.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149852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0" i="1">
                <a:solidFill>
                  <a:srgbClr val="546170"/>
                </a:solidFill>
                <a:latin typeface="Liberation Sans"/>
              </a:defRPr>
            </a:pPr>
            <a:r>
              <a:t>A harder benchmark must fix all three: deeper labels, dynamic workloads, and propagation-aware evaluation.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32F"/>
                </a:solidFill>
                <a:latin typeface="Liberation Sans"/>
              </a:defRPr>
            </a:pPr>
            <a:r>
              <a:t>A harder benchmark exposes real performance collapse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F8A96"/>
                </a:solidFill>
                <a:latin typeface="Liberation Sans"/>
              </a:defRPr>
            </a:pPr>
            <a:r>
              <a:t>FSE RCA benchmark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545336" cy="749808"/>
          </a:xfrm>
          <a:prstGeom prst="roundRect">
            <a:avLst/>
          </a:prstGeom>
          <a:solidFill>
            <a:srgbClr val="C47A2C"/>
          </a:solidFill>
          <a:ln w="12700">
            <a:solidFill>
              <a:srgbClr val="C47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9,152 injections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76856" y="1746504"/>
            <a:ext cx="274319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551175" y="1371600"/>
            <a:ext cx="1951736" cy="749808"/>
          </a:xfrm>
          <a:prstGeom prst="roundRect">
            <a:avLst/>
          </a:prstGeom>
          <a:solidFill>
            <a:srgbClr val="4B627D"/>
          </a:solidFill>
          <a:ln w="12700">
            <a:solidFill>
              <a:srgbClr val="4B6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1,430 validated cases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02912" y="1746504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777232" y="1371600"/>
            <a:ext cx="1392936" cy="749808"/>
          </a:xfrm>
          <a:prstGeom prst="roundRect">
            <a:avLst/>
          </a:prstGeom>
          <a:solidFill>
            <a:srgbClr val="2F6B57"/>
          </a:solidFill>
          <a:ln w="12700">
            <a:solidFill>
              <a:srgbClr val="2F6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25 fault 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24328"/>
            <a:ext cx="1417320" cy="347472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00000"/>
              </a:lnSpc>
              <a:defRPr sz="900" b="1" i="0">
                <a:solidFill>
                  <a:srgbClr val="B34E48"/>
                </a:solidFill>
                <a:latin typeface="Liberation Sans"/>
              </a:defRPr>
            </a:pPr>
            <a:r>
              <a:t>AVERAGE TOP@1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08376"/>
            <a:ext cx="1417320" cy="41376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800" b="1" i="0">
                <a:solidFill>
                  <a:srgbClr val="18232F"/>
                </a:solidFill>
                <a:latin typeface="Liberation Sans"/>
              </a:defRPr>
            </a:pPr>
            <a:r>
              <a:t>0.21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78024" y="2624328"/>
            <a:ext cx="1417320" cy="347472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00000"/>
              </a:lnSpc>
              <a:defRPr sz="900" b="1" i="0">
                <a:solidFill>
                  <a:srgbClr val="A8842C"/>
                </a:solidFill>
                <a:latin typeface="Liberation Sans"/>
              </a:defRPr>
            </a:pPr>
            <a:r>
              <a:t>BEST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3008376"/>
            <a:ext cx="1417320" cy="41376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800" b="1" i="0">
                <a:solidFill>
                  <a:srgbClr val="18232F"/>
                </a:solidFill>
                <a:latin typeface="Liberation Sans"/>
              </a:defRPr>
            </a:pPr>
            <a:r>
              <a:t>0.37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2624328"/>
            <a:ext cx="7223760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1F3A5F"/>
                </a:solidFill>
                <a:latin typeface="Liberation Sans"/>
              </a:defRPr>
            </a:pPr>
            <a:r>
              <a:t>What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3079496"/>
            <a:ext cx="7223760" cy="3185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A harder benchmark preserves propagation and exposes a real performance collapse.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14750"/>
            <a:ext cx="10728655" cy="636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0" i="1">
                <a:solidFill>
                  <a:srgbClr val="546170"/>
                </a:solidFill>
                <a:latin typeface="Liberation Sans"/>
              </a:defRPr>
            </a:pPr>
            <a:r>
              <a:t>Our solution is not only more data. It is validated, propagation-aware data that reveals how fragile current RCA systems still are.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8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32F"/>
                </a:solidFill>
                <a:latin typeface="Liberation Sans"/>
              </a:defRPr>
            </a:pPr>
            <a:r>
              <a:t>Better RCA is constrained by the effectiveness-data-cost trade-off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F8A96"/>
                </a:solidFill>
                <a:latin typeface="Liberation Sans"/>
              </a:defRPr>
            </a:pPr>
            <a:r>
              <a:t>Goal-driven RCA survey</a:t>
            </a:r>
          </a:p>
        </p:txBody>
      </p:sp>
      <p:sp>
        <p:nvSpPr>
          <p:cNvPr id="5" name="Oval 4"/>
          <p:cNvSpPr/>
          <p:nvPr/>
        </p:nvSpPr>
        <p:spPr>
          <a:xfrm>
            <a:off x="3657600" y="1371600"/>
            <a:ext cx="1691640" cy="169164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defRPr sz="1600" b="1">
                <a:solidFill>
                  <a:srgbClr val="FFFFFF"/>
                </a:solidFill>
                <a:latin typeface="Liberation Sans"/>
              </a:defRPr>
            </a:pPr>
            <a:r>
              <a:t>Effectiveness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3191256"/>
            <a:ext cx="1508760" cy="1508760"/>
          </a:xfrm>
          <a:prstGeom prst="ellipse">
            <a:avLst/>
          </a:prstGeom>
          <a:solidFill>
            <a:srgbClr val="4B6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defRPr sz="1600" b="1">
                <a:solidFill>
                  <a:srgbClr val="FFFFFF"/>
                </a:solidFill>
                <a:latin typeface="Liberation Sans"/>
              </a:defRPr>
            </a:pPr>
            <a:r>
              <a:t>Data</a:t>
            </a:r>
          </a:p>
        </p:txBody>
      </p:sp>
      <p:sp>
        <p:nvSpPr>
          <p:cNvPr id="7" name="Oval 6"/>
          <p:cNvSpPr/>
          <p:nvPr/>
        </p:nvSpPr>
        <p:spPr>
          <a:xfrm>
            <a:off x="3154680" y="3191256"/>
            <a:ext cx="1508760" cy="1508760"/>
          </a:xfrm>
          <a:prstGeom prst="ellipse">
            <a:avLst/>
          </a:prstGeom>
          <a:solidFill>
            <a:srgbClr val="A884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defRPr sz="1600" b="1">
                <a:solidFill>
                  <a:srgbClr val="FFFFFF"/>
                </a:solidFill>
                <a:latin typeface="Liberation Sans"/>
              </a:defRPr>
            </a:pPr>
            <a:r>
              <a:t>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28032"/>
            <a:ext cx="3581298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1F3A5F"/>
                </a:solidFill>
                <a:latin typeface="Liberation Sans"/>
              </a:defRPr>
            </a:pPr>
            <a:r>
              <a:t>Effectiveness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83200"/>
            <a:ext cx="3581298" cy="509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Better diagnosis quality and broader causal coverage.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5698" y="4828032"/>
            <a:ext cx="3593998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4B627D"/>
                </a:solidFill>
                <a:latin typeface="Liberation Sans"/>
              </a:defRPr>
            </a:pPr>
            <a: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5698" y="5283200"/>
            <a:ext cx="3593998" cy="509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More telemetry, more modalities, deeper observability.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2576" y="4828032"/>
            <a:ext cx="3187598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A8842C"/>
                </a:solidFill>
                <a:latin typeface="Liberation Sans"/>
              </a:defRPr>
            </a:pPr>
            <a:r>
              <a:t>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2576" y="5283200"/>
            <a:ext cx="3187598" cy="509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Ingestion, storage, and compute rise with scope.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20232"/>
            <a:ext cx="10728655" cy="28676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000" b="0" i="1">
                <a:solidFill>
                  <a:srgbClr val="546170"/>
                </a:solidFill>
                <a:latin typeface="Liberation Sans"/>
              </a:defRPr>
            </a:pPr>
            <a:r>
              <a:t>Better RCA needs richer data, and richer data raises cost. The key is measuring the right thing.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32F"/>
                </a:solidFill>
                <a:latin typeface="Liberation Sans"/>
              </a:defRPr>
            </a:pPr>
            <a:r>
              <a:t>Process supervision is the missing training signal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F8A9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389120" cy="336803"/>
          </a:xfrm>
          <a:prstGeom prst="roundRect">
            <a:avLst/>
          </a:prstGeom>
          <a:solidFill>
            <a:srgbClr val="4B6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Outcome correctness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18132"/>
            <a:ext cx="4389120" cy="6995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ctr">
              <a:lnSpc>
                <a:spcPct val="125000"/>
              </a:lnSpc>
              <a:defRPr sz="3600" b="1" i="0">
                <a:solidFill>
                  <a:srgbClr val="4B627D"/>
                </a:solidFill>
                <a:latin typeface="Liberation Sans"/>
              </a:defRPr>
            </a:pPr>
            <a:r>
              <a:t>0.76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27375"/>
            <a:ext cx="4389120" cy="3185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ctr">
              <a:lnSpc>
                <a:spcPct val="125000"/>
              </a:lnSpc>
              <a:defRPr sz="1200" b="0" i="0">
                <a:solidFill>
                  <a:srgbClr val="546170"/>
                </a:solidFill>
                <a:latin typeface="Liberation Sans"/>
              </a:defRPr>
            </a:pPr>
            <a:r>
              <a:t>Pass@1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55619"/>
            <a:ext cx="4389120" cy="3185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ctr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Right answer, but not necessarily right reasoning.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79" y="1371600"/>
            <a:ext cx="4389120" cy="336803"/>
          </a:xfrm>
          <a:prstGeom prst="roundRect">
            <a:avLst/>
          </a:prstGeom>
          <a:solidFill>
            <a:srgbClr val="A884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Process correctness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79" y="1818132"/>
            <a:ext cx="4389120" cy="6995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ctr">
              <a:lnSpc>
                <a:spcPct val="125000"/>
              </a:lnSpc>
              <a:defRPr sz="3600" b="1" i="0">
                <a:solidFill>
                  <a:srgbClr val="A8842C"/>
                </a:solidFill>
                <a:latin typeface="Liberation Sans"/>
              </a:defRPr>
            </a:pPr>
            <a:r>
              <a:t>0.63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79" y="2627375"/>
            <a:ext cx="4389120" cy="3185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ctr">
              <a:lnSpc>
                <a:spcPct val="125000"/>
              </a:lnSpc>
              <a:defRPr sz="1200" b="0" i="0">
                <a:solidFill>
                  <a:srgbClr val="546170"/>
                </a:solidFill>
                <a:latin typeface="Liberation Sans"/>
              </a:defRPr>
            </a:pPr>
            <a:r>
              <a:t>Path Reachability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79" y="3055619"/>
            <a:ext cx="4389120" cy="3185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ctr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Valid causal path from root cause to symptom.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66744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B34E48"/>
                </a:solidFill>
                <a:latin typeface="Liberation Sans"/>
              </a:defRPr>
            </a:pPr>
            <a:r>
              <a:t>The gap: 13% of correct answers have broken reasoning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121911"/>
            <a:ext cx="10728655" cy="3185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Outcome correctness flatters the agent. Process correctness tells us whether the diagnosis can be trusted.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6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32F"/>
                </a:solidFill>
                <a:latin typeface="Liberation Sans"/>
              </a:defRPr>
            </a:pPr>
            <a:r>
              <a:t>Forward verification makes process supervision tractable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F8A9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389120" cy="336803"/>
          </a:xfrm>
          <a:prstGeom prst="roundRect">
            <a:avLst/>
          </a:prstGeom>
          <a:solidFill>
            <a:srgbClr val="B34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Backward diagnosis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2996"/>
            <a:ext cx="1189736" cy="749808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18232F"/>
                </a:solidFill>
                <a:latin typeface="Liberation Sans"/>
              </a:defRPr>
            </a:pPr>
            <a:r>
              <a:t>Symptoms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1255" y="2247900"/>
            <a:ext cx="274321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95576" y="1872996"/>
            <a:ext cx="719836" cy="749808"/>
          </a:xfrm>
          <a:prstGeom prst="roundRect">
            <a:avLst/>
          </a:prstGeom>
          <a:solidFill>
            <a:srgbClr val="B34E48"/>
          </a:solidFill>
          <a:ln w="12700">
            <a:solidFill>
              <a:srgbClr val="B34E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??? 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15412" y="2247900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189732" y="1872996"/>
            <a:ext cx="1037335" cy="749808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18232F"/>
                </a:solidFill>
                <a:latin typeface="Liberation Sans"/>
              </a:defRPr>
            </a:pPr>
            <a:r>
              <a:t>Ill-posed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87396"/>
            <a:ext cx="4389120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B34E48"/>
                </a:solidFill>
                <a:latin typeface="Liberation Sans"/>
              </a:defRPr>
            </a:pPr>
            <a:r>
              <a:t>Why it is hard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42564"/>
            <a:ext cx="4389120" cy="509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The RCA agent must infer an unseen cause from partial telemetry, confounders, and noisy symptoms.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1371600"/>
            <a:ext cx="4389120" cy="336803"/>
          </a:xfrm>
          <a:prstGeom prst="roundRect">
            <a:avLst/>
          </a:prstGeom>
          <a:solidFill>
            <a:srgbClr val="2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Forward verification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872996"/>
            <a:ext cx="1291336" cy="749808"/>
          </a:xfrm>
          <a:prstGeom prst="roundRect">
            <a:avLst/>
          </a:prstGeom>
          <a:solidFill>
            <a:srgbClr val="C47A2C"/>
          </a:solidFill>
          <a:ln w="12700">
            <a:solidFill>
              <a:srgbClr val="C47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Known fault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69176" y="2247900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496" y="1872996"/>
            <a:ext cx="1151636" cy="749808"/>
          </a:xfrm>
          <a:prstGeom prst="roundRect">
            <a:avLst/>
          </a:prstGeom>
          <a:solidFill>
            <a:srgbClr val="4B627D"/>
          </a:solidFill>
          <a:ln w="12700">
            <a:solidFill>
              <a:srgbClr val="4B6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Propagate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95132" y="2247900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569452" y="1872996"/>
            <a:ext cx="961136" cy="749808"/>
          </a:xfrm>
          <a:prstGeom prst="roundRect">
            <a:avLst/>
          </a:prstGeom>
          <a:solidFill>
            <a:srgbClr val="2F6B57"/>
          </a:solidFill>
          <a:ln w="12700">
            <a:solidFill>
              <a:srgbClr val="2F6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Verified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787396"/>
            <a:ext cx="4389120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2F6B57"/>
                </a:solidFill>
                <a:latin typeface="Liberation Sans"/>
              </a:defRPr>
            </a:pPr>
            <a:r>
              <a:t>Why FORGE works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3242564"/>
            <a:ext cx="4389120" cy="509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Known intervention makes verification tractable: trace cause to effect.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007611"/>
            <a:ext cx="10728655" cy="636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0" i="1">
                <a:solidFill>
                  <a:srgbClr val="546170"/>
                </a:solidFill>
                <a:latin typeface="Liberation Sans"/>
              </a:defRPr>
            </a:pPr>
            <a:r>
              <a:t>FORGE exploits the asymmetry: backward diagnosis is ill-posed, but forward verification is tractable when the intervention is known.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32F"/>
                </a:solidFill>
                <a:latin typeface="Liberation Sans"/>
              </a:defRPr>
            </a:pPr>
            <a:r>
              <a:t>OpenRCA 2.0 aligns benchmark quality with training signal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F8A9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834640" cy="347472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00000"/>
              </a:lnSpc>
              <a:defRPr sz="900" b="1" i="0">
                <a:solidFill>
                  <a:srgbClr val="1F3A5F"/>
                </a:solidFill>
                <a:latin typeface="Liberation Sans"/>
              </a:defRPr>
            </a:pPr>
            <a:r>
              <a:t>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55648"/>
            <a:ext cx="2834640" cy="41376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800" b="1" i="0">
                <a:solidFill>
                  <a:srgbClr val="18232F"/>
                </a:solidFill>
                <a:latin typeface="Liberation Sans"/>
              </a:defRPr>
            </a:pPr>
            <a:r>
              <a:t>500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5615" y="1371600"/>
            <a:ext cx="3429000" cy="347472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00000"/>
              </a:lnSpc>
              <a:defRPr sz="900" b="1" i="0">
                <a:solidFill>
                  <a:srgbClr val="C47A2C"/>
                </a:solidFill>
                <a:latin typeface="Liberation Sans"/>
              </a:defRPr>
            </a:pPr>
            <a:r>
              <a:t>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5615" y="1755648"/>
            <a:ext cx="3429000" cy="41376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800" b="1" i="0">
                <a:solidFill>
                  <a:srgbClr val="18232F"/>
                </a:solidFill>
                <a:latin typeface="Liberation Sans"/>
              </a:defRPr>
            </a:pPr>
            <a:r>
              <a:t>Step-wise annotations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34071" y="1371600"/>
            <a:ext cx="3291840" cy="347472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00000"/>
              </a:lnSpc>
              <a:defRPr sz="900" b="1" i="0">
                <a:solidFill>
                  <a:srgbClr val="2F6B57"/>
                </a:solidFill>
                <a:latin typeface="Liberation Sans"/>
              </a:defRPr>
            </a:pPr>
            <a:r>
              <a:t>SUPERVISION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34071" y="1755648"/>
            <a:ext cx="3291840" cy="41376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800" b="1" i="0">
                <a:solidFill>
                  <a:srgbClr val="18232F"/>
                </a:solidFill>
                <a:latin typeface="Liberation Sans"/>
              </a:defRPr>
            </a:pPr>
            <a:r>
              <a:t>Process supervision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25446"/>
            <a:ext cx="1824736" cy="749808"/>
          </a:xfrm>
          <a:prstGeom prst="roundRect">
            <a:avLst/>
          </a:prstGeom>
          <a:solidFill>
            <a:srgbClr val="C47A2C"/>
          </a:solidFill>
          <a:ln w="12700">
            <a:solidFill>
              <a:srgbClr val="C47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Known intervention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56256" y="2800350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30576" y="2425446"/>
            <a:ext cx="1875536" cy="749808"/>
          </a:xfrm>
          <a:prstGeom prst="roundRect">
            <a:avLst/>
          </a:prstGeom>
          <a:solidFill>
            <a:srgbClr val="4B627D"/>
          </a:solidFill>
          <a:ln w="12700">
            <a:solidFill>
              <a:srgbClr val="4B6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Verified propagation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06112" y="2800350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980432" y="2425446"/>
            <a:ext cx="1316736" cy="749808"/>
          </a:xfrm>
          <a:prstGeom prst="roundRect">
            <a:avLst/>
          </a:prstGeom>
          <a:solidFill>
            <a:srgbClr val="2F6B57"/>
          </a:solidFill>
          <a:ln w="12700">
            <a:solidFill>
              <a:srgbClr val="2F6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Agent graph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97168" y="2800350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571488" y="2425446"/>
            <a:ext cx="1583436" cy="749808"/>
          </a:xfrm>
          <a:prstGeom prst="round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Process metrics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31286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1F3A5F"/>
                </a:solidFill>
                <a:latin typeface="Liberation Sans"/>
              </a:defRPr>
            </a:pPr>
            <a:r>
              <a:t>Benchmark identity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86454"/>
            <a:ext cx="10728655" cy="3185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OpenRCA 2.0 is not just a harder label dataset. It is a process benchmark with step-wise supervision that scores how the diagnosis is constructed.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61002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0" i="1">
                <a:solidFill>
                  <a:srgbClr val="546170"/>
                </a:solidFill>
                <a:latin typeface="Liberation Sans"/>
              </a:defRPr>
            </a:pPr>
            <a:r>
              <a:t>OpenRCA 2.0 gives us a benchmark where benchmark quality and training signal finally align.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4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32F"/>
                </a:solidFill>
                <a:latin typeface="Liberation Sans"/>
              </a:defRPr>
            </a:pPr>
            <a:r>
              <a:t>Structured reasoning already works in production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7F8A96"/>
                </a:solidFill>
                <a:latin typeface="Liberation Sans"/>
              </a:defRPr>
            </a:pPr>
            <a:r>
              <a:t>TRIANGLE paper / Incident triage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4B627D"/>
                </a:solidFill>
                <a:latin typeface="Liberation Sans"/>
              </a:defRPr>
            </a:pPr>
            <a:r>
              <a:t>From diagnosis to triage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6768"/>
            <a:ext cx="10728655" cy="509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RCA diagnosis is one step in the incident lifecycle. TRIANGLE tackles the upstream step—triage—and shows that structured multi-agent reasoning outperforms monolithic approaches in production.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55240"/>
            <a:ext cx="3454298" cy="914400"/>
          </a:xfrm>
          <a:prstGeom prst="roundRect">
            <a:avLst/>
          </a:prstGeom>
          <a:solidFill>
            <a:srgbClr val="4B627D"/>
          </a:solidFill>
          <a:ln w="12700">
            <a:solidFill>
              <a:srgbClr val="4B6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Analyzer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98" y="2555240"/>
            <a:ext cx="3454298" cy="914400"/>
          </a:xfrm>
          <a:prstGeom prst="roundRect">
            <a:avLst/>
          </a:prstGeom>
          <a:solidFill>
            <a:srgbClr val="C47A2C"/>
          </a:solidFill>
          <a:ln w="12700">
            <a:solidFill>
              <a:srgbClr val="C47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Decider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5876" y="2555240"/>
            <a:ext cx="3454298" cy="914400"/>
          </a:xfrm>
          <a:prstGeom prst="roundRect">
            <a:avLst/>
          </a:prstGeom>
          <a:solidFill>
            <a:srgbClr val="2F6B57"/>
          </a:solidFill>
          <a:ln w="12700">
            <a:solidFill>
              <a:srgbClr val="2F6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Team Manager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2520"/>
            <a:ext cx="3454298" cy="914400"/>
          </a:xfrm>
          <a:prstGeom prst="round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Team assignment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86376"/>
            <a:ext cx="777240" cy="347472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00000"/>
              </a:lnSpc>
              <a:defRPr sz="900" b="1" i="0">
                <a:solidFill>
                  <a:srgbClr val="2F6B57"/>
                </a:solidFill>
                <a:latin typeface="Liberation Sans"/>
              </a:defRPr>
            </a:pPr>
            <a:r>
              <a:t>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70424"/>
            <a:ext cx="777240" cy="41376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800" b="1" i="0">
                <a:solidFill>
                  <a:srgbClr val="18232F"/>
                </a:solidFill>
                <a:latin typeface="Liberation Sans"/>
              </a:defRPr>
            </a:pPr>
            <a:r>
              <a:t>97%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86376"/>
            <a:ext cx="688340" cy="347472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00000"/>
              </a:lnSpc>
              <a:defRPr sz="900" b="1" i="0">
                <a:solidFill>
                  <a:srgbClr val="C47A2C"/>
                </a:solidFill>
                <a:latin typeface="Liberation Sans"/>
              </a:defRPr>
            </a:pPr>
            <a:r>
              <a:t>TTE DROP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5170424"/>
            <a:ext cx="688340" cy="41376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800" b="1" i="0">
                <a:solidFill>
                  <a:srgbClr val="18232F"/>
                </a:solidFill>
                <a:latin typeface="Liberation Sans"/>
              </a:defRPr>
            </a:pPr>
            <a:r>
              <a:t>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4786376"/>
            <a:ext cx="6766560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1F3A5F"/>
                </a:solidFill>
                <a:latin typeface="Liberation Sans"/>
              </a:defRPr>
            </a:pPr>
            <a:r>
              <a:t>Production validated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5241544"/>
            <a:ext cx="6766560" cy="3185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Deployed at Microsoft for large-scale production triage.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4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32F"/>
                </a:solidFill>
                <a:latin typeface="Liberation Sans"/>
              </a:defRPr>
            </a:pPr>
            <a:r>
              <a:t>Closed-loop simulation can generate RCA training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4B627D"/>
                </a:solidFill>
                <a:latin typeface="Liberation Sans"/>
              </a:defRPr>
            </a:pPr>
            <a:r>
              <a:t>From evaluation to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6768"/>
            <a:ext cx="10728655" cy="3185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OpenRCA 2.0 gives us process supervision for evaluation. But where does the training data come from? Manual annotation is too expensive.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01316"/>
            <a:ext cx="1177036" cy="749808"/>
          </a:xfrm>
          <a:prstGeom prst="roundRect">
            <a:avLst/>
          </a:prstGeom>
          <a:solidFill>
            <a:srgbClr val="C47A2C"/>
          </a:solidFill>
          <a:ln w="12700">
            <a:solidFill>
              <a:srgbClr val="C47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Simulation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08556" y="2776220"/>
            <a:ext cx="274319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82875" y="2401316"/>
            <a:ext cx="1227836" cy="749808"/>
          </a:xfrm>
          <a:prstGeom prst="roundRect">
            <a:avLst/>
          </a:prstGeom>
          <a:solidFill>
            <a:srgbClr val="4B627D"/>
          </a:solidFill>
          <a:ln w="12700">
            <a:solidFill>
              <a:srgbClr val="4B6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Hypothesis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10711" y="2776220"/>
            <a:ext cx="274321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685032" y="2401316"/>
            <a:ext cx="834136" cy="749808"/>
          </a:xfrm>
          <a:prstGeom prst="roundRect">
            <a:avLst/>
          </a:prstGeom>
          <a:solidFill>
            <a:srgbClr val="2F6B57"/>
          </a:solidFill>
          <a:ln w="12700">
            <a:solidFill>
              <a:srgbClr val="2F6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Verify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19168" y="2776220"/>
            <a:ext cx="274320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793488" y="2401316"/>
            <a:ext cx="961136" cy="749808"/>
          </a:xfrm>
          <a:prstGeom prst="roundRect">
            <a:avLst/>
          </a:prstGeom>
          <a:solidFill>
            <a:srgbClr val="A8842C"/>
          </a:solidFill>
          <a:ln w="12700">
            <a:solidFill>
              <a:srgbClr val="A88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Reward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07156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1F3A5F"/>
                </a:solidFill>
                <a:latin typeface="Liberation Sans"/>
              </a:defRPr>
            </a:pPr>
            <a:r>
              <a:t>Stage 1: Train on closed loops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62324"/>
            <a:ext cx="10728655" cy="509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Use fault injection to generate unlimited training cases. The agent proposes hypotheses, verifies against ground truth, and learns from the full loop—not just answer labels.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32F"/>
                </a:solidFill>
                <a:latin typeface="Liberation Sans"/>
              </a:defRPr>
            </a:pPr>
            <a:r>
              <a:t>Many verified traces can be distilled into a reusable world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291336" cy="749808"/>
          </a:xfrm>
          <a:prstGeom prst="roundRect">
            <a:avLst/>
          </a:prstGeom>
          <a:solidFill>
            <a:srgbClr val="4B627D"/>
          </a:solidFill>
          <a:ln w="12700">
            <a:solidFill>
              <a:srgbClr val="4B6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Many traces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022856" y="1746504"/>
            <a:ext cx="274319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297175" y="1371600"/>
            <a:ext cx="821436" cy="749808"/>
          </a:xfrm>
          <a:prstGeom prst="roundRect">
            <a:avLst/>
          </a:prstGeom>
          <a:solidFill>
            <a:srgbClr val="C47A2C"/>
          </a:solidFill>
          <a:ln w="12700">
            <a:solidFill>
              <a:srgbClr val="C47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Distill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18612" y="1746504"/>
            <a:ext cx="274319" cy="0"/>
          </a:xfrm>
          <a:prstGeom prst="line">
            <a:avLst/>
          </a:prstGeom>
          <a:ln w="19050">
            <a:solidFill>
              <a:srgbClr val="7F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92931" y="1371600"/>
            <a:ext cx="1329436" cy="749808"/>
          </a:xfrm>
          <a:prstGeom prst="round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World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40864"/>
            <a:ext cx="3108960" cy="336803"/>
          </a:xfrm>
          <a:prstGeom prst="roundRect">
            <a:avLst/>
          </a:prstGeom>
          <a:solidFill>
            <a:srgbClr val="4B6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Training traces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05684"/>
            <a:ext cx="310896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600" b="0">
                <a:solidFill>
                  <a:srgbClr val="18232F"/>
                </a:solidFill>
                <a:latin typeface="Liberation Sans"/>
              </a:defRPr>
            </a:pPr>
            <a:r>
              <a:t>Trace A: CPU → Latency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82340"/>
            <a:ext cx="310896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600" b="0">
                <a:solidFill>
                  <a:srgbClr val="18232F"/>
                </a:solidFill>
                <a:latin typeface="Liberation Sans"/>
              </a:defRPr>
            </a:pPr>
            <a:r>
              <a:t>Trace B: Memory → OOM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58996"/>
            <a:ext cx="310896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600" b="0">
                <a:solidFill>
                  <a:srgbClr val="18232F"/>
                </a:solidFill>
                <a:latin typeface="Liberation Sans"/>
              </a:defRPr>
            </a:pPr>
            <a:r>
              <a:t>Trace C: Network → Timeout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340864"/>
            <a:ext cx="3840480" cy="336803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Stage 2: Reusable world model</a:t>
            </a:r>
          </a:p>
        </p:txBody>
      </p:sp>
      <p:sp>
        <p:nvSpPr>
          <p:cNvPr id="14" name="Oval 13"/>
          <p:cNvSpPr/>
          <p:nvPr/>
        </p:nvSpPr>
        <p:spPr>
          <a:xfrm>
            <a:off x="4343400" y="2823972"/>
            <a:ext cx="1965960" cy="196596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ctr">
              <a:defRPr sz="1600" b="1">
                <a:solidFill>
                  <a:srgbClr val="FFFFFF"/>
                </a:solidFill>
                <a:latin typeface="Liberation Sans"/>
              </a:defRPr>
            </a:pPr>
            <a:r>
              <a:t>world</a:t>
            </a:r>
            <a:br/>
            <a: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4936236"/>
            <a:ext cx="3840480" cy="1144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0" i="0">
                <a:solidFill>
                  <a:srgbClr val="18232F"/>
                </a:solidFill>
                <a:latin typeface="Liberation Sans"/>
              </a:defRPr>
            </a:pPr>
            <a:r>
              <a:t>Compress many traces into a compact causal representation. Preserve propagation structure, drop incident-specific noise.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8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32F"/>
                </a:solidFill>
                <a:latin typeface="Liberation Sans"/>
              </a:defRPr>
            </a:pPr>
            <a:r>
              <a:t>World models create leverage across the diagnostic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1" i="0">
                <a:solidFill>
                  <a:srgbClr val="1F3A5F"/>
                </a:solidFill>
                <a:latin typeface="Liberation Sans"/>
              </a:defRPr>
            </a:pPr>
            <a:r>
              <a:t>Stage 3: Maximize leverage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6768"/>
            <a:ext cx="10728655" cy="3185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200" b="0" i="0">
                <a:solidFill>
                  <a:srgbClr val="18232F"/>
                </a:solidFill>
                <a:latin typeface="Liberation Sans"/>
              </a:defRPr>
            </a:pPr>
            <a:r>
              <a:t>Build the world model once, then apply it across the entire incident management lifecycle.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01316"/>
            <a:ext cx="3454298" cy="1005840"/>
          </a:xfrm>
          <a:prstGeom prst="round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World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8698" y="2401316"/>
            <a:ext cx="3454298" cy="1005840"/>
          </a:xfrm>
          <a:prstGeom prst="roundRect">
            <a:avLst/>
          </a:prstGeom>
          <a:solidFill>
            <a:srgbClr val="4B627D"/>
          </a:solidFill>
          <a:ln w="12700">
            <a:solidFill>
              <a:srgbClr val="4B6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Root-cause localization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5876" y="2401316"/>
            <a:ext cx="3454298" cy="1005840"/>
          </a:xfrm>
          <a:prstGeom prst="roundRect">
            <a:avLst/>
          </a:prstGeom>
          <a:solidFill>
            <a:srgbClr val="C47A2C"/>
          </a:solidFill>
          <a:ln w="12700">
            <a:solidFill>
              <a:srgbClr val="C47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Fault prediction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590036"/>
            <a:ext cx="3454298" cy="1005840"/>
          </a:xfrm>
          <a:prstGeom prst="roundRect">
            <a:avLst/>
          </a:prstGeom>
          <a:solidFill>
            <a:srgbClr val="2F6B57"/>
          </a:solidFill>
          <a:ln w="12700">
            <a:solidFill>
              <a:srgbClr val="2F6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defRPr sz="1200" b="1">
                <a:solidFill>
                  <a:srgbClr val="FFFFFF"/>
                </a:solidFill>
                <a:latin typeface="Liberation Sans"/>
              </a:defRPr>
            </a:pPr>
            <a:r>
              <a:t>Repair suggestion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51908"/>
            <a:ext cx="10728655" cy="636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0" i="1">
                <a:solidFill>
                  <a:srgbClr val="546170"/>
                </a:solidFill>
                <a:latin typeface="Liberation Sans"/>
              </a:defRPr>
            </a:pPr>
            <a:r>
              <a:t>The world model's value is reuse: one causal representation supports diagnosis, prediction, and repair across different operational contexts.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4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8232F"/>
                </a:solidFill>
                <a:latin typeface="Liberation Sans"/>
              </a:defRPr>
            </a:pPr>
            <a:r>
              <a:t>The opportunity is to train around causal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6995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800" b="1" i="0">
                <a:solidFill>
                  <a:srgbClr val="1F3A5F"/>
                </a:solidFill>
                <a:latin typeface="Liberation Sans"/>
              </a:defRPr>
            </a:pPr>
            <a:r>
              <a:t>What matters is not only finding the right answer, but building a reasoning system we can trust and reuse.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72284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0" i="0">
                <a:solidFill>
                  <a:srgbClr val="18232F"/>
                </a:solidFill>
                <a:latin typeface="Liberation Sans"/>
              </a:defRPr>
            </a:pPr>
            <a:r>
              <a:t>Score the reasoning path, not only the final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64028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0" i="0">
                <a:solidFill>
                  <a:srgbClr val="18232F"/>
                </a:solidFill>
                <a:latin typeface="Liberation Sans"/>
              </a:defRPr>
            </a:pPr>
            <a:r>
              <a:t>Train on verification loops instead of answer labels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55772"/>
            <a:ext cx="10728655" cy="382016"/>
          </a:xfrm>
          <a:prstGeom prst="rect">
            <a:avLst/>
          </a:prstGeom>
          <a:noFill/>
        </p:spPr>
        <p:txBody>
          <a:bodyPr wrap="square" lIns="45720" rIns="45720" tIns="64008" bIns="64008">
            <a:spAutoFit/>
          </a:bodyPr>
          <a:lstStyle/>
          <a:p>
            <a:pPr algn="l">
              <a:lnSpc>
                <a:spcPct val="125000"/>
              </a:lnSpc>
              <a:defRPr sz="1600" b="0" i="0">
                <a:solidFill>
                  <a:srgbClr val="18232F"/>
                </a:solidFill>
                <a:latin typeface="Liberation Sans"/>
              </a:defRPr>
            </a:pPr>
            <a:r>
              <a:t>Distill reusable world models from many verified traces.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