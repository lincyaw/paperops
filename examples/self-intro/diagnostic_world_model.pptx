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4" r:id="rId4"/>
    <p:sldId id="276" r:id="rId5"/>
    <p:sldId id="277" r:id="rId6"/>
    <p:sldId id="281" r:id="rId7"/>
    <p:sldId id="278" r:id="rId8"/>
    <p:sldId id="279" r:id="rId9"/>
    <p:sldId id="280" r:id="rId10"/>
    <p:sldId id="282" r:id="rId11"/>
    <p:sldId id="258" r:id="rId12"/>
    <p:sldId id="259" r:id="rId13"/>
    <p:sldId id="260" r:id="rId14"/>
    <p:sldId id="283" r:id="rId15"/>
    <p:sldId id="261" r:id="rId16"/>
    <p:sldId id="262" r:id="rId17"/>
    <p:sldId id="275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84" r:id="rId26"/>
    <p:sldId id="270" r:id="rId27"/>
    <p:sldId id="271" r:id="rId28"/>
    <p:sldId id="272" r:id="rId29"/>
    <p:sldId id="273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6"/>
    <p:restoredTop sz="87406"/>
  </p:normalViewPr>
  <p:slideViewPr>
    <p:cSldViewPr snapToGrid="0" snapToObjects="1">
      <p:cViewPr varScale="1">
        <p:scale>
          <a:sx n="117" d="100"/>
          <a:sy n="117" d="100"/>
        </p:scale>
        <p:origin x="8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086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0D787-53B7-DB5A-AE4E-F79B281E7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6FCC7-CD33-60C3-FE46-A5F0526369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12951-73AB-CBEF-0BE2-0F287E0304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14FC9-3668-5BD6-DCE7-99688BBC98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94681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Peirce的经典豆子例子，三种推理对比</a:t>
            </a:r>
            <a:r>
              <a:rPr dirty="0"/>
              <a:t>：</a:t>
            </a:r>
          </a:p>
          <a:p>
            <a:r>
              <a:rPr dirty="0"/>
              <a:t>- </a:t>
            </a:r>
            <a:r>
              <a:rPr dirty="0" err="1"/>
              <a:t>演绎</a:t>
            </a:r>
            <a:r>
              <a:rPr dirty="0"/>
              <a:t>(D)：</a:t>
            </a:r>
            <a:r>
              <a:rPr dirty="0" err="1"/>
              <a:t>已知规则+案例→必然结论，真值保持</a:t>
            </a:r>
            <a:endParaRPr dirty="0"/>
          </a:p>
          <a:p>
            <a:r>
              <a:rPr dirty="0"/>
              <a:t>- </a:t>
            </a:r>
            <a:r>
              <a:rPr dirty="0" err="1"/>
              <a:t>归纳</a:t>
            </a:r>
            <a:r>
              <a:rPr dirty="0"/>
              <a:t>(I)：</a:t>
            </a:r>
            <a:r>
              <a:rPr dirty="0" err="1"/>
              <a:t>案例+结果→概括规则，概率性的</a:t>
            </a:r>
            <a:endParaRPr dirty="0"/>
          </a:p>
          <a:p>
            <a:r>
              <a:rPr dirty="0"/>
              <a:t>- </a:t>
            </a:r>
            <a:r>
              <a:rPr dirty="0" err="1"/>
              <a:t>溯因</a:t>
            </a:r>
            <a:r>
              <a:rPr dirty="0"/>
              <a:t>(A)：</a:t>
            </a:r>
            <a:r>
              <a:rPr dirty="0" err="1"/>
              <a:t>已知规则+观察结果→推测案例，创造新知识</a:t>
            </a:r>
            <a:r>
              <a:rPr dirty="0"/>
              <a:t>！</a:t>
            </a:r>
          </a:p>
          <a:p>
            <a:r>
              <a:rPr dirty="0" err="1"/>
              <a:t>强调：只有溯因能产生全新的解释性假说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溯因推理的三个子问题（Josephson 1994）：</a:t>
            </a:r>
          </a:p>
          <a:p>
            <a:r>
              <a:t>1. 生成假说：API延迟飙升10倍→DB连接池耗尽？网络问题？坏部署？</a:t>
            </a:r>
          </a:p>
          <a:p>
            <a:r>
              <a:t>2. 评估排序：用奥卡姆剃刀、一致性、解释力来筛选——坏部署最简洁且时间吻合</a:t>
            </a:r>
          </a:p>
          <a:p>
            <a:r>
              <a:t>3. 验证：预测回滚应恢复延迟→执行回滚→延迟回到基线✓</a:t>
            </a:r>
          </a:p>
          <a:p>
            <a:r>
              <a:t>这三步构成了完整的溯因推理过程。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第二部分：人类是怎么做溯因推理的？</a:t>
            </a:r>
          </a:p>
          <a:p>
            <a:r>
              <a:t>三个关键概念：双系统理论、心智模型、认知偏差。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双系统理论</a:t>
            </a:r>
            <a:r>
              <a:rPr dirty="0"/>
              <a:t>(Kahneman 2011)</a:t>
            </a:r>
            <a:r>
              <a:rPr dirty="0" err="1"/>
              <a:t>在溯因中的体现</a:t>
            </a:r>
            <a:r>
              <a:rPr dirty="0"/>
              <a:t>：</a:t>
            </a:r>
          </a:p>
          <a:p>
            <a:r>
              <a:rPr dirty="0"/>
              <a:t>- </a:t>
            </a:r>
            <a:r>
              <a:rPr dirty="0" err="1"/>
              <a:t>专家医生</a:t>
            </a:r>
            <a:r>
              <a:rPr dirty="0"/>
              <a:t>(System 1)：5秒内模式匹配→脑膜炎→立即下LP医嘱。正向推理。</a:t>
            </a:r>
          </a:p>
          <a:p>
            <a:r>
              <a:rPr dirty="0"/>
              <a:t>- </a:t>
            </a:r>
            <a:r>
              <a:rPr dirty="0" err="1"/>
              <a:t>医学生</a:t>
            </a:r>
            <a:r>
              <a:rPr dirty="0"/>
              <a:t>(System 2)：5分钟逐一排查流感？偏头痛？脑膜炎？逆向推理。</a:t>
            </a:r>
          </a:p>
          <a:p>
            <a:r>
              <a:rPr dirty="0"/>
              <a:t>- </a:t>
            </a:r>
            <a:r>
              <a:rPr dirty="0" err="1"/>
              <a:t>关键：专家的快速溯因来自大量经验积累的模式库</a:t>
            </a:r>
            <a:endParaRPr dirty="0"/>
          </a:p>
          <a:p>
            <a:r>
              <a:rPr dirty="0"/>
              <a:t>- </a:t>
            </a:r>
            <a:r>
              <a:rPr dirty="0" err="1"/>
              <a:t>总结：溯因</a:t>
            </a:r>
            <a:r>
              <a:rPr dirty="0"/>
              <a:t> = S1快速生成候选假说 + S2审慎评估验证</a:t>
            </a:r>
          </a:p>
          <a:p>
            <a:r>
              <a:rPr dirty="0" err="1"/>
              <a:t>参考：Patel</a:t>
            </a:r>
            <a:r>
              <a:rPr dirty="0"/>
              <a:t> &amp; Groen 1986的经典医学推理研究。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莱特兄弟的例子展示了心智模型</a:t>
            </a:r>
            <a:r>
              <a:rPr dirty="0"/>
              <a:t>(Mental Model)</a:t>
            </a:r>
            <a:r>
              <a:rPr dirty="0" err="1"/>
              <a:t>在溯因中的作用</a:t>
            </a:r>
            <a:r>
              <a:rPr dirty="0"/>
              <a:t>：</a:t>
            </a:r>
          </a:p>
          <a:p>
            <a:r>
              <a:rPr dirty="0"/>
              <a:t>- </a:t>
            </a:r>
            <a:r>
              <a:rPr dirty="0" err="1"/>
              <a:t>心智模型不是形式逻辑，而是现实的结构类比（iconic</a:t>
            </a:r>
            <a:r>
              <a:rPr dirty="0"/>
              <a:t> representation）</a:t>
            </a:r>
          </a:p>
          <a:p>
            <a:r>
              <a:rPr dirty="0"/>
              <a:t>- 认知过程：构建3D心智模型→模拟气流→测试结果→发现缺陷并修正</a:t>
            </a:r>
          </a:p>
          <a:p>
            <a:r>
              <a:rPr dirty="0"/>
              <a:t>- </a:t>
            </a:r>
            <a:r>
              <a:rPr dirty="0" err="1"/>
              <a:t>关键跨域类比：自行车转向→机翼弯曲控制横滚</a:t>
            </a:r>
            <a:endParaRPr dirty="0"/>
          </a:p>
          <a:p>
            <a:r>
              <a:rPr dirty="0"/>
              <a:t>- </a:t>
            </a:r>
            <a:r>
              <a:rPr dirty="0" err="1"/>
              <a:t>跨领域类比是人类溯因创造力的标志性特征</a:t>
            </a:r>
            <a:endParaRPr dirty="0"/>
          </a:p>
          <a:p>
            <a:r>
              <a:rPr dirty="0" err="1"/>
              <a:t>参考：Johnson-Laird</a:t>
            </a:r>
            <a:r>
              <a:rPr dirty="0"/>
              <a:t> 2005的心智模型理论。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人类溯因的三大认知陷阱</a:t>
            </a:r>
            <a:r>
              <a:rPr dirty="0"/>
              <a:t>：</a:t>
            </a:r>
          </a:p>
          <a:p>
            <a:r>
              <a:rPr dirty="0"/>
              <a:t>1. </a:t>
            </a:r>
            <a:r>
              <a:rPr dirty="0" err="1"/>
              <a:t>确认偏差：只找支持证据，忽略矛盾信息</a:t>
            </a:r>
            <a:endParaRPr dirty="0"/>
          </a:p>
          <a:p>
            <a:r>
              <a:rPr dirty="0"/>
              <a:t>2. </a:t>
            </a:r>
            <a:r>
              <a:rPr dirty="0" err="1"/>
              <a:t>锚定效应：第一个假说获得过多权重，调整不够</a:t>
            </a:r>
            <a:endParaRPr dirty="0"/>
          </a:p>
          <a:p>
            <a:r>
              <a:rPr dirty="0"/>
              <a:t>3. </a:t>
            </a:r>
            <a:r>
              <a:rPr dirty="0" err="1"/>
              <a:t>可得性启发：近期</a:t>
            </a:r>
            <a:r>
              <a:rPr dirty="0"/>
              <a:t>/</a:t>
            </a:r>
            <a:r>
              <a:rPr dirty="0" err="1"/>
              <a:t>生动事件被高估为解释</a:t>
            </a:r>
            <a:endParaRPr dirty="0"/>
          </a:p>
          <a:p>
            <a:endParaRPr dirty="0"/>
          </a:p>
          <a:p>
            <a:r>
              <a:rPr dirty="0" err="1"/>
              <a:t>过渡到AI：AI系统要做好溯因需要三样东西</a:t>
            </a:r>
            <a:r>
              <a:rPr dirty="0"/>
              <a:t>：</a:t>
            </a:r>
          </a:p>
          <a:p>
            <a:r>
              <a:rPr dirty="0"/>
              <a:t>- </a:t>
            </a:r>
            <a:r>
              <a:rPr dirty="0" err="1"/>
              <a:t>世界模型（因果推理，不只是相关性</a:t>
            </a:r>
            <a:r>
              <a:rPr dirty="0"/>
              <a:t>）</a:t>
            </a:r>
          </a:p>
          <a:p>
            <a:r>
              <a:rPr dirty="0"/>
              <a:t>- </a:t>
            </a:r>
            <a:r>
              <a:rPr dirty="0" err="1"/>
              <a:t>主动实验能力（提问、测试，不只是被动观察</a:t>
            </a:r>
            <a:r>
              <a:rPr dirty="0"/>
              <a:t>）</a:t>
            </a:r>
          </a:p>
          <a:p>
            <a:r>
              <a:rPr dirty="0"/>
              <a:t>- </a:t>
            </a:r>
            <a:r>
              <a:rPr dirty="0" err="1"/>
              <a:t>去偏差机制（避免和人类一样的陷阱</a:t>
            </a:r>
            <a:r>
              <a:rPr dirty="0"/>
              <a:t>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AC263-8325-2C3A-9A85-B53ECE35C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9D324-E3B7-1B47-5AD6-80C9B25B71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FF984-65CF-DDFB-8435-FA75D59E1C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第二部分：人类是怎么做溯因推理的？</a:t>
            </a:r>
          </a:p>
          <a:p>
            <a:r>
              <a:t>三个关键概念：双系统理论、心智模型、认知偏差。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EF8D99-6D2F-C892-AC00-83CE8262DB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79379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 the first premise: the intervention space is broad but still bounded enough to model. OpenRCA and FORGE demonstrate this with 25 fault types across 6 categories. Transition by noting that bounded atomic faults only help if we can replay them inside a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second premise: if we can inject faults under workload, we can watch failures propagate instead of merely reading symptoms after the fact. Transition by saying replay alone is insufficient unless we can score whether a reasoning path matches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the third premise explicit: a diagnosis should earn reward only when the causal path checks out against ground truth. Transition by saying that once world-model RCA is feasible, the real bottleneck becomes how RCA is defined and evaluated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168E2-6F97-5C5B-2971-2A5A8AEA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579FE-86ED-797A-CEA2-8CDBCAE3A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9A5500-2FD2-F00F-FBE8-7AF8EFD2E8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第二部分：人类是怎么做溯因推理的？</a:t>
            </a:r>
          </a:p>
          <a:p>
            <a:r>
              <a:t>三个关键概念：双系统理论、心智模型、认知偏差。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31F7B4-6D49-F281-D716-F644710C05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283598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the survey's core insight: RCA should output a propagation graph, not just a root-cause node. This is the north star that exposes why current benchmarks are insufficient. Transition to the benchmark crisis: if we measure only point accuracy, we miss the real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6D675-06B6-6668-DDFC-54A69E46B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BCAD51-C00C-FA23-0EF6-7728E416D4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F7608-C3B3-A86F-C791-D9753C0145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BFFFE-50DE-D0A5-D1F3-BC7DB72DB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93785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Drill into the three structural defects behind the benchmark crisis: shallow labels, static workloads, and point-only metrics. Transition by previewing what a harder benchmark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first section with the benchmark pipeline and the core result numbers: 9,152 injections, 1,430 validated cases, 25 fault types, 0.21 average Top@1, and 0.37 best. Transition by saying the rest of the deck will explain the process-level supervision and benchmark design behind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survey's Effectiveness-Data-Cost triangle as the governing trade-off behind practical RCA systems. The crucial point: we must measure graph-building quality, not just point accuracy, to make this trade-off worthwhile. Transition to the benchmark crisis: current benchmarks measure the wrong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to separate outcome correctness from process correctness with the 0.76 versus 0.63 comparison. The key insight: 13% of answers are 'lucky guesses' with invalid reasoning paths. Transition by asking how to turn an ill-posed backward RCA task into something verifiable enough to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information asymmetry at the heart of FORGE: the agent reasons backward, while annotation can verify forward from the known intervention. Transition by turning that verification mechanism into a concrete benchmark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Anchor the benchmark identity in three facts: 500 instances, step-wise causal annotations, and process supervision. Transition by broadening from RCA diagnosis to the adjacent triage workflow where multi-agent coordination already shows practical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Position TRIANGLE as independent validation of the same research belief: explicit reasoning structures beat black-box approaches. The key evidence is production deployment at scale—structured multi-agent triage works in practice. Transition: if structured reasoning works for triage and RCA evaluation, can we train agents to build reusable world models?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AFC6-337E-E60B-5A24-545D9407F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07D68-8439-ABBA-899B-C288039D81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8A782-142A-927D-901A-DEF6965BC3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第二部分：人类是怎么做溯因推理的？</a:t>
            </a:r>
          </a:p>
          <a:p>
            <a:r>
              <a:t>三个关键概念：双系统理论、心智模型、认知偏差。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FFE88-AC1C-4F52-362F-4A6129E18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325463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Bridge from OpenRCA 2.0's evaluation to the training challenge: we need automated training data generation. The solution is closed-loop training with fault injection simulation—leveraging the same verification mechanism as FORGE. Transition: after collecting many successful traces, what can we do with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two is distillation: compress many training traces into one reusable world model. The key challenge: preserve causal structure while generalizing across different incidents. Transition: once we have the world model, how do we maximize its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three is about leverage: the same world model enables multiple downstream tasks. This is the payoff of the three-stage roadmap: simulate, compress, then generalize. Transition to the closing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three short takeaways rather than a dense recap, keeping the typography strong and the message memorable. End on the final line as the thesis statement for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5207" y="1988058"/>
            <a:ext cx="6583680" cy="1052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Building World Models for</a:t>
            </a:r>
          </a:p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Diagnostic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207" y="3205226"/>
            <a:ext cx="6583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From outcome labels to causal process supervision in root cause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207" y="4092193"/>
            <a:ext cx="6583680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Move RCA from point finding to graph building.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57572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Trusted diagnosis needs simulatable failures, verifiable reasoning, and explicit propagation 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35ED802-CFAF-F1DC-F36E-9C315818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073" y="2432457"/>
            <a:ext cx="7772400" cy="4203939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14377DB7-731E-FC44-984D-2F81D3D15EE8}"/>
              </a:ext>
            </a:extLst>
          </p:cNvPr>
          <p:cNvSpPr txBox="1"/>
          <p:nvPr/>
        </p:nvSpPr>
        <p:spPr>
          <a:xfrm>
            <a:off x="9073197" y="6451730"/>
            <a:ext cx="3118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CN" dirty="0"/>
              <a:t>https://</a:t>
            </a:r>
            <a:r>
              <a:rPr kumimoji="1" lang="en" altLang="zh-CN" dirty="0" err="1"/>
              <a:t>profile.aoyangfang.top</a:t>
            </a:r>
            <a:r>
              <a:rPr kumimoji="1" lang="en" altLang="zh-CN" dirty="0"/>
              <a:t>/</a:t>
            </a:r>
            <a:endParaRPr kumimoji="1" lang="zh-CN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94ACE5C-705A-6F66-61DF-6AD7E81E3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55" y="457200"/>
            <a:ext cx="1828799" cy="1828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86A50A55-2FB8-1AB1-FC3E-87E93F0E7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8036" y="625606"/>
            <a:ext cx="6539345" cy="1491986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2E36C5DE-72C0-EC5E-E660-89DD6A3700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382" y="4165023"/>
            <a:ext cx="3987800" cy="2019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3A65B-F658-3A08-0385-6103DBE6C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EBAD50-14D2-BBCF-EB59-E9B3176A1F1A}"/>
              </a:ext>
            </a:extLst>
          </p:cNvPr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Vision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C58E2D-A4C4-A2F4-0226-3AF188D05D20}"/>
              </a:ext>
            </a:extLst>
          </p:cNvPr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C8F6CD-9AD7-BDCF-FAE3-397105705323}"/>
              </a:ext>
            </a:extLst>
          </p:cNvPr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6A8A4E8-F54B-2CC9-43F9-A0CFAEA6AE59}"/>
              </a:ext>
            </a:extLst>
          </p:cNvPr>
          <p:cNvSpPr/>
          <p:nvPr/>
        </p:nvSpPr>
        <p:spPr>
          <a:xfrm>
            <a:off x="2573502" y="1371600"/>
            <a:ext cx="2289810" cy="377443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Black-box RCA</a:t>
            </a:r>
          </a:p>
        </p:txBody>
      </p:sp>
      <p:pic>
        <p:nvPicPr>
          <p:cNvPr id="6" name="Picture 5" descr="tmpyzc0_ght.png">
            <a:extLst>
              <a:ext uri="{FF2B5EF4-FFF2-40B4-BE49-F238E27FC236}">
                <a16:creationId xmlns:a16="http://schemas.microsoft.com/office/drawing/2014/main" id="{BB09696F-3822-C8E5-969E-D3D773824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787" y="1886204"/>
            <a:ext cx="320039" cy="320039"/>
          </a:xfrm>
          <a:prstGeom prst="rect">
            <a:avLst/>
          </a:prstGeom>
        </p:spPr>
      </p:pic>
      <p:pic>
        <p:nvPicPr>
          <p:cNvPr id="7" name="Picture 6" descr="tmpc5jber0k.png">
            <a:extLst>
              <a:ext uri="{FF2B5EF4-FFF2-40B4-BE49-F238E27FC236}">
                <a16:creationId xmlns:a16="http://schemas.microsoft.com/office/drawing/2014/main" id="{1DEB9D5F-10DD-94A4-CEBC-3D259F022F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987" y="1886204"/>
            <a:ext cx="320039" cy="32003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AC22903-4CAB-CA29-2BF7-E6C02021682A}"/>
              </a:ext>
            </a:extLst>
          </p:cNvPr>
          <p:cNvSpPr/>
          <p:nvPr/>
        </p:nvSpPr>
        <p:spPr>
          <a:xfrm>
            <a:off x="1552422" y="2343404"/>
            <a:ext cx="9563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2581C4BC-2B34-8126-F28C-41BD5EA14B9A}"/>
              </a:ext>
            </a:extLst>
          </p:cNvPr>
          <p:cNvCxnSpPr/>
          <p:nvPr/>
        </p:nvCxnSpPr>
        <p:spPr>
          <a:xfrm>
            <a:off x="2508732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35ED734-1E04-32CE-6529-D038976B3256}"/>
              </a:ext>
            </a:extLst>
          </p:cNvPr>
          <p:cNvSpPr/>
          <p:nvPr/>
        </p:nvSpPr>
        <p:spPr>
          <a:xfrm>
            <a:off x="2783052" y="2343404"/>
            <a:ext cx="1756410" cy="749807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LLM guess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0CA0D6E8-CE60-D08C-B005-3F92ED9627EA}"/>
              </a:ext>
            </a:extLst>
          </p:cNvPr>
          <p:cNvCxnSpPr/>
          <p:nvPr/>
        </p:nvCxnSpPr>
        <p:spPr>
          <a:xfrm>
            <a:off x="4539462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1144F71-1660-A067-F964-1314A14408DD}"/>
              </a:ext>
            </a:extLst>
          </p:cNvPr>
          <p:cNvSpPr/>
          <p:nvPr/>
        </p:nvSpPr>
        <p:spPr>
          <a:xfrm>
            <a:off x="4813782" y="2343404"/>
            <a:ext cx="10706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Label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735ADC-350D-1CE1-8B26-7A4F17A4B851}"/>
              </a:ext>
            </a:extLst>
          </p:cNvPr>
          <p:cNvSpPr/>
          <p:nvPr/>
        </p:nvSpPr>
        <p:spPr>
          <a:xfrm>
            <a:off x="1523847" y="3230372"/>
            <a:ext cx="27432" cy="110693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FDFEB1-D0CE-59B0-414B-E6FA802FE986}"/>
              </a:ext>
            </a:extLst>
          </p:cNvPr>
          <p:cNvSpPr txBox="1"/>
          <p:nvPr/>
        </p:nvSpPr>
        <p:spPr>
          <a:xfrm>
            <a:off x="1688439" y="3230372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Current pattern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598F56-1181-3742-4462-956F27F16F03}"/>
              </a:ext>
            </a:extLst>
          </p:cNvPr>
          <p:cNvSpPr txBox="1"/>
          <p:nvPr/>
        </p:nvSpPr>
        <p:spPr>
          <a:xfrm>
            <a:off x="1688439" y="3747008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Optimize for a correct answer, even if the causal path is hidden or hallucinated.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031434A-E4DC-3F91-16FA-CDD6CFFEBF0D}"/>
              </a:ext>
            </a:extLst>
          </p:cNvPr>
          <p:cNvSpPr/>
          <p:nvPr/>
        </p:nvSpPr>
        <p:spPr>
          <a:xfrm>
            <a:off x="7147407" y="1371600"/>
            <a:ext cx="2651760" cy="377443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rPr lang="en-US" dirty="0"/>
              <a:t>Interpretable </a:t>
            </a:r>
            <a:r>
              <a:rPr dirty="0"/>
              <a:t>RCA</a:t>
            </a:r>
          </a:p>
        </p:txBody>
      </p:sp>
      <p:pic>
        <p:nvPicPr>
          <p:cNvPr id="17" name="Picture 16" descr="tmpyzc0_ght.png">
            <a:extLst>
              <a:ext uri="{FF2B5EF4-FFF2-40B4-BE49-F238E27FC236}">
                <a16:creationId xmlns:a16="http://schemas.microsoft.com/office/drawing/2014/main" id="{0162B875-629F-5007-95A3-0696570C0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667" y="1886204"/>
            <a:ext cx="320039" cy="320039"/>
          </a:xfrm>
          <a:prstGeom prst="rect">
            <a:avLst/>
          </a:prstGeom>
        </p:spPr>
      </p:pic>
      <p:pic>
        <p:nvPicPr>
          <p:cNvPr id="18" name="Picture 17" descr="tmpacp1lago.png">
            <a:extLst>
              <a:ext uri="{FF2B5EF4-FFF2-40B4-BE49-F238E27FC236}">
                <a16:creationId xmlns:a16="http://schemas.microsoft.com/office/drawing/2014/main" id="{CB0615DF-BCBF-C121-5379-869240832D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867" y="1886204"/>
            <a:ext cx="320039" cy="320039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5277F40-9FAE-DE4C-4781-0D62254857FD}"/>
              </a:ext>
            </a:extLst>
          </p:cNvPr>
          <p:cNvSpPr/>
          <p:nvPr/>
        </p:nvSpPr>
        <p:spPr>
          <a:xfrm>
            <a:off x="6602577" y="2343404"/>
            <a:ext cx="9563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B423EB9E-F5B9-4683-18EF-C28517FBE98B}"/>
              </a:ext>
            </a:extLst>
          </p:cNvPr>
          <p:cNvCxnSpPr/>
          <p:nvPr/>
        </p:nvCxnSpPr>
        <p:spPr>
          <a:xfrm>
            <a:off x="7558887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139E3AA-93AE-0B98-993A-C7C76AE8A5E3}"/>
              </a:ext>
            </a:extLst>
          </p:cNvPr>
          <p:cNvSpPr/>
          <p:nvPr/>
        </p:nvSpPr>
        <p:spPr>
          <a:xfrm>
            <a:off x="7833207" y="2343404"/>
            <a:ext cx="1089660" cy="749807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8499387A-92D7-1254-9866-B9317DB1A4AC}"/>
              </a:ext>
            </a:extLst>
          </p:cNvPr>
          <p:cNvCxnSpPr/>
          <p:nvPr/>
        </p:nvCxnSpPr>
        <p:spPr>
          <a:xfrm>
            <a:off x="8922867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E0F74DA-6651-C078-0C89-8751E43593A6}"/>
              </a:ext>
            </a:extLst>
          </p:cNvPr>
          <p:cNvSpPr/>
          <p:nvPr/>
        </p:nvSpPr>
        <p:spPr>
          <a:xfrm>
            <a:off x="9197187" y="2343404"/>
            <a:ext cx="1146810" cy="749807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Graph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556C6C-72A0-1ADA-1096-73298EFD7F68}"/>
              </a:ext>
            </a:extLst>
          </p:cNvPr>
          <p:cNvSpPr/>
          <p:nvPr/>
        </p:nvSpPr>
        <p:spPr>
          <a:xfrm>
            <a:off x="6278727" y="3230372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D2EE96-3478-71C5-12A3-483370EAB1D9}"/>
              </a:ext>
            </a:extLst>
          </p:cNvPr>
          <p:cNvSpPr txBox="1"/>
          <p:nvPr/>
        </p:nvSpPr>
        <p:spPr>
          <a:xfrm>
            <a:off x="6443319" y="3230372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Target behavior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E2142BC-4F79-2DC7-D477-1FA2ADB08DFB}"/>
              </a:ext>
            </a:extLst>
          </p:cNvPr>
          <p:cNvSpPr txBox="1"/>
          <p:nvPr/>
        </p:nvSpPr>
        <p:spPr>
          <a:xfrm>
            <a:off x="6443319" y="3747008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Build and check a causal loop so the answer and the reasoning are both inspectable.</a:t>
            </a:r>
          </a:p>
        </p:txBody>
      </p:sp>
    </p:spTree>
    <p:extLst>
      <p:ext uri="{BB962C8B-B14F-4D97-AF65-F5344CB8AC3E}">
        <p14:creationId xmlns:p14="http://schemas.microsoft.com/office/powerpoint/2010/main" val="2239999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Calibri"/>
              </a:defRPr>
            </a:pPr>
            <a:r>
              <a:t>Three Ways to Reason: Peirce's Bean Bag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Peirce, 1903</a:t>
            </a:r>
          </a:p>
        </p:txBody>
      </p:sp>
      <p:sp>
        <p:nvSpPr>
          <p:cNvPr id="5" name="Oval 4"/>
          <p:cNvSpPr/>
          <p:nvPr/>
        </p:nvSpPr>
        <p:spPr>
          <a:xfrm>
            <a:off x="1224229" y="1371600"/>
            <a:ext cx="2286000" cy="2286000"/>
          </a:xfrm>
          <a:prstGeom prst="ellipse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3B6B9D"/>
                </a:solidFill>
                <a:latin typeface="Calibri"/>
              </a:defRPr>
            </a:pPr>
            <a:r>
              <a:t>Deduction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34840"/>
            <a:ext cx="3271418" cy="12801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All beans in this bag are white.</a:t>
            </a:r>
            <a:br/>
            <a:r>
              <a:t>These beans are from this bag.</a:t>
            </a:r>
            <a:br/>
            <a:r>
              <a:t>=&gt; These beans are white.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327141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B"/>
                </a:solidFill>
                <a:latin typeface="Calibri"/>
              </a:defRPr>
            </a:pPr>
            <a:r>
              <a:t>Rule + Case =&gt; Result</a:t>
            </a:r>
            <a:br/>
            <a:r>
              <a:t>Truth-preserving</a:t>
            </a:r>
          </a:p>
        </p:txBody>
      </p:sp>
      <p:sp>
        <p:nvSpPr>
          <p:cNvPr id="9" name="Oval 8"/>
          <p:cNvSpPr/>
          <p:nvPr/>
        </p:nvSpPr>
        <p:spPr>
          <a:xfrm>
            <a:off x="4952847" y="1371600"/>
            <a:ext cx="2286000" cy="2286000"/>
          </a:xfrm>
          <a:prstGeom prst="ellipse">
            <a:avLst/>
          </a:prstGeom>
          <a:solidFill>
            <a:srgbClr val="4A8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3840480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4A8B7F"/>
                </a:solidFill>
                <a:latin typeface="Calibri"/>
              </a:defRPr>
            </a:pPr>
            <a:r>
              <a:t>Induction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0138" y="4434840"/>
            <a:ext cx="3271418" cy="12801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4A8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These beans are from this bag.</a:t>
            </a:r>
            <a:br/>
            <a:r>
              <a:t>These beans are white.</a:t>
            </a:r>
            <a:br/>
            <a:r>
              <a:t>=&gt; All beans in this bag are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138" y="5897880"/>
            <a:ext cx="327141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B"/>
                </a:solidFill>
                <a:latin typeface="Calibri"/>
              </a:defRPr>
            </a:pPr>
            <a:r>
              <a:t>Case + Result =&gt; Rule</a:t>
            </a:r>
            <a:br/>
            <a:r>
              <a:t>Probabilistic</a:t>
            </a:r>
          </a:p>
        </p:txBody>
      </p:sp>
      <p:sp>
        <p:nvSpPr>
          <p:cNvPr id="13" name="Oval 12"/>
          <p:cNvSpPr/>
          <p:nvPr/>
        </p:nvSpPr>
        <p:spPr>
          <a:xfrm>
            <a:off x="8681465" y="1371600"/>
            <a:ext cx="2286000" cy="2286000"/>
          </a:xfrm>
          <a:prstGeom prst="ellipse">
            <a:avLst/>
          </a:prstGeom>
          <a:solidFill>
            <a:srgbClr val="4A7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8756" y="3840480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4A7C5F"/>
                </a:solidFill>
                <a:latin typeface="Calibri"/>
              </a:defRPr>
            </a:pPr>
            <a:r>
              <a:t>Abduction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8756" y="4434840"/>
            <a:ext cx="3271418" cy="12801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4A7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All beans in this bag are white.</a:t>
            </a:r>
            <a:br/>
            <a:r>
              <a:t>These beans are white.</a:t>
            </a:r>
            <a:br/>
            <a:r>
              <a:t>=&gt; These beans are from this bag.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8756" y="5897880"/>
            <a:ext cx="327141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4A7C5F"/>
                </a:solidFill>
                <a:latin typeface="Calibri"/>
              </a:defRPr>
            </a:pPr>
            <a:r>
              <a:t>Rule + Result =&gt; Case</a:t>
            </a:r>
            <a:br/>
            <a:r>
              <a:t>Creates new knowledge!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9" dur="indefinite" nodeType="mainSeq">
                <p:childTnLst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Calibri"/>
              </a:defRPr>
            </a:pPr>
            <a:r>
              <a:t>The Abductive Process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Josephson &amp; Josephson, 1994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61339" cy="50292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  Generate Hypotheses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1E293B"/>
                </a:solidFill>
                <a:latin typeface="Calibri"/>
              </a:defRPr>
            </a:pPr>
            <a:r>
              <a:t>API latency spiked 10x</a:t>
            </a:r>
            <a:br/>
            <a:r>
              <a:t>=&gt; DB pool exhausted?  Network issue?  Bad deploy?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3461339" cy="50292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  Evaluate &amp; Rank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1E293B"/>
                </a:solidFill>
                <a:latin typeface="Calibri"/>
              </a:defRPr>
            </a:pPr>
            <a:r>
              <a:t>Occam's Razor: Bad deploy is simplest (one change explains all)</a:t>
            </a:r>
            <a:br/>
            <a:r>
              <a:t>Consistency: Network monitor shows no anomalies</a:t>
            </a:r>
            <a:br/>
            <a:r>
              <a:t>Explanatory power: Deploy time matches latency onset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3461339" cy="502920"/>
          </a:xfrm>
          <a:prstGeom prst="roundRect">
            <a:avLst/>
          </a:prstGeom>
          <a:solidFill>
            <a:srgbClr val="4A7C5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  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1E293B"/>
                </a:solidFill>
                <a:latin typeface="Calibri"/>
              </a:defRPr>
            </a:pPr>
            <a:r>
              <a:t>Prediction: rollback should restore normal latency</a:t>
            </a:r>
            <a:br/>
            <a:r>
              <a:t>Test: rollback executed =&gt; latency drops to baseline  ✓</a:t>
            </a:r>
            <a:br/>
            <a:r>
              <a:t>Abduction succeeds — root cause identified</a:t>
            </a: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075D17E6-19F5-1B4D-B860-D6F9A258CAAD}"/>
              </a:ext>
            </a:extLst>
          </p:cNvPr>
          <p:cNvSpPr txBox="1"/>
          <p:nvPr/>
        </p:nvSpPr>
        <p:spPr>
          <a:xfrm>
            <a:off x="5888435" y="1600202"/>
            <a:ext cx="509000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E293B"/>
                </a:solidFill>
                <a:latin typeface="Calibri"/>
              </a:defRPr>
            </a:pPr>
            <a:r>
              <a:rPr dirty="0"/>
              <a:t>Deduction only applies known rules</a:t>
            </a:r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D11FB28E-1793-F472-4DF8-D9D8C84BA6FF}"/>
              </a:ext>
            </a:extLst>
          </p:cNvPr>
          <p:cNvSpPr txBox="1"/>
          <p:nvPr/>
        </p:nvSpPr>
        <p:spPr>
          <a:xfrm>
            <a:off x="5888435" y="2194562"/>
            <a:ext cx="50900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4748B"/>
                </a:solidFill>
                <a:latin typeface="Calibri"/>
              </a:defRPr>
            </a:pPr>
            <a:r>
              <a:t>When the failure mode is novel,</a:t>
            </a:r>
            <a:br/>
            <a:r>
              <a:t>there is no rule to apply.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3646DB38-7116-19CD-6A0D-6EBF8DCBC28E}"/>
              </a:ext>
            </a:extLst>
          </p:cNvPr>
          <p:cNvSpPr txBox="1"/>
          <p:nvPr/>
        </p:nvSpPr>
        <p:spPr>
          <a:xfrm>
            <a:off x="5888435" y="3017522"/>
            <a:ext cx="509000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E293B"/>
                </a:solidFill>
                <a:latin typeface="Calibri"/>
              </a:defRPr>
            </a:pPr>
            <a:r>
              <a:t>Induction only finds correlations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9FAF0E67-C99D-AD4F-E006-DC3C3004078E}"/>
              </a:ext>
            </a:extLst>
          </p:cNvPr>
          <p:cNvSpPr txBox="1"/>
          <p:nvPr/>
        </p:nvSpPr>
        <p:spPr>
          <a:xfrm>
            <a:off x="5888435" y="3611881"/>
            <a:ext cx="50900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4748B"/>
                </a:solidFill>
                <a:latin typeface="Calibri"/>
              </a:defRPr>
            </a:pPr>
            <a:r>
              <a:rPr dirty="0"/>
              <a:t>"Crashes follow Monday deploys"</a:t>
            </a:r>
            <a:br>
              <a:rPr dirty="0"/>
            </a:br>
            <a:r>
              <a:rPr dirty="0"/>
              <a:t>tells you what co-occurs, not why.</a:t>
            </a:r>
          </a:p>
        </p:txBody>
      </p:sp>
      <p:sp>
        <p:nvSpPr>
          <p:cNvPr id="15" name="Rounded Rectangle 7">
            <a:extLst>
              <a:ext uri="{FF2B5EF4-FFF2-40B4-BE49-F238E27FC236}">
                <a16:creationId xmlns:a16="http://schemas.microsoft.com/office/drawing/2014/main" id="{A0CD66A6-37D2-C1D8-38D5-8C49F2A0CD7A}"/>
              </a:ext>
            </a:extLst>
          </p:cNvPr>
          <p:cNvSpPr/>
          <p:nvPr/>
        </p:nvSpPr>
        <p:spPr>
          <a:xfrm>
            <a:off x="5684596" y="4297680"/>
            <a:ext cx="5090007" cy="137160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Abduction bridges</a:t>
            </a:r>
            <a:br/>
            <a:r>
              <a:t>"what happened"</a:t>
            </a:r>
            <a:br/>
            <a:r>
              <a:t>to "why it happened"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C2DBF673-DD05-59C0-4075-7B0E193AC09E}"/>
              </a:ext>
            </a:extLst>
          </p:cNvPr>
          <p:cNvSpPr txBox="1"/>
          <p:nvPr/>
        </p:nvSpPr>
        <p:spPr>
          <a:xfrm>
            <a:off x="5684596" y="5897880"/>
            <a:ext cx="50900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3B6B9D"/>
                </a:solidFill>
                <a:latin typeface="Calibri"/>
              </a:defRPr>
            </a:pPr>
            <a:r>
              <a:t>The only reasoning type that</a:t>
            </a:r>
            <a:br/>
            <a:r>
              <a:t>generates genuinely new explanations.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78D604C-3338-1568-D36B-7840CE846AAC}"/>
              </a:ext>
            </a:extLst>
          </p:cNvPr>
          <p:cNvSpPr txBox="1"/>
          <p:nvPr/>
        </p:nvSpPr>
        <p:spPr>
          <a:xfrm>
            <a:off x="5888435" y="1095495"/>
            <a:ext cx="4052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CN" i="1" dirty="0"/>
              <a:t>Deduction and Induction Are Not Enough</a:t>
            </a:r>
            <a:endParaRPr kumimoji="1" lang="zh-CN" altLang="en-US"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1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265176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rPr dirty="0"/>
              <a:t>How Humans Perform Abduction</a:t>
            </a:r>
            <a:r>
              <a:rPr lang="en-US" dirty="0"/>
              <a:t> 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13716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4748B"/>
                </a:solidFill>
                <a:latin typeface="Calibri"/>
              </a:defRPr>
            </a:pPr>
            <a:r>
              <a:t>Dual systems, mental models, and cognitive traps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Calibri"/>
              </a:defRPr>
            </a:pPr>
            <a:r>
              <a:t>Two Systems, One Problem: Headache + Fever + Stiff Neck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Patel &amp; Groen, 1986; Kahneman, 2011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5943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B85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B85450"/>
                </a:solidFill>
                <a:latin typeface="Calibri"/>
              </a:defRPr>
            </a:pPr>
            <a:r>
              <a:t>Patient presents: severe headache, high fever, stiff neck</a:t>
            </a:r>
          </a:p>
        </p:txBody>
      </p:sp>
      <p:sp>
        <p:nvSpPr>
          <p:cNvPr id="6" name="Oval 5"/>
          <p:cNvSpPr/>
          <p:nvPr/>
        </p:nvSpPr>
        <p:spPr>
          <a:xfrm>
            <a:off x="1043901" y="2194560"/>
            <a:ext cx="1828800" cy="1828800"/>
          </a:xfrm>
          <a:prstGeom prst="ellipse">
            <a:avLst/>
          </a:prstGeom>
          <a:solidFill>
            <a:srgbClr val="4A7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7963" y="292608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4A7C5F"/>
                </a:solidFill>
                <a:latin typeface="Calibri"/>
              </a:defRPr>
            </a:pPr>
            <a:r>
              <a:t>Expert Physician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5090007" cy="822960"/>
          </a:xfrm>
          <a:prstGeom prst="roundRect">
            <a:avLst/>
          </a:prstGeom>
          <a:solidFill>
            <a:srgbClr val="4A7C5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Pattern match =&gt; Meningitis</a:t>
            </a:r>
            <a:br/>
            <a:r>
              <a:t>Order LP immediately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0900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1">
                <a:solidFill>
                  <a:srgbClr val="4A7C5F"/>
                </a:solidFill>
                <a:latin typeface="Calibri"/>
              </a:defRPr>
            </a:pPr>
            <a:r>
              <a:t>5 seconds — Forward reasoning</a:t>
            </a:r>
            <a:br/>
            <a:r>
              <a:t>Data =&gt; diagnosis directly</a:t>
            </a:r>
          </a:p>
        </p:txBody>
      </p:sp>
      <p:sp>
        <p:nvSpPr>
          <p:cNvPr id="10" name="Oval 9"/>
          <p:cNvSpPr/>
          <p:nvPr/>
        </p:nvSpPr>
        <p:spPr>
          <a:xfrm>
            <a:off x="6945439" y="2194560"/>
            <a:ext cx="1303020" cy="1303020"/>
          </a:xfrm>
          <a:prstGeom prst="ellipse">
            <a:avLst/>
          </a:prstGeom>
          <a:solidFill>
            <a:srgbClr val="4A8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611" y="2663189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4A8B7F"/>
                </a:solidFill>
                <a:latin typeface="Calibri"/>
              </a:defRPr>
            </a:pPr>
            <a:r>
              <a:t>Medical Student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3634739"/>
            <a:ext cx="5090007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4A8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Flu?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0167" y="4137659"/>
            <a:ext cx="5090007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4A8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Migraine?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0167" y="4640579"/>
            <a:ext cx="5090007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4A8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t>Meningitis?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5074920"/>
            <a:ext cx="509000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1">
                <a:solidFill>
                  <a:srgbClr val="4A8B7F"/>
                </a:solidFill>
                <a:latin typeface="Calibri"/>
              </a:defRPr>
            </a:pPr>
            <a:r>
              <a:t>5 minutes — Backward reasoning</a:t>
            </a:r>
            <a:br/>
            <a:r>
              <a:t>Guess diagnosis, then check symptoms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97879"/>
            <a:ext cx="10728655" cy="59436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Abduction = System 1 generates candidates rapidly, System 2 evaluates and verifies deliberately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5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Calibri"/>
              </a:defRPr>
            </a:pPr>
            <a:r>
              <a:t>Mental Models: How the Wright Brothers Invented Flight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Johnson-Laird, 2005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357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Calibri"/>
              </a:defRPr>
            </a:pPr>
            <a:r>
              <a:t>The Cognitive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35727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rPr dirty="0"/>
              <a:t>Build 3D</a:t>
            </a:r>
            <a:r>
              <a:rPr lang="en-US" dirty="0"/>
              <a:t> </a:t>
            </a:r>
            <a:r>
              <a:rPr dirty="0"/>
              <a:t>mental model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9383" y="2743200"/>
            <a:ext cx="0" cy="274320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31520" y="3017520"/>
            <a:ext cx="5135727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rPr dirty="0"/>
              <a:t>Simulate</a:t>
            </a:r>
            <a:r>
              <a:rPr lang="en-US" dirty="0"/>
              <a:t>  </a:t>
            </a:r>
            <a:r>
              <a:rPr dirty="0"/>
              <a:t>airflow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9383" y="3840480"/>
            <a:ext cx="0" cy="274320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4114800"/>
            <a:ext cx="5135727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E293B"/>
                </a:solidFill>
                <a:latin typeface="Calibri"/>
              </a:defRPr>
            </a:pPr>
            <a:r>
              <a:rPr dirty="0"/>
              <a:t>Test</a:t>
            </a:r>
            <a:r>
              <a:rPr lang="en-US" dirty="0"/>
              <a:t> </a:t>
            </a:r>
            <a:r>
              <a:rPr dirty="0"/>
              <a:t>consequences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9383" y="4937760"/>
            <a:ext cx="0" cy="274320"/>
          </a:xfrm>
          <a:prstGeom prst="line">
            <a:avLst/>
          </a:prstGeom>
          <a:ln w="19050">
            <a:solidFill>
              <a:srgbClr val="3B6B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" y="5212080"/>
            <a:ext cx="5135727" cy="82296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3B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Find flaws,</a:t>
            </a:r>
            <a:r>
              <a:rPr lang="en-US" dirty="0"/>
              <a:t> </a:t>
            </a:r>
            <a:r>
              <a:rPr dirty="0"/>
              <a:t>revise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1371600"/>
            <a:ext cx="51357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4A8B7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1965960"/>
            <a:ext cx="513572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1E293B"/>
                </a:solidFill>
                <a:latin typeface="Calibri"/>
              </a:defRPr>
            </a:pPr>
            <a:r>
              <a:t>Mental models are not formal logic.</a:t>
            </a:r>
            <a:br/>
            <a:r>
              <a:t>They are iconic representations —</a:t>
            </a:r>
            <a:br/>
            <a:r>
              <a:t>structural analogues of reality that</a:t>
            </a:r>
            <a:br/>
            <a:r>
              <a:t>can be manipulated in the mind.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7" y="3291839"/>
            <a:ext cx="5135727" cy="100584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 leap:</a:t>
            </a:r>
            <a:br/>
            <a:r>
              <a:t>Bicycle steering analogy</a:t>
            </a:r>
            <a:br/>
            <a:r>
              <a:t>=&gt; Wing warping for roll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526279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4748B"/>
                </a:solidFill>
                <a:latin typeface="Calibri"/>
              </a:defRPr>
            </a:pPr>
            <a:r>
              <a:t>Cross-domain analogy is a hallmark</a:t>
            </a:r>
            <a:br/>
            <a:r>
              <a:t>of human abductive creativity.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1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  <a:latin typeface="Calibri"/>
              </a:defRPr>
            </a:pPr>
            <a:r>
              <a:t>Cognitive Traps — and What AI Must Learn From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Klayman &amp; Ha, 1987; Tversky &amp; Kahneman, 1974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1" y="1750742"/>
            <a:ext cx="5135727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4A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rPr b="1" dirty="0"/>
              <a:t>Confirmation Bias</a:t>
            </a:r>
            <a:br>
              <a:rPr dirty="0"/>
            </a:br>
            <a:r>
              <a:rPr dirty="0"/>
              <a:t>Seek only supporting evidence;</a:t>
            </a:r>
            <a:br>
              <a:rPr dirty="0"/>
            </a:br>
            <a:r>
              <a:rPr dirty="0"/>
              <a:t>ignore contradictions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1" y="2848022"/>
            <a:ext cx="5135727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4A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rPr b="1" dirty="0"/>
              <a:t>Anchoring Effect</a:t>
            </a:r>
            <a:br>
              <a:rPr dirty="0"/>
            </a:br>
            <a:r>
              <a:rPr dirty="0"/>
              <a:t>First hypothesis gets undue weight;</a:t>
            </a:r>
            <a:br>
              <a:rPr dirty="0"/>
            </a:br>
            <a:r>
              <a:rPr dirty="0"/>
              <a:t>adjustment is insufficient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1" y="3945302"/>
            <a:ext cx="5135727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4A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1E293B"/>
                </a:solidFill>
                <a:latin typeface="Calibri"/>
              </a:defRPr>
            </a:pPr>
            <a:r>
              <a:rPr b="1" dirty="0"/>
              <a:t>Availability Heuristic</a:t>
            </a:r>
            <a:br>
              <a:rPr dirty="0"/>
            </a:br>
            <a:r>
              <a:rPr dirty="0"/>
              <a:t>Recent/vivid events overestimated</a:t>
            </a:r>
            <a:br>
              <a:rPr dirty="0"/>
            </a:br>
            <a:r>
              <a:rPr dirty="0"/>
              <a:t>as explanations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8" y="1750742"/>
            <a:ext cx="51357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6B9D"/>
                </a:solidFill>
                <a:latin typeface="Calibri"/>
              </a:defRPr>
            </a:pPr>
            <a:r>
              <a:t>What AI Systems Need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8" y="2299382"/>
            <a:ext cx="5135727" cy="86868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b="1" dirty="0"/>
              <a:t>World Models</a:t>
            </a:r>
            <a:br>
              <a:rPr dirty="0"/>
            </a:br>
            <a:r>
              <a:rPr dirty="0"/>
              <a:t>for causal reasoning,</a:t>
            </a:r>
            <a:br>
              <a:rPr dirty="0"/>
            </a:br>
            <a:r>
              <a:rPr dirty="0"/>
              <a:t>not just correlation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8" y="3350942"/>
            <a:ext cx="5135727" cy="86868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b="1" dirty="0"/>
              <a:t>Active Experimentation</a:t>
            </a:r>
            <a:br>
              <a:rPr dirty="0"/>
            </a:br>
            <a:r>
              <a:rPr dirty="0"/>
              <a:t>ask questions, run tests,</a:t>
            </a:r>
            <a:br>
              <a:rPr dirty="0"/>
            </a:br>
            <a:r>
              <a:rPr dirty="0"/>
              <a:t>not just observe passively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8" y="4402502"/>
            <a:ext cx="5135727" cy="868680"/>
          </a:xfrm>
          <a:prstGeom prst="roundRect">
            <a:avLst/>
          </a:prstGeom>
          <a:solidFill>
            <a:srgbClr val="4A7C5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b="1" dirty="0"/>
              <a:t>Debiasing Mechanisms</a:t>
            </a:r>
            <a:br>
              <a:rPr dirty="0"/>
            </a:br>
            <a:r>
              <a:rPr dirty="0"/>
              <a:t>to avoid the same traps</a:t>
            </a:r>
            <a:br>
              <a:rPr dirty="0"/>
            </a:br>
            <a:r>
              <a:rPr dirty="0"/>
              <a:t>humans fall into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1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34A7B-18D2-E6B8-5E1A-F1F4C1E9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A29ABE-4568-0083-11BF-828BC9E945B4}"/>
              </a:ext>
            </a:extLst>
          </p:cNvPr>
          <p:cNvSpPr txBox="1"/>
          <p:nvPr/>
        </p:nvSpPr>
        <p:spPr>
          <a:xfrm>
            <a:off x="731520" y="265176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rPr lang="en-US" dirty="0"/>
              <a:t>Three attributes of the software world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786746-FC1D-BC89-1799-49F244E85FEA}"/>
              </a:ext>
            </a:extLst>
          </p:cNvPr>
          <p:cNvSpPr/>
          <p:nvPr/>
        </p:nvSpPr>
        <p:spPr>
          <a:xfrm>
            <a:off x="731520" y="3931920"/>
            <a:ext cx="13716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19053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rPr dirty="0"/>
              <a:t>Premise 1: Fault Injection &amp;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1" y="137160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Fault detection precedes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1" y="188823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Before RCA can begin, we need to know a fault exists. OpenRCA and FORGE show that a bounded set of atomic faults can be systematically injected and observed.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2012" y="2697988"/>
            <a:ext cx="18707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Finite faults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52722" y="307289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27042" y="2697988"/>
            <a:ext cx="28613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Controlled injection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8352" y="307289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2672" y="2697988"/>
            <a:ext cx="274701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Observable effects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CPU stress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506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Memory leak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1492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Packet loss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Delay spike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6506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Config 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1492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Code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59476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Large incidents are combinations of local faults. The key is bounded atomic faults that can be injected, replayed, and verified.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3" dur="indefinite" nodeType="mainSeq">
                <p:childTnLst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2: Simulatable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13837" y="1371600"/>
            <a:ext cx="1326025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Fault injection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39862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29135" y="1371600"/>
            <a:ext cx="1580025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Dynamic workload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09161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98434" y="1371600"/>
            <a:ext cx="1414925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73659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63238" y="1371600"/>
            <a:ext cx="1414925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rPr dirty="0"/>
              <a:t>Validated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42032"/>
            <a:ext cx="27431" cy="13380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54203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Replayable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058668"/>
            <a:ext cx="3301898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interventions make the incident generation process reproducible.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2602" y="2542032"/>
            <a:ext cx="27431" cy="13380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7194" y="265760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Operationally relevant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7194" y="3174238"/>
            <a:ext cx="330189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Keep only failures that produce observable user-facing impact.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3684" y="2542032"/>
            <a:ext cx="27431" cy="1338072"/>
          </a:xfrm>
          <a:prstGeom prst="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8276" y="265760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Causal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174238"/>
            <a:ext cx="330189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intervention gives a concrete starting point for tracing propagation.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36136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Simulation turns RCA data collection from passive observation into controlled causal experimentation.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5" fill="hold">
                      <p:stCondLst>
                        <p:cond delay="0"/>
                      </p:stCondLst>
                      <p:childTnLst>
                        <p:set>
                          <p:cBhvr>
                            <p:cTn id="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set>
                          <p:cBhvr>
                            <p:cTn id="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set>
                          <p:cBhvr>
                            <p:cTn id="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set>
                          <p:cBhvr>
                            <p:cTn id="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set>
                          <p:cBhvr>
                            <p:cTn id="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set>
                          <p:cBhvr>
                            <p:cTn id="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7" fill="hold">
                      <p:stCondLst>
                        <p:cond delay="0"/>
                      </p:stCondLst>
                      <p:childTnLst>
                        <p:set>
                          <p:cBhvr>
                            <p:cTn id="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59" dur="indefinite" nodeType="mainSeq">
                <p:childTnLst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rPr dirty="0"/>
              <a:t>Premise 3: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8747" y="1371600"/>
            <a:ext cx="18135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4230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16627" y="1371600"/>
            <a:ext cx="108966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0628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80607" y="1371600"/>
            <a:ext cx="19278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 / fail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846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82787" y="1371600"/>
            <a:ext cx="12801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14015"/>
            <a:ext cx="27431" cy="1051560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1" y="2501899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Ground truth 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" y="3018535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Verified propagation tells us whether the reasoning path is faithful, not just whether the final answer is lucky.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58183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Ground truth closes the learning loop: hypotheses are checked against the incident path, then revised.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F7B00-AD49-24E3-5415-5D1872456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72007E-AD4A-AF28-EE6D-07187416DC1A}"/>
              </a:ext>
            </a:extLst>
          </p:cNvPr>
          <p:cNvSpPr txBox="1"/>
          <p:nvPr/>
        </p:nvSpPr>
        <p:spPr>
          <a:xfrm>
            <a:off x="731520" y="265176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rPr lang="en-US" dirty="0"/>
              <a:t>Benchmarks, etc.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B14B2-67CE-46DF-833D-6C3C3165EC52}"/>
              </a:ext>
            </a:extLst>
          </p:cNvPr>
          <p:cNvSpPr/>
          <p:nvPr/>
        </p:nvSpPr>
        <p:spPr>
          <a:xfrm>
            <a:off x="731520" y="3931920"/>
            <a:ext cx="13716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764011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From Point-Finding to Graph-Building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26667" y="1696213"/>
            <a:ext cx="3280410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Point-finding paradigm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272" y="2219960"/>
            <a:ext cx="16040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56282" y="2594865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0602" y="2219960"/>
            <a:ext cx="1546860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77462" y="2594865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051782" y="2219960"/>
            <a:ext cx="18135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72" y="3116073"/>
            <a:ext cx="5029200" cy="101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Current methods optimize for identifying the faulty component, ignoring the propagation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272" y="4281932"/>
            <a:ext cx="5029200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This is insufficient: engineers need to understand why this component caused the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772" y="1696212"/>
            <a:ext cx="354711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Graph-building paradigm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219960"/>
            <a:ext cx="16040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82737" y="259486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57057" y="2219960"/>
            <a:ext cx="15468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03917" y="259486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78237" y="2219960"/>
            <a:ext cx="206121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Causal 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3116072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3319" y="3116072"/>
            <a:ext cx="486460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What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3632708"/>
            <a:ext cx="486460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output is not just a node, but the causal graph explaining how the fault propagated to symptoms.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" y="5351271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rPr dirty="0"/>
              <a:t>Ideal RCA builds an interpretable causal graph, not just a ranked root-cause label.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1" dur="indefinite" nodeType="mainSeq">
                <p:childTnLst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Benchmark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5837" y="1602486"/>
            <a:ext cx="238506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3387" y="2126234"/>
            <a:ext cx="3489960" cy="10058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Alerts + thresholds</a:t>
            </a:r>
            <a:br/>
            <a:r>
              <a:t>rule-based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3278378"/>
            <a:ext cx="50292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Can match or beat sophisticated models on several public RCA benchmarks.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2222" y="1371600"/>
            <a:ext cx="2442209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72122" y="1895347"/>
            <a:ext cx="4042410" cy="11704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Graph models</a:t>
            </a:r>
            <a:br/>
            <a:r>
              <a:t>multi-modal reasoning</a:t>
            </a:r>
            <a:br/>
            <a:r>
              <a:t>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212084"/>
            <a:ext cx="5029200" cy="101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Looks strong on paper, but the benchmark may be testing easy correlations instead of hard causality.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87672"/>
            <a:ext cx="27431" cy="87579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1" y="4487672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Benchmark crisis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" y="5004308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If a simple baseline rivals SOTA, the benchmark is oversimplifying real RCA difficulty.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5" dur="indefinite" nodeType="mainSeq">
                <p:childTnLst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A2691-4070-D000-D818-F11907FA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C987DC-55F1-2E02-B0A0-3F76BF793D7A}"/>
              </a:ext>
            </a:extLst>
          </p:cNvPr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Benchmark Crisis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5FD56D-C574-69C5-7719-D63564EE740F}"/>
              </a:ext>
            </a:extLst>
          </p:cNvPr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1E2961-501A-9285-29D4-041BF3C02280}"/>
              </a:ext>
            </a:extLst>
          </p:cNvPr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6A194ED-3313-3C79-F959-DA2AD0F73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02121"/>
            <a:ext cx="6873240" cy="546443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4D08DFA8-5132-58A8-3E51-2FFBA77E1C4D}"/>
              </a:ext>
            </a:extLst>
          </p:cNvPr>
          <p:cNvSpPr txBox="1"/>
          <p:nvPr/>
        </p:nvSpPr>
        <p:spPr>
          <a:xfrm>
            <a:off x="7330745" y="3448734"/>
            <a:ext cx="44497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b="1" dirty="0" err="1"/>
              <a:t>SimpleRCA</a:t>
            </a:r>
            <a:r>
              <a:rPr kumimoji="1" lang="en" altLang="zh-CN" b="1" dirty="0"/>
              <a:t> matches or surpasses SOTA performance at far lower cost. </a:t>
            </a: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919948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Why Existing Benchmarks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Three structural defects make public benchmarks too forgiving: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Shallow 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Labels only reach service level. No code-level or propagation-level 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3290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Static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3290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Fixed request patterns hide concurrency and load-dependent fault propagation.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0468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Point-only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0468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Top@K accuracy rewards lucky guesses. No evaluation of causal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73780"/>
            <a:ext cx="27431" cy="110693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1" y="357378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Consequence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" y="409041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Simple heuristics exploit these shortcuts. Reported SOTA progress is inflated by benchmark design, not real diagnostic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00168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A harder benchmark must fix all three: deeper labels, dynamic workloads, and propagation-aware evaluation.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5" fill="hold">
                      <p:stCondLst>
                        <p:cond delay="0"/>
                      </p:stCondLst>
                      <p:childTnLst>
                        <p:set>
                          <p:cBhvr>
                            <p:cTn id="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set>
                          <p:cBhvr>
                            <p:cTn id="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set>
                          <p:cBhvr>
                            <p:cTn id="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set>
                          <p:cBhvr>
                            <p:cTn id="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set>
                          <p:cBhvr>
                            <p:cTn id="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set>
                          <p:cBhvr>
                            <p:cTn id="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7" fill="hold">
                      <p:stCondLst>
                        <p:cond delay="0"/>
                      </p:stCondLst>
                      <p:childTnLst>
                        <p:set>
                          <p:cBhvr>
                            <p:cTn id="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9" fill="hold">
                      <p:stCondLst>
                        <p:cond delay="0"/>
                      </p:stCondLst>
                      <p:childTnLst>
                        <p:set>
                          <p:cBhvr>
                            <p:cTn id="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1" fill="hold">
                      <p:stCondLst>
                        <p:cond delay="0"/>
                      </p:stCondLst>
                      <p:childTnLst>
                        <p:set>
                          <p:cBhvr>
                            <p:cTn id="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set>
                          <p:cBhvr>
                            <p:cTn id="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65" dur="indefinite" nodeType="mainSeq">
                <p:childTnLst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Our Solution: A Harder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8217" y="1371600"/>
            <a:ext cx="1420672" cy="96012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9,152 injections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88890" y="1851660"/>
            <a:ext cx="395021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83911" y="1371600"/>
            <a:ext cx="1763572" cy="96012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1,430 validated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047483" y="1851660"/>
            <a:ext cx="395021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42503" y="1371600"/>
            <a:ext cx="1763571" cy="96012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25 fault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26896" y="2829814"/>
            <a:ext cx="2366010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Average Top@1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0565" y="3322574"/>
            <a:ext cx="884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8592" y="2829814"/>
            <a:ext cx="1794510" cy="37744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Best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4123" y="3331016"/>
            <a:ext cx="9506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0.37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3412" y="2624328"/>
            <a:ext cx="27431" cy="13380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68004" y="2624328"/>
            <a:ext cx="3192170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140964"/>
            <a:ext cx="319217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A harder benchmark preserves complex propagation and exposes a real performance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5008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Our solution is not only more data. It is validated, propagation-aware data that reveals how fragile current RCA systems still 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5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rPr dirty="0"/>
              <a:t>The Effectiveness-Data-Cost Trade-off</a:t>
            </a:r>
            <a:r>
              <a:rPr lang="en-US" dirty="0"/>
              <a:t> for RCA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Oval 4"/>
          <p:cNvSpPr/>
          <p:nvPr/>
        </p:nvSpPr>
        <p:spPr>
          <a:xfrm>
            <a:off x="5250027" y="1371600"/>
            <a:ext cx="1691640" cy="169164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6" name="Oval 5"/>
          <p:cNvSpPr/>
          <p:nvPr/>
        </p:nvSpPr>
        <p:spPr>
          <a:xfrm>
            <a:off x="4129887" y="3191256"/>
            <a:ext cx="1508760" cy="1508760"/>
          </a:xfrm>
          <a:prstGeom prst="ellipse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7" name="Oval 6"/>
          <p:cNvSpPr/>
          <p:nvPr/>
        </p:nvSpPr>
        <p:spPr>
          <a:xfrm>
            <a:off x="6553047" y="3191256"/>
            <a:ext cx="1508760" cy="1508760"/>
          </a:xfrm>
          <a:prstGeom prst="ellipse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rPr dirty="0"/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28032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Better diagnosis quality and broader causal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4828032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33290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290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More telemetry, more modalities, deeper observability.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5876" y="4828032"/>
            <a:ext cx="27431" cy="110693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70468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0468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Ingestion, storage, and compute rise with 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62980"/>
            <a:ext cx="10728655" cy="309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9"/>
                </a:solidFill>
                <a:latin typeface="Liberation Sans"/>
              </a:defRPr>
            </a:pPr>
            <a:r>
              <a:t>Better RCA needs richer data, and richer data raises cost. The key is measuring the right 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5" dur="indefinite" nodeType="mainSeq">
                <p:childTnLst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Process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73209" y="3051556"/>
            <a:ext cx="3108960" cy="37744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Outcome correctness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3129" y="3538727"/>
            <a:ext cx="438912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8FAAC8"/>
                </a:solidFill>
                <a:latin typeface="Liberation Sans"/>
              </a:defRPr>
            </a:pPr>
            <a:r>
              <a:t>0.76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33129" y="4370832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3129" y="4839716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Right answer, but not necessarily right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8119" y="3051556"/>
            <a:ext cx="2994660" cy="37744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Process 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0889" y="3538727"/>
            <a:ext cx="438912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D8A86A"/>
                </a:solidFill>
                <a:latin typeface="Liberation Sans"/>
              </a:defRPr>
            </a:pPr>
            <a:r>
              <a:t>0.63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0889" y="4370832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Path Reachability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0889" y="4839716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Valid causal path from root cause to symptom.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242" y="5491479"/>
            <a:ext cx="27431" cy="87579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6833" y="5491479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The gap: 13% of correct answers have broken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6833" y="6008116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Outcome correctness flatters the agent. Process correctness tells us whether the diagnosis can be trusted.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C968EA2-45AA-A668-9A39-4DCA6967F537}"/>
              </a:ext>
            </a:extLst>
          </p:cNvPr>
          <p:cNvSpPr txBox="1"/>
          <p:nvPr/>
        </p:nvSpPr>
        <p:spPr>
          <a:xfrm>
            <a:off x="574795" y="1533137"/>
            <a:ext cx="3396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LLM model + </a:t>
            </a:r>
            <a:r>
              <a:rPr kumimoji="1" lang="en-US" altLang="zh-CN" dirty="0" err="1"/>
              <a:t>DeepResearch</a:t>
            </a:r>
            <a:r>
              <a:rPr kumimoji="1" lang="en-US" altLang="zh-CN" dirty="0"/>
              <a:t> Agent</a:t>
            </a:r>
            <a:endParaRPr kumimoji="1" lang="zh-CN" altLang="en-US" dirty="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182BD7FD-87C2-34AD-10AF-51E336FA4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923388"/>
            <a:ext cx="7772400" cy="17879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FORGE: Forward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01927" y="1627632"/>
            <a:ext cx="2956559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Backward diagnosis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47" y="2169668"/>
            <a:ext cx="17373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Symptoms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007" y="254457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97327" y="2169668"/>
            <a:ext cx="937259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??? 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34587" y="254457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908907" y="2169668"/>
            <a:ext cx="14706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Ill-posed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647" y="3084068"/>
            <a:ext cx="27432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239" y="3084068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Why it is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239" y="3600704"/>
            <a:ext cx="4224527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RCA agent must infer an unseen cause from partial telemetry, confounders, and noisy symptoms.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98186" y="1627632"/>
            <a:ext cx="29184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856" y="2169668"/>
            <a:ext cx="18897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fault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52616" y="254457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526936" y="2169668"/>
            <a:ext cx="16802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Propagate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207146" y="254457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481466" y="2169668"/>
            <a:ext cx="133731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2856" y="3084068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27448" y="3084068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Why FORGE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7448" y="3600704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 makes verification tractable: trace cause to effect.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079" y="5215383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FORGE exploits the asymmetry: backward diagnosis is ill-posed, but forward verification is tractable when the intervention is known.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5" fill="hold">
                      <p:stCondLst>
                        <p:cond delay="0"/>
                      </p:stCondLst>
                      <p:childTnLst>
                        <p:set>
                          <p:cBhvr>
                            <p:cTn id="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set>
                          <p:cBhvr>
                            <p:cTn id="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set>
                          <p:cBhvr>
                            <p:cTn id="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set>
                          <p:cBhvr>
                            <p:cTn id="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3" fill="hold">
                      <p:stCondLst>
                        <p:cond delay="0"/>
                      </p:stCondLst>
                      <p:childTnLst>
                        <p:set>
                          <p:cBhvr>
                            <p:cTn id="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5" fill="hold">
                      <p:stCondLst>
                        <p:cond delay="0"/>
                      </p:stCondLst>
                      <p:childTnLst>
                        <p:set>
                          <p:cBhvr>
                            <p:cTn id="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57" dur="indefinite" nodeType="mainSeq">
                <p:childTnLst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OpenRCA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7505" y="1536700"/>
            <a:ext cx="1813560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05584"/>
            <a:ext cx="340553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500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94050" y="1536700"/>
            <a:ext cx="122301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6253" y="1991651"/>
            <a:ext cx="38365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step-wise causal annotations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12530" y="1536700"/>
            <a:ext cx="18897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670" y="1982978"/>
            <a:ext cx="340553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process 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4932"/>
            <a:ext cx="286131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intervention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2829" y="3259836"/>
            <a:ext cx="274321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67150" y="2884932"/>
            <a:ext cx="29375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 propagation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04660" y="3259836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78980" y="2884932"/>
            <a:ext cx="19278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Agent graph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06840" y="3259836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2884932"/>
            <a:ext cx="2423160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Process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90772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1" y="3890772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Benchmark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" y="4407408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is not just a harder label dataset. It is a process benchmark with step-wise supervision that scores how the diagnosis is constructed.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53736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OpenRCA 2.0 gives us a benchmark where benchmark quality and training signal finally align.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1" dur="indefinite" nodeType="mainSeq">
                <p:childTnLst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Validation: Structured Reasoning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TRIANGLE paper / Incident triage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1" y="1637414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637414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diagnosis to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54050"/>
            <a:ext cx="105640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rPr dirty="0"/>
              <a:t>RCA diagnosis is one step in the incident lifecycle. TRIANGLE tackles the upstream ste</a:t>
            </a:r>
            <a:r>
              <a:rPr lang="en-US" dirty="0"/>
              <a:t>p (</a:t>
            </a:r>
            <a:r>
              <a:rPr dirty="0"/>
              <a:t>triage</a:t>
            </a:r>
            <a:r>
              <a:rPr lang="en-US" dirty="0"/>
              <a:t>) </a:t>
            </a:r>
            <a:r>
              <a:rPr dirty="0"/>
              <a:t>and shows that structured multi-agent reasoning outperforms monolithic approaches in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452" y="3210944"/>
            <a:ext cx="1389525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Analyzer Agent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85977" y="3668144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75250" y="3210944"/>
            <a:ext cx="1326025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Decider Agent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01276" y="3668144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90549" y="3210944"/>
            <a:ext cx="1529225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assignment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19774" y="3668144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09047" y="3210944"/>
            <a:ext cx="1745125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Manager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44800"/>
            <a:ext cx="23850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Triage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9846" y="4827400"/>
            <a:ext cx="2426131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7712" y="4344800"/>
            <a:ext cx="215646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TTE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8209" y="4795650"/>
            <a:ext cx="9323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1616" y="4370454"/>
            <a:ext cx="27432" cy="87579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86208" y="4370454"/>
            <a:ext cx="5053431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Production validated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6208" y="4887090"/>
            <a:ext cx="5053431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Deployed at Microsoft, serving tens of millions of users.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set>
                          <p:cBhvr>
                            <p:cTn id="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set>
                          <p:cBhvr>
                            <p:cTn id="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5" fill="hold">
                      <p:stCondLst>
                        <p:cond delay="0"/>
                      </p:stCondLst>
                      <p:childTnLst>
                        <p:set>
                          <p:cBhvr>
                            <p:cTn id="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set>
                          <p:cBhvr>
                            <p:cTn id="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9" dur="indefinite" nodeType="mainSeq">
                <p:childTnLst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E7E7F-A729-0D9C-E14A-1F419EB04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828150-C8B3-E7D0-7617-28499BD86521}"/>
              </a:ext>
            </a:extLst>
          </p:cNvPr>
          <p:cNvSpPr txBox="1"/>
          <p:nvPr/>
        </p:nvSpPr>
        <p:spPr>
          <a:xfrm>
            <a:off x="731520" y="265176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rPr lang="en-US" dirty="0"/>
              <a:t>Abductive Reasoning World (Mental)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20905-EE77-AFC3-C0CC-18CD55F7D843}"/>
              </a:ext>
            </a:extLst>
          </p:cNvPr>
          <p:cNvSpPr/>
          <p:nvPr/>
        </p:nvSpPr>
        <p:spPr>
          <a:xfrm>
            <a:off x="731520" y="3931920"/>
            <a:ext cx="1371600" cy="45720"/>
          </a:xfrm>
          <a:prstGeom prst="rect">
            <a:avLst/>
          </a:prstGeom>
          <a:solidFill>
            <a:srgbClr val="3B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81552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622502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1" y="1622502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evaluation to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1" y="2139138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gives us process supervision for evaluation. But where does the training data come from? Manual annotation is too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422" y="3236369"/>
            <a:ext cx="17373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Simulation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32782" y="3611273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7102" y="3236369"/>
            <a:ext cx="181356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20662" y="3611273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94982" y="3236369"/>
            <a:ext cx="10896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84642" y="3611273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58962" y="3236369"/>
            <a:ext cx="1337310" cy="749808"/>
          </a:xfrm>
          <a:prstGeom prst="roundRect">
            <a:avLst/>
          </a:prstGeom>
          <a:solidFill>
            <a:srgbClr val="D8A86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42209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1" y="4242209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" y="4758845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Use fault injection to generate unlimited training cases. The agent proposes hypotheses, verifies against ground truth, and learns from the full loop—not just answer labels.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set>
                          <p:cBhvr>
                            <p:cTn id="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set>
                          <p:cBhvr>
                            <p:cTn id="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set>
                          <p:cBhvr>
                            <p:cTn id="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set>
                          <p:cBhvr>
                            <p:cTn id="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set>
                          <p:cBhvr>
                            <p:cTn id="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set>
                          <p:cBhvr>
                            <p:cTn id="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set>
                          <p:cBhvr>
                            <p:cTn id="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1" dur="indefinite" nodeType="mainSeq">
                <p:childTnLst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2: Distill World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329787" y="1371600"/>
            <a:ext cx="19088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Many traces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23859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512917" y="1371600"/>
            <a:ext cx="10896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Distill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0257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76897" y="1371600"/>
            <a:ext cx="1985010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767" y="3113532"/>
            <a:ext cx="2270759" cy="37744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Training 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50542" y="3618992"/>
            <a:ext cx="434721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A: CPU →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3867" y="4295648"/>
            <a:ext cx="448056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B: Memory → 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07642" y="4972304"/>
            <a:ext cx="503301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C: Network →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476" y="2660904"/>
            <a:ext cx="4309110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Stage 2: Reusable world model</a:t>
            </a:r>
          </a:p>
        </p:txBody>
      </p:sp>
      <p:sp>
        <p:nvSpPr>
          <p:cNvPr id="14" name="Oval 13"/>
          <p:cNvSpPr/>
          <p:nvPr/>
        </p:nvSpPr>
        <p:spPr>
          <a:xfrm>
            <a:off x="8304051" y="3184652"/>
            <a:ext cx="1965960" cy="196596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world</a:t>
            </a:r>
            <a:br/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791" y="5296916"/>
            <a:ext cx="384048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Compress many traces into a compact causal representation. Preserve propagation structure, drop incident-specific noise.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rPr dirty="0"/>
              <a:t>Stage 3: Maximize Leverage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2440" y="1747731"/>
            <a:ext cx="27431" cy="87579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67032" y="1747731"/>
            <a:ext cx="71474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032" y="2264367"/>
            <a:ext cx="7339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Build the world model once, then apply it across the entire incident management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4265" y="3228638"/>
            <a:ext cx="1567325" cy="100584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1771590" y="3731557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60863" y="3228638"/>
            <a:ext cx="1567325" cy="100584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Repair suggestion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3728189" y="3731557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7462" y="3228638"/>
            <a:ext cx="1884825" cy="100584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Root-cause localization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6002287" y="3731557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91560" y="3228638"/>
            <a:ext cx="1414925" cy="100584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rPr dirty="0"/>
              <a:t>Fault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38" y="4643858"/>
            <a:ext cx="72486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rPr dirty="0"/>
              <a:t>The world model's value is reuse: one causal representation supports diagnosis, prediction, and repair across different operational contexts.</a:t>
            </a:r>
          </a:p>
        </p:txBody>
      </p:sp>
      <p:sp>
        <p:nvSpPr>
          <p:cNvPr id="27" name="Rounded Rectangle 4">
            <a:extLst>
              <a:ext uri="{FF2B5EF4-FFF2-40B4-BE49-F238E27FC236}">
                <a16:creationId xmlns:a16="http://schemas.microsoft.com/office/drawing/2014/main" id="{CAF0EFA9-2B3C-EEEA-5DD8-3C308BAEFADA}"/>
              </a:ext>
            </a:extLst>
          </p:cNvPr>
          <p:cNvSpPr/>
          <p:nvPr/>
        </p:nvSpPr>
        <p:spPr>
          <a:xfrm>
            <a:off x="8463814" y="2911078"/>
            <a:ext cx="2652762" cy="502920"/>
          </a:xfrm>
          <a:prstGeom prst="roundRect">
            <a:avLst/>
          </a:prstGeom>
          <a:solidFill>
            <a:srgbClr val="3B6B9D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  Generate Hypotheses</a:t>
            </a: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2A127E05-BE46-9FB5-5F84-A42D60DBDAB8}"/>
              </a:ext>
            </a:extLst>
          </p:cNvPr>
          <p:cNvSpPr/>
          <p:nvPr/>
        </p:nvSpPr>
        <p:spPr>
          <a:xfrm>
            <a:off x="8463814" y="3651738"/>
            <a:ext cx="2652762" cy="502920"/>
          </a:xfrm>
          <a:prstGeom prst="roundRect">
            <a:avLst/>
          </a:prstGeom>
          <a:solidFill>
            <a:srgbClr val="4A8B7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  Evaluate &amp; Rank</a:t>
            </a: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5D5FB14F-CE4E-D871-8E80-6316C8B1B25E}"/>
              </a:ext>
            </a:extLst>
          </p:cNvPr>
          <p:cNvSpPr/>
          <p:nvPr/>
        </p:nvSpPr>
        <p:spPr>
          <a:xfrm>
            <a:off x="8463814" y="4392398"/>
            <a:ext cx="2652762" cy="502920"/>
          </a:xfrm>
          <a:prstGeom prst="roundRect">
            <a:avLst/>
          </a:prstGeom>
          <a:solidFill>
            <a:srgbClr val="4A7C5F"/>
          </a:solidFill>
          <a:ln w="12700">
            <a:solidFill>
              <a:srgbClr val="C8C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3  Verify</a:t>
            </a:r>
          </a:p>
        </p:txBody>
      </p:sp>
      <p:cxnSp>
        <p:nvCxnSpPr>
          <p:cNvPr id="31" name="肘形连接符 30">
            <a:extLst>
              <a:ext uri="{FF2B5EF4-FFF2-40B4-BE49-F238E27FC236}">
                <a16:creationId xmlns:a16="http://schemas.microsoft.com/office/drawing/2014/main" id="{28096BE1-3B02-7409-4768-B142D5A002A5}"/>
              </a:ext>
            </a:extLst>
          </p:cNvPr>
          <p:cNvCxnSpPr>
            <a:stCxn id="29" idx="3"/>
            <a:endCxn id="27" idx="3"/>
          </p:cNvCxnSpPr>
          <p:nvPr/>
        </p:nvCxnSpPr>
        <p:spPr>
          <a:xfrm flipV="1">
            <a:off x="11116576" y="3162538"/>
            <a:ext cx="12700" cy="14813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54390065-837D-8D15-5465-6BBAC855EC31}"/>
              </a:ext>
            </a:extLst>
          </p:cNvPr>
          <p:cNvSpPr txBox="1"/>
          <p:nvPr/>
        </p:nvSpPr>
        <p:spPr>
          <a:xfrm>
            <a:off x="11405984" y="3718532"/>
            <a:ext cx="73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refine</a:t>
            </a:r>
            <a:endParaRPr kumimoji="1"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set>
                          <p:cBhvr>
                            <p:cTn id="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set>
                          <p:cBhvr>
                            <p:cTn id="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1" fill="hold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set>
                          <p:cBhvr>
                            <p:cTn id="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5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728655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C82AD"/>
                </a:solidFill>
                <a:latin typeface="Liberation Sans"/>
              </a:defRPr>
            </a:pPr>
            <a:r>
              <a:t>Three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4644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What matters is not only finding the right answer, but building a reasoning system we can trust and reuse.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34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D69A68"/>
                </a:solidFill>
                <a:latin typeface="Liberation San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34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Score the path, not just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1850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8FAAC8"/>
                </a:solidFill>
                <a:latin typeface="Liberation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850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Train on verification loops, not only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466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7FA195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466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Build the model once, then reuse it broadly.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13960"/>
            <a:ext cx="10728655" cy="491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C82AD"/>
                </a:solidFill>
                <a:latin typeface="Liberation Sans"/>
              </a:defRPr>
            </a:pPr>
            <a:r>
              <a:t>Build the model once. Reuse it across diagnosis, prediction, and repair.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" fill="hold">
                      <p:stCondLst>
                        <p:cond delay="0"/>
                      </p:stCondLst>
                      <p:childTnLst>
                        <p:set>
                          <p:cBhvr>
                            <p:cTn id="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set>
                          <p:cBhvr>
                            <p:cTn id="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2942</Words>
  <Application>Microsoft Macintosh PowerPoint</Application>
  <PresentationFormat>宽屏</PresentationFormat>
  <Paragraphs>344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Aoyang Fang (SDS, 222010547)</cp:lastModifiedBy>
  <cp:revision>43</cp:revision>
  <dcterms:created xsi:type="dcterms:W3CDTF">2013-01-27T09:14:16Z</dcterms:created>
  <dcterms:modified xsi:type="dcterms:W3CDTF">2026-04-07T08:40:08Z</dcterms:modified>
  <cp:category/>
</cp:coreProperties>
</file>