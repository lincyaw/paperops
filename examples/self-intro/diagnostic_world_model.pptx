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reframing RCA as a world-modeling problem rather than a label prediction problem. Transition by stating that the next slides unpack the three premises that make this view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today's black-box symptom-to-label flow with a world-model loop that hypothesizes and verifies propagation. Transition by asking what assumptions must be true for that loop to be feasible.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first premise: the intervention space is broad but still bounded enough to model. OpenRCA and FORGE demonstrate this with 25 fault types across 6 categories. Transition by noting that bounded atomic faults only help if we can replay them inside a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second premise: if we can inject faults under workload, we can watch failures propagate instead of merely reading symptoms after the fact. Transition by saying replay alone is insufficient unless we can score whether a reasoning path matches reality.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third premise explicit: a diagnosis should earn reward only when the causal path checks out against ground truth. Transition by saying that once world-model RCA is feasible, the real bottleneck becomes how RCA is defined and evaluated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survey's core insight: RCA should output a propagation graph, not just a root-cause node. This is the north star that exposes why current benchmarks are insufficient. Transition to the benchmark crisis: if we measure only point accuracy, we miss the real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dataset study's headline result: simple heuristics are surprisingly competitive with SOTA on public benchmarks. This exposes a fundamental problem: current benchmarks measure point accuracy, not graph-building ability. Transition by asking what structural defects make those benchmarks so forgiving.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into the three structural defects behind the benchmark crisis: shallow labels, static workloads, and point-only metrics. Transition by previewing what a harder benchmark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first section with the benchmark pipeline and the core result numbers: 9,152 injections, 1,430 validated cases, 25 fault types, 0.21 average Top@1, and 0.37 best. Transition by saying the rest of the deck will explain the process-level supervision and benchmark design behind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survey's Effectiveness-Data-Cost triangle as the governing trade-off behind practical RCA systems. The crucial point: we must measure graph-building quality, not just point accuracy, to make this trade-off worthwhile. Transition to the benchmark crisis: current benchmarks measure the wrong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separate outcome correctness from process correctness with the 0.76 versus 0.63 comparison. The key insight: 13% of answers are 'lucky guesses' with invalid reasoning paths. Transition by asking how to turn an ill-posed backward RCA task into something verifiable enough to supervise.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information asymmetry at the heart of FORGE: the agent reasons backward, while annotation can verify forward from the known intervention. Transition by turning that verification mechanism into a concrete benchmark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benchmark identity in three facts: 500 instances, step-wise causal annotations, and process supervision. Transition by broadening from RCA diagnosis to the adjacent triage workflow where multi-agent coordination already shows practical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TRIANGLE as independent validation of the same research belief: explicit reasoning structures beat black-box approaches. The key evidence is production deployment at scale—structured multi-agent triage works in practice. Transition: if structured reasoning works for triage and RCA evaluation, can we train agents to build reusable world models?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from OpenRCA 2.0's evaluation to the training challenge: we need automated training data generation. The solution is closed-loop training with fault injection simulation—leveraging the same verification mechanism as FORGE. Transition: after collecting many successful traces, what can we do with them?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two is distillation: compress many training traces into one reusable world model. The key challenge: preserve causal structure while generalizing across different incidents. Transition: once we have the world model, how do we maximize its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three is about leverage: the same world model enables multiple downstream tasks. This is the payoff of the three-stage roadmap: simulate, compress, then generalize. Transition to the closing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three short takeaways rather than a dense recap, keeping the typography strong and the message memorable. End on the final line as the thesis statement for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0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045942" y="1446022"/>
            <a:ext cx="2442209" cy="37744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Research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5207" y="1988058"/>
            <a:ext cx="6583680" cy="1052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5C82AD"/>
                </a:solidFill>
                <a:latin typeface="Liberation Sans"/>
              </a:defRPr>
            </a:pPr>
            <a:r>
              <a:t>Building World Models for</a:t>
            </a:r>
          </a:p>
          <a:p>
            <a:pPr algn="l">
              <a:defRPr sz="2800" b="1" i="0">
                <a:solidFill>
                  <a:srgbClr val="5C82AD"/>
                </a:solidFill>
                <a:latin typeface="Liberation Sans"/>
              </a:defRPr>
            </a:pPr>
            <a:r>
              <a:t>Diagnostic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207" y="3205226"/>
            <a:ext cx="6583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47489"/>
                </a:solidFill>
                <a:latin typeface="Liberation Sans"/>
              </a:defRPr>
            </a:pPr>
            <a:r>
              <a:t>From outcome labels to causal process supervision in root cause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207" y="4092193"/>
            <a:ext cx="6583680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69A68"/>
                </a:solidFill>
                <a:latin typeface="Liberation Sans"/>
              </a:defRPr>
            </a:pPr>
            <a:r>
              <a:t>Move RCA from point finding to graph building.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45727" y="1371600"/>
            <a:ext cx="1432560" cy="37744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07527" y="1840484"/>
            <a:ext cx="3108960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Oversimplified RCA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2877" y="2518156"/>
            <a:ext cx="1318259" cy="37744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527" y="2987040"/>
            <a:ext cx="3108960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3852" y="3664712"/>
            <a:ext cx="95631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4133596"/>
            <a:ext cx="3108960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Trusted diagnosis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57572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Trusted diagnosis needs simulatable failures, verifiable reasoning, and explicit propagation structure.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73502" y="1371600"/>
            <a:ext cx="2289810" cy="377443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Black-box RCA</a:t>
            </a:r>
          </a:p>
        </p:txBody>
      </p:sp>
      <p:pic>
        <p:nvPicPr>
          <p:cNvPr id="6" name="Picture 5" descr="tmpyzc0_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787" y="1886204"/>
            <a:ext cx="320039" cy="320039"/>
          </a:xfrm>
          <a:prstGeom prst="rect">
            <a:avLst/>
          </a:prstGeom>
        </p:spPr>
      </p:pic>
      <p:pic>
        <p:nvPicPr>
          <p:cNvPr id="7" name="Picture 6" descr="tmpc5jber0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987" y="1886204"/>
            <a:ext cx="320039" cy="320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552422" y="2343404"/>
            <a:ext cx="956310" cy="749807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08732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3052" y="2343404"/>
            <a:ext cx="1756410" cy="749807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LLM guess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39462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813782" y="2343404"/>
            <a:ext cx="1070610" cy="749807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Label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3847" y="3230372"/>
            <a:ext cx="27432" cy="110693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88439" y="3230372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Current pattern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88439" y="3747008"/>
            <a:ext cx="4224527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Optimize for a correct answer, even if the causal path is hidden or hallucinated.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47407" y="1371600"/>
            <a:ext cx="2651760" cy="377443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World-model RCA</a:t>
            </a:r>
          </a:p>
        </p:txBody>
      </p:sp>
      <p:pic>
        <p:nvPicPr>
          <p:cNvPr id="17" name="Picture 16" descr="tmpyzc0_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667" y="1886204"/>
            <a:ext cx="320039" cy="320039"/>
          </a:xfrm>
          <a:prstGeom prst="rect">
            <a:avLst/>
          </a:prstGeom>
        </p:spPr>
      </p:pic>
      <p:pic>
        <p:nvPicPr>
          <p:cNvPr id="18" name="Picture 17" descr="tmpacp1la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1867" y="1886204"/>
            <a:ext cx="320039" cy="320039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602577" y="2343404"/>
            <a:ext cx="956310" cy="749807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558887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33207" y="2343404"/>
            <a:ext cx="1089660" cy="749807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22867" y="271830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97187" y="2343404"/>
            <a:ext cx="1146810" cy="749807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Graph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3230372"/>
            <a:ext cx="27432" cy="110693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3230372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Target behavior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3319" y="3747008"/>
            <a:ext cx="4224527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Build and check a causal loop so the answer and the reasoning are both inspectable.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593336"/>
            <a:ext cx="10728655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Black-box RCA predicts an answer. World-model RCA closes a causal loop.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8" dur="indefinite" nodeType="mainSeq">
                <p:childTnLst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Premise 1: Fault Injection &amp; Detection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1" y="1371600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Fault detection precedes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1" y="1888236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Before RCA can begin, we need to know a fault exists. OpenRCA and FORGE show that a bounded set of atomic faults can be systematically injected and observed.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2012" y="2697988"/>
            <a:ext cx="18707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Finite faults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52722" y="307289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27042" y="2697988"/>
            <a:ext cx="286131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Controlled injection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8352" y="307289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2672" y="2697988"/>
            <a:ext cx="274701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Observable effects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6725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CPU stress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6506" y="366725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Memory leak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81492" y="3667252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Packet loss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2678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Delay spike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6506" y="452678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Config drift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81492" y="4526788"/>
            <a:ext cx="3478682" cy="7132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Code 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59476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Large incidents are combinations of local faults. The key is bounded atomic faults that can be injected, replayed, and verified.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4" dur="indefinite" nodeType="mainSeq">
                <p:childTnLst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Premise 2: Simulatable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13837" y="1371600"/>
            <a:ext cx="1326025" cy="91440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Fault injection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039862" y="1828800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29135" y="1371600"/>
            <a:ext cx="1580025" cy="91440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Dynamic workload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09161" y="1828800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98434" y="1371600"/>
            <a:ext cx="1275225" cy="91440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Observability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73659" y="1828800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62932" y="1371600"/>
            <a:ext cx="1414925" cy="91440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Validated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42032"/>
            <a:ext cx="27431" cy="133807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542032"/>
            <a:ext cx="330189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Replayable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058668"/>
            <a:ext cx="3301898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Known interventions make the incident generation process reproducible.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2602" y="2542032"/>
            <a:ext cx="27431" cy="133807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7194" y="2657602"/>
            <a:ext cx="330189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Operationally relevant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7194" y="3174238"/>
            <a:ext cx="3301898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Keep only failures that produce observable user-facing impact.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3684" y="2542032"/>
            <a:ext cx="27431" cy="1338072"/>
          </a:xfrm>
          <a:prstGeom prst="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8276" y="2657602"/>
            <a:ext cx="330189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69A68"/>
                </a:solidFill>
                <a:latin typeface="Liberation Sans"/>
              </a:defRPr>
            </a:pPr>
            <a:r>
              <a:t>Causal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8276" y="3174238"/>
            <a:ext cx="3301898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intervention gives a concrete starting point for tracing propagation.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36136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Simulation turns RCA data collection from passive observation into controlled causal experimentation.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set>
                          <p:cBhvr>
                            <p:cTn id="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set>
                          <p:cBhvr>
                            <p:cTn id="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set>
                          <p:cBhvr>
                            <p:cTn id="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set>
                          <p:cBhvr>
                            <p:cTn id="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2" fill="hold">
                      <p:stCondLst>
                        <p:cond delay="0"/>
                      </p:stCondLst>
                      <p:childTnLst>
                        <p:set>
                          <p:cBhvr>
                            <p:cTn id="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set>
                          <p:cBhvr>
                            <p:cTn id="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set>
                          <p:cBhvr>
                            <p:cTn id="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set>
                          <p:cBhvr>
                            <p:cTn id="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60" dur="indefinite" nodeType="mainSeq">
                <p:childTnLst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Premise 3: Verifiable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8747" y="1371600"/>
            <a:ext cx="18135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44230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716627" y="1371600"/>
            <a:ext cx="108966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0628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080607" y="1371600"/>
            <a:ext cx="19278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Reward / fail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0846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82787" y="1371600"/>
            <a:ext cx="128016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14015"/>
            <a:ext cx="27431" cy="1051560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" y="2501899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Ground truth anchor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" y="3018535"/>
            <a:ext cx="10564063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Verified propagation tells us whether the reasoning path is faithful, not just whether the final answer is lucky.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58183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Ground truth closes the learning loop: hypotheses are checked against the incident path, then revised.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From Point-Finding to Graph-Building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8162" y="1371600"/>
            <a:ext cx="3280410" cy="37744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Point-finding paradigm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1895347"/>
            <a:ext cx="160401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87777" y="227025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2097" y="1895347"/>
            <a:ext cx="1546860" cy="749808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08957" y="2270252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583277" y="1895347"/>
            <a:ext cx="18135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Root cause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2791460"/>
            <a:ext cx="5029200" cy="101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Current methods optimize for identifying the faulty component, ignoring the propagation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3957319"/>
            <a:ext cx="5029200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This is insufficient: engineers need to understand why this component caused the symptoms.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9772" y="1696212"/>
            <a:ext cx="354711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Graph-building paradigm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219960"/>
            <a:ext cx="160401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Telemetry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82737" y="259486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57057" y="2219960"/>
            <a:ext cx="15468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Inference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03917" y="259486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78237" y="2219960"/>
            <a:ext cx="206121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Causal 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3116072"/>
            <a:ext cx="27432" cy="110693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3116072"/>
            <a:ext cx="4864608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What changes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3632708"/>
            <a:ext cx="4864608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output is not just a node, but the causal graph explaining how the fault propagated to symptoms.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03648"/>
            <a:ext cx="10728655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Ideal RCA builds an interpretable causal graph, not just a ranked root-cause label.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Benchmark Crisis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5837" y="1602486"/>
            <a:ext cx="2385060" cy="37744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Simple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3387" y="2126234"/>
            <a:ext cx="3489960" cy="10058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Alerts + thresholds</a:t>
            </a:r>
            <a:br/>
            <a:r>
              <a:t>rule-based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767" y="3278378"/>
            <a:ext cx="502920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Can match or beat sophisticated models on several public RCA benchmarks.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72222" y="1371600"/>
            <a:ext cx="2442209" cy="37744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Published SOTA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72122" y="1895347"/>
            <a:ext cx="4042410" cy="1170432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Graph models</a:t>
            </a:r>
            <a:br/>
            <a:r>
              <a:t>multi-modal reasoning</a:t>
            </a:r>
            <a:br/>
            <a:r>
              <a:t>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212084"/>
            <a:ext cx="5029200" cy="1019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Looks strong on paper, but the benchmark may be testing easy correlations instead of hard causality.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87672"/>
            <a:ext cx="27431" cy="87579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" y="4487672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Benchmark crisis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1" y="5004308"/>
            <a:ext cx="10564063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If a simple baseline rivals SOTA, the benchmark is oversimplifying real RCA difficulty.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Why Existing Benchmarks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Three structural defects make public benchmarks too forgiving: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6252"/>
            <a:ext cx="27431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1625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Shallow ground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32888"/>
            <a:ext cx="3289706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Labels only reach service level. No code-level or propagation-level 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2016252"/>
            <a:ext cx="27431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201625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Static workloads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3290" y="2532888"/>
            <a:ext cx="3289706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Fixed request patterns hide concurrency and load-dependent fault propagation.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5876" y="2016252"/>
            <a:ext cx="27431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0468" y="201625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Point-only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0468" y="2532888"/>
            <a:ext cx="3289706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Top@K accuracy rewards lucky guesses. No evaluation of causal paths.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73780"/>
            <a:ext cx="27431" cy="1106932"/>
          </a:xfrm>
          <a:prstGeom prst="rect">
            <a:avLst/>
          </a:prstGeom>
          <a:solidFill>
            <a:srgbClr val="D8A86A"/>
          </a:solidFill>
          <a:ln w="12700">
            <a:solidFill>
              <a:srgbClr val="D8A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1" y="3573780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8A86A"/>
                </a:solidFill>
                <a:latin typeface="Liberation Sans"/>
              </a:defRPr>
            </a:pPr>
            <a:r>
              <a:t>Consequence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" y="4090416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Simple heuristics exploit these shortcuts. Reported SOTA progress is inflated by benchmark design, not real diagnostic capability.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00168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A harder benchmark must fix all three: deeper labels, dynamic workloads, and propagation-aware evaluation.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set>
                          <p:cBhvr>
                            <p:cTn id="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set>
                          <p:cBhvr>
                            <p:cTn id="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set>
                          <p:cBhvr>
                            <p:cTn id="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set>
                          <p:cBhvr>
                            <p:cTn id="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2" fill="hold">
                      <p:stCondLst>
                        <p:cond delay="0"/>
                      </p:stCondLst>
                      <p:childTnLst>
                        <p:set>
                          <p:cBhvr>
                            <p:cTn id="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set>
                          <p:cBhvr>
                            <p:cTn id="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set>
                          <p:cBhvr>
                            <p:cTn id="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8" fill="hold">
                      <p:stCondLst>
                        <p:cond delay="0"/>
                      </p:stCondLst>
                      <p:childTnLst>
                        <p:set>
                          <p:cBhvr>
                            <p:cTn id="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0" fill="hold">
                      <p:stCondLst>
                        <p:cond delay="0"/>
                      </p:stCondLst>
                      <p:childTnLst>
                        <p:set>
                          <p:cBhvr>
                            <p:cTn id="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2" fill="hold">
                      <p:stCondLst>
                        <p:cond delay="0"/>
                      </p:stCondLst>
                      <p:childTnLst>
                        <p:set>
                          <p:cBhvr>
                            <p:cTn id="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set>
                          <p:cBhvr>
                            <p:cTn id="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66" dur="indefinite" nodeType="mainSeq">
                <p:childTnLst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Our Solution: A Harder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FSE RCA benchmark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8217" y="1371600"/>
            <a:ext cx="1420672" cy="96012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9,152 injections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888890" y="1851660"/>
            <a:ext cx="395021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83911" y="1371600"/>
            <a:ext cx="1763572" cy="96012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1,430 validated cases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047483" y="1851660"/>
            <a:ext cx="395021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42504" y="1371600"/>
            <a:ext cx="1280972" cy="96012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25 fault types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26896" y="2829814"/>
            <a:ext cx="2366010" cy="37744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Average Top@1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8698"/>
            <a:ext cx="3356762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0.21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8592" y="2829814"/>
            <a:ext cx="1794510" cy="377444"/>
          </a:xfrm>
          <a:prstGeom prst="roundRect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Best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7466" y="3298698"/>
            <a:ext cx="3356762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0.37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3412" y="2624328"/>
            <a:ext cx="27431" cy="133807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8004" y="2624328"/>
            <a:ext cx="3192170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140964"/>
            <a:ext cx="3192170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A harder benchmark preserves complex propagation and exposes a real performance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5008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Our solution is not only more data. It is validated, propagation-aware data that reveals how fragile current RCA systems still 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6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Effectiveness-Data-Cost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Goal-driven RCA survey</a:t>
            </a:r>
          </a:p>
        </p:txBody>
      </p:sp>
      <p:sp>
        <p:nvSpPr>
          <p:cNvPr id="5" name="Oval 4"/>
          <p:cNvSpPr/>
          <p:nvPr/>
        </p:nvSpPr>
        <p:spPr>
          <a:xfrm>
            <a:off x="5250027" y="1371600"/>
            <a:ext cx="1691640" cy="1691640"/>
          </a:xfrm>
          <a:prstGeom prst="ellipse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6" name="Oval 5"/>
          <p:cNvSpPr/>
          <p:nvPr/>
        </p:nvSpPr>
        <p:spPr>
          <a:xfrm>
            <a:off x="4129887" y="3191256"/>
            <a:ext cx="1508760" cy="1508760"/>
          </a:xfrm>
          <a:prstGeom prst="ellipse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7" name="Oval 6"/>
          <p:cNvSpPr/>
          <p:nvPr/>
        </p:nvSpPr>
        <p:spPr>
          <a:xfrm>
            <a:off x="6553047" y="3191256"/>
            <a:ext cx="1508760" cy="1508760"/>
          </a:xfrm>
          <a:prstGeom prst="ellipse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28032"/>
            <a:ext cx="27431" cy="110693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82803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Effectiveness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5344668"/>
            <a:ext cx="3289706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Better diagnosis quality and broader causal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698" y="4828032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3290" y="482803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290" y="5344668"/>
            <a:ext cx="3289706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More telemetry, more modalities, deeper observability.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5876" y="4828032"/>
            <a:ext cx="27431" cy="1106932"/>
          </a:xfrm>
          <a:prstGeom prst="rect">
            <a:avLst/>
          </a:prstGeom>
          <a:solidFill>
            <a:srgbClr val="D8A86A"/>
          </a:solidFill>
          <a:ln w="12700">
            <a:solidFill>
              <a:srgbClr val="D8A8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0468" y="4828032"/>
            <a:ext cx="3289706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D8A86A"/>
                </a:solidFill>
                <a:latin typeface="Liberation Sans"/>
              </a:defRPr>
            </a:pPr>
            <a:r>
              <a:t>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0468" y="5344668"/>
            <a:ext cx="3289706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Ingestion, storage, and compute rise with 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62980"/>
            <a:ext cx="10728655" cy="309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9"/>
                </a:solidFill>
                <a:latin typeface="Liberation Sans"/>
              </a:defRPr>
            </a:pPr>
            <a:r>
              <a:t>Better RCA needs richer data, and richer data raises cost. The key is measuring the right thing.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set>
                          <p:cBhvr>
                            <p:cTn id="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6" dur="indefinite" nodeType="mainSeq">
                <p:childTnLst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The Process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2487" y="1371600"/>
            <a:ext cx="3108960" cy="37744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Outcome correctness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2407" y="1858771"/>
            <a:ext cx="438912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8FAAC8"/>
                </a:solidFill>
                <a:latin typeface="Liberation Sans"/>
              </a:defRPr>
            </a:pPr>
            <a:r>
              <a:t>0.76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2407" y="2690876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Pass@1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2407" y="3159760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Right answer, but not necessarily right reasoning.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67397" y="1371600"/>
            <a:ext cx="2994660" cy="377444"/>
          </a:xfrm>
          <a:prstGeom prst="roundRect">
            <a:avLst/>
          </a:prstGeom>
          <a:solidFill>
            <a:srgbClr val="D8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Process correctness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858771"/>
            <a:ext cx="438912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D8A86A"/>
                </a:solidFill>
                <a:latin typeface="Liberation Sans"/>
              </a:defRPr>
            </a:pPr>
            <a:r>
              <a:t>0.63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690876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47489"/>
                </a:solidFill>
                <a:latin typeface="Liberation Sans"/>
              </a:defRPr>
            </a:pPr>
            <a:r>
              <a:t>Path Reachability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59760"/>
            <a:ext cx="4389120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Valid causal path from root cause to symptom.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811523"/>
            <a:ext cx="27431" cy="87579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1" y="3811523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The gap: 13% of correct answers have broken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" y="4328160"/>
            <a:ext cx="10564063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Outcome correctness flatters the agent. Process correctness tells us whether the diagnosis can be trusted.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FORGE: Forward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407" y="1371600"/>
            <a:ext cx="2956559" cy="377444"/>
          </a:xfrm>
          <a:prstGeom prst="roundRect">
            <a:avLst/>
          </a:prstGeom>
          <a:solidFill>
            <a:srgbClr val="C98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Backward diagnosis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78127" y="1913636"/>
            <a:ext cx="17373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Symptoms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15487" y="2288540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89807" y="1913636"/>
            <a:ext cx="937259" cy="749808"/>
          </a:xfrm>
          <a:prstGeom prst="roundRect">
            <a:avLst/>
          </a:prstGeom>
          <a:solidFill>
            <a:srgbClr val="C98A7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??? 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27067" y="2288540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01387" y="1913636"/>
            <a:ext cx="1470660" cy="749808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Ill-posed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78127" y="2828036"/>
            <a:ext cx="27432" cy="1338072"/>
          </a:xfrm>
          <a:prstGeom prst="rect">
            <a:avLst/>
          </a:prstGeom>
          <a:solidFill>
            <a:srgbClr val="C98A78"/>
          </a:solidFill>
          <a:ln w="12700">
            <a:solidFill>
              <a:srgbClr val="C98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2719" y="2828036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98A78"/>
                </a:solidFill>
                <a:latin typeface="Liberation Sans"/>
              </a:defRPr>
            </a:pPr>
            <a:r>
              <a:t>Why it is hard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2719" y="3344672"/>
            <a:ext cx="4224527" cy="821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The RCA agent must infer an unseen cause from partial telemetry, confounders, and noisy symptoms.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9777" y="1487170"/>
            <a:ext cx="291846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Forward verification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447" y="2029206"/>
            <a:ext cx="18897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Known fault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4207" y="2404110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488527" y="2029206"/>
            <a:ext cx="16802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Propagate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68737" y="2404110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443057" y="2029206"/>
            <a:ext cx="133731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2943606"/>
            <a:ext cx="27432" cy="1106932"/>
          </a:xfrm>
          <a:prstGeom prst="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9039" y="2943606"/>
            <a:ext cx="4224527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7FA195"/>
                </a:solidFill>
                <a:latin typeface="Liberation Sans"/>
              </a:defRPr>
            </a:pPr>
            <a:r>
              <a:t>Why FORGE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9039" y="3460242"/>
            <a:ext cx="4224527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Known intervention makes verification tractable: trace cause to effect.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22140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FORGE exploits the asymmetry: backward diagnosis is ill-posed, but forward verification is tractable when the intervention is known.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set>
                          <p:cBhvr>
                            <p:cTn id="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set>
                          <p:cBhvr>
                            <p:cTn id="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set>
                          <p:cBhvr>
                            <p:cTn id="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set>
                          <p:cBhvr>
                            <p:cTn id="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2" fill="hold">
                      <p:stCondLst>
                        <p:cond delay="0"/>
                      </p:stCondLst>
                      <p:childTnLst>
                        <p:set>
                          <p:cBhvr>
                            <p:cTn id="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4" fill="hold">
                      <p:stCondLst>
                        <p:cond delay="0"/>
                      </p:stCondLst>
                      <p:childTnLst>
                        <p:set>
                          <p:cBhvr>
                            <p:cTn id="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set>
                          <p:cBhvr>
                            <p:cTn id="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58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OpenRCA 2.0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OpenRCA 2.0 / FORGE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27505" y="1536700"/>
            <a:ext cx="1813560" cy="37744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05584"/>
            <a:ext cx="3405530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500 instances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4342" y="1371600"/>
            <a:ext cx="1223010" cy="37744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3082" y="1840484"/>
            <a:ext cx="3405530" cy="788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step-wise causal annotations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12530" y="1536700"/>
            <a:ext cx="188976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Supervision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4644" y="2005584"/>
            <a:ext cx="3405530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process supervision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4932"/>
            <a:ext cx="286131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Known intervention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92829" y="3259836"/>
            <a:ext cx="274321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67150" y="2884932"/>
            <a:ext cx="29375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Verified propagation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04660" y="3259836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078980" y="2884932"/>
            <a:ext cx="192786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Agent graph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06840" y="3259836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281160" y="2884932"/>
            <a:ext cx="2423160" cy="749808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Process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90772"/>
            <a:ext cx="27431" cy="110693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1" y="3890772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Benchmark identity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" y="4407408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OpenRCA 2.0 is not just a harder label dataset. It is a process benchmark with step-wise supervision that scores how the diagnosis is constructed.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53736"/>
            <a:ext cx="10728655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OpenRCA 2.0 gives us a benchmark where benchmark quality and training signal finally align.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32" dur="indefinite" nodeType="mainSeq">
                <p:childTnLst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Validation: Structured Reasoning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>
                <a:solidFill>
                  <a:srgbClr val="94A3B6"/>
                </a:solidFill>
                <a:latin typeface="Liberation Sans"/>
              </a:defRPr>
            </a:pPr>
            <a:r>
              <a:t>TRIANGLE paper / Incident triage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1" y="1371600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From diagnosis to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1" y="1888236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RCA diagnosis is one step in the incident lifecycle. TRIANGLE tackles the upstream step—triage—and shows that structured multi-agent reasoning outperforms monolithic approaches in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6987" y="2697988"/>
            <a:ext cx="1389525" cy="91440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Analyzer Agent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06512" y="3155188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95785" y="2697988"/>
            <a:ext cx="1326025" cy="91440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Decider Agent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21811" y="3155188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11084" y="2697988"/>
            <a:ext cx="1529225" cy="91440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Team assignment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40309" y="3155188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29582" y="2697988"/>
            <a:ext cx="1745125" cy="91440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Team Manager 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2055" y="3831844"/>
            <a:ext cx="2385060" cy="377444"/>
          </a:xfrm>
          <a:prstGeom prst="roundRect">
            <a:avLst/>
          </a:prstGeom>
          <a:solidFill>
            <a:srgbClr val="7FA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Triage 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00728"/>
            <a:ext cx="2426131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97%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8247" y="3831844"/>
            <a:ext cx="2156460" cy="377444"/>
          </a:xfrm>
          <a:prstGeom prst="roundRect">
            <a:avLst/>
          </a:prstGeom>
          <a:solidFill>
            <a:srgbClr val="D69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TTE reduction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3411" y="4300728"/>
            <a:ext cx="2426131" cy="458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223043"/>
                </a:solidFill>
                <a:latin typeface="Liberation Sans"/>
              </a:defRPr>
            </a:pPr>
            <a:r>
              <a:t>91%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2151" y="3857498"/>
            <a:ext cx="27432" cy="87579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6743" y="3857498"/>
            <a:ext cx="5053431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Production validated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4374134"/>
            <a:ext cx="5053431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Deployed at Microsoft, serving tens of millions of users.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set>
                          <p:cBhvr>
                            <p:cTn id="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set>
                          <p:cBhvr>
                            <p:cTn id="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set>
                          <p:cBhvr>
                            <p:cTn id="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set>
                          <p:cBhvr>
                            <p:cTn id="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50" dur="indefinite" nodeType="mainSeq">
                <p:childTnLst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7431" cy="1106932"/>
          </a:xfrm>
          <a:prstGeom prst="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1" y="1371600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8FAAC8"/>
                </a:solidFill>
                <a:latin typeface="Liberation Sans"/>
              </a:defRPr>
            </a:pPr>
            <a:r>
              <a:t>From evaluation to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1" y="1888236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OpenRCA 2.0 gives us process supervision for evaluation. But where does the training data come from? Manual annotation is too expensive.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5422" y="2734564"/>
            <a:ext cx="17373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Simulation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32782" y="310946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7102" y="2734564"/>
            <a:ext cx="181356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Hypothesis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20662" y="310946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94982" y="2734564"/>
            <a:ext cx="1089660" cy="749808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Verify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84642" y="3109468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58962" y="2734564"/>
            <a:ext cx="1337310" cy="749808"/>
          </a:xfrm>
          <a:prstGeom prst="roundRect">
            <a:avLst/>
          </a:prstGeom>
          <a:solidFill>
            <a:srgbClr val="D8A86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Reward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40404"/>
            <a:ext cx="27431" cy="110693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1" y="3740404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Stage 1: Train on closed loops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1" y="4257040"/>
            <a:ext cx="10564063" cy="59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Use fault injection to generate unlimited training cases. The agent proposes hypotheses, verifies against ground truth, and learns from the full loop—not just answer labels.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set>
                          <p:cBhvr>
                            <p:cTn id="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set>
                          <p:cBhvr>
                            <p:cTn id="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set>
                          <p:cBhvr>
                            <p:cTn id="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set>
                          <p:cBhvr>
                            <p:cTn id="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set>
                          <p:cBhvr>
                            <p:cTn id="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6" fill="hold">
                      <p:stCondLst>
                        <p:cond delay="0"/>
                      </p:stCondLst>
                      <p:childTnLst>
                        <p:set>
                          <p:cBhvr>
                            <p:cTn id="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set>
                          <p:cBhvr>
                            <p:cTn id="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set>
                          <p:cBhvr>
                            <p:cTn id="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42" dur="indefinite" nodeType="mainSeq">
                <p:childTnLst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2: Distill World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29787" y="1371600"/>
            <a:ext cx="1908810" cy="749808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Many traces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23859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512917" y="1371600"/>
            <a:ext cx="1089660" cy="749808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Distill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02577" y="1746504"/>
            <a:ext cx="274320" cy="0"/>
          </a:xfrm>
          <a:prstGeom prst="line">
            <a:avLst/>
          </a:prstGeom>
          <a:ln w="19050">
            <a:solidFill>
              <a:srgbClr val="94A3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76897" y="1371600"/>
            <a:ext cx="1985010" cy="749808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0">
                <a:solidFill>
                  <a:srgbClr val="223043"/>
                </a:solidFill>
                <a:latin typeface="Liberation Sans"/>
              </a:defRPr>
            </a:pPr>
            <a:r>
              <a:t>World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767" y="3113532"/>
            <a:ext cx="2270759" cy="377444"/>
          </a:xfrm>
          <a:prstGeom prst="roundRect">
            <a:avLst/>
          </a:prstGeom>
          <a:solidFill>
            <a:srgbClr val="8FA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Training traces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50542" y="3618992"/>
            <a:ext cx="434721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A: CPU →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3867" y="4295648"/>
            <a:ext cx="448056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B: Memory → 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07642" y="4972304"/>
            <a:ext cx="5033010" cy="548640"/>
          </a:xfrm>
          <a:prstGeom prst="roundRect">
            <a:avLst/>
          </a:prstGeom>
          <a:solidFill>
            <a:srgbClr val="F1F5FA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0">
                <a:solidFill>
                  <a:srgbClr val="223043"/>
                </a:solidFill>
                <a:latin typeface="Liberation Sans"/>
              </a:defRPr>
            </a:pPr>
            <a:r>
              <a:t>Trace C: Network → Timeout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47232" y="2340864"/>
            <a:ext cx="4309110" cy="377444"/>
          </a:xfrm>
          <a:prstGeom prst="round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Stage 2: Reusable world model</a:t>
            </a:r>
          </a:p>
        </p:txBody>
      </p:sp>
      <p:sp>
        <p:nvSpPr>
          <p:cNvPr id="14" name="Oval 13"/>
          <p:cNvSpPr/>
          <p:nvPr/>
        </p:nvSpPr>
        <p:spPr>
          <a:xfrm>
            <a:off x="6918807" y="2864612"/>
            <a:ext cx="1965960" cy="1965960"/>
          </a:xfrm>
          <a:prstGeom prst="ellipse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  <a:latin typeface="Liberation Sans"/>
              </a:defRPr>
            </a:pPr>
            <a:r>
              <a:t>world</a:t>
            </a:r>
            <a:br/>
            <a: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1547" y="4976876"/>
            <a:ext cx="3840480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223043"/>
                </a:solidFill>
                <a:latin typeface="Liberation Sans"/>
              </a:defRPr>
            </a:pPr>
            <a:r>
              <a:t>Compress many traces into a compact causal representation. Preserve propagation structure, drop incident-specific noise.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3043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97280" cy="36576"/>
          </a:xfrm>
          <a:prstGeom prst="rect">
            <a:avLst/>
          </a:prstGeom>
          <a:solidFill>
            <a:srgbClr val="5C82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7431" cy="875792"/>
          </a:xfrm>
          <a:prstGeom prst="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1" y="1371600"/>
            <a:ext cx="10564063" cy="425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5C82AD"/>
                </a:solidFill>
                <a:latin typeface="Liberation Sans"/>
              </a:defRPr>
            </a:pPr>
            <a:r>
              <a:t>Stage 3: Maximize leverage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1" y="1888236"/>
            <a:ext cx="10564063" cy="359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223043"/>
                </a:solidFill>
                <a:latin typeface="Liberation Sans"/>
              </a:defRPr>
            </a:pPr>
            <a:r>
              <a:t>Build the world model once, then apply it across the entire incident management lifecycle.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9837" y="2503424"/>
            <a:ext cx="1237125" cy="1005840"/>
          </a:xfrm>
          <a:prstGeom prst="roundRect">
            <a:avLst/>
          </a:prstGeom>
          <a:solidFill>
            <a:srgbClr val="5C82AD"/>
          </a:solidFill>
          <a:ln w="12700">
            <a:solidFill>
              <a:srgbClr val="5C82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World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96962" y="3006343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086235" y="2503424"/>
            <a:ext cx="1567325" cy="1005840"/>
          </a:xfrm>
          <a:prstGeom prst="roundRect">
            <a:avLst/>
          </a:prstGeom>
          <a:solidFill>
            <a:srgbClr val="7FA195"/>
          </a:solidFill>
          <a:ln w="12700">
            <a:solidFill>
              <a:srgbClr val="7FA1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Repair suggestion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53561" y="3006343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42834" y="2503424"/>
            <a:ext cx="1884825" cy="1005840"/>
          </a:xfrm>
          <a:prstGeom prst="roundRect">
            <a:avLst/>
          </a:prstGeom>
          <a:solidFill>
            <a:srgbClr val="8FAAC8"/>
          </a:solidFill>
          <a:ln w="12700">
            <a:solidFill>
              <a:srgbClr val="8FA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Root-cause localization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27659" y="3006343"/>
            <a:ext cx="389273" cy="0"/>
          </a:xfrm>
          <a:prstGeom prst="line">
            <a:avLst/>
          </a:prstGeom>
          <a:ln w="19050">
            <a:solidFill>
              <a:srgbClr val="5C82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16932" y="2503424"/>
            <a:ext cx="1414925" cy="1005840"/>
          </a:xfrm>
          <a:prstGeom prst="roundRect">
            <a:avLst/>
          </a:prstGeom>
          <a:solidFill>
            <a:srgbClr val="D69A68"/>
          </a:solidFill>
          <a:ln w="12700">
            <a:solidFill>
              <a:srgbClr val="D69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Liberation Sans"/>
              </a:defRPr>
            </a:pPr>
            <a:r>
              <a:t>Fault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65296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1">
                <a:solidFill>
                  <a:srgbClr val="647489"/>
                </a:solidFill>
                <a:latin typeface="Liberation Sans"/>
              </a:defRPr>
            </a:pPr>
            <a:r>
              <a:t>The world model's value is reuse: one causal representation supports diagnosis, prediction, and repair across different operational contexts.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set>
                          <p:cBhvr>
                            <p:cTn id="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set>
                          <p:cBhvr>
                            <p:cTn id="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26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0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C82AD"/>
                </a:solidFill>
                <a:latin typeface="Liberation Sans"/>
              </a:defRPr>
            </a:pPr>
            <a:r>
              <a:t>Three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4644"/>
            <a:ext cx="10728655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47489"/>
                </a:solidFill>
                <a:latin typeface="Liberation Sans"/>
              </a:defRPr>
            </a:pPr>
            <a:r>
              <a:t>What matters is not only finding the right answer, but building a reasoning system we can trust and reuse.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347" y="3211068"/>
            <a:ext cx="3154680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D69A68"/>
                </a:solidFill>
                <a:latin typeface="Liberation San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347" y="3907536"/>
            <a:ext cx="3154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Score the path, not just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18507" y="3211068"/>
            <a:ext cx="3154680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8FAAC8"/>
                </a:solidFill>
                <a:latin typeface="Liberation Sans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8507" y="3907536"/>
            <a:ext cx="3154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Train on verification loops, not only labels.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84667" y="3211068"/>
            <a:ext cx="3154680" cy="62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7FA195"/>
                </a:solidFill>
                <a:latin typeface="Liberation Sans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4667" y="3907536"/>
            <a:ext cx="315468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223043"/>
                </a:solidFill>
                <a:latin typeface="Liberation Sans"/>
              </a:defRPr>
            </a:pPr>
            <a:r>
              <a:t>Build the model once, then reuse it broadly.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13960"/>
            <a:ext cx="10728655" cy="4912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C82AD"/>
                </a:solidFill>
                <a:latin typeface="Liberation Sans"/>
              </a:defRPr>
            </a:pPr>
            <a:r>
              <a:t>Build the model once. Reuse it across diagnosis, prediction, and repair.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3" fill="hold">
                <p:stCondLst>
                  <p:cond delay="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set>
                          <p:cBhvr>
                            <p:cTn id="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6" fill="hold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set>
                          <p:cBhvr>
                            <p:cTn id="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set>
                          <p:cBhvr>
                            <p:cTn id="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2" fill="hold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set>
                          <p:cBhvr>
                            <p:cTn id="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  <p:par>
                    <p:cTn id="16" fill="hold">
                      <p:stCondLst>
                        <p:cond delay="0"/>
                      </p:stCondLst>
                      <p:childTnLst>
                        <p:set>
                          <p:cBhvr>
                            <p:cTn id="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hidden"/>
                          </p:to>
                        </p:set>
                      </p:childTnLst>
                    </p:cTn>
                  </p:par>
                </p:childTnLst>
              </p:cTn>
            </p:par>
            <p:seq concurrent="1" nextAc="seek">
              <p:cTn id="18" dur="indefinite" nodeType="mainSeq">
                <p:childTnLst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