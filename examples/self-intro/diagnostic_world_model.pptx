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reframing RCA as a world-modeling problem rather than a label prediction problem. Transition by stating that the next slides unpack the three premises that make this view practical.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today's black-box symptom-to-label flow with a world-model loop that hypothesizes and verifies propagation. Transition by asking what assumptions must be true for that loop to be feasible.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first premise: the intervention space is broad but still bounded enough to model. Transition by noting that bounded atomic faults only help if we can replay them inside a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second premise: if we can inject faults under workload, we can watch failures propagate instead of merely reading symptoms after the fact. Transition by saying replay alone is insufficient unless we can score whether a reasoning path matches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third premise explicit: a diagnosis should earn reward only when the causal path checks out against ground truth. Transition by saying that once world-model RCA is feasible, the real bottleneck becomes how RCA is defined and evaluated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survey to argue that the classical metrics-logs-traces taxonomy is exactly where the field drifts away from the world-model target. Transition by showing the deeper systems constraint that shapes all practical RCA methods.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survey's Effectiveness-Data-Cost triangle as the governing trade-off behind practical RCA systems. Transition by saying that once the trade-off is clear, we can define the ideal north-star formulation explicitly.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survey's formalization F: O -&gt; G and stress that G is an incident propagation graph, not merely a ranked root-cause label. Transition by using that north star to diagnose why existing benchmarks create a misleading sense of progress.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dataset study's headline result: simple heuristics are surprisingly competitive with SOTA on public benchmarks. Transition by asking what structural defects make those benchmarks so forgiving.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three defects from the benchmark study: fault injection, dependency structure, and telemetry patterns. Transition by showing the concrete benchmark pipeline built to fix these weaknesses.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first section with the benchmark pipeline and the core result numbers: 9,152 injections, 1,430 validated cases, 25 fault types, 0.21 average Top@1, and 0.37 best. Transition by saying the rest of the deck will explain the process-level supervision and benchmark design behind this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outcome correctness from process correctness with the 0.76 versus 0.63 comparison. Transition by asking how to turn an ill-posed backward RCA task into something verifiable enough to supervise.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information asymmetry at the heart of FORGE: the agent reasons backward, while annotation can verify forward from the known intervention. Transition by turning that verification mechanism into a concrete benchmark identity.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benchmark identity in three facts: 500 instances, step-wise causal annotations, and process supervision. Transition by broadening from RCA diagnosis to the adjacent triage workflow where multi-agent coordination already shows practical value.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TRIANGLE as adjacent evidence rather than the main RCA contribution: structured role separation already works in a neighboring reliability task. Transition by saying the next step is to turn that structured reliability reasoning into a reusable diagnostic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on the adjacent evidence from TRIANGLE and move into the main roadmap: stage one is training an agent inside a simulation-hypothesis-verify-reward loop. Transition by asking what remains after we collect many successful traces from that loop.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two is compression: distill many traces into one reusable world model without losing the causal structure we care about. Transition by showing that once the world model exists, the same core should branch into multiple operational tasks.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is where the roadmap cashes out: one world model should support root-cause localization, fault prediction, and repair suggestion. Transition by summarizing the research philosophy that connects these stages.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 the roadmap into three research capabilities: simulate, compress, and generalize. Transition by turning those capabilities into the three closing takeaways for the audience.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three short takeaways rather than a dense recap, keeping the typography strong and the message memorable. End on the final line as the thesis statement for the whole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F0F7"/>
        </a:solidFill>
        <a:effectLst/>
      </p:bgPr>
    </p:bg>
    <p:spTree>
      <p:nvGrpSpPr>
        <p:cNvPr id="1" name=""/>
        <p:cNvGrpSpPr/>
        <p:nvPr/>
      </p:nvGrpSpPr>
      <p:grpSpPr/>
      <p:sp>
        <p:nvSpPr>
          <p:cNvPr id="2" name="Rounded Rectangle 1"/>
          <p:cNvSpPr/>
          <p:nvPr/>
        </p:nvSpPr>
        <p:spPr>
          <a:xfrm>
            <a:off x="3388842" y="1594612"/>
            <a:ext cx="175641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Research Vision</a:t>
            </a:r>
          </a:p>
        </p:txBody>
      </p:sp>
      <p:sp>
        <p:nvSpPr>
          <p:cNvPr id="3" name="TextBox 2"/>
          <p:cNvSpPr txBox="1"/>
          <p:nvPr/>
        </p:nvSpPr>
        <p:spPr>
          <a:xfrm>
            <a:off x="975207" y="2136648"/>
            <a:ext cx="6583680" cy="1052576"/>
          </a:xfrm>
          <a:prstGeom prst="rect">
            <a:avLst/>
          </a:prstGeom>
          <a:noFill/>
        </p:spPr>
        <p:txBody>
          <a:bodyPr wrap="square">
            <a:spAutoFit/>
          </a:bodyPr>
          <a:lstStyle/>
          <a:p>
            <a:pPr algn="l">
              <a:defRPr sz="2800" b="1" i="0">
                <a:solidFill>
                  <a:srgbClr val="5C82AD"/>
                </a:solidFill>
                <a:latin typeface="Liberation Sans"/>
              </a:defRPr>
            </a:pPr>
            <a:r>
              <a:t>Building World Models for</a:t>
            </a:r>
          </a:p>
          <a:p>
            <a:pPr algn="l">
              <a:defRPr sz="2800" b="1" i="0">
                <a:solidFill>
                  <a:srgbClr val="5C82AD"/>
                </a:solidFill>
                <a:latin typeface="Liberation Sans"/>
              </a:defRPr>
            </a:pPr>
            <a:r>
              <a:t>Diagnostic Intelligence</a:t>
            </a:r>
          </a:p>
        </p:txBody>
      </p:sp>
      <p:sp>
        <p:nvSpPr>
          <p:cNvPr id="4" name="TextBox 3"/>
          <p:cNvSpPr txBox="1"/>
          <p:nvPr/>
        </p:nvSpPr>
        <p:spPr>
          <a:xfrm>
            <a:off x="975207" y="3353816"/>
            <a:ext cx="6583680" cy="425196"/>
          </a:xfrm>
          <a:prstGeom prst="rect">
            <a:avLst/>
          </a:prstGeom>
          <a:noFill/>
        </p:spPr>
        <p:txBody>
          <a:bodyPr wrap="square">
            <a:spAutoFit/>
          </a:bodyPr>
          <a:lstStyle/>
          <a:p>
            <a:pPr algn="l">
              <a:defRPr sz="1800" b="0" i="0">
                <a:solidFill>
                  <a:srgbClr val="647489"/>
                </a:solidFill>
                <a:latin typeface="Liberation Sans"/>
              </a:defRPr>
            </a:pPr>
            <a:r>
              <a:t>From outcome labels to causal process supervision in root cause analysis.</a:t>
            </a:r>
          </a:p>
        </p:txBody>
      </p:sp>
      <p:sp>
        <p:nvSpPr>
          <p:cNvPr id="5" name="TextBox 4"/>
          <p:cNvSpPr txBox="1"/>
          <p:nvPr/>
        </p:nvSpPr>
        <p:spPr>
          <a:xfrm>
            <a:off x="975207" y="3943604"/>
            <a:ext cx="6583680" cy="425196"/>
          </a:xfrm>
          <a:prstGeom prst="rect">
            <a:avLst/>
          </a:prstGeom>
          <a:noFill/>
        </p:spPr>
        <p:txBody>
          <a:bodyPr wrap="square">
            <a:spAutoFit/>
          </a:bodyPr>
          <a:lstStyle/>
          <a:p>
            <a:pPr algn="l">
              <a:defRPr sz="1800" b="1" i="0">
                <a:solidFill>
                  <a:srgbClr val="D69A68"/>
                </a:solidFill>
                <a:latin typeface="Liberation Sans"/>
              </a:defRPr>
            </a:pPr>
            <a:r>
              <a:t>Move RCA from point finding to graph building.</a:t>
            </a:r>
          </a:p>
        </p:txBody>
      </p:sp>
      <p:sp>
        <p:nvSpPr>
          <p:cNvPr id="6" name="Rounded Rectangle 5"/>
          <p:cNvSpPr/>
          <p:nvPr/>
        </p:nvSpPr>
        <p:spPr>
          <a:xfrm>
            <a:off x="9107652" y="1371600"/>
            <a:ext cx="110871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Problem</a:t>
            </a:r>
          </a:p>
        </p:txBody>
      </p:sp>
      <p:sp>
        <p:nvSpPr>
          <p:cNvPr id="7" name="TextBox 6"/>
          <p:cNvSpPr txBox="1"/>
          <p:nvPr/>
        </p:nvSpPr>
        <p:spPr>
          <a:xfrm>
            <a:off x="8107527" y="1840484"/>
            <a:ext cx="3108960" cy="458216"/>
          </a:xfrm>
          <a:prstGeom prst="rect">
            <a:avLst/>
          </a:prstGeom>
          <a:noFill/>
        </p:spPr>
        <p:txBody>
          <a:bodyPr wrap="square">
            <a:spAutoFit/>
          </a:bodyPr>
          <a:lstStyle/>
          <a:p>
            <a:pPr algn="l">
              <a:defRPr sz="2000" b="1" i="0">
                <a:solidFill>
                  <a:srgbClr val="223043"/>
                </a:solidFill>
                <a:latin typeface="Liberation Sans"/>
              </a:defRPr>
            </a:pPr>
            <a:r>
              <a:t>Oversimplified RCA</a:t>
            </a:r>
          </a:p>
        </p:txBody>
      </p:sp>
      <p:sp>
        <p:nvSpPr>
          <p:cNvPr id="8" name="Rounded Rectangle 7"/>
          <p:cNvSpPr/>
          <p:nvPr/>
        </p:nvSpPr>
        <p:spPr>
          <a:xfrm>
            <a:off x="9136227" y="2518156"/>
            <a:ext cx="105156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Method</a:t>
            </a:r>
          </a:p>
        </p:txBody>
      </p:sp>
      <p:sp>
        <p:nvSpPr>
          <p:cNvPr id="9" name="TextBox 8"/>
          <p:cNvSpPr txBox="1"/>
          <p:nvPr/>
        </p:nvSpPr>
        <p:spPr>
          <a:xfrm>
            <a:off x="8107527" y="2987040"/>
            <a:ext cx="3108960" cy="458216"/>
          </a:xfrm>
          <a:prstGeom prst="rect">
            <a:avLst/>
          </a:prstGeom>
          <a:noFill/>
        </p:spPr>
        <p:txBody>
          <a:bodyPr wrap="square">
            <a:spAutoFit/>
          </a:bodyPr>
          <a:lstStyle/>
          <a:p>
            <a:pPr algn="l">
              <a:defRPr sz="2000" b="1" i="0">
                <a:solidFill>
                  <a:srgbClr val="223043"/>
                </a:solidFill>
                <a:latin typeface="Liberation Sans"/>
              </a:defRPr>
            </a:pPr>
            <a:r>
              <a:t>Forward verification</a:t>
            </a:r>
          </a:p>
        </p:txBody>
      </p:sp>
      <p:sp>
        <p:nvSpPr>
          <p:cNvPr id="10" name="Rounded Rectangle 9"/>
          <p:cNvSpPr/>
          <p:nvPr/>
        </p:nvSpPr>
        <p:spPr>
          <a:xfrm>
            <a:off x="9288627" y="3664712"/>
            <a:ext cx="74676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Goal</a:t>
            </a:r>
          </a:p>
        </p:txBody>
      </p:sp>
      <p:sp>
        <p:nvSpPr>
          <p:cNvPr id="11" name="TextBox 10"/>
          <p:cNvSpPr txBox="1"/>
          <p:nvPr/>
        </p:nvSpPr>
        <p:spPr>
          <a:xfrm>
            <a:off x="8107527" y="4133596"/>
            <a:ext cx="3108960" cy="458216"/>
          </a:xfrm>
          <a:prstGeom prst="rect">
            <a:avLst/>
          </a:prstGeom>
          <a:noFill/>
        </p:spPr>
        <p:txBody>
          <a:bodyPr wrap="square">
            <a:spAutoFit/>
          </a:bodyPr>
          <a:lstStyle/>
          <a:p>
            <a:pPr algn="l">
              <a:defRPr sz="2000" b="1" i="0">
                <a:solidFill>
                  <a:srgbClr val="223043"/>
                </a:solidFill>
                <a:latin typeface="Liberation Sans"/>
              </a:defRPr>
            </a:pPr>
            <a:r>
              <a:t>Trusted diagnosis</a:t>
            </a:r>
          </a:p>
        </p:txBody>
      </p:sp>
      <p:sp>
        <p:nvSpPr>
          <p:cNvPr id="12" name="TextBox 11"/>
          <p:cNvSpPr txBox="1"/>
          <p:nvPr/>
        </p:nvSpPr>
        <p:spPr>
          <a:xfrm>
            <a:off x="731520" y="4957572"/>
            <a:ext cx="10728655" cy="425196"/>
          </a:xfrm>
          <a:prstGeom prst="rect">
            <a:avLst/>
          </a:prstGeom>
          <a:noFill/>
        </p:spPr>
        <p:txBody>
          <a:bodyPr wrap="square">
            <a:spAutoFit/>
          </a:bodyPr>
          <a:lstStyle/>
          <a:p>
            <a:pPr algn="l">
              <a:defRPr sz="1800" b="0" i="1">
                <a:solidFill>
                  <a:srgbClr val="647489"/>
                </a:solidFill>
                <a:latin typeface="Liberation Sans"/>
              </a:defRPr>
            </a:pPr>
            <a:r>
              <a:t>Trusted diagnosis needs simulatable failures, verifiable reasoning, and explicit propagation structure.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childTnLst>
              </p:cTn>
            </p:par>
            <p:seq concurrent="1" nextAc="seek">
              <p:cTn id="22" dur="indefinite" nodeType="mainSeq">
                <p:childTnLst>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animEffect transition="in" filter="fade">
                                      <p:cBhvr>
                                        <p:cTn id="26" dur="500"/>
                                        <p:tgtEl>
                                          <p:spTgt spid="2"/>
                                        </p:tgtEl>
                                      </p:cBhvr>
                                    </p:animEffect>
                                    <p:set>
                                      <p:cBhvr>
                                        <p:cTn id="27" dur="1" fill="hold">
                                          <p:stCondLst>
                                            <p:cond delay="0"/>
                                          </p:stCondLst>
                                        </p:cTn>
                                        <p:tgtEl>
                                          <p:spTgt spid="2"/>
                                        </p:tgtEl>
                                        <p:attrNameLst>
                                          <p:attrName>style.visibility</p:attrName>
                                        </p:attrNameLst>
                                      </p:cBhvr>
                                      <p:to>
                                        <p:strVal val="visible"/>
                                      </p:to>
                                    </p:set>
                                  </p:childTnLst>
                                </p:cTn>
                              </p:par>
                              <p:par>
                                <p:cTn id="28" presetID="10" presetClass="entr" presetSubtype="0" fill="hold" grpId="0" nodeType="withEffect">
                                  <p:stCondLst>
                                    <p:cond delay="0"/>
                                  </p:stCondLst>
                                  <p:childTnLst>
                                    <p:animEffect transition="in" filter="fade">
                                      <p:cBhvr>
                                        <p:cTn id="29" dur="500"/>
                                        <p:tgtEl>
                                          <p:spTgt spid="3"/>
                                        </p:tgtEl>
                                      </p:cBhvr>
                                    </p:animEffect>
                                    <p:set>
                                      <p:cBhvr>
                                        <p:cTn id="30" dur="1" fill="hold">
                                          <p:stCondLst>
                                            <p:cond delay="0"/>
                                          </p:stCondLst>
                                        </p:cTn>
                                        <p:tgtEl>
                                          <p:spTgt spid="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animEffect transition="in" filter="fade">
                                      <p:cBhvr>
                                        <p:cTn id="34" dur="500"/>
                                        <p:tgtEl>
                                          <p:spTgt spid="4"/>
                                        </p:tgtEl>
                                      </p:cBhvr>
                                    </p:animEffect>
                                    <p:set>
                                      <p:cBhvr>
                                        <p:cTn id="35" dur="1" fill="hold">
                                          <p:stCondLst>
                                            <p:cond delay="0"/>
                                          </p:stCondLst>
                                        </p:cTn>
                                        <p:tgtEl>
                                          <p:spTgt spid="4"/>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5"/>
                                        </p:tgtEl>
                                      </p:cBhvr>
                                    </p:animEffec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6"/>
                                        </p:tgtEl>
                                      </p:cBhvr>
                                    </p:animEffect>
                                    <p:set>
                                      <p:cBhvr>
                                        <p:cTn id="43" dur="1" fill="hold">
                                          <p:stCondLst>
                                            <p:cond delay="0"/>
                                          </p:stCondLst>
                                        </p:cTn>
                                        <p:tgtEl>
                                          <p:spTgt spid="6"/>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7"/>
                                        </p:tgtEl>
                                      </p:cBhvr>
                                    </p:animEffect>
                                    <p:set>
                                      <p:cBhvr>
                                        <p:cTn id="46" dur="1" fill="hold">
                                          <p:stCondLst>
                                            <p:cond delay="0"/>
                                          </p:stCondLst>
                                        </p:cTn>
                                        <p:tgtEl>
                                          <p:spTgt spid="7"/>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8"/>
                                        </p:tgtEl>
                                      </p:cBhvr>
                                    </p:animEffect>
                                    <p:set>
                                      <p:cBhvr>
                                        <p:cTn id="49" dur="1" fill="hold">
                                          <p:stCondLst>
                                            <p:cond delay="0"/>
                                          </p:stCondLst>
                                        </p:cTn>
                                        <p:tgtEl>
                                          <p:spTgt spid="8"/>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9"/>
                                        </p:tgtEl>
                                      </p:cBhvr>
                                    </p:animEffect>
                                    <p:set>
                                      <p:cBhvr>
                                        <p:cTn id="52" dur="1" fill="hold">
                                          <p:stCondLst>
                                            <p:cond delay="0"/>
                                          </p:stCondLst>
                                        </p:cTn>
                                        <p:tgtEl>
                                          <p:spTgt spid="9"/>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0"/>
                                        </p:tgtEl>
                                      </p:cBhvr>
                                    </p:animEffect>
                                    <p:set>
                                      <p:cBhvr>
                                        <p:cTn id="55" dur="1" fill="hold">
                                          <p:stCondLst>
                                            <p:cond delay="0"/>
                                          </p:stCondLst>
                                        </p:cTn>
                                        <p:tgtEl>
                                          <p:spTgt spid="10"/>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1"/>
                                        </p:tgtEl>
                                      </p:cBhvr>
                                    </p:animEffect>
                                    <p:set>
                                      <p:cBhvr>
                                        <p:cTn id="58" dur="1" fill="hold">
                                          <p:stCondLst>
                                            <p:cond delay="0"/>
                                          </p:stCondLst>
                                        </p:cTn>
                                        <p:tgtEl>
                                          <p:spTgt spid="11"/>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2"/>
                                        </p:tgtEl>
                                      </p:cBhvr>
                                    </p:animEffect>
                                    <p:set>
                                      <p:cBhvr>
                                        <p:cTn id="61"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Vision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Rounded Rectangle 4"/>
          <p:cNvSpPr/>
          <p:nvPr/>
        </p:nvSpPr>
        <p:spPr>
          <a:xfrm>
            <a:off x="2586837" y="1487170"/>
            <a:ext cx="162306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Black-box RCA</a:t>
            </a:r>
          </a:p>
        </p:txBody>
      </p:sp>
      <p:pic>
        <p:nvPicPr>
          <p:cNvPr id="6" name="Picture 5" descr="tmp_tcfotc0.png"/>
          <p:cNvPicPr>
            <a:picLocks noChangeAspect="1"/>
          </p:cNvPicPr>
          <p:nvPr/>
        </p:nvPicPr>
        <p:blipFill>
          <a:blip r:embed="rId3"/>
          <a:stretch>
            <a:fillRect/>
          </a:stretch>
        </p:blipFill>
        <p:spPr>
          <a:xfrm>
            <a:off x="2849727" y="2029206"/>
            <a:ext cx="457200" cy="457200"/>
          </a:xfrm>
          <a:prstGeom prst="rect">
            <a:avLst/>
          </a:prstGeom>
        </p:spPr>
      </p:pic>
      <p:pic>
        <p:nvPicPr>
          <p:cNvPr id="7" name="Picture 6" descr="tmpsjp_xq0v.png"/>
          <p:cNvPicPr>
            <a:picLocks noChangeAspect="1"/>
          </p:cNvPicPr>
          <p:nvPr/>
        </p:nvPicPr>
        <p:blipFill>
          <a:blip r:embed="rId4"/>
          <a:stretch>
            <a:fillRect/>
          </a:stretch>
        </p:blipFill>
        <p:spPr>
          <a:xfrm>
            <a:off x="3489807" y="2029206"/>
            <a:ext cx="457200" cy="457200"/>
          </a:xfrm>
          <a:prstGeom prst="rect">
            <a:avLst/>
          </a:prstGeom>
        </p:spPr>
      </p:pic>
      <p:sp>
        <p:nvSpPr>
          <p:cNvPr id="8" name="Rounded Rectangle 7"/>
          <p:cNvSpPr/>
          <p:nvPr/>
        </p:nvSpPr>
        <p:spPr>
          <a:xfrm>
            <a:off x="937107" y="2650998"/>
            <a:ext cx="12992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Telemetry</a:t>
            </a:r>
          </a:p>
        </p:txBody>
      </p:sp>
      <p:cxnSp>
        <p:nvCxnSpPr>
          <p:cNvPr id="9" name="Connector 8"/>
          <p:cNvCxnSpPr/>
          <p:nvPr/>
        </p:nvCxnSpPr>
        <p:spPr>
          <a:xfrm>
            <a:off x="2236317" y="302590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510637" y="2650998"/>
            <a:ext cx="1318259" cy="749808"/>
          </a:xfrm>
          <a:prstGeom prst="roundRect">
            <a:avLst/>
          </a:prstGeom>
          <a:solidFill>
            <a:srgbClr val="C98A7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LLM guess</a:t>
            </a:r>
          </a:p>
        </p:txBody>
      </p:sp>
      <p:cxnSp>
        <p:nvCxnSpPr>
          <p:cNvPr id="11" name="Connector 10"/>
          <p:cNvCxnSpPr/>
          <p:nvPr/>
        </p:nvCxnSpPr>
        <p:spPr>
          <a:xfrm>
            <a:off x="3828897" y="302590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103217" y="2650998"/>
            <a:ext cx="17564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Root cause label</a:t>
            </a:r>
          </a:p>
        </p:txBody>
      </p:sp>
      <p:sp>
        <p:nvSpPr>
          <p:cNvPr id="13" name="Rectangle 12"/>
          <p:cNvSpPr/>
          <p:nvPr/>
        </p:nvSpPr>
        <p:spPr>
          <a:xfrm>
            <a:off x="883767" y="3565398"/>
            <a:ext cx="27432" cy="87579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8359" y="3565398"/>
            <a:ext cx="4864608" cy="425196"/>
          </a:xfrm>
          <a:prstGeom prst="rect">
            <a:avLst/>
          </a:prstGeom>
          <a:noFill/>
        </p:spPr>
        <p:txBody>
          <a:bodyPr wrap="square">
            <a:spAutoFit/>
          </a:bodyPr>
          <a:lstStyle/>
          <a:p>
            <a:pPr algn="l">
              <a:defRPr sz="1800" b="1" i="0">
                <a:solidFill>
                  <a:srgbClr val="C98A78"/>
                </a:solidFill>
                <a:latin typeface="Liberation Sans"/>
              </a:defRPr>
            </a:pPr>
            <a:r>
              <a:t>Current pattern</a:t>
            </a:r>
          </a:p>
        </p:txBody>
      </p:sp>
      <p:sp>
        <p:nvSpPr>
          <p:cNvPr id="15" name="TextBox 14"/>
          <p:cNvSpPr txBox="1"/>
          <p:nvPr/>
        </p:nvSpPr>
        <p:spPr>
          <a:xfrm>
            <a:off x="1048359" y="4082034"/>
            <a:ext cx="4864608" cy="359156"/>
          </a:xfrm>
          <a:prstGeom prst="rect">
            <a:avLst/>
          </a:prstGeom>
          <a:noFill/>
        </p:spPr>
        <p:txBody>
          <a:bodyPr wrap="square">
            <a:spAutoFit/>
          </a:bodyPr>
          <a:lstStyle/>
          <a:p>
            <a:pPr algn="l">
              <a:defRPr sz="1400" b="0" i="0">
                <a:solidFill>
                  <a:srgbClr val="223043"/>
                </a:solidFill>
                <a:latin typeface="Liberation Sans"/>
              </a:defRPr>
            </a:pPr>
            <a:r>
              <a:t>Optimize for a correct answer, even if the causal path is hidden or hallucinated.</a:t>
            </a:r>
          </a:p>
        </p:txBody>
      </p:sp>
      <p:sp>
        <p:nvSpPr>
          <p:cNvPr id="16" name="Rounded Rectangle 15"/>
          <p:cNvSpPr/>
          <p:nvPr/>
        </p:nvSpPr>
        <p:spPr>
          <a:xfrm>
            <a:off x="7829397" y="1371600"/>
            <a:ext cx="192786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World-model RCA</a:t>
            </a:r>
          </a:p>
        </p:txBody>
      </p:sp>
      <p:pic>
        <p:nvPicPr>
          <p:cNvPr id="17" name="Picture 16" descr="tmp_tcfotc0.png"/>
          <p:cNvPicPr>
            <a:picLocks noChangeAspect="1"/>
          </p:cNvPicPr>
          <p:nvPr/>
        </p:nvPicPr>
        <p:blipFill>
          <a:blip r:embed="rId3"/>
          <a:stretch>
            <a:fillRect/>
          </a:stretch>
        </p:blipFill>
        <p:spPr>
          <a:xfrm>
            <a:off x="8244687" y="1913636"/>
            <a:ext cx="457200" cy="457200"/>
          </a:xfrm>
          <a:prstGeom prst="rect">
            <a:avLst/>
          </a:prstGeom>
        </p:spPr>
      </p:pic>
      <p:pic>
        <p:nvPicPr>
          <p:cNvPr id="18" name="Picture 17" descr="tmpudbz1g83.png"/>
          <p:cNvPicPr>
            <a:picLocks noChangeAspect="1"/>
          </p:cNvPicPr>
          <p:nvPr/>
        </p:nvPicPr>
        <p:blipFill>
          <a:blip r:embed="rId5"/>
          <a:stretch>
            <a:fillRect/>
          </a:stretch>
        </p:blipFill>
        <p:spPr>
          <a:xfrm>
            <a:off x="8884767" y="1913636"/>
            <a:ext cx="457200" cy="457200"/>
          </a:xfrm>
          <a:prstGeom prst="rect">
            <a:avLst/>
          </a:prstGeom>
        </p:spPr>
      </p:pic>
      <p:sp>
        <p:nvSpPr>
          <p:cNvPr id="19" name="Rounded Rectangle 18"/>
          <p:cNvSpPr/>
          <p:nvPr/>
        </p:nvSpPr>
        <p:spPr>
          <a:xfrm>
            <a:off x="6278727" y="2535428"/>
            <a:ext cx="12992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Telemetry</a:t>
            </a:r>
          </a:p>
        </p:txBody>
      </p:sp>
      <p:cxnSp>
        <p:nvCxnSpPr>
          <p:cNvPr id="20" name="Connector 19"/>
          <p:cNvCxnSpPr/>
          <p:nvPr/>
        </p:nvCxnSpPr>
        <p:spPr>
          <a:xfrm>
            <a:off x="7577937" y="291033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852257" y="2535428"/>
            <a:ext cx="133731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Hypothesis</a:t>
            </a:r>
          </a:p>
        </p:txBody>
      </p:sp>
      <p:cxnSp>
        <p:nvCxnSpPr>
          <p:cNvPr id="22" name="Connector 21"/>
          <p:cNvCxnSpPr/>
          <p:nvPr/>
        </p:nvCxnSpPr>
        <p:spPr>
          <a:xfrm>
            <a:off x="9189567" y="291033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463887" y="2535428"/>
            <a:ext cx="89916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Verify</a:t>
            </a:r>
          </a:p>
        </p:txBody>
      </p:sp>
      <p:cxnSp>
        <p:nvCxnSpPr>
          <p:cNvPr id="24" name="Connector 23"/>
          <p:cNvCxnSpPr/>
          <p:nvPr/>
        </p:nvCxnSpPr>
        <p:spPr>
          <a:xfrm>
            <a:off x="10363047" y="291033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0637367" y="2535428"/>
            <a:ext cx="1946909"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Graph + diagnosis</a:t>
            </a:r>
          </a:p>
        </p:txBody>
      </p:sp>
      <p:sp>
        <p:nvSpPr>
          <p:cNvPr id="26" name="Rectangle 25"/>
          <p:cNvSpPr/>
          <p:nvPr/>
        </p:nvSpPr>
        <p:spPr>
          <a:xfrm>
            <a:off x="6278727" y="3449828"/>
            <a:ext cx="27432"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3319" y="3449828"/>
            <a:ext cx="4864608" cy="425196"/>
          </a:xfrm>
          <a:prstGeom prst="rect">
            <a:avLst/>
          </a:prstGeom>
          <a:noFill/>
        </p:spPr>
        <p:txBody>
          <a:bodyPr wrap="square">
            <a:spAutoFit/>
          </a:bodyPr>
          <a:lstStyle/>
          <a:p>
            <a:pPr algn="l">
              <a:defRPr sz="1800" b="1" i="0">
                <a:solidFill>
                  <a:srgbClr val="7FA195"/>
                </a:solidFill>
                <a:latin typeface="Liberation Sans"/>
              </a:defRPr>
            </a:pPr>
            <a:r>
              <a:t>Target behavior</a:t>
            </a:r>
          </a:p>
        </p:txBody>
      </p:sp>
      <p:sp>
        <p:nvSpPr>
          <p:cNvPr id="28" name="TextBox 27"/>
          <p:cNvSpPr txBox="1"/>
          <p:nvPr/>
        </p:nvSpPr>
        <p:spPr>
          <a:xfrm>
            <a:off x="6443319" y="3966464"/>
            <a:ext cx="4864608" cy="590296"/>
          </a:xfrm>
          <a:prstGeom prst="rect">
            <a:avLst/>
          </a:prstGeom>
          <a:noFill/>
        </p:spPr>
        <p:txBody>
          <a:bodyPr wrap="square">
            <a:spAutoFit/>
          </a:bodyPr>
          <a:lstStyle/>
          <a:p>
            <a:pPr algn="l">
              <a:defRPr sz="1400" b="0" i="0">
                <a:solidFill>
                  <a:srgbClr val="223043"/>
                </a:solidFill>
                <a:latin typeface="Liberation Sans"/>
              </a:defRPr>
            </a:pPr>
            <a:r>
              <a:t>Build and check a causal loop so the answer and the reasoning are both inspectable.</a:t>
            </a:r>
          </a:p>
        </p:txBody>
      </p:sp>
      <p:sp>
        <p:nvSpPr>
          <p:cNvPr id="29" name="TextBox 28"/>
          <p:cNvSpPr txBox="1"/>
          <p:nvPr/>
        </p:nvSpPr>
        <p:spPr>
          <a:xfrm>
            <a:off x="731520" y="4812792"/>
            <a:ext cx="10728655" cy="425196"/>
          </a:xfrm>
          <a:prstGeom prst="rect">
            <a:avLst/>
          </a:prstGeom>
          <a:noFill/>
        </p:spPr>
        <p:txBody>
          <a:bodyPr wrap="square">
            <a:spAutoFit/>
          </a:bodyPr>
          <a:lstStyle/>
          <a:p>
            <a:pPr algn="l">
              <a:defRPr sz="1800" b="0" i="1">
                <a:solidFill>
                  <a:srgbClr val="647489"/>
                </a:solidFill>
                <a:latin typeface="Liberation Sans"/>
              </a:defRPr>
            </a:pPr>
            <a:r>
              <a:t>Black-box RCA predicts an answer. World-model RCA closes a causal loop.</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9"/>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20"/>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2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22"/>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23"/>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24"/>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8"/>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3"/>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5"/>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2"/>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9"/>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26"/>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20"/>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27"/>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22"/>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28"/>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29"/>
                            </p:tgtEl>
                            <p:attrNameLst>
                              <p:attrName>style.visibility</p:attrName>
                            </p:attrNameLst>
                          </p:cBhvr>
                          <p:to>
                            <p:strVal val="hidden"/>
                          </p:to>
                        </p:set>
                      </p:childTnLst>
                    </p:cTn>
                  </p:par>
                </p:childTnLst>
              </p:cTn>
            </p:par>
            <p:seq concurrent="1" nextAc="seek">
              <p:cTn id="46" dur="indefinite" nodeType="mainSeq">
                <p:childTnLst>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5"/>
                                        </p:tgtEl>
                                      </p:cBhvr>
                                    </p:animEffect>
                                    <p:set>
                                      <p:cBhvr>
                                        <p:cTn id="51" dur="1" fill="hold">
                                          <p:stCondLst>
                                            <p:cond delay="0"/>
                                          </p:stCondLst>
                                        </p:cTn>
                                        <p:tgtEl>
                                          <p:spTgt spid="5"/>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6"/>
                                        </p:tgtEl>
                                      </p:cBhvr>
                                    </p:animEffect>
                                    <p:set>
                                      <p:cBhvr>
                                        <p:cTn id="54" dur="1" fill="hold">
                                          <p:stCondLst>
                                            <p:cond delay="0"/>
                                          </p:stCondLst>
                                        </p:cTn>
                                        <p:tgtEl>
                                          <p:spTgt spid="6"/>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7"/>
                                        </p:tgtEl>
                                      </p:cBhvr>
                                    </p:animEffect>
                                    <p:set>
                                      <p:cBhvr>
                                        <p:cTn id="57" dur="1" fill="hold">
                                          <p:stCondLst>
                                            <p:cond delay="0"/>
                                          </p:stCondLst>
                                        </p:cTn>
                                        <p:tgtEl>
                                          <p:spTgt spid="7"/>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8"/>
                                        </p:tgtEl>
                                      </p:cBhvr>
                                    </p:animEffect>
                                    <p:set>
                                      <p:cBhvr>
                                        <p:cTn id="60" dur="1" fill="hold">
                                          <p:stCondLst>
                                            <p:cond delay="0"/>
                                          </p:stCondLst>
                                        </p:cTn>
                                        <p:tgtEl>
                                          <p:spTgt spid="8"/>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9"/>
                                        </p:tgtEl>
                                      </p:cBhvr>
                                    </p:animEffect>
                                    <p:set>
                                      <p:cBhvr>
                                        <p:cTn id="63" dur="1" fill="hold">
                                          <p:stCondLst>
                                            <p:cond delay="0"/>
                                          </p:stCondLst>
                                        </p:cTn>
                                        <p:tgtEl>
                                          <p:spTgt spid="9"/>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0"/>
                                        </p:tgtEl>
                                      </p:cBhvr>
                                    </p:animEffect>
                                    <p:set>
                                      <p:cBhvr>
                                        <p:cTn id="66" dur="1" fill="hold">
                                          <p:stCondLst>
                                            <p:cond delay="0"/>
                                          </p:stCondLst>
                                        </p:cTn>
                                        <p:tgtEl>
                                          <p:spTgt spid="10"/>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1"/>
                                        </p:tgtEl>
                                      </p:cBhvr>
                                    </p:animEffect>
                                    <p:set>
                                      <p:cBhvr>
                                        <p:cTn id="69" dur="1" fill="hold">
                                          <p:stCondLst>
                                            <p:cond delay="0"/>
                                          </p:stCondLst>
                                        </p:cTn>
                                        <p:tgtEl>
                                          <p:spTgt spid="11"/>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12"/>
                                        </p:tgtEl>
                                      </p:cBhvr>
                                    </p:animEffect>
                                    <p:set>
                                      <p:cBhvr>
                                        <p:cTn id="72" dur="1" fill="hold">
                                          <p:stCondLst>
                                            <p:cond delay="0"/>
                                          </p:stCondLst>
                                        </p:cTn>
                                        <p:tgtEl>
                                          <p:spTgt spid="12"/>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8"/>
                                        </p:tgtEl>
                                      </p:cBhvr>
                                    </p:animEffect>
                                    <p:set>
                                      <p:cBhvr>
                                        <p:cTn id="75" dur="1" fill="hold">
                                          <p:stCondLst>
                                            <p:cond delay="0"/>
                                          </p:stCondLst>
                                        </p:cTn>
                                        <p:tgtEl>
                                          <p:spTgt spid="8"/>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3"/>
                                        </p:tgtEl>
                                      </p:cBhvr>
                                    </p:animEffect>
                                    <p:set>
                                      <p:cBhvr>
                                        <p:cTn id="78" dur="1" fill="hold">
                                          <p:stCondLst>
                                            <p:cond delay="0"/>
                                          </p:stCondLst>
                                        </p:cTn>
                                        <p:tgtEl>
                                          <p:spTgt spid="13"/>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9"/>
                                        </p:tgtEl>
                                      </p:cBhvr>
                                    </p:animEffect>
                                    <p:set>
                                      <p:cBhvr>
                                        <p:cTn id="81" dur="1" fill="hold">
                                          <p:stCondLst>
                                            <p:cond delay="0"/>
                                          </p:stCondLst>
                                        </p:cTn>
                                        <p:tgtEl>
                                          <p:spTgt spid="9"/>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4"/>
                                        </p:tgtEl>
                                      </p:cBhvr>
                                    </p:animEffect>
                                    <p:set>
                                      <p:cBhvr>
                                        <p:cTn id="84" dur="1" fill="hold">
                                          <p:stCondLst>
                                            <p:cond delay="0"/>
                                          </p:stCondLst>
                                        </p:cTn>
                                        <p:tgtEl>
                                          <p:spTgt spid="14"/>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11"/>
                                        </p:tgtEl>
                                      </p:cBhvr>
                                    </p:animEffect>
                                    <p:set>
                                      <p:cBhvr>
                                        <p:cTn id="87" dur="1" fill="hold">
                                          <p:stCondLst>
                                            <p:cond delay="0"/>
                                          </p:stCondLst>
                                        </p:cTn>
                                        <p:tgtEl>
                                          <p:spTgt spid="11"/>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5"/>
                                        </p:tgtEl>
                                      </p:cBhvr>
                                    </p:animEffect>
                                    <p:set>
                                      <p:cBhvr>
                                        <p:cTn id="90" dur="1" fill="hold">
                                          <p:stCondLst>
                                            <p:cond delay="0"/>
                                          </p:stCondLst>
                                        </p:cTn>
                                        <p:tgtEl>
                                          <p:spTgt spid="15"/>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grpId="0" nodeType="clickEffect">
                                  <p:stCondLst>
                                    <p:cond delay="0"/>
                                  </p:stCondLst>
                                  <p:childTnLst>
                                    <p:animEffect transition="in" filter="fade">
                                      <p:cBhvr>
                                        <p:cTn id="94" dur="500"/>
                                        <p:tgtEl>
                                          <p:spTgt spid="16"/>
                                        </p:tgtEl>
                                      </p:cBhvr>
                                    </p:animEffect>
                                    <p:set>
                                      <p:cBhvr>
                                        <p:cTn id="95" dur="1" fill="hold">
                                          <p:stCondLst>
                                            <p:cond delay="0"/>
                                          </p:stCondLst>
                                        </p:cTn>
                                        <p:tgtEl>
                                          <p:spTgt spid="16"/>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17"/>
                                        </p:tgtEl>
                                      </p:cBhvr>
                                    </p:animEffect>
                                    <p:set>
                                      <p:cBhvr>
                                        <p:cTn id="98" dur="1" fill="hold">
                                          <p:stCondLst>
                                            <p:cond delay="0"/>
                                          </p:stCondLst>
                                        </p:cTn>
                                        <p:tgtEl>
                                          <p:spTgt spid="17"/>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18"/>
                                        </p:tgtEl>
                                      </p:cBhvr>
                                    </p:animEffect>
                                    <p:set>
                                      <p:cBhvr>
                                        <p:cTn id="101" dur="1" fill="hold">
                                          <p:stCondLst>
                                            <p:cond delay="0"/>
                                          </p:stCondLst>
                                        </p:cTn>
                                        <p:tgtEl>
                                          <p:spTgt spid="18"/>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12"/>
                                        </p:tgtEl>
                                      </p:cBhvr>
                                    </p:animEffect>
                                    <p:set>
                                      <p:cBhvr>
                                        <p:cTn id="104" dur="1" fill="hold">
                                          <p:stCondLst>
                                            <p:cond delay="0"/>
                                          </p:stCondLst>
                                        </p:cTn>
                                        <p:tgtEl>
                                          <p:spTgt spid="12"/>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9"/>
                                        </p:tgtEl>
                                      </p:cBhvr>
                                    </p:animEffect>
                                    <p:set>
                                      <p:cBhvr>
                                        <p:cTn id="107" dur="1" fill="hold">
                                          <p:stCondLst>
                                            <p:cond delay="0"/>
                                          </p:stCondLst>
                                        </p:cTn>
                                        <p:tgtEl>
                                          <p:spTgt spid="19"/>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20"/>
                                        </p:tgtEl>
                                      </p:cBhvr>
                                    </p:animEffect>
                                    <p:set>
                                      <p:cBhvr>
                                        <p:cTn id="110" dur="1" fill="hold">
                                          <p:stCondLst>
                                            <p:cond delay="0"/>
                                          </p:stCondLst>
                                        </p:cTn>
                                        <p:tgtEl>
                                          <p:spTgt spid="20"/>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21"/>
                                        </p:tgtEl>
                                      </p:cBhvr>
                                    </p:animEffect>
                                    <p:set>
                                      <p:cBhvr>
                                        <p:cTn id="113" dur="1" fill="hold">
                                          <p:stCondLst>
                                            <p:cond delay="0"/>
                                          </p:stCondLst>
                                        </p:cTn>
                                        <p:tgtEl>
                                          <p:spTgt spid="21"/>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22"/>
                                        </p:tgtEl>
                                      </p:cBhvr>
                                    </p:animEffect>
                                    <p:set>
                                      <p:cBhvr>
                                        <p:cTn id="116" dur="1" fill="hold">
                                          <p:stCondLst>
                                            <p:cond delay="0"/>
                                          </p:stCondLst>
                                        </p:cTn>
                                        <p:tgtEl>
                                          <p:spTgt spid="22"/>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23"/>
                                        </p:tgtEl>
                                      </p:cBhvr>
                                    </p:animEffect>
                                    <p:set>
                                      <p:cBhvr>
                                        <p:cTn id="119" dur="1" fill="hold">
                                          <p:stCondLst>
                                            <p:cond delay="0"/>
                                          </p:stCondLst>
                                        </p:cTn>
                                        <p:tgtEl>
                                          <p:spTgt spid="23"/>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24"/>
                                        </p:tgtEl>
                                      </p:cBhvr>
                                    </p:animEffect>
                                    <p:set>
                                      <p:cBhvr>
                                        <p:cTn id="122" dur="1" fill="hold">
                                          <p:stCondLst>
                                            <p:cond delay="0"/>
                                          </p:stCondLst>
                                        </p:cTn>
                                        <p:tgtEl>
                                          <p:spTgt spid="24"/>
                                        </p:tgtEl>
                                        <p:attrNameLst>
                                          <p:attrName>style.visibility</p:attrName>
                                        </p:attrNameLst>
                                      </p:cBhvr>
                                      <p:to>
                                        <p:strVal val="visible"/>
                                      </p:to>
                                    </p:set>
                                  </p:childTnLst>
                                </p:cTn>
                              </p:par>
                              <p:par>
                                <p:cTn id="123" presetID="10" presetClass="entr" presetSubtype="0" fill="hold" grpId="0" nodeType="withEffect">
                                  <p:stCondLst>
                                    <p:cond delay="0"/>
                                  </p:stCondLst>
                                  <p:childTnLst>
                                    <p:animEffect transition="in" filter="fade">
                                      <p:cBhvr>
                                        <p:cTn id="124" dur="500"/>
                                        <p:tgtEl>
                                          <p:spTgt spid="8"/>
                                        </p:tgtEl>
                                      </p:cBhvr>
                                    </p:animEffect>
                                    <p:set>
                                      <p:cBhvr>
                                        <p:cTn id="125" dur="1" fill="hold">
                                          <p:stCondLst>
                                            <p:cond delay="0"/>
                                          </p:stCondLst>
                                        </p:cTn>
                                        <p:tgtEl>
                                          <p:spTgt spid="8"/>
                                        </p:tgtEl>
                                        <p:attrNameLst>
                                          <p:attrName>style.visibility</p:attrName>
                                        </p:attrNameLst>
                                      </p:cBhvr>
                                      <p:to>
                                        <p:strVal val="visible"/>
                                      </p:to>
                                    </p:set>
                                  </p:childTnLst>
                                </p:cTn>
                              </p:par>
                              <p:par>
                                <p:cTn id="126" presetID="10" presetClass="entr" presetSubtype="0" fill="hold" grpId="0" nodeType="withEffect">
                                  <p:stCondLst>
                                    <p:cond delay="0"/>
                                  </p:stCondLst>
                                  <p:childTnLst>
                                    <p:animEffect transition="in" filter="fade">
                                      <p:cBhvr>
                                        <p:cTn id="127" dur="500"/>
                                        <p:tgtEl>
                                          <p:spTgt spid="13"/>
                                        </p:tgtEl>
                                      </p:cBhvr>
                                    </p:animEffect>
                                    <p:set>
                                      <p:cBhvr>
                                        <p:cTn id="128" dur="1" fill="hold">
                                          <p:stCondLst>
                                            <p:cond delay="0"/>
                                          </p:stCondLst>
                                        </p:cTn>
                                        <p:tgtEl>
                                          <p:spTgt spid="13"/>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25"/>
                                        </p:tgtEl>
                                      </p:cBhvr>
                                    </p:animEffect>
                                    <p:set>
                                      <p:cBhvr>
                                        <p:cTn id="131" dur="1" fill="hold">
                                          <p:stCondLst>
                                            <p:cond delay="0"/>
                                          </p:stCondLst>
                                        </p:cTn>
                                        <p:tgtEl>
                                          <p:spTgt spid="25"/>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12"/>
                                        </p:tgtEl>
                                      </p:cBhvr>
                                    </p:animEffect>
                                    <p:set>
                                      <p:cBhvr>
                                        <p:cTn id="134" dur="1" fill="hold">
                                          <p:stCondLst>
                                            <p:cond delay="0"/>
                                          </p:stCondLst>
                                        </p:cTn>
                                        <p:tgtEl>
                                          <p:spTgt spid="12"/>
                                        </p:tgtEl>
                                        <p:attrNameLst>
                                          <p:attrName>style.visibility</p:attrName>
                                        </p:attrNameLst>
                                      </p:cBhvr>
                                      <p:to>
                                        <p:strVal val="visible"/>
                                      </p:to>
                                    </p:set>
                                  </p:childTnLst>
                                </p:cTn>
                              </p:par>
                              <p:par>
                                <p:cTn id="135" presetID="10" presetClass="entr" presetSubtype="0" fill="hold" grpId="0" nodeType="withEffect">
                                  <p:stCondLst>
                                    <p:cond delay="0"/>
                                  </p:stCondLst>
                                  <p:childTnLst>
                                    <p:animEffect transition="in" filter="fade">
                                      <p:cBhvr>
                                        <p:cTn id="136" dur="500"/>
                                        <p:tgtEl>
                                          <p:spTgt spid="19"/>
                                        </p:tgtEl>
                                      </p:cBhvr>
                                    </p:animEffect>
                                    <p:set>
                                      <p:cBhvr>
                                        <p:cTn id="137" dur="1" fill="hold">
                                          <p:stCondLst>
                                            <p:cond delay="0"/>
                                          </p:stCondLst>
                                        </p:cTn>
                                        <p:tgtEl>
                                          <p:spTgt spid="19"/>
                                        </p:tgtEl>
                                        <p:attrNameLst>
                                          <p:attrName>style.visibility</p:attrName>
                                        </p:attrNameLst>
                                      </p:cBhvr>
                                      <p:to>
                                        <p:strVal val="visible"/>
                                      </p:to>
                                    </p:set>
                                  </p:childTnLst>
                                </p:cTn>
                              </p:par>
                              <p:par>
                                <p:cTn id="138" presetID="10" presetClass="entr" presetSubtype="0" fill="hold" grpId="0" nodeType="withEffect">
                                  <p:stCondLst>
                                    <p:cond delay="0"/>
                                  </p:stCondLst>
                                  <p:childTnLst>
                                    <p:animEffect transition="in" filter="fade">
                                      <p:cBhvr>
                                        <p:cTn id="139" dur="500"/>
                                        <p:tgtEl>
                                          <p:spTgt spid="26"/>
                                        </p:tgtEl>
                                      </p:cBhvr>
                                    </p:animEffect>
                                    <p:set>
                                      <p:cBhvr>
                                        <p:cTn id="140" dur="1" fill="hold">
                                          <p:stCondLst>
                                            <p:cond delay="0"/>
                                          </p:stCondLst>
                                        </p:cTn>
                                        <p:tgtEl>
                                          <p:spTgt spid="26"/>
                                        </p:tgtEl>
                                        <p:attrNameLst>
                                          <p:attrName>style.visibility</p:attrName>
                                        </p:attrNameLst>
                                      </p:cBhvr>
                                      <p:to>
                                        <p:strVal val="visible"/>
                                      </p:to>
                                    </p:set>
                                  </p:childTnLst>
                                </p:cTn>
                              </p:par>
                              <p:par>
                                <p:cTn id="141" presetID="10" presetClass="entr" presetSubtype="0" fill="hold" grpId="0" nodeType="withEffect">
                                  <p:stCondLst>
                                    <p:cond delay="0"/>
                                  </p:stCondLst>
                                  <p:childTnLst>
                                    <p:animEffect transition="in" filter="fade">
                                      <p:cBhvr>
                                        <p:cTn id="142" dur="500"/>
                                        <p:tgtEl>
                                          <p:spTgt spid="20"/>
                                        </p:tgtEl>
                                      </p:cBhvr>
                                    </p:animEffect>
                                    <p:set>
                                      <p:cBhvr>
                                        <p:cTn id="143" dur="1" fill="hold">
                                          <p:stCondLst>
                                            <p:cond delay="0"/>
                                          </p:stCondLst>
                                        </p:cTn>
                                        <p:tgtEl>
                                          <p:spTgt spid="20"/>
                                        </p:tgtEl>
                                        <p:attrNameLst>
                                          <p:attrName>style.visibility</p:attrName>
                                        </p:attrNameLst>
                                      </p:cBhvr>
                                      <p:to>
                                        <p:strVal val="visible"/>
                                      </p:to>
                                    </p:set>
                                  </p:childTnLst>
                                </p:cTn>
                              </p:par>
                              <p:par>
                                <p:cTn id="144" presetID="10" presetClass="entr" presetSubtype="0" fill="hold" grpId="0" nodeType="withEffect">
                                  <p:stCondLst>
                                    <p:cond delay="0"/>
                                  </p:stCondLst>
                                  <p:childTnLst>
                                    <p:animEffect transition="in" filter="fade">
                                      <p:cBhvr>
                                        <p:cTn id="145" dur="500"/>
                                        <p:tgtEl>
                                          <p:spTgt spid="27"/>
                                        </p:tgtEl>
                                      </p:cBhvr>
                                    </p:animEffect>
                                    <p:set>
                                      <p:cBhvr>
                                        <p:cTn id="146" dur="1" fill="hold">
                                          <p:stCondLst>
                                            <p:cond delay="0"/>
                                          </p:stCondLst>
                                        </p:cTn>
                                        <p:tgtEl>
                                          <p:spTgt spid="27"/>
                                        </p:tgtEl>
                                        <p:attrNameLst>
                                          <p:attrName>style.visibility</p:attrName>
                                        </p:attrNameLst>
                                      </p:cBhvr>
                                      <p:to>
                                        <p:strVal val="visible"/>
                                      </p:to>
                                    </p:set>
                                  </p:childTnLst>
                                </p:cTn>
                              </p:par>
                              <p:par>
                                <p:cTn id="147" presetID="10" presetClass="entr" presetSubtype="0" fill="hold" grpId="0" nodeType="withEffect">
                                  <p:stCondLst>
                                    <p:cond delay="0"/>
                                  </p:stCondLst>
                                  <p:childTnLst>
                                    <p:animEffect transition="in" filter="fade">
                                      <p:cBhvr>
                                        <p:cTn id="148" dur="500"/>
                                        <p:tgtEl>
                                          <p:spTgt spid="22"/>
                                        </p:tgtEl>
                                      </p:cBhvr>
                                    </p:animEffect>
                                    <p:set>
                                      <p:cBhvr>
                                        <p:cTn id="149" dur="1" fill="hold">
                                          <p:stCondLst>
                                            <p:cond delay="0"/>
                                          </p:stCondLst>
                                        </p:cTn>
                                        <p:tgtEl>
                                          <p:spTgt spid="22"/>
                                        </p:tgtEl>
                                        <p:attrNameLst>
                                          <p:attrName>style.visibility</p:attrName>
                                        </p:attrNameLst>
                                      </p:cBhvr>
                                      <p:to>
                                        <p:strVal val="visible"/>
                                      </p:to>
                                    </p:set>
                                  </p:childTnLst>
                                </p:cTn>
                              </p:par>
                              <p:par>
                                <p:cTn id="150" presetID="10" presetClass="entr" presetSubtype="0" fill="hold" grpId="0" nodeType="withEffect">
                                  <p:stCondLst>
                                    <p:cond delay="0"/>
                                  </p:stCondLst>
                                  <p:childTnLst>
                                    <p:animEffect transition="in" filter="fade">
                                      <p:cBhvr>
                                        <p:cTn id="151" dur="500"/>
                                        <p:tgtEl>
                                          <p:spTgt spid="28"/>
                                        </p:tgtEl>
                                      </p:cBhvr>
                                    </p:animEffect>
                                    <p:set>
                                      <p:cBhvr>
                                        <p:cTn id="152" dur="1" fill="hold">
                                          <p:stCondLst>
                                            <p:cond delay="0"/>
                                          </p:stCondLst>
                                        </p:cTn>
                                        <p:tgtEl>
                                          <p:spTgt spid="28"/>
                                        </p:tgtEl>
                                        <p:attrNameLst>
                                          <p:attrName>style.visibility</p:attrName>
                                        </p:attrNameLst>
                                      </p:cBhvr>
                                      <p:to>
                                        <p:strVal val="visible"/>
                                      </p:to>
                                    </p:se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grpId="0" nodeType="clickEffect">
                                  <p:stCondLst>
                                    <p:cond delay="0"/>
                                  </p:stCondLst>
                                  <p:childTnLst>
                                    <p:animEffect transition="in" filter="fade">
                                      <p:cBhvr>
                                        <p:cTn id="156" dur="500"/>
                                        <p:tgtEl>
                                          <p:spTgt spid="29"/>
                                        </p:tgtEl>
                                      </p:cBhvr>
                                    </p:animEffect>
                                    <p:set>
                                      <p:cBhvr>
                                        <p:cTn id="157"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1: Atomic Faults</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ectangle 4"/>
          <p:cNvSpPr/>
          <p:nvPr/>
        </p:nvSpPr>
        <p:spPr>
          <a:xfrm>
            <a:off x="731520" y="1371600"/>
            <a:ext cx="27431" cy="87579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1" y="1371600"/>
            <a:ext cx="10564063" cy="425196"/>
          </a:xfrm>
          <a:prstGeom prst="rect">
            <a:avLst/>
          </a:prstGeom>
          <a:noFill/>
        </p:spPr>
        <p:txBody>
          <a:bodyPr wrap="square">
            <a:spAutoFit/>
          </a:bodyPr>
          <a:lstStyle/>
          <a:p>
            <a:pPr algn="l">
              <a:defRPr sz="1800" b="1" i="0">
                <a:solidFill>
                  <a:srgbClr val="8FAAC8"/>
                </a:solidFill>
                <a:latin typeface="Liberation Sans"/>
              </a:defRPr>
            </a:pPr>
            <a:r>
              <a:t>Atomic premise</a:t>
            </a:r>
          </a:p>
        </p:txBody>
      </p:sp>
      <p:sp>
        <p:nvSpPr>
          <p:cNvPr id="7" name="TextBox 6"/>
          <p:cNvSpPr txBox="1"/>
          <p:nvPr/>
        </p:nvSpPr>
        <p:spPr>
          <a:xfrm>
            <a:off x="896111" y="1888236"/>
            <a:ext cx="10564063" cy="359156"/>
          </a:xfrm>
          <a:prstGeom prst="rect">
            <a:avLst/>
          </a:prstGeom>
          <a:noFill/>
        </p:spPr>
        <p:txBody>
          <a:bodyPr wrap="square">
            <a:spAutoFit/>
          </a:bodyPr>
          <a:lstStyle/>
          <a:p>
            <a:pPr algn="l">
              <a:defRPr sz="1400" b="0" i="0">
                <a:solidFill>
                  <a:srgbClr val="223043"/>
                </a:solidFill>
                <a:latin typeface="Liberation Sans"/>
              </a:defRPr>
            </a:pPr>
            <a:r>
              <a:t>Reason in terms of finite atomic fault types, then study how they compose into larger incidents.</a:t>
            </a:r>
          </a:p>
        </p:txBody>
      </p:sp>
      <p:sp>
        <p:nvSpPr>
          <p:cNvPr id="8" name="Rounded Rectangle 7"/>
          <p:cNvSpPr/>
          <p:nvPr/>
        </p:nvSpPr>
        <p:spPr>
          <a:xfrm>
            <a:off x="4063212" y="2466848"/>
            <a:ext cx="89916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Finite</a:t>
            </a:r>
          </a:p>
        </p:txBody>
      </p:sp>
      <p:cxnSp>
        <p:nvCxnSpPr>
          <p:cNvPr id="9" name="Connector 8"/>
          <p:cNvCxnSpPr/>
          <p:nvPr/>
        </p:nvCxnSpPr>
        <p:spPr>
          <a:xfrm>
            <a:off x="4962372" y="284175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236692" y="2466848"/>
            <a:ext cx="11849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Bounded</a:t>
            </a:r>
          </a:p>
        </p:txBody>
      </p:sp>
      <p:cxnSp>
        <p:nvCxnSpPr>
          <p:cNvPr id="11" name="Connector 10"/>
          <p:cNvCxnSpPr/>
          <p:nvPr/>
        </p:nvCxnSpPr>
        <p:spPr>
          <a:xfrm>
            <a:off x="6421602" y="284175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695922" y="2466848"/>
            <a:ext cx="143256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Composable</a:t>
            </a:r>
          </a:p>
        </p:txBody>
      </p:sp>
      <p:sp>
        <p:nvSpPr>
          <p:cNvPr id="13" name="Rounded Rectangle 12"/>
          <p:cNvSpPr/>
          <p:nvPr/>
        </p:nvSpPr>
        <p:spPr>
          <a:xfrm>
            <a:off x="731520" y="3436112"/>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CPU stress</a:t>
            </a:r>
          </a:p>
        </p:txBody>
      </p:sp>
      <p:sp>
        <p:nvSpPr>
          <p:cNvPr id="14" name="Rounded Rectangle 13"/>
          <p:cNvSpPr/>
          <p:nvPr/>
        </p:nvSpPr>
        <p:spPr>
          <a:xfrm>
            <a:off x="4356506" y="3436112"/>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Memory leak</a:t>
            </a:r>
          </a:p>
        </p:txBody>
      </p:sp>
      <p:sp>
        <p:nvSpPr>
          <p:cNvPr id="15" name="Rounded Rectangle 14"/>
          <p:cNvSpPr/>
          <p:nvPr/>
        </p:nvSpPr>
        <p:spPr>
          <a:xfrm>
            <a:off x="7981492" y="3436112"/>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Packet loss</a:t>
            </a:r>
          </a:p>
        </p:txBody>
      </p:sp>
      <p:sp>
        <p:nvSpPr>
          <p:cNvPr id="16" name="Rounded Rectangle 15"/>
          <p:cNvSpPr/>
          <p:nvPr/>
        </p:nvSpPr>
        <p:spPr>
          <a:xfrm>
            <a:off x="731520" y="4295648"/>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Delay spike</a:t>
            </a:r>
          </a:p>
        </p:txBody>
      </p:sp>
      <p:sp>
        <p:nvSpPr>
          <p:cNvPr id="17" name="Rounded Rectangle 16"/>
          <p:cNvSpPr/>
          <p:nvPr/>
        </p:nvSpPr>
        <p:spPr>
          <a:xfrm>
            <a:off x="4356506" y="4295648"/>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Config drift</a:t>
            </a:r>
          </a:p>
        </p:txBody>
      </p:sp>
      <p:sp>
        <p:nvSpPr>
          <p:cNvPr id="18" name="Rounded Rectangle 17"/>
          <p:cNvSpPr/>
          <p:nvPr/>
        </p:nvSpPr>
        <p:spPr>
          <a:xfrm>
            <a:off x="7981492" y="4295648"/>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0">
                <a:solidFill>
                  <a:srgbClr val="223043"/>
                </a:solidFill>
                <a:latin typeface="Liberation Sans"/>
              </a:defRPr>
            </a:pPr>
            <a:r>
              <a:t>Code regression</a:t>
            </a:r>
          </a:p>
        </p:txBody>
      </p:sp>
      <p:sp>
        <p:nvSpPr>
          <p:cNvPr id="19" name="TextBox 18"/>
          <p:cNvSpPr txBox="1"/>
          <p:nvPr/>
        </p:nvSpPr>
        <p:spPr>
          <a:xfrm>
            <a:off x="731520" y="5228336"/>
            <a:ext cx="10728655" cy="425196"/>
          </a:xfrm>
          <a:prstGeom prst="rect">
            <a:avLst/>
          </a:prstGeom>
          <a:noFill/>
        </p:spPr>
        <p:txBody>
          <a:bodyPr wrap="square">
            <a:spAutoFit/>
          </a:bodyPr>
          <a:lstStyle/>
          <a:p>
            <a:pPr algn="l">
              <a:defRPr sz="1800" b="0" i="1">
                <a:solidFill>
                  <a:srgbClr val="647489"/>
                </a:solidFill>
                <a:latin typeface="Liberation Sans"/>
              </a:defRPr>
            </a:pPr>
            <a:r>
              <a:t>Large incidents are combinations of local faults, not an unbounded alphabet of new failure modes.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8"/>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7"/>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2"/>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3"/>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4"/>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5"/>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6"/>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7"/>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8"/>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9"/>
                            </p:tgtEl>
                            <p:attrNameLst>
                              <p:attrName>style.visibility</p:attrName>
                            </p:attrNameLst>
                          </p:cBhvr>
                          <p:to>
                            <p:strVal val="hidden"/>
                          </p:to>
                        </p:set>
                      </p:childTnLst>
                    </p:cTn>
                  </p:par>
                </p:childTnLst>
              </p:cTn>
            </p:par>
            <p:seq concurrent="1" nextAc="seek">
              <p:cTn id="34" dur="indefinite" nodeType="mainSeq">
                <p:childTnLst>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animEffect transition="in" filter="fade">
                                      <p:cBhvr>
                                        <p:cTn id="38" dur="500"/>
                                        <p:tgtEl>
                                          <p:spTgt spid="5"/>
                                        </p:tgtEl>
                                      </p:cBhvr>
                                    </p:animEffect>
                                    <p:set>
                                      <p:cBhvr>
                                        <p:cTn id="39" dur="1" fill="hold">
                                          <p:stCondLst>
                                            <p:cond delay="0"/>
                                          </p:stCondLst>
                                        </p:cTn>
                                        <p:tgtEl>
                                          <p:spTgt spid="5"/>
                                        </p:tgtEl>
                                        <p:attrNameLst>
                                          <p:attrName>style.visibility</p:attrName>
                                        </p:attrNameLst>
                                      </p:cBhvr>
                                      <p:to>
                                        <p:strVal val="visible"/>
                                      </p:to>
                                    </p:set>
                                  </p:childTnLst>
                                </p:cTn>
                              </p:par>
                              <p:par>
                                <p:cTn id="40" presetID="10" presetClass="entr" presetSubtype="0" fill="hold" grpId="0" nodeType="withEffect">
                                  <p:stCondLst>
                                    <p:cond delay="0"/>
                                  </p:stCondLst>
                                  <p:childTnLst>
                                    <p:animEffect transition="in" filter="fade">
                                      <p:cBhvr>
                                        <p:cTn id="41" dur="500"/>
                                        <p:tgtEl>
                                          <p:spTgt spid="6"/>
                                        </p:tgtEl>
                                      </p:cBhvr>
                                    </p:animEffect>
                                    <p:set>
                                      <p:cBhvr>
                                        <p:cTn id="42" dur="1" fill="hold">
                                          <p:stCondLst>
                                            <p:cond delay="0"/>
                                          </p:stCondLst>
                                        </p:cTn>
                                        <p:tgtEl>
                                          <p:spTgt spid="6"/>
                                        </p:tgtEl>
                                        <p:attrNameLst>
                                          <p:attrName>style.visibility</p:attrName>
                                        </p:attrNameLst>
                                      </p:cBhvr>
                                      <p:to>
                                        <p:strVal val="visible"/>
                                      </p:to>
                                    </p:set>
                                  </p:childTnLst>
                                </p:cTn>
                              </p:par>
                              <p:par>
                                <p:cTn id="43" presetID="10" presetClass="entr" presetSubtype="0" fill="hold" grpId="0" nodeType="withEffect">
                                  <p:stCondLst>
                                    <p:cond delay="0"/>
                                  </p:stCondLst>
                                  <p:childTnLst>
                                    <p:animEffect transition="in" filter="fade">
                                      <p:cBhvr>
                                        <p:cTn id="44" dur="500"/>
                                        <p:tgtEl>
                                          <p:spTgt spid="7"/>
                                        </p:tgtEl>
                                      </p:cBhvr>
                                    </p:animEffec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animEffect transition="in" filter="fade">
                                      <p:cBhvr>
                                        <p:cTn id="49" dur="500"/>
                                        <p:tgtEl>
                                          <p:spTgt spid="5"/>
                                        </p:tgtEl>
                                      </p:cBhvr>
                                    </p:animEffect>
                                    <p:set>
                                      <p:cBhvr>
                                        <p:cTn id="50" dur="1" fill="hold">
                                          <p:stCondLst>
                                            <p:cond delay="0"/>
                                          </p:stCondLst>
                                        </p:cTn>
                                        <p:tgtEl>
                                          <p:spTgt spid="5"/>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8"/>
                                        </p:tgtEl>
                                      </p:cBhvr>
                                    </p:animEffect>
                                    <p:set>
                                      <p:cBhvr>
                                        <p:cTn id="53" dur="1" fill="hold">
                                          <p:stCondLst>
                                            <p:cond delay="0"/>
                                          </p:stCondLst>
                                        </p:cTn>
                                        <p:tgtEl>
                                          <p:spTgt spid="8"/>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6"/>
                                        </p:tgtEl>
                                      </p:cBhvr>
                                    </p:animEffect>
                                    <p:set>
                                      <p:cBhvr>
                                        <p:cTn id="56" dur="1" fill="hold">
                                          <p:stCondLst>
                                            <p:cond delay="0"/>
                                          </p:stCondLst>
                                        </p:cTn>
                                        <p:tgtEl>
                                          <p:spTgt spid="6"/>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9"/>
                                        </p:tgtEl>
                                      </p:cBhvr>
                                    </p:animEffect>
                                    <p:set>
                                      <p:cBhvr>
                                        <p:cTn id="59" dur="1" fill="hold">
                                          <p:stCondLst>
                                            <p:cond delay="0"/>
                                          </p:stCondLst>
                                        </p:cTn>
                                        <p:tgtEl>
                                          <p:spTgt spid="9"/>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10"/>
                                        </p:tgtEl>
                                      </p:cBhvr>
                                    </p:animEffect>
                                    <p:set>
                                      <p:cBhvr>
                                        <p:cTn id="62" dur="1" fill="hold">
                                          <p:stCondLst>
                                            <p:cond delay="0"/>
                                          </p:stCondLst>
                                        </p:cTn>
                                        <p:tgtEl>
                                          <p:spTgt spid="10"/>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7"/>
                                        </p:tgtEl>
                                      </p:cBhvr>
                                    </p:animEffect>
                                    <p:set>
                                      <p:cBhvr>
                                        <p:cTn id="65" dur="1" fill="hold">
                                          <p:stCondLst>
                                            <p:cond delay="0"/>
                                          </p:stCondLst>
                                        </p:cTn>
                                        <p:tgtEl>
                                          <p:spTgt spid="7"/>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1"/>
                                        </p:tgtEl>
                                      </p:cBhvr>
                                    </p:animEffect>
                                    <p:set>
                                      <p:cBhvr>
                                        <p:cTn id="68" dur="1" fill="hold">
                                          <p:stCondLst>
                                            <p:cond delay="0"/>
                                          </p:stCondLst>
                                        </p:cTn>
                                        <p:tgtEl>
                                          <p:spTgt spid="11"/>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12"/>
                                        </p:tgtEl>
                                      </p:cBhvr>
                                    </p:animEffect>
                                    <p:set>
                                      <p:cBhvr>
                                        <p:cTn id="71" dur="1" fill="hold">
                                          <p:stCondLst>
                                            <p:cond delay="0"/>
                                          </p:stCondLst>
                                        </p:cTn>
                                        <p:tgtEl>
                                          <p:spTgt spid="12"/>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3"/>
                                        </p:tgtEl>
                                      </p:cBhvr>
                                    </p:animEffect>
                                    <p:set>
                                      <p:cBhvr>
                                        <p:cTn id="74" dur="1" fill="hold">
                                          <p:stCondLst>
                                            <p:cond delay="0"/>
                                          </p:stCondLst>
                                        </p:cTn>
                                        <p:tgtEl>
                                          <p:spTgt spid="13"/>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14"/>
                                        </p:tgtEl>
                                      </p:cBhvr>
                                    </p:animEffect>
                                    <p:set>
                                      <p:cBhvr>
                                        <p:cTn id="77" dur="1" fill="hold">
                                          <p:stCondLst>
                                            <p:cond delay="0"/>
                                          </p:stCondLst>
                                        </p:cTn>
                                        <p:tgtEl>
                                          <p:spTgt spid="14"/>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5"/>
                                        </p:tgtEl>
                                      </p:cBhvr>
                                    </p:animEffect>
                                    <p:set>
                                      <p:cBhvr>
                                        <p:cTn id="80" dur="1" fill="hold">
                                          <p:stCondLst>
                                            <p:cond delay="0"/>
                                          </p:stCondLst>
                                        </p:cTn>
                                        <p:tgtEl>
                                          <p:spTgt spid="15"/>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6"/>
                                        </p:tgtEl>
                                      </p:cBhvr>
                                    </p:animEffect>
                                    <p:set>
                                      <p:cBhvr>
                                        <p:cTn id="83" dur="1" fill="hold">
                                          <p:stCondLst>
                                            <p:cond delay="0"/>
                                          </p:stCondLst>
                                        </p:cTn>
                                        <p:tgtEl>
                                          <p:spTgt spid="16"/>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7"/>
                                        </p:tgtEl>
                                      </p:cBhvr>
                                    </p:animEffect>
                                    <p:set>
                                      <p:cBhvr>
                                        <p:cTn id="86" dur="1" fill="hold">
                                          <p:stCondLst>
                                            <p:cond delay="0"/>
                                          </p:stCondLst>
                                        </p:cTn>
                                        <p:tgtEl>
                                          <p:spTgt spid="17"/>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18"/>
                                        </p:tgtEl>
                                      </p:cBhvr>
                                    </p:animEffect>
                                    <p:set>
                                      <p:cBhvr>
                                        <p:cTn id="89" dur="1" fill="hold">
                                          <p:stCondLst>
                                            <p:cond delay="0"/>
                                          </p:stCondLst>
                                        </p:cTn>
                                        <p:tgtEl>
                                          <p:spTgt spid="18"/>
                                        </p:tgtEl>
                                        <p:attrNameLst>
                                          <p:attrName>style.visibility</p:attrName>
                                        </p:attrNameLst>
                                      </p:cBhvr>
                                      <p:to>
                                        <p:strVal val="visible"/>
                                      </p:to>
                                    </p:se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animEffect transition="in" filter="fade">
                                      <p:cBhvr>
                                        <p:cTn id="93" dur="500"/>
                                        <p:tgtEl>
                                          <p:spTgt spid="19"/>
                                        </p:tgtEl>
                                      </p:cBhvr>
                                    </p:animEffect>
                                    <p:set>
                                      <p:cBhvr>
                                        <p:cTn id="9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2: Simulatable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2790037" y="1371600"/>
            <a:ext cx="1326025" cy="91440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Fault injection</a:t>
            </a:r>
          </a:p>
        </p:txBody>
      </p:sp>
      <p:cxnSp>
        <p:nvCxnSpPr>
          <p:cNvPr id="6" name="Connector 5"/>
          <p:cNvCxnSpPr/>
          <p:nvPr/>
        </p:nvCxnSpPr>
        <p:spPr>
          <a:xfrm>
            <a:off x="4116062" y="1828800"/>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505335" y="1371600"/>
            <a:ext cx="1541925" cy="91440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Dynamic workload</a:t>
            </a:r>
          </a:p>
        </p:txBody>
      </p:sp>
      <p:cxnSp>
        <p:nvCxnSpPr>
          <p:cNvPr id="8" name="Connector 7"/>
          <p:cNvCxnSpPr/>
          <p:nvPr/>
        </p:nvCxnSpPr>
        <p:spPr>
          <a:xfrm>
            <a:off x="6047261" y="1828800"/>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436534" y="1371600"/>
            <a:ext cx="1237125" cy="91440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Observability</a:t>
            </a:r>
          </a:p>
        </p:txBody>
      </p:sp>
      <p:cxnSp>
        <p:nvCxnSpPr>
          <p:cNvPr id="10" name="Connector 9"/>
          <p:cNvCxnSpPr/>
          <p:nvPr/>
        </p:nvCxnSpPr>
        <p:spPr>
          <a:xfrm>
            <a:off x="7673659" y="1828800"/>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062932" y="1371600"/>
            <a:ext cx="1338725" cy="91440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Validated cases</a:t>
            </a:r>
          </a:p>
        </p:txBody>
      </p:sp>
      <p:sp>
        <p:nvSpPr>
          <p:cNvPr id="12" name="Rectangle 11"/>
          <p:cNvSpPr/>
          <p:nvPr/>
        </p:nvSpPr>
        <p:spPr>
          <a:xfrm>
            <a:off x="731520" y="2542032"/>
            <a:ext cx="27431" cy="110693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542032"/>
            <a:ext cx="3301898" cy="425196"/>
          </a:xfrm>
          <a:prstGeom prst="rect">
            <a:avLst/>
          </a:prstGeom>
          <a:noFill/>
        </p:spPr>
        <p:txBody>
          <a:bodyPr wrap="square">
            <a:spAutoFit/>
          </a:bodyPr>
          <a:lstStyle/>
          <a:p>
            <a:pPr algn="l">
              <a:defRPr sz="1800" b="1" i="0">
                <a:solidFill>
                  <a:srgbClr val="8FAAC8"/>
                </a:solidFill>
                <a:latin typeface="Liberation Sans"/>
              </a:defRPr>
            </a:pPr>
            <a:r>
              <a:t>Replayable</a:t>
            </a:r>
          </a:p>
        </p:txBody>
      </p:sp>
      <p:sp>
        <p:nvSpPr>
          <p:cNvPr id="14" name="TextBox 13"/>
          <p:cNvSpPr txBox="1"/>
          <p:nvPr/>
        </p:nvSpPr>
        <p:spPr>
          <a:xfrm>
            <a:off x="896112" y="3058668"/>
            <a:ext cx="3301898" cy="590296"/>
          </a:xfrm>
          <a:prstGeom prst="rect">
            <a:avLst/>
          </a:prstGeom>
          <a:noFill/>
        </p:spPr>
        <p:txBody>
          <a:bodyPr wrap="square">
            <a:spAutoFit/>
          </a:bodyPr>
          <a:lstStyle/>
          <a:p>
            <a:pPr algn="l">
              <a:defRPr sz="1400" b="0" i="0">
                <a:solidFill>
                  <a:srgbClr val="223043"/>
                </a:solidFill>
                <a:latin typeface="Liberation Sans"/>
              </a:defRPr>
            </a:pPr>
            <a:r>
              <a:t>Known interventions make the incident generation process reproducible.</a:t>
            </a:r>
          </a:p>
        </p:txBody>
      </p:sp>
      <p:sp>
        <p:nvSpPr>
          <p:cNvPr id="15" name="Rectangle 14"/>
          <p:cNvSpPr/>
          <p:nvPr/>
        </p:nvSpPr>
        <p:spPr>
          <a:xfrm>
            <a:off x="4362602" y="2542032"/>
            <a:ext cx="27431"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7194" y="2542032"/>
            <a:ext cx="3301898" cy="425196"/>
          </a:xfrm>
          <a:prstGeom prst="rect">
            <a:avLst/>
          </a:prstGeom>
          <a:noFill/>
        </p:spPr>
        <p:txBody>
          <a:bodyPr wrap="square">
            <a:spAutoFit/>
          </a:bodyPr>
          <a:lstStyle/>
          <a:p>
            <a:pPr algn="l">
              <a:defRPr sz="1800" b="1" i="0">
                <a:solidFill>
                  <a:srgbClr val="7FA195"/>
                </a:solidFill>
                <a:latin typeface="Liberation Sans"/>
              </a:defRPr>
            </a:pPr>
            <a:r>
              <a:t>Operationally relevant</a:t>
            </a:r>
          </a:p>
        </p:txBody>
      </p:sp>
      <p:sp>
        <p:nvSpPr>
          <p:cNvPr id="17" name="TextBox 16"/>
          <p:cNvSpPr txBox="1"/>
          <p:nvPr/>
        </p:nvSpPr>
        <p:spPr>
          <a:xfrm>
            <a:off x="4527194" y="3058668"/>
            <a:ext cx="3301898" cy="590296"/>
          </a:xfrm>
          <a:prstGeom prst="rect">
            <a:avLst/>
          </a:prstGeom>
          <a:noFill/>
        </p:spPr>
        <p:txBody>
          <a:bodyPr wrap="square">
            <a:spAutoFit/>
          </a:bodyPr>
          <a:lstStyle/>
          <a:p>
            <a:pPr algn="l">
              <a:defRPr sz="1400" b="0" i="0">
                <a:solidFill>
                  <a:srgbClr val="223043"/>
                </a:solidFill>
                <a:latin typeface="Liberation Sans"/>
              </a:defRPr>
            </a:pPr>
            <a:r>
              <a:t>Keep only failures that produce observable user-facing impact.</a:t>
            </a:r>
          </a:p>
        </p:txBody>
      </p:sp>
      <p:sp>
        <p:nvSpPr>
          <p:cNvPr id="18" name="Rectangle 17"/>
          <p:cNvSpPr/>
          <p:nvPr/>
        </p:nvSpPr>
        <p:spPr>
          <a:xfrm>
            <a:off x="7993684" y="2542032"/>
            <a:ext cx="27431" cy="1106932"/>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8276" y="2542032"/>
            <a:ext cx="3301898" cy="425196"/>
          </a:xfrm>
          <a:prstGeom prst="rect">
            <a:avLst/>
          </a:prstGeom>
          <a:noFill/>
        </p:spPr>
        <p:txBody>
          <a:bodyPr wrap="square">
            <a:spAutoFit/>
          </a:bodyPr>
          <a:lstStyle/>
          <a:p>
            <a:pPr algn="l">
              <a:defRPr sz="1800" b="1" i="0">
                <a:solidFill>
                  <a:srgbClr val="D69A68"/>
                </a:solidFill>
                <a:latin typeface="Liberation Sans"/>
              </a:defRPr>
            </a:pPr>
            <a:r>
              <a:t>Causal evidence</a:t>
            </a:r>
          </a:p>
        </p:txBody>
      </p:sp>
      <p:sp>
        <p:nvSpPr>
          <p:cNvPr id="20" name="TextBox 19"/>
          <p:cNvSpPr txBox="1"/>
          <p:nvPr/>
        </p:nvSpPr>
        <p:spPr>
          <a:xfrm>
            <a:off x="8158276" y="3058668"/>
            <a:ext cx="3301898" cy="590296"/>
          </a:xfrm>
          <a:prstGeom prst="rect">
            <a:avLst/>
          </a:prstGeom>
          <a:noFill/>
        </p:spPr>
        <p:txBody>
          <a:bodyPr wrap="square">
            <a:spAutoFit/>
          </a:bodyPr>
          <a:lstStyle/>
          <a:p>
            <a:pPr algn="l">
              <a:defRPr sz="1400" b="0" i="0">
                <a:solidFill>
                  <a:srgbClr val="223043"/>
                </a:solidFill>
                <a:latin typeface="Liberation Sans"/>
              </a:defRPr>
            </a:pPr>
            <a:r>
              <a:t>The intervention gives a concrete starting point for tracing propagation.</a:t>
            </a:r>
          </a:p>
        </p:txBody>
      </p:sp>
      <p:sp>
        <p:nvSpPr>
          <p:cNvPr id="21" name="TextBox 20"/>
          <p:cNvSpPr txBox="1"/>
          <p:nvPr/>
        </p:nvSpPr>
        <p:spPr>
          <a:xfrm>
            <a:off x="731520" y="3904996"/>
            <a:ext cx="10728655" cy="425196"/>
          </a:xfrm>
          <a:prstGeom prst="rect">
            <a:avLst/>
          </a:prstGeom>
          <a:noFill/>
        </p:spPr>
        <p:txBody>
          <a:bodyPr wrap="square">
            <a:spAutoFit/>
          </a:bodyPr>
          <a:lstStyle/>
          <a:p>
            <a:pPr algn="l">
              <a:defRPr sz="1800" b="0" i="1">
                <a:solidFill>
                  <a:srgbClr val="647489"/>
                </a:solidFill>
                <a:latin typeface="Liberation Sans"/>
              </a:defRPr>
            </a:pPr>
            <a:r>
              <a:t>Simulation turns RCA data collection from passive observation into controlled causal experimentation.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5"/>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2"/>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5"/>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6"/>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6"/>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8"/>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7"/>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5"/>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2"/>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5"/>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8"/>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6"/>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3"/>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16"/>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19"/>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8"/>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4"/>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17"/>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0"/>
                            </p:tgtEl>
                            <p:attrNameLst>
                              <p:attrName>style.visibility</p:attrName>
                            </p:attrNameLst>
                          </p:cBhvr>
                          <p:to>
                            <p:strVal val="hidden"/>
                          </p:to>
                        </p:set>
                      </p:childTnLst>
                    </p:cTn>
                  </p:par>
                  <p:par>
                    <p:cTn id="58" fill="hold">
                      <p:stCondLst>
                        <p:cond delay="0"/>
                      </p:stCondLst>
                      <p:childTnLst>
                        <p:set>
                          <p:cBhvr>
                            <p:cTn id="59" dur="1" fill="hold">
                              <p:stCondLst>
                                <p:cond delay="0"/>
                              </p:stCondLst>
                            </p:cTn>
                            <p:tgtEl>
                              <p:spTgt spid="21"/>
                            </p:tgtEl>
                            <p:attrNameLst>
                              <p:attrName>style.visibility</p:attrName>
                            </p:attrNameLst>
                          </p:cBhvr>
                          <p:to>
                            <p:strVal val="hidden"/>
                          </p:to>
                        </p:set>
                      </p:childTnLst>
                    </p:cTn>
                  </p:par>
                </p:childTnLst>
              </p:cTn>
            </p:par>
            <p:seq concurrent="1" nextAc="seek">
              <p:cTn id="60" dur="indefinite" nodeType="mainSeq">
                <p:childTnLst>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animEffect transition="in" filter="fade">
                                      <p:cBhvr>
                                        <p:cTn id="64" dur="500"/>
                                        <p:tgtEl>
                                          <p:spTgt spid="5"/>
                                        </p:tgtEl>
                                      </p:cBhvr>
                                    </p:animEffect>
                                    <p:set>
                                      <p:cBhvr>
                                        <p:cTn id="65" dur="1" fill="hold">
                                          <p:stCondLst>
                                            <p:cond delay="0"/>
                                          </p:stCondLst>
                                        </p:cTn>
                                        <p:tgtEl>
                                          <p:spTgt spid="5"/>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6"/>
                                        </p:tgtEl>
                                      </p:cBhvr>
                                    </p:animEffect>
                                    <p:set>
                                      <p:cBhvr>
                                        <p:cTn id="68" dur="1" fill="hold">
                                          <p:stCondLst>
                                            <p:cond delay="0"/>
                                          </p:stCondLst>
                                        </p:cTn>
                                        <p:tgtEl>
                                          <p:spTgt spid="6"/>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7"/>
                                        </p:tgtEl>
                                      </p:cBhvr>
                                    </p:animEffect>
                                    <p:set>
                                      <p:cBhvr>
                                        <p:cTn id="71" dur="1" fill="hold">
                                          <p:stCondLst>
                                            <p:cond delay="0"/>
                                          </p:stCondLst>
                                        </p:cTn>
                                        <p:tgtEl>
                                          <p:spTgt spid="7"/>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8"/>
                                        </p:tgtEl>
                                      </p:cBhvr>
                                    </p:animEffect>
                                    <p:set>
                                      <p:cBhvr>
                                        <p:cTn id="74" dur="1" fill="hold">
                                          <p:stCondLst>
                                            <p:cond delay="0"/>
                                          </p:stCondLst>
                                        </p:cTn>
                                        <p:tgtEl>
                                          <p:spTgt spid="8"/>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9"/>
                                        </p:tgtEl>
                                      </p:cBhvr>
                                    </p:animEffect>
                                    <p:set>
                                      <p:cBhvr>
                                        <p:cTn id="77" dur="1" fill="hold">
                                          <p:stCondLst>
                                            <p:cond delay="0"/>
                                          </p:stCondLst>
                                        </p:cTn>
                                        <p:tgtEl>
                                          <p:spTgt spid="9"/>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0"/>
                                        </p:tgtEl>
                                      </p:cBhvr>
                                    </p:animEffect>
                                    <p:set>
                                      <p:cBhvr>
                                        <p:cTn id="80" dur="1" fill="hold">
                                          <p:stCondLst>
                                            <p:cond delay="0"/>
                                          </p:stCondLst>
                                        </p:cTn>
                                        <p:tgtEl>
                                          <p:spTgt spid="10"/>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1"/>
                                        </p:tgtEl>
                                      </p:cBhvr>
                                    </p:animEffect>
                                    <p:set>
                                      <p:cBhvr>
                                        <p:cTn id="83" dur="1" fill="hold">
                                          <p:stCondLst>
                                            <p:cond delay="0"/>
                                          </p:stCondLst>
                                        </p:cTn>
                                        <p:tgtEl>
                                          <p:spTgt spid="11"/>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grpId="0" nodeType="clickEffect">
                                  <p:stCondLst>
                                    <p:cond delay="0"/>
                                  </p:stCondLst>
                                  <p:childTnLst>
                                    <p:animEffect transition="in" filter="fade">
                                      <p:cBhvr>
                                        <p:cTn id="87" dur="500"/>
                                        <p:tgtEl>
                                          <p:spTgt spid="5"/>
                                        </p:tgtEl>
                                      </p:cBhvr>
                                    </p:animEffect>
                                    <p:set>
                                      <p:cBhvr>
                                        <p:cTn id="88" dur="1" fill="hold">
                                          <p:stCondLst>
                                            <p:cond delay="0"/>
                                          </p:stCondLst>
                                        </p:cTn>
                                        <p:tgtEl>
                                          <p:spTgt spid="5"/>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12"/>
                                        </p:tgtEl>
                                      </p:cBhvr>
                                    </p:animEffect>
                                    <p:set>
                                      <p:cBhvr>
                                        <p:cTn id="91" dur="1" fill="hold">
                                          <p:stCondLst>
                                            <p:cond delay="0"/>
                                          </p:stCondLst>
                                        </p:cTn>
                                        <p:tgtEl>
                                          <p:spTgt spid="12"/>
                                        </p:tgtEl>
                                        <p:attrNameLst>
                                          <p:attrName>style.visibility</p:attrName>
                                        </p:attrNameLst>
                                      </p:cBhvr>
                                      <p:to>
                                        <p:strVal val="visible"/>
                                      </p:to>
                                    </p:set>
                                  </p:childTnLst>
                                </p:cTn>
                              </p:par>
                              <p:par>
                                <p:cTn id="92" presetID="10" presetClass="entr" presetSubtype="0" fill="hold" grpId="0" nodeType="withEffect">
                                  <p:stCondLst>
                                    <p:cond delay="0"/>
                                  </p:stCondLst>
                                  <p:childTnLst>
                                    <p:animEffect transition="in" filter="fade">
                                      <p:cBhvr>
                                        <p:cTn id="93" dur="500"/>
                                        <p:tgtEl>
                                          <p:spTgt spid="6"/>
                                        </p:tgtEl>
                                      </p:cBhvr>
                                    </p:animEffect>
                                    <p:set>
                                      <p:cBhvr>
                                        <p:cTn id="94" dur="1" fill="hold">
                                          <p:stCondLst>
                                            <p:cond delay="0"/>
                                          </p:stCondLst>
                                        </p:cTn>
                                        <p:tgtEl>
                                          <p:spTgt spid="6"/>
                                        </p:tgtEl>
                                        <p:attrNameLst>
                                          <p:attrName>style.visibility</p:attrName>
                                        </p:attrNameLst>
                                      </p:cBhvr>
                                      <p:to>
                                        <p:strVal val="visible"/>
                                      </p:to>
                                    </p:set>
                                  </p:childTnLst>
                                </p:cTn>
                              </p:par>
                              <p:par>
                                <p:cTn id="95" presetID="10" presetClass="entr" presetSubtype="0" fill="hold" grpId="0" nodeType="withEffect">
                                  <p:stCondLst>
                                    <p:cond delay="0"/>
                                  </p:stCondLst>
                                  <p:childTnLst>
                                    <p:animEffect transition="in" filter="fade">
                                      <p:cBhvr>
                                        <p:cTn id="96" dur="500"/>
                                        <p:tgtEl>
                                          <p:spTgt spid="13"/>
                                        </p:tgtEl>
                                      </p:cBhvr>
                                    </p:animEffect>
                                    <p:set>
                                      <p:cBhvr>
                                        <p:cTn id="97" dur="1" fill="hold">
                                          <p:stCondLst>
                                            <p:cond delay="0"/>
                                          </p:stCondLst>
                                        </p:cTn>
                                        <p:tgtEl>
                                          <p:spTgt spid="13"/>
                                        </p:tgtEl>
                                        <p:attrNameLst>
                                          <p:attrName>style.visibility</p:attrName>
                                        </p:attrNameLst>
                                      </p:cBhvr>
                                      <p:to>
                                        <p:strVal val="visible"/>
                                      </p:to>
                                    </p:set>
                                  </p:childTnLst>
                                </p:cTn>
                              </p:par>
                              <p:par>
                                <p:cTn id="98" presetID="10" presetClass="entr" presetSubtype="0" fill="hold" grpId="0" nodeType="withEffect">
                                  <p:stCondLst>
                                    <p:cond delay="0"/>
                                  </p:stCondLst>
                                  <p:childTnLst>
                                    <p:animEffect transition="in" filter="fade">
                                      <p:cBhvr>
                                        <p:cTn id="99" dur="500"/>
                                        <p:tgtEl>
                                          <p:spTgt spid="8"/>
                                        </p:tgtEl>
                                      </p:cBhvr>
                                    </p:animEffect>
                                    <p:set>
                                      <p:cBhvr>
                                        <p:cTn id="100" dur="1" fill="hold">
                                          <p:stCondLst>
                                            <p:cond delay="0"/>
                                          </p:stCondLst>
                                        </p:cTn>
                                        <p:tgtEl>
                                          <p:spTgt spid="8"/>
                                        </p:tgtEl>
                                        <p:attrNameLst>
                                          <p:attrName>style.visibility</p:attrName>
                                        </p:attrNameLst>
                                      </p:cBhvr>
                                      <p:to>
                                        <p:strVal val="visible"/>
                                      </p:to>
                                    </p:set>
                                  </p:childTnLst>
                                </p:cTn>
                              </p:par>
                              <p:par>
                                <p:cTn id="101" presetID="10" presetClass="entr" presetSubtype="0" fill="hold" grpId="0" nodeType="withEffect">
                                  <p:stCondLst>
                                    <p:cond delay="0"/>
                                  </p:stCondLst>
                                  <p:childTnLst>
                                    <p:animEffect transition="in" filter="fade">
                                      <p:cBhvr>
                                        <p:cTn id="102" dur="500"/>
                                        <p:tgtEl>
                                          <p:spTgt spid="14"/>
                                        </p:tgtEl>
                                      </p:cBhvr>
                                    </p:animEffect>
                                    <p:set>
                                      <p:cBhvr>
                                        <p:cTn id="103" dur="1" fill="hold">
                                          <p:stCondLst>
                                            <p:cond delay="0"/>
                                          </p:stCondLst>
                                        </p:cTn>
                                        <p:tgtEl>
                                          <p:spTgt spid="14"/>
                                        </p:tgtEl>
                                        <p:attrNameLst>
                                          <p:attrName>style.visibility</p:attrName>
                                        </p:attrNameLst>
                                      </p:cBhvr>
                                      <p:to>
                                        <p:strVal val="visible"/>
                                      </p:to>
                                    </p:set>
                                  </p:childTnLst>
                                </p:cTn>
                              </p:par>
                              <p:par>
                                <p:cTn id="104" presetID="10" presetClass="entr" presetSubtype="0" fill="hold" grpId="0" nodeType="withEffect">
                                  <p:stCondLst>
                                    <p:cond delay="0"/>
                                  </p:stCondLst>
                                  <p:childTnLst>
                                    <p:animEffect transition="in" filter="fade">
                                      <p:cBhvr>
                                        <p:cTn id="105" dur="500"/>
                                        <p:tgtEl>
                                          <p:spTgt spid="5"/>
                                        </p:tgtEl>
                                      </p:cBhvr>
                                    </p:animEffect>
                                    <p:set>
                                      <p:cBhvr>
                                        <p:cTn id="106" dur="1" fill="hold">
                                          <p:stCondLst>
                                            <p:cond delay="0"/>
                                          </p:stCondLst>
                                        </p:cTn>
                                        <p:tgtEl>
                                          <p:spTgt spid="5"/>
                                        </p:tgtEl>
                                        <p:attrNameLst>
                                          <p:attrName>style.visibility</p:attrName>
                                        </p:attrNameLst>
                                      </p:cBhvr>
                                      <p:to>
                                        <p:strVal val="visible"/>
                                      </p:to>
                                    </p:set>
                                  </p:childTnLst>
                                </p:cTn>
                              </p:par>
                              <p:par>
                                <p:cTn id="107" presetID="10" presetClass="entr" presetSubtype="0" fill="hold" grpId="0" nodeType="withEffect">
                                  <p:stCondLst>
                                    <p:cond delay="0"/>
                                  </p:stCondLst>
                                  <p:childTnLst>
                                    <p:animEffect transition="in" filter="fade">
                                      <p:cBhvr>
                                        <p:cTn id="108" dur="500"/>
                                        <p:tgtEl>
                                          <p:spTgt spid="12"/>
                                        </p:tgtEl>
                                      </p:cBhvr>
                                    </p:animEffect>
                                    <p:set>
                                      <p:cBhvr>
                                        <p:cTn id="109" dur="1" fill="hold">
                                          <p:stCondLst>
                                            <p:cond delay="0"/>
                                          </p:stCondLst>
                                        </p:cTn>
                                        <p:tgtEl>
                                          <p:spTgt spid="12"/>
                                        </p:tgtEl>
                                        <p:attrNameLst>
                                          <p:attrName>style.visibility</p:attrName>
                                        </p:attrNameLst>
                                      </p:cBhvr>
                                      <p:to>
                                        <p:strVal val="visible"/>
                                      </p:to>
                                    </p:set>
                                  </p:childTnLst>
                                </p:cTn>
                              </p:par>
                              <p:par>
                                <p:cTn id="110" presetID="10" presetClass="entr" presetSubtype="0" fill="hold" grpId="0" nodeType="withEffect">
                                  <p:stCondLst>
                                    <p:cond delay="0"/>
                                  </p:stCondLst>
                                  <p:childTnLst>
                                    <p:animEffect transition="in" filter="fade">
                                      <p:cBhvr>
                                        <p:cTn id="111" dur="500"/>
                                        <p:tgtEl>
                                          <p:spTgt spid="15"/>
                                        </p:tgtEl>
                                      </p:cBhvr>
                                    </p:animEffect>
                                    <p:set>
                                      <p:cBhvr>
                                        <p:cTn id="112" dur="1" fill="hold">
                                          <p:stCondLst>
                                            <p:cond delay="0"/>
                                          </p:stCondLst>
                                        </p:cTn>
                                        <p:tgtEl>
                                          <p:spTgt spid="15"/>
                                        </p:tgtEl>
                                        <p:attrNameLst>
                                          <p:attrName>style.visibility</p:attrName>
                                        </p:attrNameLst>
                                      </p:cBhvr>
                                      <p:to>
                                        <p:strVal val="visible"/>
                                      </p:to>
                                    </p:set>
                                  </p:childTnLst>
                                </p:cTn>
                              </p:par>
                              <p:par>
                                <p:cTn id="113" presetID="10" presetClass="entr" presetSubtype="0" fill="hold" grpId="0" nodeType="withEffect">
                                  <p:stCondLst>
                                    <p:cond delay="0"/>
                                  </p:stCondLst>
                                  <p:childTnLst>
                                    <p:animEffect transition="in" filter="fade">
                                      <p:cBhvr>
                                        <p:cTn id="114" dur="500"/>
                                        <p:tgtEl>
                                          <p:spTgt spid="6"/>
                                        </p:tgtEl>
                                      </p:cBhvr>
                                    </p:animEffect>
                                    <p:set>
                                      <p:cBhvr>
                                        <p:cTn id="115" dur="1" fill="hold">
                                          <p:stCondLst>
                                            <p:cond delay="0"/>
                                          </p:stCondLst>
                                        </p:cTn>
                                        <p:tgtEl>
                                          <p:spTgt spid="6"/>
                                        </p:tgtEl>
                                        <p:attrNameLst>
                                          <p:attrName>style.visibility</p:attrName>
                                        </p:attrNameLst>
                                      </p:cBhvr>
                                      <p:to>
                                        <p:strVal val="visible"/>
                                      </p:to>
                                    </p:set>
                                  </p:childTnLst>
                                </p:cTn>
                              </p:par>
                              <p:par>
                                <p:cTn id="116" presetID="10" presetClass="entr" presetSubtype="0" fill="hold" grpId="0" nodeType="withEffect">
                                  <p:stCondLst>
                                    <p:cond delay="0"/>
                                  </p:stCondLst>
                                  <p:childTnLst>
                                    <p:animEffect transition="in" filter="fade">
                                      <p:cBhvr>
                                        <p:cTn id="117" dur="500"/>
                                        <p:tgtEl>
                                          <p:spTgt spid="13"/>
                                        </p:tgtEl>
                                      </p:cBhvr>
                                    </p:animEffect>
                                    <p:set>
                                      <p:cBhvr>
                                        <p:cTn id="118" dur="1" fill="hold">
                                          <p:stCondLst>
                                            <p:cond delay="0"/>
                                          </p:stCondLst>
                                        </p:cTn>
                                        <p:tgtEl>
                                          <p:spTgt spid="13"/>
                                        </p:tgtEl>
                                        <p:attrNameLst>
                                          <p:attrName>style.visibility</p:attrName>
                                        </p:attrNameLst>
                                      </p:cBhvr>
                                      <p:to>
                                        <p:strVal val="visible"/>
                                      </p:to>
                                    </p:set>
                                  </p:childTnLst>
                                </p:cTn>
                              </p:par>
                              <p:par>
                                <p:cTn id="119" presetID="10" presetClass="entr" presetSubtype="0" fill="hold" grpId="0" nodeType="withEffect">
                                  <p:stCondLst>
                                    <p:cond delay="0"/>
                                  </p:stCondLst>
                                  <p:childTnLst>
                                    <p:animEffect transition="in" filter="fade">
                                      <p:cBhvr>
                                        <p:cTn id="120" dur="500"/>
                                        <p:tgtEl>
                                          <p:spTgt spid="16"/>
                                        </p:tgtEl>
                                      </p:cBhvr>
                                    </p:animEffect>
                                    <p:set>
                                      <p:cBhvr>
                                        <p:cTn id="121" dur="1" fill="hold">
                                          <p:stCondLst>
                                            <p:cond delay="0"/>
                                          </p:stCondLst>
                                        </p:cTn>
                                        <p:tgtEl>
                                          <p:spTgt spid="16"/>
                                        </p:tgtEl>
                                        <p:attrNameLst>
                                          <p:attrName>style.visibility</p:attrName>
                                        </p:attrNameLst>
                                      </p:cBhvr>
                                      <p:to>
                                        <p:strVal val="visible"/>
                                      </p:to>
                                    </p:set>
                                  </p:childTnLst>
                                </p:cTn>
                              </p:par>
                              <p:par>
                                <p:cTn id="122" presetID="10" presetClass="entr" presetSubtype="0" fill="hold" grpId="0" nodeType="withEffect">
                                  <p:stCondLst>
                                    <p:cond delay="0"/>
                                  </p:stCondLst>
                                  <p:childTnLst>
                                    <p:animEffect transition="in" filter="fade">
                                      <p:cBhvr>
                                        <p:cTn id="123" dur="500"/>
                                        <p:tgtEl>
                                          <p:spTgt spid="8"/>
                                        </p:tgtEl>
                                      </p:cBhvr>
                                    </p:animEffect>
                                    <p:set>
                                      <p:cBhvr>
                                        <p:cTn id="124" dur="1" fill="hold">
                                          <p:stCondLst>
                                            <p:cond delay="0"/>
                                          </p:stCondLst>
                                        </p:cTn>
                                        <p:tgtEl>
                                          <p:spTgt spid="8"/>
                                        </p:tgtEl>
                                        <p:attrNameLst>
                                          <p:attrName>style.visibility</p:attrName>
                                        </p:attrNameLst>
                                      </p:cBhvr>
                                      <p:to>
                                        <p:strVal val="visible"/>
                                      </p:to>
                                    </p:set>
                                  </p:childTnLst>
                                </p:cTn>
                              </p:par>
                              <p:par>
                                <p:cTn id="125" presetID="10" presetClass="entr" presetSubtype="0" fill="hold" grpId="0" nodeType="withEffect">
                                  <p:stCondLst>
                                    <p:cond delay="0"/>
                                  </p:stCondLst>
                                  <p:childTnLst>
                                    <p:animEffect transition="in" filter="fade">
                                      <p:cBhvr>
                                        <p:cTn id="126" dur="500"/>
                                        <p:tgtEl>
                                          <p:spTgt spid="14"/>
                                        </p:tgtEl>
                                      </p:cBhvr>
                                    </p:animEffect>
                                    <p:set>
                                      <p:cBhvr>
                                        <p:cTn id="127" dur="1" fill="hold">
                                          <p:stCondLst>
                                            <p:cond delay="0"/>
                                          </p:stCondLst>
                                        </p:cTn>
                                        <p:tgtEl>
                                          <p:spTgt spid="14"/>
                                        </p:tgtEl>
                                        <p:attrNameLst>
                                          <p:attrName>style.visibility</p:attrName>
                                        </p:attrNameLst>
                                      </p:cBhvr>
                                      <p:to>
                                        <p:strVal val="visible"/>
                                      </p:to>
                                    </p:set>
                                  </p:childTnLst>
                                </p:cTn>
                              </p:par>
                              <p:par>
                                <p:cTn id="128" presetID="10" presetClass="entr" presetSubtype="0" fill="hold" grpId="0" nodeType="withEffect">
                                  <p:stCondLst>
                                    <p:cond delay="0"/>
                                  </p:stCondLst>
                                  <p:childTnLst>
                                    <p:animEffect transition="in" filter="fade">
                                      <p:cBhvr>
                                        <p:cTn id="129" dur="500"/>
                                        <p:tgtEl>
                                          <p:spTgt spid="17"/>
                                        </p:tgtEl>
                                      </p:cBhvr>
                                    </p:animEffect>
                                    <p:set>
                                      <p:cBhvr>
                                        <p:cTn id="130" dur="1" fill="hold">
                                          <p:stCondLst>
                                            <p:cond delay="0"/>
                                          </p:stCondLst>
                                        </p:cTn>
                                        <p:tgtEl>
                                          <p:spTgt spid="17"/>
                                        </p:tgtEl>
                                        <p:attrNameLst>
                                          <p:attrName>style.visibility</p:attrName>
                                        </p:attrNameLst>
                                      </p:cBhvr>
                                      <p:to>
                                        <p:strVal val="visible"/>
                                      </p:to>
                                    </p:set>
                                  </p:childTnLst>
                                </p:cTn>
                              </p:par>
                              <p:par>
                                <p:cTn id="131" presetID="10" presetClass="entr" presetSubtype="0" fill="hold" grpId="0" nodeType="withEffect">
                                  <p:stCondLst>
                                    <p:cond delay="0"/>
                                  </p:stCondLst>
                                  <p:childTnLst>
                                    <p:animEffect transition="in" filter="fade">
                                      <p:cBhvr>
                                        <p:cTn id="132" dur="500"/>
                                        <p:tgtEl>
                                          <p:spTgt spid="5"/>
                                        </p:tgtEl>
                                      </p:cBhvr>
                                    </p:animEffect>
                                    <p:set>
                                      <p:cBhvr>
                                        <p:cTn id="133" dur="1" fill="hold">
                                          <p:stCondLst>
                                            <p:cond delay="0"/>
                                          </p:stCondLst>
                                        </p:cTn>
                                        <p:tgtEl>
                                          <p:spTgt spid="5"/>
                                        </p:tgtEl>
                                        <p:attrNameLst>
                                          <p:attrName>style.visibility</p:attrName>
                                        </p:attrNameLst>
                                      </p:cBhvr>
                                      <p:to>
                                        <p:strVal val="visible"/>
                                      </p:to>
                                    </p:set>
                                  </p:childTnLst>
                                </p:cTn>
                              </p:par>
                              <p:par>
                                <p:cTn id="134" presetID="10" presetClass="entr" presetSubtype="0" fill="hold" grpId="0" nodeType="withEffect">
                                  <p:stCondLst>
                                    <p:cond delay="0"/>
                                  </p:stCondLst>
                                  <p:childTnLst>
                                    <p:animEffect transition="in" filter="fade">
                                      <p:cBhvr>
                                        <p:cTn id="135" dur="500"/>
                                        <p:tgtEl>
                                          <p:spTgt spid="12"/>
                                        </p:tgtEl>
                                      </p:cBhvr>
                                    </p:animEffect>
                                    <p:set>
                                      <p:cBhvr>
                                        <p:cTn id="136" dur="1" fill="hold">
                                          <p:stCondLst>
                                            <p:cond delay="0"/>
                                          </p:stCondLst>
                                        </p:cTn>
                                        <p:tgtEl>
                                          <p:spTgt spid="12"/>
                                        </p:tgtEl>
                                        <p:attrNameLst>
                                          <p:attrName>style.visibility</p:attrName>
                                        </p:attrNameLst>
                                      </p:cBhvr>
                                      <p:to>
                                        <p:strVal val="visible"/>
                                      </p:to>
                                    </p:set>
                                  </p:childTnLst>
                                </p:cTn>
                              </p:par>
                              <p:par>
                                <p:cTn id="137" presetID="10" presetClass="entr" presetSubtype="0" fill="hold" grpId="0" nodeType="withEffect">
                                  <p:stCondLst>
                                    <p:cond delay="0"/>
                                  </p:stCondLst>
                                  <p:childTnLst>
                                    <p:animEffect transition="in" filter="fade">
                                      <p:cBhvr>
                                        <p:cTn id="138" dur="500"/>
                                        <p:tgtEl>
                                          <p:spTgt spid="15"/>
                                        </p:tgtEl>
                                      </p:cBhvr>
                                    </p:animEffect>
                                    <p:set>
                                      <p:cBhvr>
                                        <p:cTn id="139" dur="1" fill="hold">
                                          <p:stCondLst>
                                            <p:cond delay="0"/>
                                          </p:stCondLst>
                                        </p:cTn>
                                        <p:tgtEl>
                                          <p:spTgt spid="15"/>
                                        </p:tgtEl>
                                        <p:attrNameLst>
                                          <p:attrName>style.visibility</p:attrName>
                                        </p:attrNameLst>
                                      </p:cBhvr>
                                      <p:to>
                                        <p:strVal val="visible"/>
                                      </p:to>
                                    </p:set>
                                  </p:childTnLst>
                                </p:cTn>
                              </p:par>
                              <p:par>
                                <p:cTn id="140" presetID="10" presetClass="entr" presetSubtype="0" fill="hold" grpId="0" nodeType="withEffect">
                                  <p:stCondLst>
                                    <p:cond delay="0"/>
                                  </p:stCondLst>
                                  <p:childTnLst>
                                    <p:animEffect transition="in" filter="fade">
                                      <p:cBhvr>
                                        <p:cTn id="141" dur="500"/>
                                        <p:tgtEl>
                                          <p:spTgt spid="18"/>
                                        </p:tgtEl>
                                      </p:cBhvr>
                                    </p:animEffect>
                                    <p:set>
                                      <p:cBhvr>
                                        <p:cTn id="142" dur="1" fill="hold">
                                          <p:stCondLst>
                                            <p:cond delay="0"/>
                                          </p:stCondLst>
                                        </p:cTn>
                                        <p:tgtEl>
                                          <p:spTgt spid="18"/>
                                        </p:tgtEl>
                                        <p:attrNameLst>
                                          <p:attrName>style.visibility</p:attrName>
                                        </p:attrNameLst>
                                      </p:cBhvr>
                                      <p:to>
                                        <p:strVal val="visible"/>
                                      </p:to>
                                    </p:set>
                                  </p:childTnLst>
                                </p:cTn>
                              </p:par>
                              <p:par>
                                <p:cTn id="143" presetID="10" presetClass="entr" presetSubtype="0" fill="hold" grpId="0" nodeType="withEffect">
                                  <p:stCondLst>
                                    <p:cond delay="0"/>
                                  </p:stCondLst>
                                  <p:childTnLst>
                                    <p:animEffect transition="in" filter="fade">
                                      <p:cBhvr>
                                        <p:cTn id="144" dur="500"/>
                                        <p:tgtEl>
                                          <p:spTgt spid="6"/>
                                        </p:tgtEl>
                                      </p:cBhvr>
                                    </p:animEffect>
                                    <p:set>
                                      <p:cBhvr>
                                        <p:cTn id="145" dur="1" fill="hold">
                                          <p:stCondLst>
                                            <p:cond delay="0"/>
                                          </p:stCondLst>
                                        </p:cTn>
                                        <p:tgtEl>
                                          <p:spTgt spid="6"/>
                                        </p:tgtEl>
                                        <p:attrNameLst>
                                          <p:attrName>style.visibility</p:attrName>
                                        </p:attrNameLst>
                                      </p:cBhvr>
                                      <p:to>
                                        <p:strVal val="visible"/>
                                      </p:to>
                                    </p:set>
                                  </p:childTnLst>
                                </p:cTn>
                              </p:par>
                              <p:par>
                                <p:cTn id="146" presetID="10" presetClass="entr" presetSubtype="0" fill="hold" grpId="0" nodeType="withEffect">
                                  <p:stCondLst>
                                    <p:cond delay="0"/>
                                  </p:stCondLst>
                                  <p:childTnLst>
                                    <p:animEffect transition="in" filter="fade">
                                      <p:cBhvr>
                                        <p:cTn id="147" dur="500"/>
                                        <p:tgtEl>
                                          <p:spTgt spid="13"/>
                                        </p:tgtEl>
                                      </p:cBhvr>
                                    </p:animEffect>
                                    <p:set>
                                      <p:cBhvr>
                                        <p:cTn id="148" dur="1" fill="hold">
                                          <p:stCondLst>
                                            <p:cond delay="0"/>
                                          </p:stCondLst>
                                        </p:cTn>
                                        <p:tgtEl>
                                          <p:spTgt spid="13"/>
                                        </p:tgtEl>
                                        <p:attrNameLst>
                                          <p:attrName>style.visibility</p:attrName>
                                        </p:attrNameLst>
                                      </p:cBhvr>
                                      <p:to>
                                        <p:strVal val="visible"/>
                                      </p:to>
                                    </p:set>
                                  </p:childTnLst>
                                </p:cTn>
                              </p:par>
                              <p:par>
                                <p:cTn id="149" presetID="10" presetClass="entr" presetSubtype="0" fill="hold" grpId="0" nodeType="withEffect">
                                  <p:stCondLst>
                                    <p:cond delay="0"/>
                                  </p:stCondLst>
                                  <p:childTnLst>
                                    <p:animEffect transition="in" filter="fade">
                                      <p:cBhvr>
                                        <p:cTn id="150" dur="500"/>
                                        <p:tgtEl>
                                          <p:spTgt spid="16"/>
                                        </p:tgtEl>
                                      </p:cBhvr>
                                    </p:animEffect>
                                    <p:set>
                                      <p:cBhvr>
                                        <p:cTn id="151" dur="1" fill="hold">
                                          <p:stCondLst>
                                            <p:cond delay="0"/>
                                          </p:stCondLst>
                                        </p:cTn>
                                        <p:tgtEl>
                                          <p:spTgt spid="16"/>
                                        </p:tgtEl>
                                        <p:attrNameLst>
                                          <p:attrName>style.visibility</p:attrName>
                                        </p:attrNameLst>
                                      </p:cBhvr>
                                      <p:to>
                                        <p:strVal val="visible"/>
                                      </p:to>
                                    </p:set>
                                  </p:childTnLst>
                                </p:cTn>
                              </p:par>
                              <p:par>
                                <p:cTn id="152" presetID="10" presetClass="entr" presetSubtype="0" fill="hold" grpId="0" nodeType="withEffect">
                                  <p:stCondLst>
                                    <p:cond delay="0"/>
                                  </p:stCondLst>
                                  <p:childTnLst>
                                    <p:animEffect transition="in" filter="fade">
                                      <p:cBhvr>
                                        <p:cTn id="153" dur="500"/>
                                        <p:tgtEl>
                                          <p:spTgt spid="19"/>
                                        </p:tgtEl>
                                      </p:cBhvr>
                                    </p:animEffect>
                                    <p:set>
                                      <p:cBhvr>
                                        <p:cTn id="154" dur="1" fill="hold">
                                          <p:stCondLst>
                                            <p:cond delay="0"/>
                                          </p:stCondLst>
                                        </p:cTn>
                                        <p:tgtEl>
                                          <p:spTgt spid="19"/>
                                        </p:tgtEl>
                                        <p:attrNameLst>
                                          <p:attrName>style.visibility</p:attrName>
                                        </p:attrNameLst>
                                      </p:cBhvr>
                                      <p:to>
                                        <p:strVal val="visible"/>
                                      </p:to>
                                    </p:set>
                                  </p:childTnLst>
                                </p:cTn>
                              </p:par>
                              <p:par>
                                <p:cTn id="155" presetID="10" presetClass="entr" presetSubtype="0" fill="hold" grpId="0" nodeType="withEffect">
                                  <p:stCondLst>
                                    <p:cond delay="0"/>
                                  </p:stCondLst>
                                  <p:childTnLst>
                                    <p:animEffect transition="in" filter="fade">
                                      <p:cBhvr>
                                        <p:cTn id="156" dur="500"/>
                                        <p:tgtEl>
                                          <p:spTgt spid="8"/>
                                        </p:tgtEl>
                                      </p:cBhvr>
                                    </p:animEffect>
                                    <p:set>
                                      <p:cBhvr>
                                        <p:cTn id="157" dur="1" fill="hold">
                                          <p:stCondLst>
                                            <p:cond delay="0"/>
                                          </p:stCondLst>
                                        </p:cTn>
                                        <p:tgtEl>
                                          <p:spTgt spid="8"/>
                                        </p:tgtEl>
                                        <p:attrNameLst>
                                          <p:attrName>style.visibility</p:attrName>
                                        </p:attrNameLst>
                                      </p:cBhvr>
                                      <p:to>
                                        <p:strVal val="visible"/>
                                      </p:to>
                                    </p:set>
                                  </p:childTnLst>
                                </p:cTn>
                              </p:par>
                              <p:par>
                                <p:cTn id="158" presetID="10" presetClass="entr" presetSubtype="0" fill="hold" grpId="0" nodeType="withEffect">
                                  <p:stCondLst>
                                    <p:cond delay="0"/>
                                  </p:stCondLst>
                                  <p:childTnLst>
                                    <p:animEffect transition="in" filter="fade">
                                      <p:cBhvr>
                                        <p:cTn id="159" dur="500"/>
                                        <p:tgtEl>
                                          <p:spTgt spid="14"/>
                                        </p:tgtEl>
                                      </p:cBhvr>
                                    </p:animEffect>
                                    <p:set>
                                      <p:cBhvr>
                                        <p:cTn id="160" dur="1" fill="hold">
                                          <p:stCondLst>
                                            <p:cond delay="0"/>
                                          </p:stCondLst>
                                        </p:cTn>
                                        <p:tgtEl>
                                          <p:spTgt spid="14"/>
                                        </p:tgtEl>
                                        <p:attrNameLst>
                                          <p:attrName>style.visibility</p:attrName>
                                        </p:attrNameLst>
                                      </p:cBhvr>
                                      <p:to>
                                        <p:strVal val="visible"/>
                                      </p:to>
                                    </p:set>
                                  </p:childTnLst>
                                </p:cTn>
                              </p:par>
                              <p:par>
                                <p:cTn id="161" presetID="10" presetClass="entr" presetSubtype="0" fill="hold" grpId="0" nodeType="withEffect">
                                  <p:stCondLst>
                                    <p:cond delay="0"/>
                                  </p:stCondLst>
                                  <p:childTnLst>
                                    <p:animEffect transition="in" filter="fade">
                                      <p:cBhvr>
                                        <p:cTn id="162" dur="500"/>
                                        <p:tgtEl>
                                          <p:spTgt spid="17"/>
                                        </p:tgtEl>
                                      </p:cBhvr>
                                    </p:animEffect>
                                    <p:set>
                                      <p:cBhvr>
                                        <p:cTn id="163" dur="1" fill="hold">
                                          <p:stCondLst>
                                            <p:cond delay="0"/>
                                          </p:stCondLst>
                                        </p:cTn>
                                        <p:tgtEl>
                                          <p:spTgt spid="17"/>
                                        </p:tgtEl>
                                        <p:attrNameLst>
                                          <p:attrName>style.visibility</p:attrName>
                                        </p:attrNameLst>
                                      </p:cBhvr>
                                      <p:to>
                                        <p:strVal val="visible"/>
                                      </p:to>
                                    </p:set>
                                  </p:childTnLst>
                                </p:cTn>
                              </p:par>
                              <p:par>
                                <p:cTn id="164" presetID="10" presetClass="entr" presetSubtype="0" fill="hold" grpId="0" nodeType="withEffect">
                                  <p:stCondLst>
                                    <p:cond delay="0"/>
                                  </p:stCondLst>
                                  <p:childTnLst>
                                    <p:animEffect transition="in" filter="fade">
                                      <p:cBhvr>
                                        <p:cTn id="165" dur="500"/>
                                        <p:tgtEl>
                                          <p:spTgt spid="20"/>
                                        </p:tgtEl>
                                      </p:cBhvr>
                                    </p:animEffect>
                                    <p:set>
                                      <p:cBhvr>
                                        <p:cTn id="166" dur="1" fill="hold">
                                          <p:stCondLst>
                                            <p:cond delay="0"/>
                                          </p:stCondLst>
                                        </p:cTn>
                                        <p:tgtEl>
                                          <p:spTgt spid="20"/>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0" presetClass="entr" presetSubtype="0" fill="hold" grpId="0" nodeType="clickEffect">
                                  <p:stCondLst>
                                    <p:cond delay="0"/>
                                  </p:stCondLst>
                                  <p:childTnLst>
                                    <p:animEffect transition="in" filter="fade">
                                      <p:cBhvr>
                                        <p:cTn id="170" dur="500"/>
                                        <p:tgtEl>
                                          <p:spTgt spid="21"/>
                                        </p:tgtEl>
                                      </p:cBhvr>
                                    </p:animEffect>
                                    <p:set>
                                      <p:cBhvr>
                                        <p:cTn id="171"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3: Verifiable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3352647" y="1371600"/>
            <a:ext cx="13373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Hypothesis</a:t>
            </a:r>
          </a:p>
        </p:txBody>
      </p:sp>
      <p:cxnSp>
        <p:nvCxnSpPr>
          <p:cNvPr id="6" name="Connector 5"/>
          <p:cNvCxnSpPr/>
          <p:nvPr/>
        </p:nvCxnSpPr>
        <p:spPr>
          <a:xfrm>
            <a:off x="4689957" y="174650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964277" y="1371600"/>
            <a:ext cx="89916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Verify</a:t>
            </a:r>
          </a:p>
        </p:txBody>
      </p:sp>
      <p:cxnSp>
        <p:nvCxnSpPr>
          <p:cNvPr id="8" name="Connector 7"/>
          <p:cNvCxnSpPr/>
          <p:nvPr/>
        </p:nvCxnSpPr>
        <p:spPr>
          <a:xfrm>
            <a:off x="5863437" y="174650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37757" y="1371600"/>
            <a:ext cx="143256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Reward / fail</a:t>
            </a:r>
          </a:p>
        </p:txBody>
      </p:sp>
      <p:cxnSp>
        <p:nvCxnSpPr>
          <p:cNvPr id="10" name="Connector 9"/>
          <p:cNvCxnSpPr/>
          <p:nvPr/>
        </p:nvCxnSpPr>
        <p:spPr>
          <a:xfrm>
            <a:off x="7570317" y="174650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844637" y="1371600"/>
            <a:ext cx="994409"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Update</a:t>
            </a:r>
          </a:p>
        </p:txBody>
      </p:sp>
      <p:sp>
        <p:nvSpPr>
          <p:cNvPr id="12" name="Rectangle 11"/>
          <p:cNvSpPr/>
          <p:nvPr/>
        </p:nvSpPr>
        <p:spPr>
          <a:xfrm>
            <a:off x="731520" y="2414015"/>
            <a:ext cx="27431" cy="1051560"/>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1" y="2501899"/>
            <a:ext cx="10564063" cy="425196"/>
          </a:xfrm>
          <a:prstGeom prst="rect">
            <a:avLst/>
          </a:prstGeom>
          <a:noFill/>
        </p:spPr>
        <p:txBody>
          <a:bodyPr wrap="square">
            <a:spAutoFit/>
          </a:bodyPr>
          <a:lstStyle/>
          <a:p>
            <a:pPr algn="l">
              <a:defRPr sz="1800" b="1" i="0">
                <a:solidFill>
                  <a:srgbClr val="7FA195"/>
                </a:solidFill>
                <a:latin typeface="Liberation Sans"/>
              </a:defRPr>
            </a:pPr>
            <a:r>
              <a:t>Ground truth anchor</a:t>
            </a:r>
          </a:p>
        </p:txBody>
      </p:sp>
      <p:sp>
        <p:nvSpPr>
          <p:cNvPr id="14" name="TextBox 13"/>
          <p:cNvSpPr txBox="1"/>
          <p:nvPr/>
        </p:nvSpPr>
        <p:spPr>
          <a:xfrm>
            <a:off x="896111" y="3018535"/>
            <a:ext cx="10564063" cy="359156"/>
          </a:xfrm>
          <a:prstGeom prst="rect">
            <a:avLst/>
          </a:prstGeom>
          <a:noFill/>
        </p:spPr>
        <p:txBody>
          <a:bodyPr wrap="square">
            <a:spAutoFit/>
          </a:bodyPr>
          <a:lstStyle/>
          <a:p>
            <a:pPr algn="l">
              <a:defRPr sz="1400" b="0" i="0">
                <a:solidFill>
                  <a:srgbClr val="223043"/>
                </a:solidFill>
                <a:latin typeface="Liberation Sans"/>
              </a:defRPr>
            </a:pPr>
            <a:r>
              <a:t>Verified propagation tells us whether the reasoning path is faithful, not just whether the final answer is lucky.</a:t>
            </a:r>
          </a:p>
        </p:txBody>
      </p:sp>
      <p:sp>
        <p:nvSpPr>
          <p:cNvPr id="15" name="TextBox 14"/>
          <p:cNvSpPr txBox="1"/>
          <p:nvPr/>
        </p:nvSpPr>
        <p:spPr>
          <a:xfrm>
            <a:off x="731520" y="3758183"/>
            <a:ext cx="10728655" cy="425196"/>
          </a:xfrm>
          <a:prstGeom prst="rect">
            <a:avLst/>
          </a:prstGeom>
          <a:noFill/>
        </p:spPr>
        <p:txBody>
          <a:bodyPr wrap="square">
            <a:spAutoFit/>
          </a:bodyPr>
          <a:lstStyle/>
          <a:p>
            <a:pPr algn="l">
              <a:defRPr sz="1800" b="0" i="1">
                <a:solidFill>
                  <a:srgbClr val="647489"/>
                </a:solidFill>
                <a:latin typeface="Liberation Sans"/>
              </a:defRPr>
            </a:pPr>
            <a:r>
              <a:t>Ground truth closes the learning loop: hypotheses are checked against the incident path, then revised.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5"/>
                                        </p:tgtEl>
                                      </p:cBhvr>
                                    </p:animEffect>
                                    <p:set>
                                      <p:cBhvr>
                                        <p:cTn id="23" dur="1" fill="hold">
                                          <p:stCondLst>
                                            <p:cond delay="0"/>
                                          </p:stCondLst>
                                        </p:cTn>
                                        <p:tgtEl>
                                          <p:spTgt spid="5"/>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6"/>
                                        </p:tgtEl>
                                      </p:cBhvr>
                                    </p:animEffect>
                                    <p:set>
                                      <p:cBhvr>
                                        <p:cTn id="26" dur="1" fill="hold">
                                          <p:stCondLst>
                                            <p:cond delay="0"/>
                                          </p:stCondLst>
                                        </p:cTn>
                                        <p:tgtEl>
                                          <p:spTgt spid="6"/>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7"/>
                                        </p:tgtEl>
                                      </p:cBhvr>
                                    </p:animEffect>
                                    <p:set>
                                      <p:cBhvr>
                                        <p:cTn id="29" dur="1" fill="hold">
                                          <p:stCondLst>
                                            <p:cond delay="0"/>
                                          </p:stCondLst>
                                        </p:cTn>
                                        <p:tgtEl>
                                          <p:spTgt spid="7"/>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8"/>
                                        </p:tgtEl>
                                      </p:cBhvr>
                                    </p:animEffect>
                                    <p:set>
                                      <p:cBhvr>
                                        <p:cTn id="32" dur="1" fill="hold">
                                          <p:stCondLst>
                                            <p:cond delay="0"/>
                                          </p:stCondLst>
                                        </p:cTn>
                                        <p:tgtEl>
                                          <p:spTgt spid="8"/>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9"/>
                                        </p:tgtEl>
                                      </p:cBhvr>
                                    </p:animEffect>
                                    <p:set>
                                      <p:cBhvr>
                                        <p:cTn id="35" dur="1" fill="hold">
                                          <p:stCondLst>
                                            <p:cond delay="0"/>
                                          </p:stCondLst>
                                        </p:cTn>
                                        <p:tgtEl>
                                          <p:spTgt spid="9"/>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10"/>
                                        </p:tgtEl>
                                      </p:cBhvr>
                                    </p:animEffect>
                                    <p:set>
                                      <p:cBhvr>
                                        <p:cTn id="38" dur="1" fill="hold">
                                          <p:stCondLst>
                                            <p:cond delay="0"/>
                                          </p:stCondLst>
                                        </p:cTn>
                                        <p:tgtEl>
                                          <p:spTgt spid="10"/>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11"/>
                                        </p:tgtEl>
                                      </p:cBhvr>
                                    </p:animEffect>
                                    <p:set>
                                      <p:cBhvr>
                                        <p:cTn id="41" dur="1" fill="hold">
                                          <p:stCondLst>
                                            <p:cond delay="0"/>
                                          </p:stCondLst>
                                        </p:cTn>
                                        <p:tgtEl>
                                          <p:spTgt spid="1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animEffect transition="in" filter="fade">
                                      <p:cBhvr>
                                        <p:cTn id="45" dur="500"/>
                                        <p:tgtEl>
                                          <p:spTgt spid="5"/>
                                        </p:tgtEl>
                                      </p:cBhvr>
                                    </p:animEffect>
                                    <p:set>
                                      <p:cBhvr>
                                        <p:cTn id="46" dur="1" fill="hold">
                                          <p:stCondLst>
                                            <p:cond delay="0"/>
                                          </p:stCondLst>
                                        </p:cTn>
                                        <p:tgtEl>
                                          <p:spTgt spid="5"/>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2"/>
                                        </p:tgtEl>
                                      </p:cBhvr>
                                    </p:animEffect>
                                    <p:set>
                                      <p:cBhvr>
                                        <p:cTn id="49" dur="1" fill="hold">
                                          <p:stCondLst>
                                            <p:cond delay="0"/>
                                          </p:stCondLst>
                                        </p:cTn>
                                        <p:tgtEl>
                                          <p:spTgt spid="12"/>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6"/>
                                        </p:tgtEl>
                                      </p:cBhvr>
                                    </p:animEffect>
                                    <p:set>
                                      <p:cBhvr>
                                        <p:cTn id="52" dur="1" fill="hold">
                                          <p:stCondLst>
                                            <p:cond delay="0"/>
                                          </p:stCondLst>
                                        </p:cTn>
                                        <p:tgtEl>
                                          <p:spTgt spid="6"/>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3"/>
                                        </p:tgtEl>
                                      </p:cBhvr>
                                    </p:animEffect>
                                    <p:set>
                                      <p:cBhvr>
                                        <p:cTn id="55" dur="1" fill="hold">
                                          <p:stCondLst>
                                            <p:cond delay="0"/>
                                          </p:stCondLst>
                                        </p:cTn>
                                        <p:tgtEl>
                                          <p:spTgt spid="13"/>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8"/>
                                        </p:tgtEl>
                                      </p:cBhvr>
                                    </p:animEffect>
                                    <p:set>
                                      <p:cBhvr>
                                        <p:cTn id="58" dur="1" fill="hold">
                                          <p:stCondLst>
                                            <p:cond delay="0"/>
                                          </p:stCondLst>
                                        </p:cTn>
                                        <p:tgtEl>
                                          <p:spTgt spid="8"/>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4"/>
                                        </p:tgtEl>
                                      </p:cBhvr>
                                    </p:animEffect>
                                    <p:set>
                                      <p:cBhvr>
                                        <p:cTn id="61" dur="1" fill="hold">
                                          <p:stCondLst>
                                            <p:cond delay="0"/>
                                          </p:stCondLst>
                                        </p:cTn>
                                        <p:tgtEl>
                                          <p:spTgt spid="14"/>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animEffect transition="in" filter="fade">
                                      <p:cBhvr>
                                        <p:cTn id="65" dur="500"/>
                                        <p:tgtEl>
                                          <p:spTgt spid="15"/>
                                        </p:tgtEl>
                                      </p:cBhvr>
                                    </p:animEffect>
                                    <p:set>
                                      <p:cBhvr>
                                        <p:cTn id="6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Problem with RCA</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Rounded Rectangle 4"/>
          <p:cNvSpPr/>
          <p:nvPr/>
        </p:nvSpPr>
        <p:spPr>
          <a:xfrm>
            <a:off x="2615412" y="1371600"/>
            <a:ext cx="156591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Old taxonomy</a:t>
            </a:r>
          </a:p>
        </p:txBody>
      </p:sp>
      <p:sp>
        <p:nvSpPr>
          <p:cNvPr id="6" name="Rounded Rectangle 5"/>
          <p:cNvSpPr/>
          <p:nvPr/>
        </p:nvSpPr>
        <p:spPr>
          <a:xfrm>
            <a:off x="2329662" y="1895347"/>
            <a:ext cx="2137410" cy="786384"/>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Metrics / logs / traces</a:t>
            </a:r>
          </a:p>
        </p:txBody>
      </p:sp>
      <p:sp>
        <p:nvSpPr>
          <p:cNvPr id="7" name="TextBox 6"/>
          <p:cNvSpPr txBox="1"/>
          <p:nvPr/>
        </p:nvSpPr>
        <p:spPr>
          <a:xfrm>
            <a:off x="883767" y="2828036"/>
            <a:ext cx="5029200" cy="425196"/>
          </a:xfrm>
          <a:prstGeom prst="rect">
            <a:avLst/>
          </a:prstGeom>
          <a:noFill/>
        </p:spPr>
        <p:txBody>
          <a:bodyPr wrap="square">
            <a:spAutoFit/>
          </a:bodyPr>
          <a:lstStyle/>
          <a:p>
            <a:pPr algn="l">
              <a:defRPr sz="1800" b="0" i="0">
                <a:solidFill>
                  <a:srgbClr val="223043"/>
                </a:solidFill>
                <a:latin typeface="Liberation Sans"/>
              </a:defRPr>
            </a:pPr>
            <a:r>
              <a:t>Groups papers by input modality, even when their operational goals differ.</a:t>
            </a:r>
          </a:p>
        </p:txBody>
      </p:sp>
      <p:sp>
        <p:nvSpPr>
          <p:cNvPr id="8" name="TextBox 7"/>
          <p:cNvSpPr txBox="1"/>
          <p:nvPr/>
        </p:nvSpPr>
        <p:spPr>
          <a:xfrm>
            <a:off x="883767" y="3399536"/>
            <a:ext cx="5029200" cy="590296"/>
          </a:xfrm>
          <a:prstGeom prst="rect">
            <a:avLst/>
          </a:prstGeom>
          <a:noFill/>
        </p:spPr>
        <p:txBody>
          <a:bodyPr wrap="square">
            <a:spAutoFit/>
          </a:bodyPr>
          <a:lstStyle/>
          <a:p>
            <a:pPr algn="l">
              <a:defRPr sz="1400" b="0" i="0">
                <a:solidFill>
                  <a:srgbClr val="647489"/>
                </a:solidFill>
                <a:latin typeface="Liberation Sans"/>
              </a:defRPr>
            </a:pPr>
            <a:r>
              <a:t>This obscures progress because the same data can support very different RCA objectives.</a:t>
            </a:r>
          </a:p>
        </p:txBody>
      </p:sp>
      <p:sp>
        <p:nvSpPr>
          <p:cNvPr id="9" name="Rounded Rectangle 8"/>
          <p:cNvSpPr/>
          <p:nvPr/>
        </p:nvSpPr>
        <p:spPr>
          <a:xfrm>
            <a:off x="7648422" y="1417320"/>
            <a:ext cx="228981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Goal-driven taxonomy</a:t>
            </a:r>
          </a:p>
        </p:txBody>
      </p:sp>
      <p:sp>
        <p:nvSpPr>
          <p:cNvPr id="10" name="Rounded Rectangle 9"/>
          <p:cNvSpPr/>
          <p:nvPr/>
        </p:nvSpPr>
        <p:spPr>
          <a:xfrm>
            <a:off x="6770217" y="1941068"/>
            <a:ext cx="937259"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Triage</a:t>
            </a:r>
          </a:p>
        </p:txBody>
      </p:sp>
      <p:cxnSp>
        <p:nvCxnSpPr>
          <p:cNvPr id="11" name="Connector 10"/>
          <p:cNvCxnSpPr/>
          <p:nvPr/>
        </p:nvCxnSpPr>
        <p:spPr>
          <a:xfrm>
            <a:off x="7707477" y="231597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981797" y="1941068"/>
            <a:ext cx="126111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Mitigation</a:t>
            </a:r>
          </a:p>
        </p:txBody>
      </p:sp>
      <p:cxnSp>
        <p:nvCxnSpPr>
          <p:cNvPr id="13" name="Connector 12"/>
          <p:cNvCxnSpPr/>
          <p:nvPr/>
        </p:nvCxnSpPr>
        <p:spPr>
          <a:xfrm>
            <a:off x="9242907" y="231597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517227" y="1941068"/>
            <a:ext cx="129921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Resolution</a:t>
            </a:r>
          </a:p>
        </p:txBody>
      </p:sp>
      <p:sp>
        <p:nvSpPr>
          <p:cNvPr id="15" name="Rectangle 14"/>
          <p:cNvSpPr/>
          <p:nvPr/>
        </p:nvSpPr>
        <p:spPr>
          <a:xfrm>
            <a:off x="6278727" y="2837180"/>
            <a:ext cx="27432"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837180"/>
            <a:ext cx="4864608" cy="425196"/>
          </a:xfrm>
          <a:prstGeom prst="rect">
            <a:avLst/>
          </a:prstGeom>
          <a:noFill/>
        </p:spPr>
        <p:txBody>
          <a:bodyPr wrap="square">
            <a:spAutoFit/>
          </a:bodyPr>
          <a:lstStyle/>
          <a:p>
            <a:pPr algn="l">
              <a:defRPr sz="1800" b="1" i="0">
                <a:solidFill>
                  <a:srgbClr val="7FA195"/>
                </a:solidFill>
                <a:latin typeface="Liberation Sans"/>
              </a:defRPr>
            </a:pPr>
            <a:r>
              <a:t>Why it fits practice</a:t>
            </a:r>
          </a:p>
        </p:txBody>
      </p:sp>
      <p:sp>
        <p:nvSpPr>
          <p:cNvPr id="17" name="TextBox 16"/>
          <p:cNvSpPr txBox="1"/>
          <p:nvPr/>
        </p:nvSpPr>
        <p:spPr>
          <a:xfrm>
            <a:off x="6443319" y="3353816"/>
            <a:ext cx="4864608" cy="590296"/>
          </a:xfrm>
          <a:prstGeom prst="rect">
            <a:avLst/>
          </a:prstGeom>
          <a:noFill/>
        </p:spPr>
        <p:txBody>
          <a:bodyPr wrap="square">
            <a:spAutoFit/>
          </a:bodyPr>
          <a:lstStyle/>
          <a:p>
            <a:pPr algn="l">
              <a:defRPr sz="1400" b="0" i="0">
                <a:solidFill>
                  <a:srgbClr val="223043"/>
                </a:solidFill>
                <a:latin typeface="Liberation Sans"/>
              </a:defRPr>
            </a:pPr>
            <a:r>
              <a:t>Incident management cares about speed, actionability, interpretability, and granularity, not only data modality.</a:t>
            </a:r>
          </a:p>
        </p:txBody>
      </p:sp>
      <p:sp>
        <p:nvSpPr>
          <p:cNvPr id="18" name="TextBox 17"/>
          <p:cNvSpPr txBox="1"/>
          <p:nvPr/>
        </p:nvSpPr>
        <p:spPr>
          <a:xfrm>
            <a:off x="731520" y="4245864"/>
            <a:ext cx="10728655" cy="425196"/>
          </a:xfrm>
          <a:prstGeom prst="rect">
            <a:avLst/>
          </a:prstGeom>
          <a:noFill/>
        </p:spPr>
        <p:txBody>
          <a:bodyPr wrap="square">
            <a:spAutoFit/>
          </a:bodyPr>
          <a:lstStyle/>
          <a:p>
            <a:pPr algn="l">
              <a:defRPr sz="1800" b="0" i="1">
                <a:solidFill>
                  <a:srgbClr val="647489"/>
                </a:solidFill>
                <a:latin typeface="Liberation Sans"/>
              </a:defRPr>
            </a:pPr>
            <a:r>
              <a:t>Survey lens: organize RCA by the job it needs to do in incident management, not only by the telemetry it consumes.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9"/>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0"/>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3"/>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5"/>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1"/>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8"/>
                            </p:tgtEl>
                            <p:attrNameLst>
                              <p:attrName>style.visibility</p:attrName>
                            </p:attrNameLst>
                          </p:cBhvr>
                          <p:to>
                            <p:strVal val="hidden"/>
                          </p:to>
                        </p:set>
                      </p:childTnLst>
                    </p:cTn>
                  </p:par>
                </p:childTnLst>
              </p:cTn>
            </p:par>
            <p:seq concurrent="1" nextAc="seek">
              <p:cTn id="30" dur="indefinite" nodeType="mainSeq">
                <p:childTnLst>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animEffect transition="in" filter="fade">
                                      <p:cBhvr>
                                        <p:cTn id="34" dur="500"/>
                                        <p:tgtEl>
                                          <p:spTgt spid="5"/>
                                        </p:tgtEl>
                                      </p:cBhvr>
                                    </p:animEffect>
                                    <p:set>
                                      <p:cBhvr>
                                        <p:cTn id="35" dur="1" fill="hold">
                                          <p:stCondLst>
                                            <p:cond delay="0"/>
                                          </p:stCondLst>
                                        </p:cTn>
                                        <p:tgtEl>
                                          <p:spTgt spid="5"/>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6"/>
                                        </p:tgtEl>
                                      </p:cBhvr>
                                    </p:animEffect>
                                    <p:set>
                                      <p:cBhvr>
                                        <p:cTn id="38" dur="1" fill="hold">
                                          <p:stCondLst>
                                            <p:cond delay="0"/>
                                          </p:stCondLst>
                                        </p:cTn>
                                        <p:tgtEl>
                                          <p:spTgt spid="6"/>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7"/>
                                        </p:tgtEl>
                                      </p:cBhvr>
                                    </p:animEffect>
                                    <p:set>
                                      <p:cBhvr>
                                        <p:cTn id="41" dur="1" fill="hold">
                                          <p:stCondLst>
                                            <p:cond delay="0"/>
                                          </p:stCondLst>
                                        </p:cTn>
                                        <p:tgtEl>
                                          <p:spTgt spid="7"/>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8"/>
                                        </p:tgtEl>
                                      </p:cBhvr>
                                    </p:animEffect>
                                    <p:set>
                                      <p:cBhvr>
                                        <p:cTn id="44" dur="1" fill="hold">
                                          <p:stCondLst>
                                            <p:cond delay="0"/>
                                          </p:stCondLst>
                                        </p:cTn>
                                        <p:tgtEl>
                                          <p:spTgt spid="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animEffect transition="in" filter="fade">
                                      <p:cBhvr>
                                        <p:cTn id="48" dur="500"/>
                                        <p:tgtEl>
                                          <p:spTgt spid="9"/>
                                        </p:tgtEl>
                                      </p:cBhvr>
                                    </p:animEffect>
                                    <p:set>
                                      <p:cBhvr>
                                        <p:cTn id="49" dur="1" fill="hold">
                                          <p:stCondLst>
                                            <p:cond delay="0"/>
                                          </p:stCondLst>
                                        </p:cTn>
                                        <p:tgtEl>
                                          <p:spTgt spid="9"/>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0"/>
                                        </p:tgtEl>
                                      </p:cBhvr>
                                    </p:animEffect>
                                    <p:set>
                                      <p:cBhvr>
                                        <p:cTn id="52" dur="1" fill="hold">
                                          <p:stCondLst>
                                            <p:cond delay="0"/>
                                          </p:stCondLst>
                                        </p:cTn>
                                        <p:tgtEl>
                                          <p:spTgt spid="10"/>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1"/>
                                        </p:tgtEl>
                                      </p:cBhvr>
                                    </p:animEffect>
                                    <p:set>
                                      <p:cBhvr>
                                        <p:cTn id="55" dur="1" fill="hold">
                                          <p:stCondLst>
                                            <p:cond delay="0"/>
                                          </p:stCondLst>
                                        </p:cTn>
                                        <p:tgtEl>
                                          <p:spTgt spid="11"/>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2"/>
                                        </p:tgtEl>
                                      </p:cBhvr>
                                    </p:animEffect>
                                    <p:set>
                                      <p:cBhvr>
                                        <p:cTn id="58" dur="1" fill="hold">
                                          <p:stCondLst>
                                            <p:cond delay="0"/>
                                          </p:stCondLst>
                                        </p:cTn>
                                        <p:tgtEl>
                                          <p:spTgt spid="12"/>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3"/>
                                        </p:tgtEl>
                                      </p:cBhvr>
                                    </p:animEffect>
                                    <p:set>
                                      <p:cBhvr>
                                        <p:cTn id="61" dur="1" fill="hold">
                                          <p:stCondLst>
                                            <p:cond delay="0"/>
                                          </p:stCondLst>
                                        </p:cTn>
                                        <p:tgtEl>
                                          <p:spTgt spid="13"/>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4"/>
                                        </p:tgtEl>
                                      </p:cBhvr>
                                    </p:animEffect>
                                    <p:set>
                                      <p:cBhvr>
                                        <p:cTn id="64" dur="1" fill="hold">
                                          <p:stCondLst>
                                            <p:cond delay="0"/>
                                          </p:stCondLst>
                                        </p:cTn>
                                        <p:tgtEl>
                                          <p:spTgt spid="14"/>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10"/>
                                        </p:tgtEl>
                                      </p:cBhvr>
                                    </p:animEffect>
                                    <p:set>
                                      <p:cBhvr>
                                        <p:cTn id="67" dur="1" fill="hold">
                                          <p:stCondLst>
                                            <p:cond delay="0"/>
                                          </p:stCondLst>
                                        </p:cTn>
                                        <p:tgtEl>
                                          <p:spTgt spid="10"/>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5"/>
                                        </p:tgtEl>
                                      </p:cBhvr>
                                    </p:animEffect>
                                    <p:set>
                                      <p:cBhvr>
                                        <p:cTn id="70" dur="1" fill="hold">
                                          <p:stCondLst>
                                            <p:cond delay="0"/>
                                          </p:stCondLst>
                                        </p:cTn>
                                        <p:tgtEl>
                                          <p:spTgt spid="15"/>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11"/>
                                        </p:tgtEl>
                                      </p:cBhvr>
                                    </p:animEffect>
                                    <p:set>
                                      <p:cBhvr>
                                        <p:cTn id="73" dur="1" fill="hold">
                                          <p:stCondLst>
                                            <p:cond delay="0"/>
                                          </p:stCondLst>
                                        </p:cTn>
                                        <p:tgtEl>
                                          <p:spTgt spid="11"/>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16"/>
                                        </p:tgtEl>
                                      </p:cBhvr>
                                    </p:animEffect>
                                    <p:set>
                                      <p:cBhvr>
                                        <p:cTn id="76" dur="1" fill="hold">
                                          <p:stCondLst>
                                            <p:cond delay="0"/>
                                          </p:stCondLst>
                                        </p:cTn>
                                        <p:tgtEl>
                                          <p:spTgt spid="16"/>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13"/>
                                        </p:tgtEl>
                                      </p:cBhvr>
                                    </p:animEffect>
                                    <p:set>
                                      <p:cBhvr>
                                        <p:cTn id="79" dur="1" fill="hold">
                                          <p:stCondLst>
                                            <p:cond delay="0"/>
                                          </p:stCondLst>
                                        </p:cTn>
                                        <p:tgtEl>
                                          <p:spTgt spid="13"/>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17"/>
                                        </p:tgtEl>
                                      </p:cBhvr>
                                    </p:animEffect>
                                    <p:set>
                                      <p:cBhvr>
                                        <p:cTn id="82" dur="1" fill="hold">
                                          <p:stCondLst>
                                            <p:cond delay="0"/>
                                          </p:stCondLst>
                                        </p:cTn>
                                        <p:tgtEl>
                                          <p:spTgt spid="17"/>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animEffect transition="in" filter="fade">
                                      <p:cBhvr>
                                        <p:cTn id="86" dur="500"/>
                                        <p:tgtEl>
                                          <p:spTgt spid="18"/>
                                        </p:tgtEl>
                                      </p:cBhvr>
                                    </p:animEffect>
                                    <p:set>
                                      <p:cBhvr>
                                        <p:cTn id="87"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Effectiveness-Data-Cost Triangle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Oval 4"/>
          <p:cNvSpPr/>
          <p:nvPr/>
        </p:nvSpPr>
        <p:spPr>
          <a:xfrm>
            <a:off x="5250027" y="1371600"/>
            <a:ext cx="1691640" cy="1691640"/>
          </a:xfrm>
          <a:prstGeom prst="ellipse">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Effectiveness</a:t>
            </a:r>
          </a:p>
        </p:txBody>
      </p:sp>
      <p:sp>
        <p:nvSpPr>
          <p:cNvPr id="6" name="Oval 5"/>
          <p:cNvSpPr/>
          <p:nvPr/>
        </p:nvSpPr>
        <p:spPr>
          <a:xfrm>
            <a:off x="4129887" y="3191256"/>
            <a:ext cx="1508760" cy="1508760"/>
          </a:xfrm>
          <a:prstGeom prst="ellipse">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1">
                <a:solidFill>
                  <a:srgbClr val="FFFFFF"/>
                </a:solidFill>
                <a:latin typeface="Liberation Sans"/>
              </a:defRPr>
            </a:pPr>
            <a:r>
              <a:t>Data</a:t>
            </a:r>
          </a:p>
        </p:txBody>
      </p:sp>
      <p:sp>
        <p:nvSpPr>
          <p:cNvPr id="7" name="Oval 6"/>
          <p:cNvSpPr/>
          <p:nvPr/>
        </p:nvSpPr>
        <p:spPr>
          <a:xfrm>
            <a:off x="6553047" y="3191256"/>
            <a:ext cx="1508760" cy="1508760"/>
          </a:xfrm>
          <a:prstGeom prst="ellipse">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1">
                <a:solidFill>
                  <a:srgbClr val="FFFFFF"/>
                </a:solidFill>
                <a:latin typeface="Liberation Sans"/>
              </a:defRPr>
            </a:pPr>
            <a:r>
              <a:t>Cost</a:t>
            </a:r>
          </a:p>
        </p:txBody>
      </p:sp>
      <p:sp>
        <p:nvSpPr>
          <p:cNvPr id="8" name="Rectangle 7"/>
          <p:cNvSpPr/>
          <p:nvPr/>
        </p:nvSpPr>
        <p:spPr>
          <a:xfrm>
            <a:off x="731520" y="4828032"/>
            <a:ext cx="27431" cy="87579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4828032"/>
            <a:ext cx="3289706" cy="425196"/>
          </a:xfrm>
          <a:prstGeom prst="rect">
            <a:avLst/>
          </a:prstGeom>
          <a:noFill/>
        </p:spPr>
        <p:txBody>
          <a:bodyPr wrap="square">
            <a:spAutoFit/>
          </a:bodyPr>
          <a:lstStyle/>
          <a:p>
            <a:pPr algn="l">
              <a:defRPr sz="1800" b="1" i="0">
                <a:solidFill>
                  <a:srgbClr val="5C82AD"/>
                </a:solidFill>
                <a:latin typeface="Liberation Sans"/>
              </a:defRPr>
            </a:pPr>
            <a:r>
              <a:t>Effectiveness</a:t>
            </a:r>
          </a:p>
        </p:txBody>
      </p:sp>
      <p:sp>
        <p:nvSpPr>
          <p:cNvPr id="10" name="TextBox 9"/>
          <p:cNvSpPr txBox="1"/>
          <p:nvPr/>
        </p:nvSpPr>
        <p:spPr>
          <a:xfrm>
            <a:off x="896112" y="5344668"/>
            <a:ext cx="3289706" cy="359156"/>
          </a:xfrm>
          <a:prstGeom prst="rect">
            <a:avLst/>
          </a:prstGeom>
          <a:noFill/>
        </p:spPr>
        <p:txBody>
          <a:bodyPr wrap="square">
            <a:spAutoFit/>
          </a:bodyPr>
          <a:lstStyle/>
          <a:p>
            <a:pPr algn="l">
              <a:defRPr sz="1400" b="0" i="0">
                <a:solidFill>
                  <a:srgbClr val="223043"/>
                </a:solidFill>
                <a:latin typeface="Liberation Sans"/>
              </a:defRPr>
            </a:pPr>
            <a:r>
              <a:t>Better diagnosis quality and broader causal coverage.</a:t>
            </a:r>
          </a:p>
        </p:txBody>
      </p:sp>
      <p:sp>
        <p:nvSpPr>
          <p:cNvPr id="11" name="Rectangle 10"/>
          <p:cNvSpPr/>
          <p:nvPr/>
        </p:nvSpPr>
        <p:spPr>
          <a:xfrm>
            <a:off x="4368698" y="4828032"/>
            <a:ext cx="27431" cy="87579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33290" y="4828032"/>
            <a:ext cx="3289706" cy="425196"/>
          </a:xfrm>
          <a:prstGeom prst="rect">
            <a:avLst/>
          </a:prstGeom>
          <a:noFill/>
        </p:spPr>
        <p:txBody>
          <a:bodyPr wrap="square">
            <a:spAutoFit/>
          </a:bodyPr>
          <a:lstStyle/>
          <a:p>
            <a:pPr algn="l">
              <a:defRPr sz="1800" b="1" i="0">
                <a:solidFill>
                  <a:srgbClr val="8FAAC8"/>
                </a:solidFill>
                <a:latin typeface="Liberation Sans"/>
              </a:defRPr>
            </a:pPr>
            <a:r>
              <a:t>Data</a:t>
            </a:r>
          </a:p>
        </p:txBody>
      </p:sp>
      <p:sp>
        <p:nvSpPr>
          <p:cNvPr id="13" name="TextBox 12"/>
          <p:cNvSpPr txBox="1"/>
          <p:nvPr/>
        </p:nvSpPr>
        <p:spPr>
          <a:xfrm>
            <a:off x="4533290" y="5344668"/>
            <a:ext cx="3289706" cy="359156"/>
          </a:xfrm>
          <a:prstGeom prst="rect">
            <a:avLst/>
          </a:prstGeom>
          <a:noFill/>
        </p:spPr>
        <p:txBody>
          <a:bodyPr wrap="square">
            <a:spAutoFit/>
          </a:bodyPr>
          <a:lstStyle/>
          <a:p>
            <a:pPr algn="l">
              <a:defRPr sz="1400" b="0" i="0">
                <a:solidFill>
                  <a:srgbClr val="223043"/>
                </a:solidFill>
                <a:latin typeface="Liberation Sans"/>
              </a:defRPr>
            </a:pPr>
            <a:r>
              <a:t>More telemetry, more modalities, deeper observability.</a:t>
            </a:r>
          </a:p>
        </p:txBody>
      </p:sp>
      <p:sp>
        <p:nvSpPr>
          <p:cNvPr id="14" name="Rectangle 13"/>
          <p:cNvSpPr/>
          <p:nvPr/>
        </p:nvSpPr>
        <p:spPr>
          <a:xfrm>
            <a:off x="8005876" y="4828032"/>
            <a:ext cx="27431" cy="875792"/>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0468" y="4828032"/>
            <a:ext cx="3289706" cy="425196"/>
          </a:xfrm>
          <a:prstGeom prst="rect">
            <a:avLst/>
          </a:prstGeom>
          <a:noFill/>
        </p:spPr>
        <p:txBody>
          <a:bodyPr wrap="square">
            <a:spAutoFit/>
          </a:bodyPr>
          <a:lstStyle/>
          <a:p>
            <a:pPr algn="l">
              <a:defRPr sz="1800" b="1" i="0">
                <a:solidFill>
                  <a:srgbClr val="D8A86A"/>
                </a:solidFill>
                <a:latin typeface="Liberation Sans"/>
              </a:defRPr>
            </a:pPr>
            <a:r>
              <a:t>Cost</a:t>
            </a:r>
          </a:p>
        </p:txBody>
      </p:sp>
      <p:sp>
        <p:nvSpPr>
          <p:cNvPr id="16" name="TextBox 15"/>
          <p:cNvSpPr txBox="1"/>
          <p:nvPr/>
        </p:nvSpPr>
        <p:spPr>
          <a:xfrm>
            <a:off x="8170468" y="5344668"/>
            <a:ext cx="3289706" cy="359156"/>
          </a:xfrm>
          <a:prstGeom prst="rect">
            <a:avLst/>
          </a:prstGeom>
          <a:noFill/>
        </p:spPr>
        <p:txBody>
          <a:bodyPr wrap="square">
            <a:spAutoFit/>
          </a:bodyPr>
          <a:lstStyle/>
          <a:p>
            <a:pPr algn="l">
              <a:defRPr sz="1400" b="0" i="0">
                <a:solidFill>
                  <a:srgbClr val="223043"/>
                </a:solidFill>
                <a:latin typeface="Liberation Sans"/>
              </a:defRPr>
            </a:pPr>
            <a:r>
              <a:t>Ingestion, storage, and compute rise with scope.</a:t>
            </a:r>
          </a:p>
        </p:txBody>
      </p:sp>
      <p:sp>
        <p:nvSpPr>
          <p:cNvPr id="17" name="TextBox 16"/>
          <p:cNvSpPr txBox="1"/>
          <p:nvPr/>
        </p:nvSpPr>
        <p:spPr>
          <a:xfrm>
            <a:off x="731520" y="5831840"/>
            <a:ext cx="10728655" cy="309626"/>
          </a:xfrm>
          <a:prstGeom prst="rect">
            <a:avLst/>
          </a:prstGeom>
          <a:noFill/>
        </p:spPr>
        <p:txBody>
          <a:bodyPr wrap="square">
            <a:spAutoFit/>
          </a:bodyPr>
          <a:lstStyle/>
          <a:p>
            <a:pPr algn="l">
              <a:defRPr sz="1100" b="0" i="1">
                <a:solidFill>
                  <a:srgbClr val="647489"/>
                </a:solidFill>
                <a:latin typeface="Liberation Sans"/>
              </a:defRPr>
            </a:pPr>
            <a:r>
              <a:t>Better RCA needs richer data, and richer data raises cost.</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8"/>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9"/>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0"/>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8"/>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1"/>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9"/>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2"/>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5"/>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0"/>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3"/>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6"/>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7"/>
                            </p:tgtEl>
                            <p:attrNameLst>
                              <p:attrName>style.visibility</p:attrName>
                            </p:attrNameLst>
                          </p:cBhvr>
                          <p:to>
                            <p:strVal val="hidden"/>
                          </p:to>
                        </p:set>
                      </p:childTnLst>
                    </p:cTn>
                  </p:par>
                </p:childTnLst>
              </p:cTn>
            </p:par>
            <p:seq concurrent="1" nextAc="seek">
              <p:cTn id="46" dur="indefinite" nodeType="mainSeq">
                <p:childTnLst>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5"/>
                                        </p:tgtEl>
                                      </p:cBhvr>
                                    </p:animEffect>
                                    <p:set>
                                      <p:cBhvr>
                                        <p:cTn id="51" dur="1" fill="hold">
                                          <p:stCondLst>
                                            <p:cond delay="0"/>
                                          </p:stCondLst>
                                        </p:cTn>
                                        <p:tgtEl>
                                          <p:spTgt spid="5"/>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animEffect transition="in" filter="fade">
                                      <p:cBhvr>
                                        <p:cTn id="55" dur="500"/>
                                        <p:tgtEl>
                                          <p:spTgt spid="6"/>
                                        </p:tgtEl>
                                      </p:cBhvr>
                                    </p:animEffect>
                                    <p:set>
                                      <p:cBhvr>
                                        <p:cTn id="56" dur="1" fill="hold">
                                          <p:stCondLst>
                                            <p:cond delay="0"/>
                                          </p:stCondLst>
                                        </p:cTn>
                                        <p:tgtEl>
                                          <p:spTgt spid="6"/>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7"/>
                                        </p:tgtEl>
                                      </p:cBhvr>
                                    </p:animEffect>
                                    <p:set>
                                      <p:cBhvr>
                                        <p:cTn id="59" dur="1" fill="hold">
                                          <p:stCondLst>
                                            <p:cond delay="0"/>
                                          </p:stCondLst>
                                        </p:cTn>
                                        <p:tgtEl>
                                          <p:spTgt spid="7"/>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8"/>
                                        </p:tgtEl>
                                      </p:cBhvr>
                                    </p:animEffect>
                                    <p:set>
                                      <p:cBhvr>
                                        <p:cTn id="62" dur="1" fill="hold">
                                          <p:stCondLst>
                                            <p:cond delay="0"/>
                                          </p:stCondLst>
                                        </p:cTn>
                                        <p:tgtEl>
                                          <p:spTgt spid="8"/>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9"/>
                                        </p:tgtEl>
                                      </p:cBhvr>
                                    </p:animEffect>
                                    <p:set>
                                      <p:cBhvr>
                                        <p:cTn id="65" dur="1" fill="hold">
                                          <p:stCondLst>
                                            <p:cond delay="0"/>
                                          </p:stCondLst>
                                        </p:cTn>
                                        <p:tgtEl>
                                          <p:spTgt spid="9"/>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0"/>
                                        </p:tgtEl>
                                      </p:cBhvr>
                                    </p:animEffect>
                                    <p:set>
                                      <p:cBhvr>
                                        <p:cTn id="68" dur="1" fill="hold">
                                          <p:stCondLst>
                                            <p:cond delay="0"/>
                                          </p:stCondLst>
                                        </p:cTn>
                                        <p:tgtEl>
                                          <p:spTgt spid="10"/>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8"/>
                                        </p:tgtEl>
                                      </p:cBhvr>
                                    </p:animEffect>
                                    <p:set>
                                      <p:cBhvr>
                                        <p:cTn id="71" dur="1" fill="hold">
                                          <p:stCondLst>
                                            <p:cond delay="0"/>
                                          </p:stCondLst>
                                        </p:cTn>
                                        <p:tgtEl>
                                          <p:spTgt spid="8"/>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1"/>
                                        </p:tgtEl>
                                      </p:cBhvr>
                                    </p:animEffect>
                                    <p:set>
                                      <p:cBhvr>
                                        <p:cTn id="74" dur="1" fill="hold">
                                          <p:stCondLst>
                                            <p:cond delay="0"/>
                                          </p:stCondLst>
                                        </p:cTn>
                                        <p:tgtEl>
                                          <p:spTgt spid="11"/>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9"/>
                                        </p:tgtEl>
                                      </p:cBhvr>
                                    </p:animEffect>
                                    <p:set>
                                      <p:cBhvr>
                                        <p:cTn id="77" dur="1" fill="hold">
                                          <p:stCondLst>
                                            <p:cond delay="0"/>
                                          </p:stCondLst>
                                        </p:cTn>
                                        <p:tgtEl>
                                          <p:spTgt spid="9"/>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2"/>
                                        </p:tgtEl>
                                      </p:cBhvr>
                                    </p:animEffect>
                                    <p:set>
                                      <p:cBhvr>
                                        <p:cTn id="80" dur="1" fill="hold">
                                          <p:stCondLst>
                                            <p:cond delay="0"/>
                                          </p:stCondLst>
                                        </p:cTn>
                                        <p:tgtEl>
                                          <p:spTgt spid="12"/>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0"/>
                                        </p:tgtEl>
                                      </p:cBhvr>
                                    </p:animEffect>
                                    <p:set>
                                      <p:cBhvr>
                                        <p:cTn id="83" dur="1" fill="hold">
                                          <p:stCondLst>
                                            <p:cond delay="0"/>
                                          </p:stCondLst>
                                        </p:cTn>
                                        <p:tgtEl>
                                          <p:spTgt spid="10"/>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3"/>
                                        </p:tgtEl>
                                      </p:cBhvr>
                                    </p:animEffect>
                                    <p:set>
                                      <p:cBhvr>
                                        <p:cTn id="86" dur="1" fill="hold">
                                          <p:stCondLst>
                                            <p:cond delay="0"/>
                                          </p:stCondLst>
                                        </p:cTn>
                                        <p:tgtEl>
                                          <p:spTgt spid="13"/>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8"/>
                                        </p:tgtEl>
                                      </p:cBhvr>
                                    </p:animEffect>
                                    <p:set>
                                      <p:cBhvr>
                                        <p:cTn id="89" dur="1" fill="hold">
                                          <p:stCondLst>
                                            <p:cond delay="0"/>
                                          </p:stCondLst>
                                        </p:cTn>
                                        <p:tgtEl>
                                          <p:spTgt spid="8"/>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1"/>
                                        </p:tgtEl>
                                      </p:cBhvr>
                                    </p:animEffect>
                                    <p:set>
                                      <p:cBhvr>
                                        <p:cTn id="92" dur="1" fill="hold">
                                          <p:stCondLst>
                                            <p:cond delay="0"/>
                                          </p:stCondLst>
                                        </p:cTn>
                                        <p:tgtEl>
                                          <p:spTgt spid="11"/>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14"/>
                                        </p:tgtEl>
                                      </p:cBhvr>
                                    </p:animEffect>
                                    <p:set>
                                      <p:cBhvr>
                                        <p:cTn id="95" dur="1" fill="hold">
                                          <p:stCondLst>
                                            <p:cond delay="0"/>
                                          </p:stCondLst>
                                        </p:cTn>
                                        <p:tgtEl>
                                          <p:spTgt spid="14"/>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9"/>
                                        </p:tgtEl>
                                      </p:cBhvr>
                                    </p:animEffect>
                                    <p:set>
                                      <p:cBhvr>
                                        <p:cTn id="98" dur="1" fill="hold">
                                          <p:stCondLst>
                                            <p:cond delay="0"/>
                                          </p:stCondLst>
                                        </p:cTn>
                                        <p:tgtEl>
                                          <p:spTgt spid="9"/>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12"/>
                                        </p:tgtEl>
                                      </p:cBhvr>
                                    </p:animEffect>
                                    <p:set>
                                      <p:cBhvr>
                                        <p:cTn id="101" dur="1" fill="hold">
                                          <p:stCondLst>
                                            <p:cond delay="0"/>
                                          </p:stCondLst>
                                        </p:cTn>
                                        <p:tgtEl>
                                          <p:spTgt spid="12"/>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15"/>
                                        </p:tgtEl>
                                      </p:cBhvr>
                                    </p:animEffect>
                                    <p:set>
                                      <p:cBhvr>
                                        <p:cTn id="104" dur="1" fill="hold">
                                          <p:stCondLst>
                                            <p:cond delay="0"/>
                                          </p:stCondLst>
                                        </p:cTn>
                                        <p:tgtEl>
                                          <p:spTgt spid="15"/>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0"/>
                                        </p:tgtEl>
                                      </p:cBhvr>
                                    </p:animEffect>
                                    <p:set>
                                      <p:cBhvr>
                                        <p:cTn id="107" dur="1" fill="hold">
                                          <p:stCondLst>
                                            <p:cond delay="0"/>
                                          </p:stCondLst>
                                        </p:cTn>
                                        <p:tgtEl>
                                          <p:spTgt spid="10"/>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13"/>
                                        </p:tgtEl>
                                      </p:cBhvr>
                                    </p:animEffect>
                                    <p:set>
                                      <p:cBhvr>
                                        <p:cTn id="110" dur="1" fill="hold">
                                          <p:stCondLst>
                                            <p:cond delay="0"/>
                                          </p:stCondLst>
                                        </p:cTn>
                                        <p:tgtEl>
                                          <p:spTgt spid="13"/>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16"/>
                                        </p:tgtEl>
                                      </p:cBhvr>
                                    </p:animEffect>
                                    <p:set>
                                      <p:cBhvr>
                                        <p:cTn id="113" dur="1" fill="hold">
                                          <p:stCondLst>
                                            <p:cond delay="0"/>
                                          </p:stCondLst>
                                        </p:cTn>
                                        <p:tgtEl>
                                          <p:spTgt spid="16"/>
                                        </p:tgtEl>
                                        <p:attrNameLst>
                                          <p:attrName>style.visibility</p:attrName>
                                        </p:attrNameLst>
                                      </p:cBhvr>
                                      <p:to>
                                        <p:strVal val="visible"/>
                                      </p:to>
                                    </p:se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grpId="0" nodeType="clickEffect">
                                  <p:stCondLst>
                                    <p:cond delay="0"/>
                                  </p:stCondLst>
                                  <p:childTnLst>
                                    <p:animEffect transition="in" filter="fade">
                                      <p:cBhvr>
                                        <p:cTn id="117" dur="500"/>
                                        <p:tgtEl>
                                          <p:spTgt spid="17"/>
                                        </p:tgtEl>
                                      </p:cBhvr>
                                    </p:animEffect>
                                    <p:set>
                                      <p:cBhvr>
                                        <p:cTn id="1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Ideal RCA Formalization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TextBox 4"/>
          <p:cNvSpPr txBox="1"/>
          <p:nvPr/>
        </p:nvSpPr>
        <p:spPr>
          <a:xfrm>
            <a:off x="731520" y="1371600"/>
            <a:ext cx="10728655" cy="623316"/>
          </a:xfrm>
          <a:prstGeom prst="rect">
            <a:avLst/>
          </a:prstGeom>
          <a:noFill/>
        </p:spPr>
        <p:txBody>
          <a:bodyPr wrap="square">
            <a:spAutoFit/>
          </a:bodyPr>
          <a:lstStyle/>
          <a:p>
            <a:pPr algn="ctr">
              <a:defRPr sz="3000" b="1" i="0">
                <a:solidFill>
                  <a:srgbClr val="5C82AD"/>
                </a:solidFill>
                <a:latin typeface="Liberation Sans"/>
              </a:defRPr>
            </a:pPr>
            <a:r>
              <a:t>F: O -&gt; G</a:t>
            </a:r>
          </a:p>
        </p:txBody>
      </p:sp>
      <p:sp>
        <p:nvSpPr>
          <p:cNvPr id="6" name="Rounded Rectangle 5"/>
          <p:cNvSpPr/>
          <p:nvPr/>
        </p:nvSpPr>
        <p:spPr>
          <a:xfrm>
            <a:off x="3491712" y="2250948"/>
            <a:ext cx="14135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Observation</a:t>
            </a:r>
          </a:p>
        </p:txBody>
      </p:sp>
      <p:cxnSp>
        <p:nvCxnSpPr>
          <p:cNvPr id="7" name="Connector 6"/>
          <p:cNvCxnSpPr/>
          <p:nvPr/>
        </p:nvCxnSpPr>
        <p:spPr>
          <a:xfrm>
            <a:off x="4905222" y="262585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179542" y="2250948"/>
            <a:ext cx="126111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Inference</a:t>
            </a:r>
          </a:p>
        </p:txBody>
      </p:sp>
      <p:cxnSp>
        <p:nvCxnSpPr>
          <p:cNvPr id="9" name="Connector 8"/>
          <p:cNvCxnSpPr/>
          <p:nvPr/>
        </p:nvCxnSpPr>
        <p:spPr>
          <a:xfrm>
            <a:off x="6440652" y="2625852"/>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14972" y="2250948"/>
            <a:ext cx="198501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Propagation graph</a:t>
            </a:r>
          </a:p>
        </p:txBody>
      </p:sp>
      <p:sp>
        <p:nvSpPr>
          <p:cNvPr id="11" name="Rectangle 10"/>
          <p:cNvSpPr/>
          <p:nvPr/>
        </p:nvSpPr>
        <p:spPr>
          <a:xfrm>
            <a:off x="731520" y="3256788"/>
            <a:ext cx="27432" cy="87579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3256788"/>
            <a:ext cx="5071719" cy="425196"/>
          </a:xfrm>
          <a:prstGeom prst="rect">
            <a:avLst/>
          </a:prstGeom>
          <a:noFill/>
        </p:spPr>
        <p:txBody>
          <a:bodyPr wrap="square">
            <a:spAutoFit/>
          </a:bodyPr>
          <a:lstStyle/>
          <a:p>
            <a:pPr algn="l">
              <a:defRPr sz="1800" b="1" i="0">
                <a:solidFill>
                  <a:srgbClr val="8FAAC8"/>
                </a:solidFill>
                <a:latin typeface="Liberation Sans"/>
              </a:defRPr>
            </a:pPr>
            <a:r>
              <a:t>O: observation data</a:t>
            </a:r>
          </a:p>
        </p:txBody>
      </p:sp>
      <p:sp>
        <p:nvSpPr>
          <p:cNvPr id="13" name="TextBox 12"/>
          <p:cNvSpPr txBox="1"/>
          <p:nvPr/>
        </p:nvSpPr>
        <p:spPr>
          <a:xfrm>
            <a:off x="896112" y="3773424"/>
            <a:ext cx="5071719" cy="359156"/>
          </a:xfrm>
          <a:prstGeom prst="rect">
            <a:avLst/>
          </a:prstGeom>
          <a:noFill/>
        </p:spPr>
        <p:txBody>
          <a:bodyPr wrap="square">
            <a:spAutoFit/>
          </a:bodyPr>
          <a:lstStyle/>
          <a:p>
            <a:pPr algn="l">
              <a:defRPr sz="1400" b="0" i="0">
                <a:solidFill>
                  <a:srgbClr val="223043"/>
                </a:solidFill>
                <a:latin typeface="Liberation Sans"/>
              </a:defRPr>
            </a:pPr>
            <a:r>
              <a:t>Logs, metrics, traces, events, and supplementary context from the system.</a:t>
            </a:r>
          </a:p>
        </p:txBody>
      </p:sp>
      <p:sp>
        <p:nvSpPr>
          <p:cNvPr id="14" name="Rectangle 13"/>
          <p:cNvSpPr/>
          <p:nvPr/>
        </p:nvSpPr>
        <p:spPr>
          <a:xfrm>
            <a:off x="6223863" y="3256788"/>
            <a:ext cx="27432" cy="87579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8455" y="3256788"/>
            <a:ext cx="5071719" cy="425196"/>
          </a:xfrm>
          <a:prstGeom prst="rect">
            <a:avLst/>
          </a:prstGeom>
          <a:noFill/>
        </p:spPr>
        <p:txBody>
          <a:bodyPr wrap="square">
            <a:spAutoFit/>
          </a:bodyPr>
          <a:lstStyle/>
          <a:p>
            <a:pPr algn="l">
              <a:defRPr sz="1800" b="1" i="0">
                <a:solidFill>
                  <a:srgbClr val="7FA195"/>
                </a:solidFill>
                <a:latin typeface="Liberation Sans"/>
              </a:defRPr>
            </a:pPr>
            <a:r>
              <a:t>G: incident propagation graph</a:t>
            </a:r>
          </a:p>
        </p:txBody>
      </p:sp>
      <p:sp>
        <p:nvSpPr>
          <p:cNvPr id="16" name="TextBox 15"/>
          <p:cNvSpPr txBox="1"/>
          <p:nvPr/>
        </p:nvSpPr>
        <p:spPr>
          <a:xfrm>
            <a:off x="6388455" y="3773424"/>
            <a:ext cx="5071719" cy="359156"/>
          </a:xfrm>
          <a:prstGeom prst="rect">
            <a:avLst/>
          </a:prstGeom>
          <a:noFill/>
        </p:spPr>
        <p:txBody>
          <a:bodyPr wrap="square">
            <a:spAutoFit/>
          </a:bodyPr>
          <a:lstStyle/>
          <a:p>
            <a:pPr algn="l">
              <a:defRPr sz="1400" b="0" i="0">
                <a:solidFill>
                  <a:srgbClr val="223043"/>
                </a:solidFill>
                <a:latin typeface="Liberation Sans"/>
              </a:defRPr>
            </a:pPr>
            <a:r>
              <a:t>Root causes, triggers, symptoms, and the causal edges that connect them.</a:t>
            </a:r>
          </a:p>
        </p:txBody>
      </p:sp>
      <p:sp>
        <p:nvSpPr>
          <p:cNvPr id="17" name="TextBox 16"/>
          <p:cNvSpPr txBox="1"/>
          <p:nvPr/>
        </p:nvSpPr>
        <p:spPr>
          <a:xfrm>
            <a:off x="731520" y="4388612"/>
            <a:ext cx="10728655" cy="425196"/>
          </a:xfrm>
          <a:prstGeom prst="rect">
            <a:avLst/>
          </a:prstGeom>
          <a:noFill/>
        </p:spPr>
        <p:txBody>
          <a:bodyPr wrap="square">
            <a:spAutoFit/>
          </a:bodyPr>
          <a:lstStyle/>
          <a:p>
            <a:pPr algn="l">
              <a:defRPr sz="1800" b="0" i="1">
                <a:solidFill>
                  <a:srgbClr val="647489"/>
                </a:solidFill>
                <a:latin typeface="Liberation Sans"/>
              </a:defRPr>
            </a:pPr>
            <a:r>
              <a:t>Ideal RCA is graph-building: the output is not only a root-cause node, but the propagation graph that explains why it is correct.</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7"/>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9"/>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6"/>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1"/>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7"/>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2"/>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5"/>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9"/>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3"/>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6"/>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7"/>
                            </p:tgtEl>
                            <p:attrNameLst>
                              <p:attrName>style.visibility</p:attrName>
                            </p:attrNameLst>
                          </p:cBhvr>
                          <p:to>
                            <p:strVal val="hidden"/>
                          </p:to>
                        </p:set>
                      </p:childTnLst>
                    </p:cTn>
                  </p:par>
                </p:childTnLst>
              </p:cTn>
            </p:par>
            <p:seq concurrent="1" nextAc="seek">
              <p:cTn id="46" dur="indefinite" nodeType="mainSeq">
                <p:childTnLst>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5"/>
                                        </p:tgtEl>
                                      </p:cBhvr>
                                    </p:animEffect>
                                    <p:set>
                                      <p:cBhvr>
                                        <p:cTn id="51" dur="1" fill="hold">
                                          <p:stCondLst>
                                            <p:cond delay="0"/>
                                          </p:stCondLst>
                                        </p:cTn>
                                        <p:tgtEl>
                                          <p:spTgt spid="5"/>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animEffect transition="in" filter="fade">
                                      <p:cBhvr>
                                        <p:cTn id="55" dur="500"/>
                                        <p:tgtEl>
                                          <p:spTgt spid="6"/>
                                        </p:tgtEl>
                                      </p:cBhvr>
                                    </p:animEffect>
                                    <p:set>
                                      <p:cBhvr>
                                        <p:cTn id="56" dur="1" fill="hold">
                                          <p:stCondLst>
                                            <p:cond delay="0"/>
                                          </p:stCondLst>
                                        </p:cTn>
                                        <p:tgtEl>
                                          <p:spTgt spid="6"/>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7"/>
                                        </p:tgtEl>
                                      </p:cBhvr>
                                    </p:animEffect>
                                    <p:set>
                                      <p:cBhvr>
                                        <p:cTn id="59" dur="1" fill="hold">
                                          <p:stCondLst>
                                            <p:cond delay="0"/>
                                          </p:stCondLst>
                                        </p:cTn>
                                        <p:tgtEl>
                                          <p:spTgt spid="7"/>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8"/>
                                        </p:tgtEl>
                                      </p:cBhvr>
                                    </p:animEffect>
                                    <p:set>
                                      <p:cBhvr>
                                        <p:cTn id="62" dur="1" fill="hold">
                                          <p:stCondLst>
                                            <p:cond delay="0"/>
                                          </p:stCondLst>
                                        </p:cTn>
                                        <p:tgtEl>
                                          <p:spTgt spid="8"/>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9"/>
                                        </p:tgtEl>
                                      </p:cBhvr>
                                    </p:animEffect>
                                    <p:set>
                                      <p:cBhvr>
                                        <p:cTn id="65" dur="1" fill="hold">
                                          <p:stCondLst>
                                            <p:cond delay="0"/>
                                          </p:stCondLst>
                                        </p:cTn>
                                        <p:tgtEl>
                                          <p:spTgt spid="9"/>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0"/>
                                        </p:tgtEl>
                                      </p:cBhvr>
                                    </p:animEffect>
                                    <p:set>
                                      <p:cBhvr>
                                        <p:cTn id="68" dur="1" fill="hold">
                                          <p:stCondLst>
                                            <p:cond delay="0"/>
                                          </p:stCondLst>
                                        </p:cTn>
                                        <p:tgtEl>
                                          <p:spTgt spid="10"/>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6"/>
                                        </p:tgtEl>
                                      </p:cBhvr>
                                    </p:animEffect>
                                    <p:set>
                                      <p:cBhvr>
                                        <p:cTn id="71" dur="1" fill="hold">
                                          <p:stCondLst>
                                            <p:cond delay="0"/>
                                          </p:stCondLst>
                                        </p:cTn>
                                        <p:tgtEl>
                                          <p:spTgt spid="6"/>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1"/>
                                        </p:tgtEl>
                                      </p:cBhvr>
                                    </p:animEffect>
                                    <p:set>
                                      <p:cBhvr>
                                        <p:cTn id="74" dur="1" fill="hold">
                                          <p:stCondLst>
                                            <p:cond delay="0"/>
                                          </p:stCondLst>
                                        </p:cTn>
                                        <p:tgtEl>
                                          <p:spTgt spid="11"/>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7"/>
                                        </p:tgtEl>
                                      </p:cBhvr>
                                    </p:animEffect>
                                    <p:set>
                                      <p:cBhvr>
                                        <p:cTn id="77" dur="1" fill="hold">
                                          <p:stCondLst>
                                            <p:cond delay="0"/>
                                          </p:stCondLst>
                                        </p:cTn>
                                        <p:tgtEl>
                                          <p:spTgt spid="7"/>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2"/>
                                        </p:tgtEl>
                                      </p:cBhvr>
                                    </p:animEffect>
                                    <p:set>
                                      <p:cBhvr>
                                        <p:cTn id="80" dur="1" fill="hold">
                                          <p:stCondLst>
                                            <p:cond delay="0"/>
                                          </p:stCondLst>
                                        </p:cTn>
                                        <p:tgtEl>
                                          <p:spTgt spid="12"/>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9"/>
                                        </p:tgtEl>
                                      </p:cBhvr>
                                    </p:animEffect>
                                    <p:set>
                                      <p:cBhvr>
                                        <p:cTn id="83" dur="1" fill="hold">
                                          <p:stCondLst>
                                            <p:cond delay="0"/>
                                          </p:stCondLst>
                                        </p:cTn>
                                        <p:tgtEl>
                                          <p:spTgt spid="9"/>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3"/>
                                        </p:tgtEl>
                                      </p:cBhvr>
                                    </p:animEffect>
                                    <p:set>
                                      <p:cBhvr>
                                        <p:cTn id="86" dur="1" fill="hold">
                                          <p:stCondLst>
                                            <p:cond delay="0"/>
                                          </p:stCondLst>
                                        </p:cTn>
                                        <p:tgtEl>
                                          <p:spTgt spid="13"/>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6"/>
                                        </p:tgtEl>
                                      </p:cBhvr>
                                    </p:animEffect>
                                    <p:set>
                                      <p:cBhvr>
                                        <p:cTn id="89" dur="1" fill="hold">
                                          <p:stCondLst>
                                            <p:cond delay="0"/>
                                          </p:stCondLst>
                                        </p:cTn>
                                        <p:tgtEl>
                                          <p:spTgt spid="6"/>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1"/>
                                        </p:tgtEl>
                                      </p:cBhvr>
                                    </p:animEffect>
                                    <p:set>
                                      <p:cBhvr>
                                        <p:cTn id="92" dur="1" fill="hold">
                                          <p:stCondLst>
                                            <p:cond delay="0"/>
                                          </p:stCondLst>
                                        </p:cTn>
                                        <p:tgtEl>
                                          <p:spTgt spid="11"/>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14"/>
                                        </p:tgtEl>
                                      </p:cBhvr>
                                    </p:animEffect>
                                    <p:set>
                                      <p:cBhvr>
                                        <p:cTn id="95" dur="1" fill="hold">
                                          <p:stCondLst>
                                            <p:cond delay="0"/>
                                          </p:stCondLst>
                                        </p:cTn>
                                        <p:tgtEl>
                                          <p:spTgt spid="14"/>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7"/>
                                        </p:tgtEl>
                                      </p:cBhvr>
                                    </p:animEffect>
                                    <p:set>
                                      <p:cBhvr>
                                        <p:cTn id="98" dur="1" fill="hold">
                                          <p:stCondLst>
                                            <p:cond delay="0"/>
                                          </p:stCondLst>
                                        </p:cTn>
                                        <p:tgtEl>
                                          <p:spTgt spid="7"/>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12"/>
                                        </p:tgtEl>
                                      </p:cBhvr>
                                    </p:animEffect>
                                    <p:set>
                                      <p:cBhvr>
                                        <p:cTn id="101" dur="1" fill="hold">
                                          <p:stCondLst>
                                            <p:cond delay="0"/>
                                          </p:stCondLst>
                                        </p:cTn>
                                        <p:tgtEl>
                                          <p:spTgt spid="12"/>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15"/>
                                        </p:tgtEl>
                                      </p:cBhvr>
                                    </p:animEffect>
                                    <p:set>
                                      <p:cBhvr>
                                        <p:cTn id="104" dur="1" fill="hold">
                                          <p:stCondLst>
                                            <p:cond delay="0"/>
                                          </p:stCondLst>
                                        </p:cTn>
                                        <p:tgtEl>
                                          <p:spTgt spid="15"/>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9"/>
                                        </p:tgtEl>
                                      </p:cBhvr>
                                    </p:animEffect>
                                    <p:set>
                                      <p:cBhvr>
                                        <p:cTn id="107" dur="1" fill="hold">
                                          <p:stCondLst>
                                            <p:cond delay="0"/>
                                          </p:stCondLst>
                                        </p:cTn>
                                        <p:tgtEl>
                                          <p:spTgt spid="9"/>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13"/>
                                        </p:tgtEl>
                                      </p:cBhvr>
                                    </p:animEffect>
                                    <p:set>
                                      <p:cBhvr>
                                        <p:cTn id="110" dur="1" fill="hold">
                                          <p:stCondLst>
                                            <p:cond delay="0"/>
                                          </p:stCondLst>
                                        </p:cTn>
                                        <p:tgtEl>
                                          <p:spTgt spid="13"/>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16"/>
                                        </p:tgtEl>
                                      </p:cBhvr>
                                    </p:animEffect>
                                    <p:set>
                                      <p:cBhvr>
                                        <p:cTn id="113" dur="1" fill="hold">
                                          <p:stCondLst>
                                            <p:cond delay="0"/>
                                          </p:stCondLst>
                                        </p:cTn>
                                        <p:tgtEl>
                                          <p:spTgt spid="16"/>
                                        </p:tgtEl>
                                        <p:attrNameLst>
                                          <p:attrName>style.visibility</p:attrName>
                                        </p:attrNameLst>
                                      </p:cBhvr>
                                      <p:to>
                                        <p:strVal val="visible"/>
                                      </p:to>
                                    </p:se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grpId="0" nodeType="clickEffect">
                                  <p:stCondLst>
                                    <p:cond delay="0"/>
                                  </p:stCondLst>
                                  <p:childTnLst>
                                    <p:animEffect transition="in" filter="fade">
                                      <p:cBhvr>
                                        <p:cTn id="117" dur="500"/>
                                        <p:tgtEl>
                                          <p:spTgt spid="17"/>
                                        </p:tgtEl>
                                      </p:cBhvr>
                                    </p:animEffect>
                                    <p:set>
                                      <p:cBhvr>
                                        <p:cTn id="1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Benchmark Crisis</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2501112" y="1602485"/>
            <a:ext cx="179451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Simple baseline</a:t>
            </a:r>
          </a:p>
        </p:txBody>
      </p:sp>
      <p:sp>
        <p:nvSpPr>
          <p:cNvPr id="6" name="Rounded Rectangle 5"/>
          <p:cNvSpPr/>
          <p:nvPr/>
        </p:nvSpPr>
        <p:spPr>
          <a:xfrm>
            <a:off x="2358237" y="2126234"/>
            <a:ext cx="2080260" cy="10058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Alerts + thresholds</a:t>
            </a:r>
            <a:br/>
            <a:r>
              <a:t>rule-based ranking</a:t>
            </a:r>
          </a:p>
        </p:txBody>
      </p:sp>
      <p:sp>
        <p:nvSpPr>
          <p:cNvPr id="7" name="TextBox 6"/>
          <p:cNvSpPr txBox="1"/>
          <p:nvPr/>
        </p:nvSpPr>
        <p:spPr>
          <a:xfrm>
            <a:off x="883767" y="3278378"/>
            <a:ext cx="5029200" cy="425196"/>
          </a:xfrm>
          <a:prstGeom prst="rect">
            <a:avLst/>
          </a:prstGeom>
          <a:noFill/>
        </p:spPr>
        <p:txBody>
          <a:bodyPr wrap="square">
            <a:spAutoFit/>
          </a:bodyPr>
          <a:lstStyle/>
          <a:p>
            <a:pPr algn="l">
              <a:defRPr sz="1800" b="0" i="0">
                <a:solidFill>
                  <a:srgbClr val="223043"/>
                </a:solidFill>
                <a:latin typeface="Liberation Sans"/>
              </a:defRPr>
            </a:pPr>
            <a:r>
              <a:t>Can match or beat sophisticated models on several public RCA benchmarks.</a:t>
            </a:r>
          </a:p>
        </p:txBody>
      </p:sp>
      <p:sp>
        <p:nvSpPr>
          <p:cNvPr id="8" name="Rounded Rectangle 7"/>
          <p:cNvSpPr/>
          <p:nvPr/>
        </p:nvSpPr>
        <p:spPr>
          <a:xfrm>
            <a:off x="7886547" y="1371600"/>
            <a:ext cx="181356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Published SOTA</a:t>
            </a:r>
          </a:p>
        </p:txBody>
      </p:sp>
      <p:sp>
        <p:nvSpPr>
          <p:cNvPr id="9" name="Rounded Rectangle 8"/>
          <p:cNvSpPr/>
          <p:nvPr/>
        </p:nvSpPr>
        <p:spPr>
          <a:xfrm>
            <a:off x="7610322" y="1895347"/>
            <a:ext cx="2366010" cy="11704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Graph models</a:t>
            </a:r>
            <a:br/>
            <a:r>
              <a:t>multi-modal reasoning</a:t>
            </a:r>
            <a:br/>
            <a:r>
              <a:t>causal inference</a:t>
            </a:r>
          </a:p>
        </p:txBody>
      </p:sp>
      <p:sp>
        <p:nvSpPr>
          <p:cNvPr id="10" name="TextBox 9"/>
          <p:cNvSpPr txBox="1"/>
          <p:nvPr/>
        </p:nvSpPr>
        <p:spPr>
          <a:xfrm>
            <a:off x="6278727" y="3212084"/>
            <a:ext cx="5029200" cy="722376"/>
          </a:xfrm>
          <a:prstGeom prst="rect">
            <a:avLst/>
          </a:prstGeom>
          <a:noFill/>
        </p:spPr>
        <p:txBody>
          <a:bodyPr wrap="square">
            <a:spAutoFit/>
          </a:bodyPr>
          <a:lstStyle/>
          <a:p>
            <a:pPr algn="l">
              <a:defRPr sz="1800" b="0" i="0">
                <a:solidFill>
                  <a:srgbClr val="223043"/>
                </a:solidFill>
                <a:latin typeface="Liberation Sans"/>
              </a:defRPr>
            </a:pPr>
            <a:r>
              <a:t>Looks strong on paper, but the benchmark may be testing easy correlations instead of hard causality.</a:t>
            </a:r>
          </a:p>
        </p:txBody>
      </p:sp>
      <p:sp>
        <p:nvSpPr>
          <p:cNvPr id="11" name="Rectangle 10"/>
          <p:cNvSpPr/>
          <p:nvPr/>
        </p:nvSpPr>
        <p:spPr>
          <a:xfrm>
            <a:off x="731520" y="4190491"/>
            <a:ext cx="27431" cy="87579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1" y="4190491"/>
            <a:ext cx="10564063" cy="425196"/>
          </a:xfrm>
          <a:prstGeom prst="rect">
            <a:avLst/>
          </a:prstGeom>
          <a:noFill/>
        </p:spPr>
        <p:txBody>
          <a:bodyPr wrap="square">
            <a:spAutoFit/>
          </a:bodyPr>
          <a:lstStyle/>
          <a:p>
            <a:pPr algn="l">
              <a:defRPr sz="1800" b="1" i="0">
                <a:solidFill>
                  <a:srgbClr val="C98A78"/>
                </a:solidFill>
                <a:latin typeface="Liberation Sans"/>
              </a:defRPr>
            </a:pPr>
            <a:r>
              <a:t>Benchmark crisis</a:t>
            </a:r>
          </a:p>
        </p:txBody>
      </p:sp>
      <p:sp>
        <p:nvSpPr>
          <p:cNvPr id="13" name="TextBox 12"/>
          <p:cNvSpPr txBox="1"/>
          <p:nvPr/>
        </p:nvSpPr>
        <p:spPr>
          <a:xfrm>
            <a:off x="896111" y="4707128"/>
            <a:ext cx="10564063" cy="359156"/>
          </a:xfrm>
          <a:prstGeom prst="rect">
            <a:avLst/>
          </a:prstGeom>
          <a:noFill/>
        </p:spPr>
        <p:txBody>
          <a:bodyPr wrap="square">
            <a:spAutoFit/>
          </a:bodyPr>
          <a:lstStyle/>
          <a:p>
            <a:pPr algn="l">
              <a:defRPr sz="1400" b="0" i="0">
                <a:solidFill>
                  <a:srgbClr val="223043"/>
                </a:solidFill>
                <a:latin typeface="Liberation Sans"/>
              </a:defRPr>
            </a:pPr>
            <a:r>
              <a:t>If a simple baseline rivals SOTA, the benchmark is oversimplifying real RCA difficulty.</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8"/>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0"/>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1"/>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2"/>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childTnLst>
              </p:cTn>
            </p:par>
            <p:seq concurrent="1" nextAc="seek">
              <p:cTn id="16" dur="indefinite" nodeType="mainSeq">
                <p:childTnLst>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animEffect transition="in" filter="fade">
                                      <p:cBhvr>
                                        <p:cTn id="20" dur="500"/>
                                        <p:tgtEl>
                                          <p:spTgt spid="5"/>
                                        </p:tgtEl>
                                      </p:cBhvr>
                                    </p:animEffect>
                                    <p:set>
                                      <p:cBhvr>
                                        <p:cTn id="21" dur="1" fill="hold">
                                          <p:stCondLst>
                                            <p:cond delay="0"/>
                                          </p:stCondLst>
                                        </p:cTn>
                                        <p:tgtEl>
                                          <p:spTgt spid="5"/>
                                        </p:tgtEl>
                                        <p:attrNameLst>
                                          <p:attrName>style.visibility</p:attrName>
                                        </p:attrNameLst>
                                      </p:cBhvr>
                                      <p:to>
                                        <p:strVal val="visible"/>
                                      </p:to>
                                    </p:set>
                                  </p:childTnLst>
                                </p:cTn>
                              </p:par>
                              <p:par>
                                <p:cTn id="22" presetID="10" presetClass="entr" presetSubtype="0" fill="hold" grpId="0" nodeType="withEffect">
                                  <p:stCondLst>
                                    <p:cond delay="0"/>
                                  </p:stCondLst>
                                  <p:childTnLst>
                                    <p:animEffect transition="in" filter="fade">
                                      <p:cBhvr>
                                        <p:cTn id="23" dur="500"/>
                                        <p:tgtEl>
                                          <p:spTgt spid="6"/>
                                        </p:tgtEl>
                                      </p:cBhvr>
                                    </p:animEffect>
                                    <p:set>
                                      <p:cBhvr>
                                        <p:cTn id="24" dur="1" fill="hold">
                                          <p:stCondLst>
                                            <p:cond delay="0"/>
                                          </p:stCondLst>
                                        </p:cTn>
                                        <p:tgtEl>
                                          <p:spTgt spid="6"/>
                                        </p:tgtEl>
                                        <p:attrNameLst>
                                          <p:attrName>style.visibility</p:attrName>
                                        </p:attrNameLst>
                                      </p:cBhvr>
                                      <p:to>
                                        <p:strVal val="visible"/>
                                      </p:to>
                                    </p:set>
                                  </p:childTnLst>
                                </p:cTn>
                              </p:par>
                              <p:par>
                                <p:cTn id="25" presetID="10" presetClass="entr" presetSubtype="0" fill="hold" grpId="0" nodeType="withEffect">
                                  <p:stCondLst>
                                    <p:cond delay="0"/>
                                  </p:stCondLst>
                                  <p:childTnLst>
                                    <p:animEffect transition="in" filter="fade">
                                      <p:cBhvr>
                                        <p:cTn id="26" dur="500"/>
                                        <p:tgtEl>
                                          <p:spTgt spid="7"/>
                                        </p:tgtEl>
                                      </p:cBhvr>
                                    </p:animEffect>
                                    <p:set>
                                      <p:cBhvr>
                                        <p:cTn id="27" dur="1" fill="hold">
                                          <p:stCondLst>
                                            <p:cond delay="0"/>
                                          </p:stCondLst>
                                        </p:cTn>
                                        <p:tgtEl>
                                          <p:spTgt spid="7"/>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animEffect transition="in" filter="fade">
                                      <p:cBhvr>
                                        <p:cTn id="31" dur="500"/>
                                        <p:tgtEl>
                                          <p:spTgt spid="8"/>
                                        </p:tgtEl>
                                      </p:cBhvr>
                                    </p:animEffect>
                                    <p:set>
                                      <p:cBhvr>
                                        <p:cTn id="32" dur="1" fill="hold">
                                          <p:stCondLst>
                                            <p:cond delay="0"/>
                                          </p:stCondLst>
                                        </p:cTn>
                                        <p:tgtEl>
                                          <p:spTgt spid="8"/>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9"/>
                                        </p:tgtEl>
                                      </p:cBhvr>
                                    </p:animEffect>
                                    <p:set>
                                      <p:cBhvr>
                                        <p:cTn id="35" dur="1" fill="hold">
                                          <p:stCondLst>
                                            <p:cond delay="0"/>
                                          </p:stCondLst>
                                        </p:cTn>
                                        <p:tgtEl>
                                          <p:spTgt spid="9"/>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10"/>
                                        </p:tgtEl>
                                      </p:cBhvr>
                                    </p:animEffec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11"/>
                                        </p:tgtEl>
                                      </p:cBhvr>
                                    </p:animEffect>
                                    <p:set>
                                      <p:cBhvr>
                                        <p:cTn id="43" dur="1" fill="hold">
                                          <p:stCondLst>
                                            <p:cond delay="0"/>
                                          </p:stCondLst>
                                        </p:cTn>
                                        <p:tgtEl>
                                          <p:spTgt spid="11"/>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2"/>
                                        </p:tgtEl>
                                      </p:cBhvr>
                                    </p:animEffect>
                                    <p:set>
                                      <p:cBhvr>
                                        <p:cTn id="46" dur="1" fill="hold">
                                          <p:stCondLst>
                                            <p:cond delay="0"/>
                                          </p:stCondLst>
                                        </p:cTn>
                                        <p:tgtEl>
                                          <p:spTgt spid="12"/>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3"/>
                                        </p:tgtEl>
                                      </p:cBhvr>
                                    </p:animEffect>
                                    <p:set>
                                      <p:cBhvr>
                                        <p:cTn id="49"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Why Existing Benchmarks Fail</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4236567" y="1371600"/>
            <a:ext cx="371856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Public benchmarks are oversimplified</a:t>
            </a:r>
          </a:p>
        </p:txBody>
      </p:sp>
      <p:sp>
        <p:nvSpPr>
          <p:cNvPr id="6" name="Rectangle 5"/>
          <p:cNvSpPr/>
          <p:nvPr/>
        </p:nvSpPr>
        <p:spPr>
          <a:xfrm>
            <a:off x="731520" y="1986788"/>
            <a:ext cx="27431" cy="110693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86788"/>
            <a:ext cx="3289706" cy="425196"/>
          </a:xfrm>
          <a:prstGeom prst="rect">
            <a:avLst/>
          </a:prstGeom>
          <a:noFill/>
        </p:spPr>
        <p:txBody>
          <a:bodyPr wrap="square">
            <a:spAutoFit/>
          </a:bodyPr>
          <a:lstStyle/>
          <a:p>
            <a:pPr algn="l">
              <a:defRPr sz="1800" b="1" i="0">
                <a:solidFill>
                  <a:srgbClr val="C98A78"/>
                </a:solidFill>
                <a:latin typeface="Liberation Sans"/>
              </a:defRPr>
            </a:pPr>
            <a:r>
              <a:t>Fault injection strategies</a:t>
            </a:r>
          </a:p>
        </p:txBody>
      </p:sp>
      <p:sp>
        <p:nvSpPr>
          <p:cNvPr id="8" name="TextBox 7"/>
          <p:cNvSpPr txBox="1"/>
          <p:nvPr/>
        </p:nvSpPr>
        <p:spPr>
          <a:xfrm>
            <a:off x="896112" y="2503424"/>
            <a:ext cx="3289706" cy="590296"/>
          </a:xfrm>
          <a:prstGeom prst="rect">
            <a:avLst/>
          </a:prstGeom>
          <a:noFill/>
        </p:spPr>
        <p:txBody>
          <a:bodyPr wrap="square">
            <a:spAutoFit/>
          </a:bodyPr>
          <a:lstStyle/>
          <a:p>
            <a:pPr algn="l">
              <a:defRPr sz="1400" b="0" i="0">
                <a:solidFill>
                  <a:srgbClr val="223043"/>
                </a:solidFill>
                <a:latin typeface="Liberation Sans"/>
              </a:defRPr>
            </a:pPr>
            <a:r>
              <a:t>Too few faults, too localized, and too easy to detect through direct symptom prominence.</a:t>
            </a:r>
          </a:p>
        </p:txBody>
      </p:sp>
      <p:sp>
        <p:nvSpPr>
          <p:cNvPr id="9" name="Rectangle 8"/>
          <p:cNvSpPr/>
          <p:nvPr/>
        </p:nvSpPr>
        <p:spPr>
          <a:xfrm>
            <a:off x="4368698" y="1986788"/>
            <a:ext cx="27431" cy="1106932"/>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3290" y="1986788"/>
            <a:ext cx="3289706" cy="425196"/>
          </a:xfrm>
          <a:prstGeom prst="rect">
            <a:avLst/>
          </a:prstGeom>
          <a:noFill/>
        </p:spPr>
        <p:txBody>
          <a:bodyPr wrap="square">
            <a:spAutoFit/>
          </a:bodyPr>
          <a:lstStyle/>
          <a:p>
            <a:pPr algn="l">
              <a:defRPr sz="1800" b="1" i="0">
                <a:solidFill>
                  <a:srgbClr val="D8A86A"/>
                </a:solidFill>
                <a:latin typeface="Liberation Sans"/>
              </a:defRPr>
            </a:pPr>
            <a:r>
              <a:t>Call graph structures</a:t>
            </a:r>
          </a:p>
        </p:txBody>
      </p:sp>
      <p:sp>
        <p:nvSpPr>
          <p:cNvPr id="11" name="TextBox 10"/>
          <p:cNvSpPr txBox="1"/>
          <p:nvPr/>
        </p:nvSpPr>
        <p:spPr>
          <a:xfrm>
            <a:off x="4533290" y="2503424"/>
            <a:ext cx="3289706" cy="590296"/>
          </a:xfrm>
          <a:prstGeom prst="rect">
            <a:avLst/>
          </a:prstGeom>
          <a:noFill/>
        </p:spPr>
        <p:txBody>
          <a:bodyPr wrap="square">
            <a:spAutoFit/>
          </a:bodyPr>
          <a:lstStyle/>
          <a:p>
            <a:pPr algn="l">
              <a:defRPr sz="1400" b="0" i="0">
                <a:solidFill>
                  <a:srgbClr val="223043"/>
                </a:solidFill>
                <a:latin typeface="Liberation Sans"/>
              </a:defRPr>
            </a:pPr>
            <a:r>
              <a:t>Shallow request paths and limited service coverage shrink the search space.</a:t>
            </a:r>
          </a:p>
        </p:txBody>
      </p:sp>
      <p:sp>
        <p:nvSpPr>
          <p:cNvPr id="12" name="Rectangle 11"/>
          <p:cNvSpPr/>
          <p:nvPr/>
        </p:nvSpPr>
        <p:spPr>
          <a:xfrm>
            <a:off x="8005876" y="1986788"/>
            <a:ext cx="27431" cy="110693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70468" y="1986788"/>
            <a:ext cx="3289706" cy="425196"/>
          </a:xfrm>
          <a:prstGeom prst="rect">
            <a:avLst/>
          </a:prstGeom>
          <a:noFill/>
        </p:spPr>
        <p:txBody>
          <a:bodyPr wrap="square">
            <a:spAutoFit/>
          </a:bodyPr>
          <a:lstStyle/>
          <a:p>
            <a:pPr algn="l">
              <a:defRPr sz="1800" b="1" i="0">
                <a:solidFill>
                  <a:srgbClr val="8FAAC8"/>
                </a:solidFill>
                <a:latin typeface="Liberation Sans"/>
              </a:defRPr>
            </a:pPr>
            <a:r>
              <a:t>Telemetry signal patterns</a:t>
            </a:r>
          </a:p>
        </p:txBody>
      </p:sp>
      <p:sp>
        <p:nvSpPr>
          <p:cNvPr id="14" name="TextBox 13"/>
          <p:cNvSpPr txBox="1"/>
          <p:nvPr/>
        </p:nvSpPr>
        <p:spPr>
          <a:xfrm>
            <a:off x="8170468" y="2503424"/>
            <a:ext cx="3289706" cy="590296"/>
          </a:xfrm>
          <a:prstGeom prst="rect">
            <a:avLst/>
          </a:prstGeom>
          <a:noFill/>
        </p:spPr>
        <p:txBody>
          <a:bodyPr wrap="square">
            <a:spAutoFit/>
          </a:bodyPr>
          <a:lstStyle/>
          <a:p>
            <a:pPr algn="l">
              <a:defRPr sz="1400" b="0" i="0">
                <a:solidFill>
                  <a:srgbClr val="223043"/>
                </a:solidFill>
                <a:latin typeface="Liberation Sans"/>
              </a:defRPr>
            </a:pPr>
            <a:r>
              <a:t>Signals are clean and obvious instead of partial, noisy, and operationally messy.</a:t>
            </a:r>
          </a:p>
        </p:txBody>
      </p:sp>
      <p:sp>
        <p:nvSpPr>
          <p:cNvPr id="15" name="TextBox 14"/>
          <p:cNvSpPr txBox="1"/>
          <p:nvPr/>
        </p:nvSpPr>
        <p:spPr>
          <a:xfrm>
            <a:off x="731520" y="3331464"/>
            <a:ext cx="10728655" cy="425196"/>
          </a:xfrm>
          <a:prstGeom prst="rect">
            <a:avLst/>
          </a:prstGeom>
          <a:noFill/>
        </p:spPr>
        <p:txBody>
          <a:bodyPr wrap="square">
            <a:spAutoFit/>
          </a:bodyPr>
          <a:lstStyle/>
          <a:p>
            <a:pPr algn="l">
              <a:defRPr sz="1800" b="0" i="1">
                <a:solidFill>
                  <a:srgbClr val="647489"/>
                </a:solidFill>
                <a:latin typeface="Liberation Sans"/>
              </a:defRPr>
            </a:pPr>
            <a:r>
              <a:t>When fault symptoms are obvious and structure is shallow, correlation can masquerade as causality.</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0"/>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1"/>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9"/>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0"/>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3"/>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8"/>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1"/>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4"/>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5"/>
                            </p:tgtEl>
                            <p:attrNameLst>
                              <p:attrName>style.visibility</p:attrName>
                            </p:attrNameLst>
                          </p:cBhvr>
                          <p:to>
                            <p:strVal val="hidden"/>
                          </p:to>
                        </p:set>
                      </p:childTnLst>
                    </p:cTn>
                  </p:par>
                </p:childTnLst>
              </p:cTn>
            </p:par>
            <p:seq concurrent="1" nextAc="seek">
              <p:cTn id="36" dur="indefinite" nodeType="mainSeq">
                <p:childTnLst>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animEffect transition="in" filter="fade">
                                      <p:cBhvr>
                                        <p:cTn id="40" dur="500"/>
                                        <p:tgtEl>
                                          <p:spTgt spid="5"/>
                                        </p:tgtEl>
                                      </p:cBhvr>
                                    </p:animEffect>
                                    <p:set>
                                      <p:cBhvr>
                                        <p:cTn id="41" dur="1" fill="hold">
                                          <p:stCondLst>
                                            <p:cond delay="0"/>
                                          </p:stCondLst>
                                        </p:cTn>
                                        <p:tgtEl>
                                          <p:spTgt spid="5"/>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6"/>
                                        </p:tgtEl>
                                      </p:cBhvr>
                                    </p:animEffect>
                                    <p:set>
                                      <p:cBhvr>
                                        <p:cTn id="44" dur="1" fill="hold">
                                          <p:stCondLst>
                                            <p:cond delay="0"/>
                                          </p:stCondLst>
                                        </p:cTn>
                                        <p:tgtEl>
                                          <p:spTgt spid="6"/>
                                        </p:tgtEl>
                                        <p:attrNameLst>
                                          <p:attrName>style.visibility</p:attrName>
                                        </p:attrNameLst>
                                      </p:cBhvr>
                                      <p:to>
                                        <p:strVal val="visible"/>
                                      </p:to>
                                    </p:set>
                                  </p:childTnLst>
                                </p:cTn>
                              </p:par>
                              <p:par>
                                <p:cTn id="45" presetID="10" presetClass="entr" presetSubtype="0" fill="hold" grpId="0" nodeType="withEffect">
                                  <p:stCondLst>
                                    <p:cond delay="0"/>
                                  </p:stCondLst>
                                  <p:childTnLst>
                                    <p:animEffect transition="in" filter="fade">
                                      <p:cBhvr>
                                        <p:cTn id="46" dur="500"/>
                                        <p:tgtEl>
                                          <p:spTgt spid="7"/>
                                        </p:tgtEl>
                                      </p:cBhvr>
                                    </p:animEffect>
                                    <p:set>
                                      <p:cBhvr>
                                        <p:cTn id="47" dur="1" fill="hold">
                                          <p:stCondLst>
                                            <p:cond delay="0"/>
                                          </p:stCondLst>
                                        </p:cTn>
                                        <p:tgtEl>
                                          <p:spTgt spid="7"/>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8"/>
                                        </p:tgtEl>
                                      </p:cBhvr>
                                    </p:animEffect>
                                    <p:set>
                                      <p:cBhvr>
                                        <p:cTn id="50" dur="1" fill="hold">
                                          <p:stCondLst>
                                            <p:cond delay="0"/>
                                          </p:stCondLst>
                                        </p:cTn>
                                        <p:tgtEl>
                                          <p:spTgt spid="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9"/>
                                        </p:tgtEl>
                                      </p:cBhvr>
                                    </p:animEffect>
                                    <p:set>
                                      <p:cBhvr>
                                        <p:cTn id="58" dur="1" fill="hold">
                                          <p:stCondLst>
                                            <p:cond delay="0"/>
                                          </p:stCondLst>
                                        </p:cTn>
                                        <p:tgtEl>
                                          <p:spTgt spid="9"/>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7"/>
                                        </p:tgtEl>
                                      </p:cBhvr>
                                    </p:animEffect>
                                    <p:set>
                                      <p:cBhvr>
                                        <p:cTn id="61" dur="1" fill="hold">
                                          <p:stCondLst>
                                            <p:cond delay="0"/>
                                          </p:stCondLst>
                                        </p:cTn>
                                        <p:tgtEl>
                                          <p:spTgt spid="7"/>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0"/>
                                        </p:tgtEl>
                                      </p:cBhvr>
                                    </p:animEffect>
                                    <p:set>
                                      <p:cBhvr>
                                        <p:cTn id="64" dur="1" fill="hold">
                                          <p:stCondLst>
                                            <p:cond delay="0"/>
                                          </p:stCondLst>
                                        </p:cTn>
                                        <p:tgtEl>
                                          <p:spTgt spid="10"/>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8"/>
                                        </p:tgtEl>
                                      </p:cBhvr>
                                    </p:animEffect>
                                    <p:set>
                                      <p:cBhvr>
                                        <p:cTn id="67" dur="1" fill="hold">
                                          <p:stCondLst>
                                            <p:cond delay="0"/>
                                          </p:stCondLst>
                                        </p:cTn>
                                        <p:tgtEl>
                                          <p:spTgt spid="8"/>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1"/>
                                        </p:tgtEl>
                                      </p:cBhvr>
                                    </p:animEffect>
                                    <p:set>
                                      <p:cBhvr>
                                        <p:cTn id="70" dur="1" fill="hold">
                                          <p:stCondLst>
                                            <p:cond delay="0"/>
                                          </p:stCondLst>
                                        </p:cTn>
                                        <p:tgtEl>
                                          <p:spTgt spid="11"/>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animEffect transition="in" filter="fade">
                                      <p:cBhvr>
                                        <p:cTn id="74" dur="500"/>
                                        <p:tgtEl>
                                          <p:spTgt spid="6"/>
                                        </p:tgtEl>
                                      </p:cBhvr>
                                    </p:animEffect>
                                    <p:set>
                                      <p:cBhvr>
                                        <p:cTn id="75" dur="1" fill="hold">
                                          <p:stCondLst>
                                            <p:cond delay="0"/>
                                          </p:stCondLst>
                                        </p:cTn>
                                        <p:tgtEl>
                                          <p:spTgt spid="6"/>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9"/>
                                        </p:tgtEl>
                                      </p:cBhvr>
                                    </p:animEffect>
                                    <p:set>
                                      <p:cBhvr>
                                        <p:cTn id="78" dur="1" fill="hold">
                                          <p:stCondLst>
                                            <p:cond delay="0"/>
                                          </p:stCondLst>
                                        </p:cTn>
                                        <p:tgtEl>
                                          <p:spTgt spid="9"/>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12"/>
                                        </p:tgtEl>
                                      </p:cBhvr>
                                    </p:animEffect>
                                    <p:set>
                                      <p:cBhvr>
                                        <p:cTn id="81" dur="1" fill="hold">
                                          <p:stCondLst>
                                            <p:cond delay="0"/>
                                          </p:stCondLst>
                                        </p:cTn>
                                        <p:tgtEl>
                                          <p:spTgt spid="12"/>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7"/>
                                        </p:tgtEl>
                                      </p:cBhvr>
                                    </p:animEffect>
                                    <p:set>
                                      <p:cBhvr>
                                        <p:cTn id="84" dur="1" fill="hold">
                                          <p:stCondLst>
                                            <p:cond delay="0"/>
                                          </p:stCondLst>
                                        </p:cTn>
                                        <p:tgtEl>
                                          <p:spTgt spid="7"/>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10"/>
                                        </p:tgtEl>
                                      </p:cBhvr>
                                    </p:animEffect>
                                    <p:set>
                                      <p:cBhvr>
                                        <p:cTn id="87" dur="1" fill="hold">
                                          <p:stCondLst>
                                            <p:cond delay="0"/>
                                          </p:stCondLst>
                                        </p:cTn>
                                        <p:tgtEl>
                                          <p:spTgt spid="10"/>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3"/>
                                        </p:tgtEl>
                                      </p:cBhvr>
                                    </p:animEffect>
                                    <p:set>
                                      <p:cBhvr>
                                        <p:cTn id="90" dur="1" fill="hold">
                                          <p:stCondLst>
                                            <p:cond delay="0"/>
                                          </p:stCondLst>
                                        </p:cTn>
                                        <p:tgtEl>
                                          <p:spTgt spid="13"/>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8"/>
                                        </p:tgtEl>
                                      </p:cBhvr>
                                    </p:animEffect>
                                    <p:set>
                                      <p:cBhvr>
                                        <p:cTn id="93" dur="1" fill="hold">
                                          <p:stCondLst>
                                            <p:cond delay="0"/>
                                          </p:stCondLst>
                                        </p:cTn>
                                        <p:tgtEl>
                                          <p:spTgt spid="8"/>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1"/>
                                        </p:tgtEl>
                                      </p:cBhvr>
                                    </p:animEffect>
                                    <p:set>
                                      <p:cBhvr>
                                        <p:cTn id="96" dur="1" fill="hold">
                                          <p:stCondLst>
                                            <p:cond delay="0"/>
                                          </p:stCondLst>
                                        </p:cTn>
                                        <p:tgtEl>
                                          <p:spTgt spid="11"/>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4"/>
                                        </p:tgtEl>
                                      </p:cBhvr>
                                    </p:animEffect>
                                    <p:set>
                                      <p:cBhvr>
                                        <p:cTn id="99" dur="1" fill="hold">
                                          <p:stCondLst>
                                            <p:cond delay="0"/>
                                          </p:stCondLst>
                                        </p:cTn>
                                        <p:tgtEl>
                                          <p:spTgt spid="14"/>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5"/>
                                        </p:tgtEl>
                                      </p:cBhvr>
                                    </p:animEffect>
                                    <p:set>
                                      <p:cBhvr>
                                        <p:cTn id="10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Our Solution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3531717" y="1371600"/>
            <a:ext cx="1407972" cy="96012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9,152 injections</a:t>
            </a:r>
          </a:p>
        </p:txBody>
      </p:sp>
      <p:cxnSp>
        <p:nvCxnSpPr>
          <p:cNvPr id="6" name="Connector 5"/>
          <p:cNvCxnSpPr/>
          <p:nvPr/>
        </p:nvCxnSpPr>
        <p:spPr>
          <a:xfrm>
            <a:off x="4939690" y="1851660"/>
            <a:ext cx="395021"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334711" y="1371600"/>
            <a:ext cx="1687372" cy="96012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1,430 validated cases</a:t>
            </a:r>
          </a:p>
        </p:txBody>
      </p:sp>
      <p:cxnSp>
        <p:nvCxnSpPr>
          <p:cNvPr id="8" name="Connector 7"/>
          <p:cNvCxnSpPr/>
          <p:nvPr/>
        </p:nvCxnSpPr>
        <p:spPr>
          <a:xfrm>
            <a:off x="7022084" y="1851660"/>
            <a:ext cx="395020"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417104" y="1371600"/>
            <a:ext cx="1242872" cy="96012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25 fault types</a:t>
            </a:r>
          </a:p>
        </p:txBody>
      </p:sp>
      <p:sp>
        <p:nvSpPr>
          <p:cNvPr id="10" name="Rounded Rectangle 9"/>
          <p:cNvSpPr/>
          <p:nvPr/>
        </p:nvSpPr>
        <p:spPr>
          <a:xfrm>
            <a:off x="1531696" y="2829814"/>
            <a:ext cx="175641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Average Top@1</a:t>
            </a:r>
          </a:p>
        </p:txBody>
      </p:sp>
      <p:sp>
        <p:nvSpPr>
          <p:cNvPr id="11" name="TextBox 10"/>
          <p:cNvSpPr txBox="1"/>
          <p:nvPr/>
        </p:nvSpPr>
        <p:spPr>
          <a:xfrm>
            <a:off x="731520" y="3298698"/>
            <a:ext cx="3356762" cy="458216"/>
          </a:xfrm>
          <a:prstGeom prst="rect">
            <a:avLst/>
          </a:prstGeom>
          <a:noFill/>
        </p:spPr>
        <p:txBody>
          <a:bodyPr wrap="square">
            <a:spAutoFit/>
          </a:bodyPr>
          <a:lstStyle/>
          <a:p>
            <a:pPr algn="l">
              <a:defRPr sz="2000" b="1" i="0">
                <a:solidFill>
                  <a:srgbClr val="223043"/>
                </a:solidFill>
                <a:latin typeface="Liberation Sans"/>
              </a:defRPr>
            </a:pPr>
            <a:r>
              <a:t>0.21</a:t>
            </a:r>
          </a:p>
        </p:txBody>
      </p:sp>
      <p:sp>
        <p:nvSpPr>
          <p:cNvPr id="12" name="Rounded Rectangle 11"/>
          <p:cNvSpPr/>
          <p:nvPr/>
        </p:nvSpPr>
        <p:spPr>
          <a:xfrm>
            <a:off x="5436717" y="2829814"/>
            <a:ext cx="1318259" cy="377444"/>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Best model</a:t>
            </a:r>
          </a:p>
        </p:txBody>
      </p:sp>
      <p:sp>
        <p:nvSpPr>
          <p:cNvPr id="13" name="TextBox 12"/>
          <p:cNvSpPr txBox="1"/>
          <p:nvPr/>
        </p:nvSpPr>
        <p:spPr>
          <a:xfrm>
            <a:off x="4417466" y="3298698"/>
            <a:ext cx="3356762" cy="458216"/>
          </a:xfrm>
          <a:prstGeom prst="rect">
            <a:avLst/>
          </a:prstGeom>
          <a:noFill/>
        </p:spPr>
        <p:txBody>
          <a:bodyPr wrap="square">
            <a:spAutoFit/>
          </a:bodyPr>
          <a:lstStyle/>
          <a:p>
            <a:pPr algn="l">
              <a:defRPr sz="2000" b="1" i="0">
                <a:solidFill>
                  <a:srgbClr val="223043"/>
                </a:solidFill>
                <a:latin typeface="Liberation Sans"/>
              </a:defRPr>
            </a:pPr>
            <a:r>
              <a:t>0.37</a:t>
            </a:r>
          </a:p>
        </p:txBody>
      </p:sp>
      <p:sp>
        <p:nvSpPr>
          <p:cNvPr id="14" name="Rectangle 13"/>
          <p:cNvSpPr/>
          <p:nvPr/>
        </p:nvSpPr>
        <p:spPr>
          <a:xfrm>
            <a:off x="8103412" y="2624328"/>
            <a:ext cx="27431" cy="133807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8004" y="2739898"/>
            <a:ext cx="3192170" cy="425196"/>
          </a:xfrm>
          <a:prstGeom prst="rect">
            <a:avLst/>
          </a:prstGeom>
          <a:noFill/>
        </p:spPr>
        <p:txBody>
          <a:bodyPr wrap="square">
            <a:spAutoFit/>
          </a:bodyPr>
          <a:lstStyle/>
          <a:p>
            <a:pPr algn="l">
              <a:defRPr sz="1800" b="1" i="0">
                <a:solidFill>
                  <a:srgbClr val="5C82AD"/>
                </a:solidFill>
                <a:latin typeface="Liberation Sans"/>
              </a:defRPr>
            </a:pPr>
            <a:r>
              <a:t>What changed</a:t>
            </a:r>
          </a:p>
        </p:txBody>
      </p:sp>
      <p:sp>
        <p:nvSpPr>
          <p:cNvPr id="16" name="TextBox 15"/>
          <p:cNvSpPr txBox="1"/>
          <p:nvPr/>
        </p:nvSpPr>
        <p:spPr>
          <a:xfrm>
            <a:off x="8268004" y="3256534"/>
            <a:ext cx="3192170" cy="590296"/>
          </a:xfrm>
          <a:prstGeom prst="rect">
            <a:avLst/>
          </a:prstGeom>
          <a:noFill/>
        </p:spPr>
        <p:txBody>
          <a:bodyPr wrap="square">
            <a:spAutoFit/>
          </a:bodyPr>
          <a:lstStyle/>
          <a:p>
            <a:pPr algn="l">
              <a:defRPr sz="1400" b="0" i="0">
                <a:solidFill>
                  <a:srgbClr val="223043"/>
                </a:solidFill>
                <a:latin typeface="Liberation Sans"/>
              </a:defRPr>
            </a:pPr>
            <a:r>
              <a:t>A harder benchmark preserves complex propagation and exposes a real performance collapse.</a:t>
            </a:r>
          </a:p>
        </p:txBody>
      </p:sp>
      <p:sp>
        <p:nvSpPr>
          <p:cNvPr id="17" name="TextBox 16"/>
          <p:cNvSpPr txBox="1"/>
          <p:nvPr/>
        </p:nvSpPr>
        <p:spPr>
          <a:xfrm>
            <a:off x="731520" y="4255008"/>
            <a:ext cx="10728655" cy="425196"/>
          </a:xfrm>
          <a:prstGeom prst="rect">
            <a:avLst/>
          </a:prstGeom>
          <a:noFill/>
        </p:spPr>
        <p:txBody>
          <a:bodyPr wrap="square">
            <a:spAutoFit/>
          </a:bodyPr>
          <a:lstStyle/>
          <a:p>
            <a:pPr algn="l">
              <a:defRPr sz="1800" b="0" i="1">
                <a:solidFill>
                  <a:srgbClr val="647489"/>
                </a:solidFill>
                <a:latin typeface="Liberation Sans"/>
              </a:defRPr>
            </a:pPr>
            <a:r>
              <a:t>Our solution is not only more data. It is validated, propagation-aware data that reveals how fragile current RCA systems still are.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0"/>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1"/>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2"/>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5"/>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8"/>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7"/>
                            </p:tgtEl>
                            <p:attrNameLst>
                              <p:attrName>style.visibility</p:attrName>
                            </p:attrNameLst>
                          </p:cBhvr>
                          <p:to>
                            <p:strVal val="hidden"/>
                          </p:to>
                        </p:set>
                      </p:childTnLst>
                    </p:cTn>
                  </p:par>
                </p:childTnLst>
              </p:cTn>
            </p:par>
            <p:seq concurrent="1" nextAc="seek">
              <p:cTn id="26" dur="indefinite" nodeType="mainSeq">
                <p:childTnLst>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animEffect transition="in" filter="fade">
                                      <p:cBhvr>
                                        <p:cTn id="30" dur="500"/>
                                        <p:tgtEl>
                                          <p:spTgt spid="5"/>
                                        </p:tgtEl>
                                      </p:cBhvr>
                                    </p:animEffect>
                                    <p:set>
                                      <p:cBhvr>
                                        <p:cTn id="31" dur="1" fill="hold">
                                          <p:stCondLst>
                                            <p:cond delay="0"/>
                                          </p:stCondLst>
                                        </p:cTn>
                                        <p:tgtEl>
                                          <p:spTgt spid="5"/>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500"/>
                                        <p:tgtEl>
                                          <p:spTgt spid="6"/>
                                        </p:tgtEl>
                                      </p:cBhvr>
                                    </p:animEffect>
                                    <p:set>
                                      <p:cBhvr>
                                        <p:cTn id="34" dur="1" fill="hold">
                                          <p:stCondLst>
                                            <p:cond delay="0"/>
                                          </p:stCondLst>
                                        </p:cTn>
                                        <p:tgtEl>
                                          <p:spTgt spid="6"/>
                                        </p:tgtEl>
                                        <p:attrNameLst>
                                          <p:attrName>style.visibility</p:attrName>
                                        </p:attrNameLst>
                                      </p:cBhvr>
                                      <p:to>
                                        <p:strVal val="visible"/>
                                      </p:to>
                                    </p:set>
                                  </p:childTnLst>
                                </p:cTn>
                              </p:par>
                              <p:par>
                                <p:cTn id="35" presetID="10" presetClass="entr" presetSubtype="0" fill="hold" grpId="0" nodeType="withEffect">
                                  <p:stCondLst>
                                    <p:cond delay="0"/>
                                  </p:stCondLst>
                                  <p:childTnLst>
                                    <p:animEffect transition="in" filter="fade">
                                      <p:cBhvr>
                                        <p:cTn id="36" dur="500"/>
                                        <p:tgtEl>
                                          <p:spTgt spid="7"/>
                                        </p:tgtEl>
                                      </p:cBhvr>
                                    </p:animEffect>
                                    <p:set>
                                      <p:cBhvr>
                                        <p:cTn id="37" dur="1" fill="hold">
                                          <p:stCondLst>
                                            <p:cond delay="0"/>
                                          </p:stCondLst>
                                        </p:cTn>
                                        <p:tgtEl>
                                          <p:spTgt spid="7"/>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8"/>
                                        </p:tgtEl>
                                      </p:cBhvr>
                                    </p:animEffect>
                                    <p:set>
                                      <p:cBhvr>
                                        <p:cTn id="40" dur="1" fill="hold">
                                          <p:stCondLst>
                                            <p:cond delay="0"/>
                                          </p:stCondLst>
                                        </p:cTn>
                                        <p:tgtEl>
                                          <p:spTgt spid="8"/>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9"/>
                                        </p:tgtEl>
                                      </p:cBhvr>
                                    </p:animEffect>
                                    <p:set>
                                      <p:cBhvr>
                                        <p:cTn id="43" dur="1" fill="hold">
                                          <p:stCondLst>
                                            <p:cond delay="0"/>
                                          </p:stCondLst>
                                        </p:cTn>
                                        <p:tgtEl>
                                          <p:spTgt spid="9"/>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animEffect transition="in" filter="fade">
                                      <p:cBhvr>
                                        <p:cTn id="47" dur="500"/>
                                        <p:tgtEl>
                                          <p:spTgt spid="10"/>
                                        </p:tgtEl>
                                      </p:cBhvr>
                                    </p:animEffect>
                                    <p:set>
                                      <p:cBhvr>
                                        <p:cTn id="48" dur="1" fill="hold">
                                          <p:stCondLst>
                                            <p:cond delay="0"/>
                                          </p:stCondLst>
                                        </p:cTn>
                                        <p:tgtEl>
                                          <p:spTgt spid="10"/>
                                        </p:tgtEl>
                                        <p:attrNameLst>
                                          <p:attrName>style.visibility</p:attrName>
                                        </p:attrNameLst>
                                      </p:cBhvr>
                                      <p:to>
                                        <p:strVal val="visible"/>
                                      </p:to>
                                    </p:set>
                                  </p:childTnLst>
                                </p:cTn>
                              </p:par>
                              <p:par>
                                <p:cTn id="49" presetID="10" presetClass="entr" presetSubtype="0" fill="hold" grpId="0" nodeType="withEffect">
                                  <p:stCondLst>
                                    <p:cond delay="0"/>
                                  </p:stCondLst>
                                  <p:childTnLst>
                                    <p:animEffect transition="in" filter="fade">
                                      <p:cBhvr>
                                        <p:cTn id="50" dur="500"/>
                                        <p:tgtEl>
                                          <p:spTgt spid="11"/>
                                        </p:tgtEl>
                                      </p:cBhvr>
                                    </p:animEffect>
                                    <p:set>
                                      <p:cBhvr>
                                        <p:cTn id="51" dur="1" fill="hold">
                                          <p:stCondLst>
                                            <p:cond delay="0"/>
                                          </p:stCondLst>
                                        </p:cTn>
                                        <p:tgtEl>
                                          <p:spTgt spid="11"/>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12"/>
                                        </p:tgtEl>
                                      </p:cBhvr>
                                    </p:animEffect>
                                    <p:set>
                                      <p:cBhvr>
                                        <p:cTn id="54" dur="1" fill="hold">
                                          <p:stCondLst>
                                            <p:cond delay="0"/>
                                          </p:stCondLst>
                                        </p:cTn>
                                        <p:tgtEl>
                                          <p:spTgt spid="12"/>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3"/>
                                        </p:tgtEl>
                                      </p:cBhvr>
                                    </p:animEffect>
                                    <p:set>
                                      <p:cBhvr>
                                        <p:cTn id="57" dur="1" fill="hold">
                                          <p:stCondLst>
                                            <p:cond delay="0"/>
                                          </p:stCondLst>
                                        </p:cTn>
                                        <p:tgtEl>
                                          <p:spTgt spid="13"/>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5"/>
                                        </p:tgtEl>
                                      </p:cBhvr>
                                    </p:animEffect>
                                    <p:set>
                                      <p:cBhvr>
                                        <p:cTn id="60" dur="1" fill="hold">
                                          <p:stCondLst>
                                            <p:cond delay="0"/>
                                          </p:stCondLst>
                                        </p:cTn>
                                        <p:tgtEl>
                                          <p:spTgt spid="5"/>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4"/>
                                        </p:tgtEl>
                                      </p:cBhvr>
                                    </p:animEffect>
                                    <p:set>
                                      <p:cBhvr>
                                        <p:cTn id="63" dur="1" fill="hold">
                                          <p:stCondLst>
                                            <p:cond delay="0"/>
                                          </p:stCondLst>
                                        </p:cTn>
                                        <p:tgtEl>
                                          <p:spTgt spid="14"/>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6"/>
                                        </p:tgtEl>
                                      </p:cBhvr>
                                    </p:animEffect>
                                    <p:set>
                                      <p:cBhvr>
                                        <p:cTn id="66" dur="1" fill="hold">
                                          <p:stCondLst>
                                            <p:cond delay="0"/>
                                          </p:stCondLst>
                                        </p:cTn>
                                        <p:tgtEl>
                                          <p:spTgt spid="6"/>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8"/>
                                        </p:tgtEl>
                                      </p:cBhvr>
                                    </p:animEffect>
                                    <p:set>
                                      <p:cBhvr>
                                        <p:cTn id="72" dur="1" fill="hold">
                                          <p:stCondLst>
                                            <p:cond delay="0"/>
                                          </p:stCondLst>
                                        </p:cTn>
                                        <p:tgtEl>
                                          <p:spTgt spid="8"/>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6"/>
                                        </p:tgtEl>
                                      </p:cBhvr>
                                    </p:animEffect>
                                    <p:set>
                                      <p:cBhvr>
                                        <p:cTn id="75" dur="1" fill="hold">
                                          <p:stCondLst>
                                            <p:cond delay="0"/>
                                          </p:stCondLst>
                                        </p:cTn>
                                        <p:tgtEl>
                                          <p:spTgt spid="16"/>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17"/>
                                        </p:tgtEl>
                                      </p:cBhvr>
                                    </p:animEffect>
                                    <p:set>
                                      <p:cBhvr>
                                        <p:cTn id="8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Process Gap</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2314422" y="1371600"/>
            <a:ext cx="221361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Outcome correctness</a:t>
            </a:r>
          </a:p>
        </p:txBody>
      </p:sp>
      <p:sp>
        <p:nvSpPr>
          <p:cNvPr id="6" name="Rounded Rectangle 5"/>
          <p:cNvSpPr/>
          <p:nvPr/>
        </p:nvSpPr>
        <p:spPr>
          <a:xfrm>
            <a:off x="2904972" y="1913636"/>
            <a:ext cx="103251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Pass@1</a:t>
            </a:r>
          </a:p>
        </p:txBody>
      </p:sp>
      <p:sp>
        <p:nvSpPr>
          <p:cNvPr id="7" name="TextBox 6"/>
          <p:cNvSpPr txBox="1"/>
          <p:nvPr/>
        </p:nvSpPr>
        <p:spPr>
          <a:xfrm>
            <a:off x="929487" y="2382520"/>
            <a:ext cx="4983480" cy="458216"/>
          </a:xfrm>
          <a:prstGeom prst="rect">
            <a:avLst/>
          </a:prstGeom>
          <a:noFill/>
        </p:spPr>
        <p:txBody>
          <a:bodyPr wrap="square">
            <a:spAutoFit/>
          </a:bodyPr>
          <a:lstStyle/>
          <a:p>
            <a:pPr algn="l">
              <a:defRPr sz="2000" b="1" i="0">
                <a:solidFill>
                  <a:srgbClr val="223043"/>
                </a:solidFill>
                <a:latin typeface="Liberation Sans"/>
              </a:defRPr>
            </a:pPr>
            <a:r>
              <a:t>0.76</a:t>
            </a:r>
          </a:p>
        </p:txBody>
      </p:sp>
      <p:sp>
        <p:nvSpPr>
          <p:cNvPr id="8" name="Rectangle 7"/>
          <p:cNvSpPr/>
          <p:nvPr/>
        </p:nvSpPr>
        <p:spPr>
          <a:xfrm>
            <a:off x="929487" y="3005328"/>
            <a:ext cx="27432" cy="110693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4079" y="3005328"/>
            <a:ext cx="4818888" cy="425196"/>
          </a:xfrm>
          <a:prstGeom prst="rect">
            <a:avLst/>
          </a:prstGeom>
          <a:noFill/>
        </p:spPr>
        <p:txBody>
          <a:bodyPr wrap="square">
            <a:spAutoFit/>
          </a:bodyPr>
          <a:lstStyle/>
          <a:p>
            <a:pPr algn="l">
              <a:defRPr sz="1800" b="1" i="0">
                <a:solidFill>
                  <a:srgbClr val="8FAAC8"/>
                </a:solidFill>
                <a:latin typeface="Liberation Sans"/>
              </a:defRPr>
            </a:pPr>
            <a:r>
              <a:t>What it means</a:t>
            </a:r>
          </a:p>
        </p:txBody>
      </p:sp>
      <p:sp>
        <p:nvSpPr>
          <p:cNvPr id="10" name="TextBox 9"/>
          <p:cNvSpPr txBox="1"/>
          <p:nvPr/>
        </p:nvSpPr>
        <p:spPr>
          <a:xfrm>
            <a:off x="1094079" y="3521964"/>
            <a:ext cx="4818888" cy="590296"/>
          </a:xfrm>
          <a:prstGeom prst="rect">
            <a:avLst/>
          </a:prstGeom>
          <a:noFill/>
        </p:spPr>
        <p:txBody>
          <a:bodyPr wrap="square">
            <a:spAutoFit/>
          </a:bodyPr>
          <a:lstStyle/>
          <a:p>
            <a:pPr algn="l">
              <a:defRPr sz="1400" b="0" i="0">
                <a:solidFill>
                  <a:srgbClr val="223043"/>
                </a:solidFill>
                <a:latin typeface="Liberation Sans"/>
              </a:defRPr>
            </a:pPr>
            <a:r>
              <a:t>The best model often names the right root cause when judged only by the final answer.</a:t>
            </a:r>
          </a:p>
        </p:txBody>
      </p:sp>
      <p:sp>
        <p:nvSpPr>
          <p:cNvPr id="11" name="Rounded Rectangle 10"/>
          <p:cNvSpPr/>
          <p:nvPr/>
        </p:nvSpPr>
        <p:spPr>
          <a:xfrm>
            <a:off x="7739862" y="1371600"/>
            <a:ext cx="2061210" cy="377444"/>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Process correctness</a:t>
            </a:r>
          </a:p>
        </p:txBody>
      </p:sp>
      <p:sp>
        <p:nvSpPr>
          <p:cNvPr id="12" name="Rounded Rectangle 11"/>
          <p:cNvSpPr/>
          <p:nvPr/>
        </p:nvSpPr>
        <p:spPr>
          <a:xfrm>
            <a:off x="7816062" y="1913636"/>
            <a:ext cx="1908810" cy="377444"/>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Path Reachability</a:t>
            </a:r>
          </a:p>
        </p:txBody>
      </p:sp>
      <p:sp>
        <p:nvSpPr>
          <p:cNvPr id="13" name="TextBox 12"/>
          <p:cNvSpPr txBox="1"/>
          <p:nvPr/>
        </p:nvSpPr>
        <p:spPr>
          <a:xfrm>
            <a:off x="6278727" y="2382520"/>
            <a:ext cx="4983480" cy="458216"/>
          </a:xfrm>
          <a:prstGeom prst="rect">
            <a:avLst/>
          </a:prstGeom>
          <a:noFill/>
        </p:spPr>
        <p:txBody>
          <a:bodyPr wrap="square">
            <a:spAutoFit/>
          </a:bodyPr>
          <a:lstStyle/>
          <a:p>
            <a:pPr algn="l">
              <a:defRPr sz="2000" b="1" i="0">
                <a:solidFill>
                  <a:srgbClr val="223043"/>
                </a:solidFill>
                <a:latin typeface="Liberation Sans"/>
              </a:defRPr>
            </a:pPr>
            <a:r>
              <a:t>0.63</a:t>
            </a:r>
          </a:p>
        </p:txBody>
      </p:sp>
      <p:sp>
        <p:nvSpPr>
          <p:cNvPr id="14" name="Rectangle 13"/>
          <p:cNvSpPr/>
          <p:nvPr/>
        </p:nvSpPr>
        <p:spPr>
          <a:xfrm>
            <a:off x="6278727" y="3005328"/>
            <a:ext cx="27432" cy="1106932"/>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3319" y="3005328"/>
            <a:ext cx="4818888" cy="425196"/>
          </a:xfrm>
          <a:prstGeom prst="rect">
            <a:avLst/>
          </a:prstGeom>
          <a:noFill/>
        </p:spPr>
        <p:txBody>
          <a:bodyPr wrap="square">
            <a:spAutoFit/>
          </a:bodyPr>
          <a:lstStyle/>
          <a:p>
            <a:pPr algn="l">
              <a:defRPr sz="1800" b="1" i="0">
                <a:solidFill>
                  <a:srgbClr val="D8A86A"/>
                </a:solidFill>
                <a:latin typeface="Liberation Sans"/>
              </a:defRPr>
            </a:pPr>
            <a:r>
              <a:t>What it means</a:t>
            </a:r>
          </a:p>
        </p:txBody>
      </p:sp>
      <p:sp>
        <p:nvSpPr>
          <p:cNvPr id="16" name="TextBox 15"/>
          <p:cNvSpPr txBox="1"/>
          <p:nvPr/>
        </p:nvSpPr>
        <p:spPr>
          <a:xfrm>
            <a:off x="6443319" y="3521964"/>
            <a:ext cx="4818888" cy="590296"/>
          </a:xfrm>
          <a:prstGeom prst="rect">
            <a:avLst/>
          </a:prstGeom>
          <a:noFill/>
        </p:spPr>
        <p:txBody>
          <a:bodyPr wrap="square">
            <a:spAutoFit/>
          </a:bodyPr>
          <a:lstStyle/>
          <a:p>
            <a:pPr algn="l">
              <a:defRPr sz="1400" b="0" i="0">
                <a:solidFill>
                  <a:srgbClr val="223043"/>
                </a:solidFill>
                <a:latin typeface="Liberation Sans"/>
              </a:defRPr>
            </a:pPr>
            <a:r>
              <a:t>A sizable slice of those correct answers still cannot trace a valid path from cause to symptom.</a:t>
            </a:r>
          </a:p>
        </p:txBody>
      </p:sp>
      <p:sp>
        <p:nvSpPr>
          <p:cNvPr id="17" name="Rectangle 16"/>
          <p:cNvSpPr/>
          <p:nvPr/>
        </p:nvSpPr>
        <p:spPr>
          <a:xfrm>
            <a:off x="731520" y="4368292"/>
            <a:ext cx="27431" cy="87579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1" y="4368292"/>
            <a:ext cx="10564063" cy="425196"/>
          </a:xfrm>
          <a:prstGeom prst="rect">
            <a:avLst/>
          </a:prstGeom>
          <a:noFill/>
        </p:spPr>
        <p:txBody>
          <a:bodyPr wrap="square">
            <a:spAutoFit/>
          </a:bodyPr>
          <a:lstStyle/>
          <a:p>
            <a:pPr algn="l">
              <a:defRPr sz="1800" b="1" i="0">
                <a:solidFill>
                  <a:srgbClr val="C98A78"/>
                </a:solidFill>
                <a:latin typeface="Liberation Sans"/>
              </a:defRPr>
            </a:pPr>
            <a:r>
              <a:t>Process-level reasoning gap</a:t>
            </a:r>
          </a:p>
        </p:txBody>
      </p:sp>
      <p:sp>
        <p:nvSpPr>
          <p:cNvPr id="19" name="TextBox 18"/>
          <p:cNvSpPr txBox="1"/>
          <p:nvPr/>
        </p:nvSpPr>
        <p:spPr>
          <a:xfrm>
            <a:off x="896111" y="4884928"/>
            <a:ext cx="10564063" cy="359156"/>
          </a:xfrm>
          <a:prstGeom prst="rect">
            <a:avLst/>
          </a:prstGeom>
          <a:noFill/>
        </p:spPr>
        <p:txBody>
          <a:bodyPr wrap="square">
            <a:spAutoFit/>
          </a:bodyPr>
          <a:lstStyle/>
          <a:p>
            <a:pPr algn="l">
              <a:defRPr sz="1400" b="0" i="0">
                <a:solidFill>
                  <a:srgbClr val="223043"/>
                </a:solidFill>
                <a:latin typeface="Liberation Sans"/>
              </a:defRPr>
            </a:pPr>
            <a:r>
              <a:t>0.76 Pass@1 versus 0.63 Path Reachability exposes the core failure mode: correct outcome, broken process.</a:t>
            </a:r>
          </a:p>
        </p:txBody>
      </p:sp>
      <p:sp>
        <p:nvSpPr>
          <p:cNvPr id="20" name="TextBox 19"/>
          <p:cNvSpPr txBox="1"/>
          <p:nvPr/>
        </p:nvSpPr>
        <p:spPr>
          <a:xfrm>
            <a:off x="731520" y="5500116"/>
            <a:ext cx="10728655" cy="425196"/>
          </a:xfrm>
          <a:prstGeom prst="rect">
            <a:avLst/>
          </a:prstGeom>
          <a:noFill/>
        </p:spPr>
        <p:txBody>
          <a:bodyPr wrap="square">
            <a:spAutoFit/>
          </a:bodyPr>
          <a:lstStyle/>
          <a:p>
            <a:pPr algn="l">
              <a:defRPr sz="1800" b="0" i="1">
                <a:solidFill>
                  <a:srgbClr val="647489"/>
                </a:solidFill>
                <a:latin typeface="Liberation Sans"/>
              </a:defRPr>
            </a:pPr>
            <a:r>
              <a:t>Outcome correctness flatters the agent. Process correctness tells us whether the diagnosis can be trusted.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1"/>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8"/>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4"/>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0"/>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6"/>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8"/>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4"/>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5"/>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8"/>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0"/>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6"/>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9"/>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20"/>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5"/>
                                        </p:tgtEl>
                                      </p:cBhvr>
                                    </p:animEffect>
                                    <p:set>
                                      <p:cBhvr>
                                        <p:cTn id="47" dur="1" fill="hold">
                                          <p:stCondLst>
                                            <p:cond delay="0"/>
                                          </p:stCondLst>
                                        </p:cTn>
                                        <p:tgtEl>
                                          <p:spTgt spid="5"/>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6"/>
                                        </p:tgtEl>
                                      </p:cBhvr>
                                    </p:animEffect>
                                    <p:set>
                                      <p:cBhvr>
                                        <p:cTn id="50" dur="1" fill="hold">
                                          <p:stCondLst>
                                            <p:cond delay="0"/>
                                          </p:stCondLst>
                                        </p:cTn>
                                        <p:tgtEl>
                                          <p:spTgt spid="6"/>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7"/>
                                        </p:tgtEl>
                                      </p:cBhvr>
                                    </p:animEffect>
                                    <p:set>
                                      <p:cBhvr>
                                        <p:cTn id="53" dur="1" fill="hold">
                                          <p:stCondLst>
                                            <p:cond delay="0"/>
                                          </p:stCondLst>
                                        </p:cTn>
                                        <p:tgtEl>
                                          <p:spTgt spid="7"/>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8"/>
                                        </p:tgtEl>
                                      </p:cBhvr>
                                    </p:animEffect>
                                    <p:set>
                                      <p:cBhvr>
                                        <p:cTn id="56" dur="1" fill="hold">
                                          <p:stCondLst>
                                            <p:cond delay="0"/>
                                          </p:stCondLst>
                                        </p:cTn>
                                        <p:tgtEl>
                                          <p:spTgt spid="8"/>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9"/>
                                        </p:tgtEl>
                                      </p:cBhvr>
                                    </p:animEffect>
                                    <p:set>
                                      <p:cBhvr>
                                        <p:cTn id="59" dur="1" fill="hold">
                                          <p:stCondLst>
                                            <p:cond delay="0"/>
                                          </p:stCondLst>
                                        </p:cTn>
                                        <p:tgtEl>
                                          <p:spTgt spid="9"/>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10"/>
                                        </p:tgtEl>
                                      </p:cBhvr>
                                    </p:animEffect>
                                    <p:set>
                                      <p:cBhvr>
                                        <p:cTn id="62" dur="1" fill="hold">
                                          <p:stCondLst>
                                            <p:cond delay="0"/>
                                          </p:stCondLst>
                                        </p:cTn>
                                        <p:tgtEl>
                                          <p:spTgt spid="10"/>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animEffect transition="in" filter="fade">
                                      <p:cBhvr>
                                        <p:cTn id="66" dur="500"/>
                                        <p:tgtEl>
                                          <p:spTgt spid="11"/>
                                        </p:tgtEl>
                                      </p:cBhvr>
                                    </p:animEffect>
                                    <p:set>
                                      <p:cBhvr>
                                        <p:cTn id="67" dur="1" fill="hold">
                                          <p:stCondLst>
                                            <p:cond delay="0"/>
                                          </p:stCondLst>
                                        </p:cTn>
                                        <p:tgtEl>
                                          <p:spTgt spid="11"/>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2"/>
                                        </p:tgtEl>
                                      </p:cBhvr>
                                    </p:animEffect>
                                    <p:set>
                                      <p:cBhvr>
                                        <p:cTn id="70" dur="1" fill="hold">
                                          <p:stCondLst>
                                            <p:cond delay="0"/>
                                          </p:stCondLst>
                                        </p:cTn>
                                        <p:tgtEl>
                                          <p:spTgt spid="12"/>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13"/>
                                        </p:tgtEl>
                                      </p:cBhvr>
                                    </p:animEffect>
                                    <p:set>
                                      <p:cBhvr>
                                        <p:cTn id="73" dur="1" fill="hold">
                                          <p:stCondLst>
                                            <p:cond delay="0"/>
                                          </p:stCondLst>
                                        </p:cTn>
                                        <p:tgtEl>
                                          <p:spTgt spid="13"/>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8"/>
                                        </p:tgtEl>
                                      </p:cBhvr>
                                    </p:animEffect>
                                    <p:set>
                                      <p:cBhvr>
                                        <p:cTn id="76" dur="1" fill="hold">
                                          <p:stCondLst>
                                            <p:cond delay="0"/>
                                          </p:stCondLst>
                                        </p:cTn>
                                        <p:tgtEl>
                                          <p:spTgt spid="8"/>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14"/>
                                        </p:tgtEl>
                                      </p:cBhvr>
                                    </p:animEffect>
                                    <p:set>
                                      <p:cBhvr>
                                        <p:cTn id="79" dur="1" fill="hold">
                                          <p:stCondLst>
                                            <p:cond delay="0"/>
                                          </p:stCondLst>
                                        </p:cTn>
                                        <p:tgtEl>
                                          <p:spTgt spid="14"/>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9"/>
                                        </p:tgtEl>
                                      </p:cBhvr>
                                    </p:animEffect>
                                    <p:set>
                                      <p:cBhvr>
                                        <p:cTn id="82" dur="1" fill="hold">
                                          <p:stCondLst>
                                            <p:cond delay="0"/>
                                          </p:stCondLst>
                                        </p:cTn>
                                        <p:tgtEl>
                                          <p:spTgt spid="9"/>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5"/>
                                        </p:tgtEl>
                                      </p:cBhvr>
                                    </p:animEffect>
                                    <p:set>
                                      <p:cBhvr>
                                        <p:cTn id="85" dur="1" fill="hold">
                                          <p:stCondLst>
                                            <p:cond delay="0"/>
                                          </p:stCondLst>
                                        </p:cTn>
                                        <p:tgtEl>
                                          <p:spTgt spid="15"/>
                                        </p:tgtEl>
                                        <p:attrNameLst>
                                          <p:attrName>style.visibility</p:attrName>
                                        </p:attrNameLst>
                                      </p:cBhvr>
                                      <p:to>
                                        <p:strVal val="visible"/>
                                      </p:to>
                                    </p:set>
                                  </p:childTnLst>
                                </p:cTn>
                              </p:par>
                              <p:par>
                                <p:cTn id="86" presetID="10" presetClass="entr" presetSubtype="0" fill="hold" grpId="0" nodeType="withEffect">
                                  <p:stCondLst>
                                    <p:cond delay="0"/>
                                  </p:stCondLst>
                                  <p:childTnLst>
                                    <p:animEffect transition="in" filter="fade">
                                      <p:cBhvr>
                                        <p:cTn id="87" dur="500"/>
                                        <p:tgtEl>
                                          <p:spTgt spid="10"/>
                                        </p:tgtEl>
                                      </p:cBhvr>
                                    </p:animEffect>
                                    <p:set>
                                      <p:cBhvr>
                                        <p:cTn id="88" dur="1" fill="hold">
                                          <p:stCondLst>
                                            <p:cond delay="0"/>
                                          </p:stCondLst>
                                        </p:cTn>
                                        <p:tgtEl>
                                          <p:spTgt spid="10"/>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16"/>
                                        </p:tgtEl>
                                      </p:cBhvr>
                                    </p:animEffect>
                                    <p:set>
                                      <p:cBhvr>
                                        <p:cTn id="91" dur="1" fill="hold">
                                          <p:stCondLst>
                                            <p:cond delay="0"/>
                                          </p:stCondLst>
                                        </p:cTn>
                                        <p:tgtEl>
                                          <p:spTgt spid="16"/>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animEffect transition="in" filter="fade">
                                      <p:cBhvr>
                                        <p:cTn id="95" dur="500"/>
                                        <p:tgtEl>
                                          <p:spTgt spid="8"/>
                                        </p:tgtEl>
                                      </p:cBhvr>
                                    </p:animEffect>
                                    <p:set>
                                      <p:cBhvr>
                                        <p:cTn id="96" dur="1" fill="hold">
                                          <p:stCondLst>
                                            <p:cond delay="0"/>
                                          </p:stCondLst>
                                        </p:cTn>
                                        <p:tgtEl>
                                          <p:spTgt spid="8"/>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4"/>
                                        </p:tgtEl>
                                      </p:cBhvr>
                                    </p:animEffect>
                                    <p:set>
                                      <p:cBhvr>
                                        <p:cTn id="99" dur="1" fill="hold">
                                          <p:stCondLst>
                                            <p:cond delay="0"/>
                                          </p:stCondLst>
                                        </p:cTn>
                                        <p:tgtEl>
                                          <p:spTgt spid="14"/>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7"/>
                                        </p:tgtEl>
                                      </p:cBhvr>
                                    </p:animEffect>
                                    <p:set>
                                      <p:cBhvr>
                                        <p:cTn id="102" dur="1" fill="hold">
                                          <p:stCondLst>
                                            <p:cond delay="0"/>
                                          </p:stCondLst>
                                        </p:cTn>
                                        <p:tgtEl>
                                          <p:spTgt spid="17"/>
                                        </p:tgtEl>
                                        <p:attrNameLst>
                                          <p:attrName>style.visibility</p:attrName>
                                        </p:attrNameLst>
                                      </p:cBhvr>
                                      <p:to>
                                        <p:strVal val="visible"/>
                                      </p:to>
                                    </p:set>
                                  </p:childTnLst>
                                </p:cTn>
                              </p:par>
                              <p:par>
                                <p:cTn id="103" presetID="10" presetClass="entr" presetSubtype="0" fill="hold" grpId="0" nodeType="withEffect">
                                  <p:stCondLst>
                                    <p:cond delay="0"/>
                                  </p:stCondLst>
                                  <p:childTnLst>
                                    <p:animEffect transition="in" filter="fade">
                                      <p:cBhvr>
                                        <p:cTn id="104" dur="500"/>
                                        <p:tgtEl>
                                          <p:spTgt spid="9"/>
                                        </p:tgtEl>
                                      </p:cBhvr>
                                    </p:animEffect>
                                    <p:set>
                                      <p:cBhvr>
                                        <p:cTn id="105" dur="1" fill="hold">
                                          <p:stCondLst>
                                            <p:cond delay="0"/>
                                          </p:stCondLst>
                                        </p:cTn>
                                        <p:tgtEl>
                                          <p:spTgt spid="9"/>
                                        </p:tgtEl>
                                        <p:attrNameLst>
                                          <p:attrName>style.visibility</p:attrName>
                                        </p:attrNameLst>
                                      </p:cBhvr>
                                      <p:to>
                                        <p:strVal val="visible"/>
                                      </p:to>
                                    </p:set>
                                  </p:childTnLst>
                                </p:cTn>
                              </p:par>
                              <p:par>
                                <p:cTn id="106" presetID="10" presetClass="entr" presetSubtype="0" fill="hold" grpId="0" nodeType="withEffect">
                                  <p:stCondLst>
                                    <p:cond delay="0"/>
                                  </p:stCondLst>
                                  <p:childTnLst>
                                    <p:animEffect transition="in" filter="fade">
                                      <p:cBhvr>
                                        <p:cTn id="107" dur="500"/>
                                        <p:tgtEl>
                                          <p:spTgt spid="15"/>
                                        </p:tgtEl>
                                      </p:cBhvr>
                                    </p:animEffect>
                                    <p:set>
                                      <p:cBhvr>
                                        <p:cTn id="108" dur="1" fill="hold">
                                          <p:stCondLst>
                                            <p:cond delay="0"/>
                                          </p:stCondLst>
                                        </p:cTn>
                                        <p:tgtEl>
                                          <p:spTgt spid="15"/>
                                        </p:tgtEl>
                                        <p:attrNameLst>
                                          <p:attrName>style.visibility</p:attrName>
                                        </p:attrNameLst>
                                      </p:cBhvr>
                                      <p:to>
                                        <p:strVal val="visible"/>
                                      </p:to>
                                    </p:set>
                                  </p:childTnLst>
                                </p:cTn>
                              </p:par>
                              <p:par>
                                <p:cTn id="109" presetID="10" presetClass="entr" presetSubtype="0" fill="hold" grpId="0" nodeType="withEffect">
                                  <p:stCondLst>
                                    <p:cond delay="0"/>
                                  </p:stCondLst>
                                  <p:childTnLst>
                                    <p:animEffect transition="in" filter="fade">
                                      <p:cBhvr>
                                        <p:cTn id="110" dur="500"/>
                                        <p:tgtEl>
                                          <p:spTgt spid="18"/>
                                        </p:tgtEl>
                                      </p:cBhvr>
                                    </p:animEffect>
                                    <p:set>
                                      <p:cBhvr>
                                        <p:cTn id="111" dur="1" fill="hold">
                                          <p:stCondLst>
                                            <p:cond delay="0"/>
                                          </p:stCondLst>
                                        </p:cTn>
                                        <p:tgtEl>
                                          <p:spTgt spid="18"/>
                                        </p:tgtEl>
                                        <p:attrNameLst>
                                          <p:attrName>style.visibility</p:attrName>
                                        </p:attrNameLst>
                                      </p:cBhvr>
                                      <p:to>
                                        <p:strVal val="visible"/>
                                      </p:to>
                                    </p:set>
                                  </p:childTnLst>
                                </p:cTn>
                              </p:par>
                              <p:par>
                                <p:cTn id="112" presetID="10" presetClass="entr" presetSubtype="0" fill="hold" grpId="0" nodeType="withEffect">
                                  <p:stCondLst>
                                    <p:cond delay="0"/>
                                  </p:stCondLst>
                                  <p:childTnLst>
                                    <p:animEffect transition="in" filter="fade">
                                      <p:cBhvr>
                                        <p:cTn id="113" dur="500"/>
                                        <p:tgtEl>
                                          <p:spTgt spid="10"/>
                                        </p:tgtEl>
                                      </p:cBhvr>
                                    </p:animEffect>
                                    <p:set>
                                      <p:cBhvr>
                                        <p:cTn id="114" dur="1" fill="hold">
                                          <p:stCondLst>
                                            <p:cond delay="0"/>
                                          </p:stCondLst>
                                        </p:cTn>
                                        <p:tgtEl>
                                          <p:spTgt spid="10"/>
                                        </p:tgtEl>
                                        <p:attrNameLst>
                                          <p:attrName>style.visibility</p:attrName>
                                        </p:attrNameLst>
                                      </p:cBhvr>
                                      <p:to>
                                        <p:strVal val="visible"/>
                                      </p:to>
                                    </p:set>
                                  </p:childTnLst>
                                </p:cTn>
                              </p:par>
                              <p:par>
                                <p:cTn id="115" presetID="10" presetClass="entr" presetSubtype="0" fill="hold" grpId="0" nodeType="withEffect">
                                  <p:stCondLst>
                                    <p:cond delay="0"/>
                                  </p:stCondLst>
                                  <p:childTnLst>
                                    <p:animEffect transition="in" filter="fade">
                                      <p:cBhvr>
                                        <p:cTn id="116" dur="500"/>
                                        <p:tgtEl>
                                          <p:spTgt spid="16"/>
                                        </p:tgtEl>
                                      </p:cBhvr>
                                    </p:animEffect>
                                    <p:set>
                                      <p:cBhvr>
                                        <p:cTn id="117" dur="1" fill="hold">
                                          <p:stCondLst>
                                            <p:cond delay="0"/>
                                          </p:stCondLst>
                                        </p:cTn>
                                        <p:tgtEl>
                                          <p:spTgt spid="16"/>
                                        </p:tgtEl>
                                        <p:attrNameLst>
                                          <p:attrName>style.visibility</p:attrName>
                                        </p:attrNameLst>
                                      </p:cBhvr>
                                      <p:to>
                                        <p:strVal val="visible"/>
                                      </p:to>
                                    </p:set>
                                  </p:childTnLst>
                                </p:cTn>
                              </p:par>
                              <p:par>
                                <p:cTn id="118" presetID="10" presetClass="entr" presetSubtype="0" fill="hold" grpId="0" nodeType="withEffect">
                                  <p:stCondLst>
                                    <p:cond delay="0"/>
                                  </p:stCondLst>
                                  <p:childTnLst>
                                    <p:animEffect transition="in" filter="fade">
                                      <p:cBhvr>
                                        <p:cTn id="119" dur="500"/>
                                        <p:tgtEl>
                                          <p:spTgt spid="19"/>
                                        </p:tgtEl>
                                      </p:cBhvr>
                                    </p:animEffect>
                                    <p:set>
                                      <p:cBhvr>
                                        <p:cTn id="120" dur="1" fill="hold">
                                          <p:stCondLst>
                                            <p:cond delay="0"/>
                                          </p:stCondLst>
                                        </p:cTn>
                                        <p:tgtEl>
                                          <p:spTgt spid="19"/>
                                        </p:tgtEl>
                                        <p:attrNameLst>
                                          <p:attrName>style.visibility</p:attrName>
                                        </p:attrNameLst>
                                      </p:cBhvr>
                                      <p:to>
                                        <p:strVal val="visible"/>
                                      </p:to>
                                    </p:set>
                                  </p:childTnLst>
                                </p:cTn>
                              </p:par>
                              <p:par>
                                <p:cTn id="121" presetID="10" presetClass="entr" presetSubtype="0" fill="hold" grpId="0" nodeType="withEffect">
                                  <p:stCondLst>
                                    <p:cond delay="0"/>
                                  </p:stCondLst>
                                  <p:childTnLst>
                                    <p:animEffect transition="in" filter="fade">
                                      <p:cBhvr>
                                        <p:cTn id="122" dur="500"/>
                                        <p:tgtEl>
                                          <p:spTgt spid="20"/>
                                        </p:tgtEl>
                                      </p:cBhvr>
                                    </p:animEffect>
                                    <p:set>
                                      <p:cBhvr>
                                        <p:cTn id="123"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FORGE: Forward Verification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2426817" y="1371600"/>
            <a:ext cx="208026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Backward diagnosis</a:t>
            </a:r>
          </a:p>
        </p:txBody>
      </p:sp>
      <p:sp>
        <p:nvSpPr>
          <p:cNvPr id="6" name="Rounded Rectangle 5"/>
          <p:cNvSpPr/>
          <p:nvPr/>
        </p:nvSpPr>
        <p:spPr>
          <a:xfrm>
            <a:off x="1020927" y="1913636"/>
            <a:ext cx="126111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Symptoms</a:t>
            </a:r>
          </a:p>
        </p:txBody>
      </p:sp>
      <p:cxnSp>
        <p:nvCxnSpPr>
          <p:cNvPr id="7" name="Connector 6"/>
          <p:cNvCxnSpPr/>
          <p:nvPr/>
        </p:nvCxnSpPr>
        <p:spPr>
          <a:xfrm>
            <a:off x="2282037" y="2288540"/>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56357" y="1913636"/>
            <a:ext cx="1813560" cy="749808"/>
          </a:xfrm>
          <a:prstGeom prst="roundRect">
            <a:avLst/>
          </a:prstGeom>
          <a:solidFill>
            <a:srgbClr val="C98A7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Unknown cause</a:t>
            </a:r>
          </a:p>
        </p:txBody>
      </p:sp>
      <p:cxnSp>
        <p:nvCxnSpPr>
          <p:cNvPr id="9" name="Connector 8"/>
          <p:cNvCxnSpPr/>
          <p:nvPr/>
        </p:nvCxnSpPr>
        <p:spPr>
          <a:xfrm>
            <a:off x="4369917" y="2288540"/>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644237" y="1913636"/>
            <a:ext cx="173736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Ill-posed search</a:t>
            </a:r>
          </a:p>
        </p:txBody>
      </p:sp>
      <p:sp>
        <p:nvSpPr>
          <p:cNvPr id="11" name="Rectangle 10"/>
          <p:cNvSpPr/>
          <p:nvPr/>
        </p:nvSpPr>
        <p:spPr>
          <a:xfrm>
            <a:off x="1020927" y="2828036"/>
            <a:ext cx="27432" cy="110693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5519" y="2828036"/>
            <a:ext cx="4727448" cy="425196"/>
          </a:xfrm>
          <a:prstGeom prst="rect">
            <a:avLst/>
          </a:prstGeom>
          <a:noFill/>
        </p:spPr>
        <p:txBody>
          <a:bodyPr wrap="square">
            <a:spAutoFit/>
          </a:bodyPr>
          <a:lstStyle/>
          <a:p>
            <a:pPr algn="l">
              <a:defRPr sz="1800" b="1" i="0">
                <a:solidFill>
                  <a:srgbClr val="C98A78"/>
                </a:solidFill>
                <a:latin typeface="Liberation Sans"/>
              </a:defRPr>
            </a:pPr>
            <a:r>
              <a:t>Why it is hard</a:t>
            </a:r>
          </a:p>
        </p:txBody>
      </p:sp>
      <p:sp>
        <p:nvSpPr>
          <p:cNvPr id="13" name="TextBox 12"/>
          <p:cNvSpPr txBox="1"/>
          <p:nvPr/>
        </p:nvSpPr>
        <p:spPr>
          <a:xfrm>
            <a:off x="1185519" y="3344672"/>
            <a:ext cx="4727448" cy="590296"/>
          </a:xfrm>
          <a:prstGeom prst="rect">
            <a:avLst/>
          </a:prstGeom>
          <a:noFill/>
        </p:spPr>
        <p:txBody>
          <a:bodyPr wrap="square">
            <a:spAutoFit/>
          </a:bodyPr>
          <a:lstStyle/>
          <a:p>
            <a:pPr algn="l">
              <a:defRPr sz="1400" b="0" i="0">
                <a:solidFill>
                  <a:srgbClr val="223043"/>
                </a:solidFill>
                <a:latin typeface="Liberation Sans"/>
              </a:defRPr>
            </a:pPr>
            <a:r>
              <a:t>The RCA agent must infer an unseen cause from partial telemetry, confounders, and noisy symptoms.</a:t>
            </a:r>
          </a:p>
        </p:txBody>
      </p:sp>
      <p:sp>
        <p:nvSpPr>
          <p:cNvPr id="14" name="Rounded Rectangle 13"/>
          <p:cNvSpPr/>
          <p:nvPr/>
        </p:nvSpPr>
        <p:spPr>
          <a:xfrm>
            <a:off x="7665567" y="1371600"/>
            <a:ext cx="211836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Forward verification</a:t>
            </a:r>
          </a:p>
        </p:txBody>
      </p:sp>
      <p:sp>
        <p:nvSpPr>
          <p:cNvPr id="15" name="Rounded Rectangle 14"/>
          <p:cNvSpPr/>
          <p:nvPr/>
        </p:nvSpPr>
        <p:spPr>
          <a:xfrm>
            <a:off x="6278727" y="1913636"/>
            <a:ext cx="215646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Known intervention</a:t>
            </a:r>
          </a:p>
        </p:txBody>
      </p:sp>
      <p:cxnSp>
        <p:nvCxnSpPr>
          <p:cNvPr id="16" name="Connector 15"/>
          <p:cNvCxnSpPr/>
          <p:nvPr/>
        </p:nvCxnSpPr>
        <p:spPr>
          <a:xfrm>
            <a:off x="8435187" y="2288540"/>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709507" y="1913636"/>
            <a:ext cx="215646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Expected signatures</a:t>
            </a:r>
          </a:p>
        </p:txBody>
      </p:sp>
      <p:cxnSp>
        <p:nvCxnSpPr>
          <p:cNvPr id="18" name="Connector 17"/>
          <p:cNvCxnSpPr/>
          <p:nvPr/>
        </p:nvCxnSpPr>
        <p:spPr>
          <a:xfrm>
            <a:off x="10865967" y="2288540"/>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1140287" y="1913636"/>
            <a:ext cx="150876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Verified path</a:t>
            </a:r>
          </a:p>
        </p:txBody>
      </p:sp>
      <p:sp>
        <p:nvSpPr>
          <p:cNvPr id="20" name="Rectangle 19"/>
          <p:cNvSpPr/>
          <p:nvPr/>
        </p:nvSpPr>
        <p:spPr>
          <a:xfrm>
            <a:off x="6278727" y="2828036"/>
            <a:ext cx="27432"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2828036"/>
            <a:ext cx="4727448" cy="425196"/>
          </a:xfrm>
          <a:prstGeom prst="rect">
            <a:avLst/>
          </a:prstGeom>
          <a:noFill/>
        </p:spPr>
        <p:txBody>
          <a:bodyPr wrap="square">
            <a:spAutoFit/>
          </a:bodyPr>
          <a:lstStyle/>
          <a:p>
            <a:pPr algn="l">
              <a:defRPr sz="1800" b="1" i="0">
                <a:solidFill>
                  <a:srgbClr val="7FA195"/>
                </a:solidFill>
                <a:latin typeface="Liberation Sans"/>
              </a:defRPr>
            </a:pPr>
            <a:r>
              <a:t>Why FORGE works</a:t>
            </a:r>
          </a:p>
        </p:txBody>
      </p:sp>
      <p:sp>
        <p:nvSpPr>
          <p:cNvPr id="22" name="TextBox 21"/>
          <p:cNvSpPr txBox="1"/>
          <p:nvPr/>
        </p:nvSpPr>
        <p:spPr>
          <a:xfrm>
            <a:off x="6443319" y="3344672"/>
            <a:ext cx="4727448" cy="590296"/>
          </a:xfrm>
          <a:prstGeom prst="rect">
            <a:avLst/>
          </a:prstGeom>
          <a:noFill/>
        </p:spPr>
        <p:txBody>
          <a:bodyPr wrap="square">
            <a:spAutoFit/>
          </a:bodyPr>
          <a:lstStyle/>
          <a:p>
            <a:pPr algn="l">
              <a:defRPr sz="1400" b="0" i="0">
                <a:solidFill>
                  <a:srgbClr val="223043"/>
                </a:solidFill>
                <a:latin typeface="Liberation Sans"/>
              </a:defRPr>
            </a:pPr>
            <a:r>
              <a:t>Knowing the intervention turns diagnosis into a well-posed verification task from cause to effect.</a:t>
            </a:r>
          </a:p>
        </p:txBody>
      </p:sp>
      <p:sp>
        <p:nvSpPr>
          <p:cNvPr id="23" name="TextBox 22"/>
          <p:cNvSpPr txBox="1"/>
          <p:nvPr/>
        </p:nvSpPr>
        <p:spPr>
          <a:xfrm>
            <a:off x="731520" y="4190999"/>
            <a:ext cx="10728655" cy="425196"/>
          </a:xfrm>
          <a:prstGeom prst="rect">
            <a:avLst/>
          </a:prstGeom>
          <a:noFill/>
        </p:spPr>
        <p:txBody>
          <a:bodyPr wrap="square">
            <a:spAutoFit/>
          </a:bodyPr>
          <a:lstStyle/>
          <a:p>
            <a:pPr algn="l">
              <a:defRPr sz="1800" b="0" i="1">
                <a:solidFill>
                  <a:srgbClr val="647489"/>
                </a:solidFill>
                <a:latin typeface="Liberation Sans"/>
              </a:defRPr>
            </a:pPr>
            <a:r>
              <a:t>FORGE exploits the asymmetry: backward diagnosis is ill-posed, but forward verification is tractable when the intervention is known.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5"/>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2"/>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8"/>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7"/>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9"/>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8"/>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0"/>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6"/>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1"/>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5"/>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20"/>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7"/>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2"/>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6"/>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21"/>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9"/>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13"/>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8"/>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22"/>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3"/>
                            </p:tgtEl>
                            <p:attrNameLst>
                              <p:attrName>style.visibility</p:attrName>
                            </p:attrNameLst>
                          </p:cBhvr>
                          <p:to>
                            <p:strVal val="hidden"/>
                          </p:to>
                        </p:set>
                      </p:childTnLst>
                    </p:cTn>
                  </p:par>
                </p:childTnLst>
              </p:cTn>
            </p:par>
            <p:seq concurrent="1" nextAc="seek">
              <p:cTn id="58" dur="indefinite" nodeType="mainSeq">
                <p:childTnLst>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animEffect transition="in" filter="fade">
                                      <p:cBhvr>
                                        <p:cTn id="62" dur="500"/>
                                        <p:tgtEl>
                                          <p:spTgt spid="5"/>
                                        </p:tgtEl>
                                      </p:cBhvr>
                                    </p:animEffect>
                                    <p:set>
                                      <p:cBhvr>
                                        <p:cTn id="63" dur="1" fill="hold">
                                          <p:stCondLst>
                                            <p:cond delay="0"/>
                                          </p:stCondLst>
                                        </p:cTn>
                                        <p:tgtEl>
                                          <p:spTgt spid="5"/>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6"/>
                                        </p:tgtEl>
                                      </p:cBhvr>
                                    </p:animEffect>
                                    <p:set>
                                      <p:cBhvr>
                                        <p:cTn id="66" dur="1" fill="hold">
                                          <p:stCondLst>
                                            <p:cond delay="0"/>
                                          </p:stCondLst>
                                        </p:cTn>
                                        <p:tgtEl>
                                          <p:spTgt spid="6"/>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7"/>
                                        </p:tgtEl>
                                      </p:cBhvr>
                                    </p:animEffect>
                                    <p:set>
                                      <p:cBhvr>
                                        <p:cTn id="69" dur="1" fill="hold">
                                          <p:stCondLst>
                                            <p:cond delay="0"/>
                                          </p:stCondLst>
                                        </p:cTn>
                                        <p:tgtEl>
                                          <p:spTgt spid="7"/>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8"/>
                                        </p:tgtEl>
                                      </p:cBhvr>
                                    </p:animEffect>
                                    <p:set>
                                      <p:cBhvr>
                                        <p:cTn id="72" dur="1" fill="hold">
                                          <p:stCondLst>
                                            <p:cond delay="0"/>
                                          </p:stCondLst>
                                        </p:cTn>
                                        <p:tgtEl>
                                          <p:spTgt spid="8"/>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9"/>
                                        </p:tgtEl>
                                      </p:cBhvr>
                                    </p:animEffect>
                                    <p:set>
                                      <p:cBhvr>
                                        <p:cTn id="75" dur="1" fill="hold">
                                          <p:stCondLst>
                                            <p:cond delay="0"/>
                                          </p:stCondLst>
                                        </p:cTn>
                                        <p:tgtEl>
                                          <p:spTgt spid="9"/>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0"/>
                                        </p:tgtEl>
                                      </p:cBhvr>
                                    </p:animEffect>
                                    <p:set>
                                      <p:cBhvr>
                                        <p:cTn id="78" dur="1" fill="hold">
                                          <p:stCondLst>
                                            <p:cond delay="0"/>
                                          </p:stCondLst>
                                        </p:cTn>
                                        <p:tgtEl>
                                          <p:spTgt spid="10"/>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6"/>
                                        </p:tgtEl>
                                      </p:cBhvr>
                                    </p:animEffect>
                                    <p:set>
                                      <p:cBhvr>
                                        <p:cTn id="81" dur="1" fill="hold">
                                          <p:stCondLst>
                                            <p:cond delay="0"/>
                                          </p:stCondLst>
                                        </p:cTn>
                                        <p:tgtEl>
                                          <p:spTgt spid="6"/>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1"/>
                                        </p:tgtEl>
                                      </p:cBhvr>
                                    </p:animEffect>
                                    <p:set>
                                      <p:cBhvr>
                                        <p:cTn id="84" dur="1" fill="hold">
                                          <p:stCondLst>
                                            <p:cond delay="0"/>
                                          </p:stCondLst>
                                        </p:cTn>
                                        <p:tgtEl>
                                          <p:spTgt spid="11"/>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7"/>
                                        </p:tgtEl>
                                      </p:cBhvr>
                                    </p:animEffect>
                                    <p:set>
                                      <p:cBhvr>
                                        <p:cTn id="87" dur="1" fill="hold">
                                          <p:stCondLst>
                                            <p:cond delay="0"/>
                                          </p:stCondLst>
                                        </p:cTn>
                                        <p:tgtEl>
                                          <p:spTgt spid="7"/>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2"/>
                                        </p:tgtEl>
                                      </p:cBhvr>
                                    </p:animEffect>
                                    <p:set>
                                      <p:cBhvr>
                                        <p:cTn id="90" dur="1" fill="hold">
                                          <p:stCondLst>
                                            <p:cond delay="0"/>
                                          </p:stCondLst>
                                        </p:cTn>
                                        <p:tgtEl>
                                          <p:spTgt spid="12"/>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9"/>
                                        </p:tgtEl>
                                      </p:cBhvr>
                                    </p:animEffect>
                                    <p:set>
                                      <p:cBhvr>
                                        <p:cTn id="93" dur="1" fill="hold">
                                          <p:stCondLst>
                                            <p:cond delay="0"/>
                                          </p:stCondLst>
                                        </p:cTn>
                                        <p:tgtEl>
                                          <p:spTgt spid="9"/>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3"/>
                                        </p:tgtEl>
                                      </p:cBhvr>
                                    </p:animEffect>
                                    <p:set>
                                      <p:cBhvr>
                                        <p:cTn id="96" dur="1" fill="hold">
                                          <p:stCondLst>
                                            <p:cond delay="0"/>
                                          </p:stCondLst>
                                        </p:cTn>
                                        <p:tgtEl>
                                          <p:spTgt spid="13"/>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animEffect transition="in" filter="fade">
                                      <p:cBhvr>
                                        <p:cTn id="100" dur="500"/>
                                        <p:tgtEl>
                                          <p:spTgt spid="14"/>
                                        </p:tgtEl>
                                      </p:cBhvr>
                                    </p:animEffect>
                                    <p:set>
                                      <p:cBhvr>
                                        <p:cTn id="101" dur="1" fill="hold">
                                          <p:stCondLst>
                                            <p:cond delay="0"/>
                                          </p:stCondLst>
                                        </p:cTn>
                                        <p:tgtEl>
                                          <p:spTgt spid="14"/>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6"/>
                                        </p:tgtEl>
                                      </p:cBhvr>
                                    </p:animEffect>
                                    <p:set>
                                      <p:cBhvr>
                                        <p:cTn id="104" dur="1" fill="hold">
                                          <p:stCondLst>
                                            <p:cond delay="0"/>
                                          </p:stCondLst>
                                        </p:cTn>
                                        <p:tgtEl>
                                          <p:spTgt spid="6"/>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1"/>
                                        </p:tgtEl>
                                      </p:cBhvr>
                                    </p:animEffect>
                                    <p:set>
                                      <p:cBhvr>
                                        <p:cTn id="107" dur="1" fill="hold">
                                          <p:stCondLst>
                                            <p:cond delay="0"/>
                                          </p:stCondLst>
                                        </p:cTn>
                                        <p:tgtEl>
                                          <p:spTgt spid="11"/>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15"/>
                                        </p:tgtEl>
                                      </p:cBhvr>
                                    </p:animEffect>
                                    <p:set>
                                      <p:cBhvr>
                                        <p:cTn id="110" dur="1" fill="hold">
                                          <p:stCondLst>
                                            <p:cond delay="0"/>
                                          </p:stCondLst>
                                        </p:cTn>
                                        <p:tgtEl>
                                          <p:spTgt spid="15"/>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7"/>
                                        </p:tgtEl>
                                      </p:cBhvr>
                                    </p:animEffect>
                                    <p:set>
                                      <p:cBhvr>
                                        <p:cTn id="113" dur="1" fill="hold">
                                          <p:stCondLst>
                                            <p:cond delay="0"/>
                                          </p:stCondLst>
                                        </p:cTn>
                                        <p:tgtEl>
                                          <p:spTgt spid="7"/>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2"/>
                                        </p:tgtEl>
                                      </p:cBhvr>
                                    </p:animEffect>
                                    <p:set>
                                      <p:cBhvr>
                                        <p:cTn id="116" dur="1" fill="hold">
                                          <p:stCondLst>
                                            <p:cond delay="0"/>
                                          </p:stCondLst>
                                        </p:cTn>
                                        <p:tgtEl>
                                          <p:spTgt spid="12"/>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16"/>
                                        </p:tgtEl>
                                      </p:cBhvr>
                                    </p:animEffect>
                                    <p:set>
                                      <p:cBhvr>
                                        <p:cTn id="119" dur="1" fill="hold">
                                          <p:stCondLst>
                                            <p:cond delay="0"/>
                                          </p:stCondLst>
                                        </p:cTn>
                                        <p:tgtEl>
                                          <p:spTgt spid="16"/>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8"/>
                                        </p:tgtEl>
                                      </p:cBhvr>
                                    </p:animEffect>
                                    <p:set>
                                      <p:cBhvr>
                                        <p:cTn id="122" dur="1" fill="hold">
                                          <p:stCondLst>
                                            <p:cond delay="0"/>
                                          </p:stCondLst>
                                        </p:cTn>
                                        <p:tgtEl>
                                          <p:spTgt spid="8"/>
                                        </p:tgtEl>
                                        <p:attrNameLst>
                                          <p:attrName>style.visibility</p:attrName>
                                        </p:attrNameLst>
                                      </p:cBhvr>
                                      <p:to>
                                        <p:strVal val="visible"/>
                                      </p:to>
                                    </p:set>
                                  </p:childTnLst>
                                </p:cTn>
                              </p:par>
                              <p:par>
                                <p:cTn id="123" presetID="10" presetClass="entr" presetSubtype="0" fill="hold" grpId="0" nodeType="withEffect">
                                  <p:stCondLst>
                                    <p:cond delay="0"/>
                                  </p:stCondLst>
                                  <p:childTnLst>
                                    <p:animEffect transition="in" filter="fade">
                                      <p:cBhvr>
                                        <p:cTn id="124" dur="500"/>
                                        <p:tgtEl>
                                          <p:spTgt spid="17"/>
                                        </p:tgtEl>
                                      </p:cBhvr>
                                    </p:animEffect>
                                    <p:set>
                                      <p:cBhvr>
                                        <p:cTn id="125" dur="1" fill="hold">
                                          <p:stCondLst>
                                            <p:cond delay="0"/>
                                          </p:stCondLst>
                                        </p:cTn>
                                        <p:tgtEl>
                                          <p:spTgt spid="17"/>
                                        </p:tgtEl>
                                        <p:attrNameLst>
                                          <p:attrName>style.visibility</p:attrName>
                                        </p:attrNameLst>
                                      </p:cBhvr>
                                      <p:to>
                                        <p:strVal val="visible"/>
                                      </p:to>
                                    </p:set>
                                  </p:childTnLst>
                                </p:cTn>
                              </p:par>
                              <p:par>
                                <p:cTn id="126" presetID="10" presetClass="entr" presetSubtype="0" fill="hold" grpId="0" nodeType="withEffect">
                                  <p:stCondLst>
                                    <p:cond delay="0"/>
                                  </p:stCondLst>
                                  <p:childTnLst>
                                    <p:animEffect transition="in" filter="fade">
                                      <p:cBhvr>
                                        <p:cTn id="127" dur="500"/>
                                        <p:tgtEl>
                                          <p:spTgt spid="9"/>
                                        </p:tgtEl>
                                      </p:cBhvr>
                                    </p:animEffect>
                                    <p:set>
                                      <p:cBhvr>
                                        <p:cTn id="128" dur="1" fill="hold">
                                          <p:stCondLst>
                                            <p:cond delay="0"/>
                                          </p:stCondLst>
                                        </p:cTn>
                                        <p:tgtEl>
                                          <p:spTgt spid="9"/>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13"/>
                                        </p:tgtEl>
                                      </p:cBhvr>
                                    </p:animEffect>
                                    <p:set>
                                      <p:cBhvr>
                                        <p:cTn id="131" dur="1" fill="hold">
                                          <p:stCondLst>
                                            <p:cond delay="0"/>
                                          </p:stCondLst>
                                        </p:cTn>
                                        <p:tgtEl>
                                          <p:spTgt spid="13"/>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18"/>
                                        </p:tgtEl>
                                      </p:cBhvr>
                                    </p:animEffect>
                                    <p:set>
                                      <p:cBhvr>
                                        <p:cTn id="134" dur="1" fill="hold">
                                          <p:stCondLst>
                                            <p:cond delay="0"/>
                                          </p:stCondLst>
                                        </p:cTn>
                                        <p:tgtEl>
                                          <p:spTgt spid="18"/>
                                        </p:tgtEl>
                                        <p:attrNameLst>
                                          <p:attrName>style.visibility</p:attrName>
                                        </p:attrNameLst>
                                      </p:cBhvr>
                                      <p:to>
                                        <p:strVal val="visible"/>
                                      </p:to>
                                    </p:set>
                                  </p:childTnLst>
                                </p:cTn>
                              </p:par>
                              <p:par>
                                <p:cTn id="135" presetID="10" presetClass="entr" presetSubtype="0" fill="hold" grpId="0" nodeType="withEffect">
                                  <p:stCondLst>
                                    <p:cond delay="0"/>
                                  </p:stCondLst>
                                  <p:childTnLst>
                                    <p:animEffect transition="in" filter="fade">
                                      <p:cBhvr>
                                        <p:cTn id="136" dur="500"/>
                                        <p:tgtEl>
                                          <p:spTgt spid="10"/>
                                        </p:tgtEl>
                                      </p:cBhvr>
                                    </p:animEffect>
                                    <p:set>
                                      <p:cBhvr>
                                        <p:cTn id="137" dur="1" fill="hold">
                                          <p:stCondLst>
                                            <p:cond delay="0"/>
                                          </p:stCondLst>
                                        </p:cTn>
                                        <p:tgtEl>
                                          <p:spTgt spid="10"/>
                                        </p:tgtEl>
                                        <p:attrNameLst>
                                          <p:attrName>style.visibility</p:attrName>
                                        </p:attrNameLst>
                                      </p:cBhvr>
                                      <p:to>
                                        <p:strVal val="visible"/>
                                      </p:to>
                                    </p:set>
                                  </p:childTnLst>
                                </p:cTn>
                              </p:par>
                              <p:par>
                                <p:cTn id="138" presetID="10" presetClass="entr" presetSubtype="0" fill="hold" grpId="0" nodeType="withEffect">
                                  <p:stCondLst>
                                    <p:cond delay="0"/>
                                  </p:stCondLst>
                                  <p:childTnLst>
                                    <p:animEffect transition="in" filter="fade">
                                      <p:cBhvr>
                                        <p:cTn id="139" dur="500"/>
                                        <p:tgtEl>
                                          <p:spTgt spid="19"/>
                                        </p:tgtEl>
                                      </p:cBhvr>
                                    </p:animEffect>
                                    <p:set>
                                      <p:cBhvr>
                                        <p:cTn id="140" dur="1" fill="hold">
                                          <p:stCondLst>
                                            <p:cond delay="0"/>
                                          </p:stCondLst>
                                        </p:cTn>
                                        <p:tgtEl>
                                          <p:spTgt spid="19"/>
                                        </p:tgtEl>
                                        <p:attrNameLst>
                                          <p:attrName>style.visibility</p:attrName>
                                        </p:attrNameLst>
                                      </p:cBhvr>
                                      <p:to>
                                        <p:strVal val="visible"/>
                                      </p:to>
                                    </p:set>
                                  </p:childTnLst>
                                </p:cTn>
                              </p:par>
                              <p:par>
                                <p:cTn id="141" presetID="10" presetClass="entr" presetSubtype="0" fill="hold" grpId="0" nodeType="withEffect">
                                  <p:stCondLst>
                                    <p:cond delay="0"/>
                                  </p:stCondLst>
                                  <p:childTnLst>
                                    <p:animEffect transition="in" filter="fade">
                                      <p:cBhvr>
                                        <p:cTn id="142" dur="500"/>
                                        <p:tgtEl>
                                          <p:spTgt spid="6"/>
                                        </p:tgtEl>
                                      </p:cBhvr>
                                    </p:animEffect>
                                    <p:set>
                                      <p:cBhvr>
                                        <p:cTn id="143" dur="1" fill="hold">
                                          <p:stCondLst>
                                            <p:cond delay="0"/>
                                          </p:stCondLst>
                                        </p:cTn>
                                        <p:tgtEl>
                                          <p:spTgt spid="6"/>
                                        </p:tgtEl>
                                        <p:attrNameLst>
                                          <p:attrName>style.visibility</p:attrName>
                                        </p:attrNameLst>
                                      </p:cBhvr>
                                      <p:to>
                                        <p:strVal val="visible"/>
                                      </p:to>
                                    </p:set>
                                  </p:childTnLst>
                                </p:cTn>
                              </p:par>
                              <p:par>
                                <p:cTn id="144" presetID="10" presetClass="entr" presetSubtype="0" fill="hold" grpId="0" nodeType="withEffect">
                                  <p:stCondLst>
                                    <p:cond delay="0"/>
                                  </p:stCondLst>
                                  <p:childTnLst>
                                    <p:animEffect transition="in" filter="fade">
                                      <p:cBhvr>
                                        <p:cTn id="145" dur="500"/>
                                        <p:tgtEl>
                                          <p:spTgt spid="11"/>
                                        </p:tgtEl>
                                      </p:cBhvr>
                                    </p:animEffect>
                                    <p:set>
                                      <p:cBhvr>
                                        <p:cTn id="146" dur="1" fill="hold">
                                          <p:stCondLst>
                                            <p:cond delay="0"/>
                                          </p:stCondLst>
                                        </p:cTn>
                                        <p:tgtEl>
                                          <p:spTgt spid="11"/>
                                        </p:tgtEl>
                                        <p:attrNameLst>
                                          <p:attrName>style.visibility</p:attrName>
                                        </p:attrNameLst>
                                      </p:cBhvr>
                                      <p:to>
                                        <p:strVal val="visible"/>
                                      </p:to>
                                    </p:set>
                                  </p:childTnLst>
                                </p:cTn>
                              </p:par>
                              <p:par>
                                <p:cTn id="147" presetID="10" presetClass="entr" presetSubtype="0" fill="hold" grpId="0" nodeType="withEffect">
                                  <p:stCondLst>
                                    <p:cond delay="0"/>
                                  </p:stCondLst>
                                  <p:childTnLst>
                                    <p:animEffect transition="in" filter="fade">
                                      <p:cBhvr>
                                        <p:cTn id="148" dur="500"/>
                                        <p:tgtEl>
                                          <p:spTgt spid="15"/>
                                        </p:tgtEl>
                                      </p:cBhvr>
                                    </p:animEffect>
                                    <p:set>
                                      <p:cBhvr>
                                        <p:cTn id="149" dur="1" fill="hold">
                                          <p:stCondLst>
                                            <p:cond delay="0"/>
                                          </p:stCondLst>
                                        </p:cTn>
                                        <p:tgtEl>
                                          <p:spTgt spid="15"/>
                                        </p:tgtEl>
                                        <p:attrNameLst>
                                          <p:attrName>style.visibility</p:attrName>
                                        </p:attrNameLst>
                                      </p:cBhvr>
                                      <p:to>
                                        <p:strVal val="visible"/>
                                      </p:to>
                                    </p:set>
                                  </p:childTnLst>
                                </p:cTn>
                              </p:par>
                              <p:par>
                                <p:cTn id="150" presetID="10" presetClass="entr" presetSubtype="0" fill="hold" grpId="0" nodeType="withEffect">
                                  <p:stCondLst>
                                    <p:cond delay="0"/>
                                  </p:stCondLst>
                                  <p:childTnLst>
                                    <p:animEffect transition="in" filter="fade">
                                      <p:cBhvr>
                                        <p:cTn id="151" dur="500"/>
                                        <p:tgtEl>
                                          <p:spTgt spid="20"/>
                                        </p:tgtEl>
                                      </p:cBhvr>
                                    </p:animEffect>
                                    <p:set>
                                      <p:cBhvr>
                                        <p:cTn id="152" dur="1" fill="hold">
                                          <p:stCondLst>
                                            <p:cond delay="0"/>
                                          </p:stCondLst>
                                        </p:cTn>
                                        <p:tgtEl>
                                          <p:spTgt spid="20"/>
                                        </p:tgtEl>
                                        <p:attrNameLst>
                                          <p:attrName>style.visibility</p:attrName>
                                        </p:attrNameLst>
                                      </p:cBhvr>
                                      <p:to>
                                        <p:strVal val="visible"/>
                                      </p:to>
                                    </p:set>
                                  </p:childTnLst>
                                </p:cTn>
                              </p:par>
                              <p:par>
                                <p:cTn id="153" presetID="10" presetClass="entr" presetSubtype="0" fill="hold" grpId="0" nodeType="withEffect">
                                  <p:stCondLst>
                                    <p:cond delay="0"/>
                                  </p:stCondLst>
                                  <p:childTnLst>
                                    <p:animEffect transition="in" filter="fade">
                                      <p:cBhvr>
                                        <p:cTn id="154" dur="500"/>
                                        <p:tgtEl>
                                          <p:spTgt spid="7"/>
                                        </p:tgtEl>
                                      </p:cBhvr>
                                    </p:animEffect>
                                    <p:set>
                                      <p:cBhvr>
                                        <p:cTn id="155" dur="1" fill="hold">
                                          <p:stCondLst>
                                            <p:cond delay="0"/>
                                          </p:stCondLst>
                                        </p:cTn>
                                        <p:tgtEl>
                                          <p:spTgt spid="7"/>
                                        </p:tgtEl>
                                        <p:attrNameLst>
                                          <p:attrName>style.visibility</p:attrName>
                                        </p:attrNameLst>
                                      </p:cBhvr>
                                      <p:to>
                                        <p:strVal val="visible"/>
                                      </p:to>
                                    </p:set>
                                  </p:childTnLst>
                                </p:cTn>
                              </p:par>
                              <p:par>
                                <p:cTn id="156" presetID="10" presetClass="entr" presetSubtype="0" fill="hold" grpId="0" nodeType="withEffect">
                                  <p:stCondLst>
                                    <p:cond delay="0"/>
                                  </p:stCondLst>
                                  <p:childTnLst>
                                    <p:animEffect transition="in" filter="fade">
                                      <p:cBhvr>
                                        <p:cTn id="157" dur="500"/>
                                        <p:tgtEl>
                                          <p:spTgt spid="12"/>
                                        </p:tgtEl>
                                      </p:cBhvr>
                                    </p:animEffect>
                                    <p:set>
                                      <p:cBhvr>
                                        <p:cTn id="158" dur="1" fill="hold">
                                          <p:stCondLst>
                                            <p:cond delay="0"/>
                                          </p:stCondLst>
                                        </p:cTn>
                                        <p:tgtEl>
                                          <p:spTgt spid="12"/>
                                        </p:tgtEl>
                                        <p:attrNameLst>
                                          <p:attrName>style.visibility</p:attrName>
                                        </p:attrNameLst>
                                      </p:cBhvr>
                                      <p:to>
                                        <p:strVal val="visible"/>
                                      </p:to>
                                    </p:set>
                                  </p:childTnLst>
                                </p:cTn>
                              </p:par>
                              <p:par>
                                <p:cTn id="159" presetID="10" presetClass="entr" presetSubtype="0" fill="hold" grpId="0" nodeType="withEffect">
                                  <p:stCondLst>
                                    <p:cond delay="0"/>
                                  </p:stCondLst>
                                  <p:childTnLst>
                                    <p:animEffect transition="in" filter="fade">
                                      <p:cBhvr>
                                        <p:cTn id="160" dur="500"/>
                                        <p:tgtEl>
                                          <p:spTgt spid="16"/>
                                        </p:tgtEl>
                                      </p:cBhvr>
                                    </p:animEffect>
                                    <p:set>
                                      <p:cBhvr>
                                        <p:cTn id="161" dur="1" fill="hold">
                                          <p:stCondLst>
                                            <p:cond delay="0"/>
                                          </p:stCondLst>
                                        </p:cTn>
                                        <p:tgtEl>
                                          <p:spTgt spid="16"/>
                                        </p:tgtEl>
                                        <p:attrNameLst>
                                          <p:attrName>style.visibility</p:attrName>
                                        </p:attrNameLst>
                                      </p:cBhvr>
                                      <p:to>
                                        <p:strVal val="visible"/>
                                      </p:to>
                                    </p:set>
                                  </p:childTnLst>
                                </p:cTn>
                              </p:par>
                              <p:par>
                                <p:cTn id="162" presetID="10" presetClass="entr" presetSubtype="0" fill="hold" grpId="0" nodeType="withEffect">
                                  <p:stCondLst>
                                    <p:cond delay="0"/>
                                  </p:stCondLst>
                                  <p:childTnLst>
                                    <p:animEffect transition="in" filter="fade">
                                      <p:cBhvr>
                                        <p:cTn id="163" dur="500"/>
                                        <p:tgtEl>
                                          <p:spTgt spid="21"/>
                                        </p:tgtEl>
                                      </p:cBhvr>
                                    </p:animEffect>
                                    <p:set>
                                      <p:cBhvr>
                                        <p:cTn id="164" dur="1" fill="hold">
                                          <p:stCondLst>
                                            <p:cond delay="0"/>
                                          </p:stCondLst>
                                        </p:cTn>
                                        <p:tgtEl>
                                          <p:spTgt spid="21"/>
                                        </p:tgtEl>
                                        <p:attrNameLst>
                                          <p:attrName>style.visibility</p:attrName>
                                        </p:attrNameLst>
                                      </p:cBhvr>
                                      <p:to>
                                        <p:strVal val="visible"/>
                                      </p:to>
                                    </p:set>
                                  </p:childTnLst>
                                </p:cTn>
                              </p:par>
                              <p:par>
                                <p:cTn id="165" presetID="10" presetClass="entr" presetSubtype="0" fill="hold" grpId="0" nodeType="withEffect">
                                  <p:stCondLst>
                                    <p:cond delay="0"/>
                                  </p:stCondLst>
                                  <p:childTnLst>
                                    <p:animEffect transition="in" filter="fade">
                                      <p:cBhvr>
                                        <p:cTn id="166" dur="500"/>
                                        <p:tgtEl>
                                          <p:spTgt spid="9"/>
                                        </p:tgtEl>
                                      </p:cBhvr>
                                    </p:animEffect>
                                    <p:set>
                                      <p:cBhvr>
                                        <p:cTn id="167" dur="1" fill="hold">
                                          <p:stCondLst>
                                            <p:cond delay="0"/>
                                          </p:stCondLst>
                                        </p:cTn>
                                        <p:tgtEl>
                                          <p:spTgt spid="9"/>
                                        </p:tgtEl>
                                        <p:attrNameLst>
                                          <p:attrName>style.visibility</p:attrName>
                                        </p:attrNameLst>
                                      </p:cBhvr>
                                      <p:to>
                                        <p:strVal val="visible"/>
                                      </p:to>
                                    </p:set>
                                  </p:childTnLst>
                                </p:cTn>
                              </p:par>
                              <p:par>
                                <p:cTn id="168" presetID="10" presetClass="entr" presetSubtype="0" fill="hold" grpId="0" nodeType="withEffect">
                                  <p:stCondLst>
                                    <p:cond delay="0"/>
                                  </p:stCondLst>
                                  <p:childTnLst>
                                    <p:animEffect transition="in" filter="fade">
                                      <p:cBhvr>
                                        <p:cTn id="169" dur="500"/>
                                        <p:tgtEl>
                                          <p:spTgt spid="13"/>
                                        </p:tgtEl>
                                      </p:cBhvr>
                                    </p:animEffect>
                                    <p:set>
                                      <p:cBhvr>
                                        <p:cTn id="170" dur="1" fill="hold">
                                          <p:stCondLst>
                                            <p:cond delay="0"/>
                                          </p:stCondLst>
                                        </p:cTn>
                                        <p:tgtEl>
                                          <p:spTgt spid="13"/>
                                        </p:tgtEl>
                                        <p:attrNameLst>
                                          <p:attrName>style.visibility</p:attrName>
                                        </p:attrNameLst>
                                      </p:cBhvr>
                                      <p:to>
                                        <p:strVal val="visible"/>
                                      </p:to>
                                    </p:set>
                                  </p:childTnLst>
                                </p:cTn>
                              </p:par>
                              <p:par>
                                <p:cTn id="171" presetID="10" presetClass="entr" presetSubtype="0" fill="hold" grpId="0" nodeType="withEffect">
                                  <p:stCondLst>
                                    <p:cond delay="0"/>
                                  </p:stCondLst>
                                  <p:childTnLst>
                                    <p:animEffect transition="in" filter="fade">
                                      <p:cBhvr>
                                        <p:cTn id="172" dur="500"/>
                                        <p:tgtEl>
                                          <p:spTgt spid="18"/>
                                        </p:tgtEl>
                                      </p:cBhvr>
                                    </p:animEffect>
                                    <p:set>
                                      <p:cBhvr>
                                        <p:cTn id="173" dur="1" fill="hold">
                                          <p:stCondLst>
                                            <p:cond delay="0"/>
                                          </p:stCondLst>
                                        </p:cTn>
                                        <p:tgtEl>
                                          <p:spTgt spid="18"/>
                                        </p:tgtEl>
                                        <p:attrNameLst>
                                          <p:attrName>style.visibility</p:attrName>
                                        </p:attrNameLst>
                                      </p:cBhvr>
                                      <p:to>
                                        <p:strVal val="visible"/>
                                      </p:to>
                                    </p:set>
                                  </p:childTnLst>
                                </p:cTn>
                              </p:par>
                              <p:par>
                                <p:cTn id="174" presetID="10" presetClass="entr" presetSubtype="0" fill="hold" grpId="0" nodeType="withEffect">
                                  <p:stCondLst>
                                    <p:cond delay="0"/>
                                  </p:stCondLst>
                                  <p:childTnLst>
                                    <p:animEffect transition="in" filter="fade">
                                      <p:cBhvr>
                                        <p:cTn id="175" dur="500"/>
                                        <p:tgtEl>
                                          <p:spTgt spid="22"/>
                                        </p:tgtEl>
                                      </p:cBhvr>
                                    </p:animEffect>
                                    <p:set>
                                      <p:cBhvr>
                                        <p:cTn id="176" dur="1" fill="hold">
                                          <p:stCondLst>
                                            <p:cond delay="0"/>
                                          </p:stCondLst>
                                        </p:cTn>
                                        <p:tgtEl>
                                          <p:spTgt spid="22"/>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0" presetClass="entr" presetSubtype="0" fill="hold" grpId="0" nodeType="clickEffect">
                                  <p:stCondLst>
                                    <p:cond delay="0"/>
                                  </p:stCondLst>
                                  <p:childTnLst>
                                    <p:animEffect transition="in" filter="fade">
                                      <p:cBhvr>
                                        <p:cTn id="180" dur="500"/>
                                        <p:tgtEl>
                                          <p:spTgt spid="23"/>
                                        </p:tgtEl>
                                      </p:cBhvr>
                                    </p:animEffect>
                                    <p:set>
                                      <p:cBhvr>
                                        <p:cTn id="181"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OpenRCA 2.0</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1727530" y="1371600"/>
            <a:ext cx="141351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Benchmark</a:t>
            </a:r>
          </a:p>
        </p:txBody>
      </p:sp>
      <p:sp>
        <p:nvSpPr>
          <p:cNvPr id="6" name="TextBox 5"/>
          <p:cNvSpPr txBox="1"/>
          <p:nvPr/>
        </p:nvSpPr>
        <p:spPr>
          <a:xfrm>
            <a:off x="731520" y="1840484"/>
            <a:ext cx="3405530" cy="458216"/>
          </a:xfrm>
          <a:prstGeom prst="rect">
            <a:avLst/>
          </a:prstGeom>
          <a:noFill/>
        </p:spPr>
        <p:txBody>
          <a:bodyPr wrap="square">
            <a:spAutoFit/>
          </a:bodyPr>
          <a:lstStyle/>
          <a:p>
            <a:pPr algn="l">
              <a:defRPr sz="2000" b="1" i="0">
                <a:solidFill>
                  <a:srgbClr val="223043"/>
                </a:solidFill>
                <a:latin typeface="Liberation Sans"/>
              </a:defRPr>
            </a:pPr>
            <a:r>
              <a:t>500 instances</a:t>
            </a:r>
          </a:p>
        </p:txBody>
      </p:sp>
      <p:sp>
        <p:nvSpPr>
          <p:cNvPr id="7" name="Rounded Rectangle 6"/>
          <p:cNvSpPr/>
          <p:nvPr/>
        </p:nvSpPr>
        <p:spPr>
          <a:xfrm>
            <a:off x="5627217" y="1371600"/>
            <a:ext cx="937259"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Labels</a:t>
            </a:r>
          </a:p>
        </p:txBody>
      </p:sp>
      <p:sp>
        <p:nvSpPr>
          <p:cNvPr id="8" name="TextBox 7"/>
          <p:cNvSpPr txBox="1"/>
          <p:nvPr/>
        </p:nvSpPr>
        <p:spPr>
          <a:xfrm>
            <a:off x="4393082" y="1840484"/>
            <a:ext cx="3405530" cy="458216"/>
          </a:xfrm>
          <a:prstGeom prst="rect">
            <a:avLst/>
          </a:prstGeom>
          <a:noFill/>
        </p:spPr>
        <p:txBody>
          <a:bodyPr wrap="square">
            <a:spAutoFit/>
          </a:bodyPr>
          <a:lstStyle/>
          <a:p>
            <a:pPr algn="l">
              <a:defRPr sz="2000" b="1" i="0">
                <a:solidFill>
                  <a:srgbClr val="223043"/>
                </a:solidFill>
                <a:latin typeface="Liberation Sans"/>
              </a:defRPr>
            </a:pPr>
            <a:r>
              <a:t>step-wise causal annotations</a:t>
            </a:r>
          </a:p>
        </p:txBody>
      </p:sp>
      <p:sp>
        <p:nvSpPr>
          <p:cNvPr id="9" name="Rounded Rectangle 8"/>
          <p:cNvSpPr/>
          <p:nvPr/>
        </p:nvSpPr>
        <p:spPr>
          <a:xfrm>
            <a:off x="9041130" y="1371600"/>
            <a:ext cx="143256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Supervision</a:t>
            </a:r>
          </a:p>
        </p:txBody>
      </p:sp>
      <p:sp>
        <p:nvSpPr>
          <p:cNvPr id="10" name="TextBox 9"/>
          <p:cNvSpPr txBox="1"/>
          <p:nvPr/>
        </p:nvSpPr>
        <p:spPr>
          <a:xfrm>
            <a:off x="8054644" y="1840484"/>
            <a:ext cx="3405530" cy="458216"/>
          </a:xfrm>
          <a:prstGeom prst="rect">
            <a:avLst/>
          </a:prstGeom>
          <a:noFill/>
        </p:spPr>
        <p:txBody>
          <a:bodyPr wrap="square">
            <a:spAutoFit/>
          </a:bodyPr>
          <a:lstStyle/>
          <a:p>
            <a:pPr algn="l">
              <a:defRPr sz="2000" b="1" i="0">
                <a:solidFill>
                  <a:srgbClr val="223043"/>
                </a:solidFill>
                <a:latin typeface="Liberation Sans"/>
              </a:defRPr>
            </a:pPr>
            <a:r>
              <a:t>process supervision</a:t>
            </a:r>
          </a:p>
        </p:txBody>
      </p:sp>
      <p:sp>
        <p:nvSpPr>
          <p:cNvPr id="11" name="Rounded Rectangle 10"/>
          <p:cNvSpPr/>
          <p:nvPr/>
        </p:nvSpPr>
        <p:spPr>
          <a:xfrm>
            <a:off x="1942947" y="2554732"/>
            <a:ext cx="215646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Known intervention</a:t>
            </a:r>
          </a:p>
        </p:txBody>
      </p:sp>
      <p:cxnSp>
        <p:nvCxnSpPr>
          <p:cNvPr id="12" name="Connector 11"/>
          <p:cNvCxnSpPr/>
          <p:nvPr/>
        </p:nvCxnSpPr>
        <p:spPr>
          <a:xfrm>
            <a:off x="4099407" y="2929636"/>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3727" y="2554732"/>
            <a:ext cx="215646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Verified propagation</a:t>
            </a:r>
          </a:p>
        </p:txBody>
      </p:sp>
      <p:cxnSp>
        <p:nvCxnSpPr>
          <p:cNvPr id="14" name="Connector 13"/>
          <p:cNvCxnSpPr/>
          <p:nvPr/>
        </p:nvCxnSpPr>
        <p:spPr>
          <a:xfrm>
            <a:off x="6530187" y="2929636"/>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804507" y="2554732"/>
            <a:ext cx="147066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Agent graph</a:t>
            </a:r>
          </a:p>
        </p:txBody>
      </p:sp>
      <p:cxnSp>
        <p:nvCxnSpPr>
          <p:cNvPr id="16" name="Connector 15"/>
          <p:cNvCxnSpPr/>
          <p:nvPr/>
        </p:nvCxnSpPr>
        <p:spPr>
          <a:xfrm>
            <a:off x="8275167" y="2929636"/>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549487" y="2554732"/>
            <a:ext cx="1699260" cy="749808"/>
          </a:xfrm>
          <a:prstGeom prst="roundRect">
            <a:avLst/>
          </a:prstGeom>
          <a:solidFill>
            <a:srgbClr val="5C82AD"/>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Process metrics</a:t>
            </a:r>
          </a:p>
        </p:txBody>
      </p:sp>
      <p:sp>
        <p:nvSpPr>
          <p:cNvPr id="18" name="Rectangle 17"/>
          <p:cNvSpPr/>
          <p:nvPr/>
        </p:nvSpPr>
        <p:spPr>
          <a:xfrm>
            <a:off x="731520" y="3560572"/>
            <a:ext cx="27431" cy="87579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1" y="3560572"/>
            <a:ext cx="10564063" cy="425196"/>
          </a:xfrm>
          <a:prstGeom prst="rect">
            <a:avLst/>
          </a:prstGeom>
          <a:noFill/>
        </p:spPr>
        <p:txBody>
          <a:bodyPr wrap="square">
            <a:spAutoFit/>
          </a:bodyPr>
          <a:lstStyle/>
          <a:p>
            <a:pPr algn="l">
              <a:defRPr sz="1800" b="1" i="0">
                <a:solidFill>
                  <a:srgbClr val="5C82AD"/>
                </a:solidFill>
                <a:latin typeface="Liberation Sans"/>
              </a:defRPr>
            </a:pPr>
            <a:r>
              <a:t>Benchmark identity</a:t>
            </a:r>
          </a:p>
        </p:txBody>
      </p:sp>
      <p:sp>
        <p:nvSpPr>
          <p:cNvPr id="20" name="TextBox 19"/>
          <p:cNvSpPr txBox="1"/>
          <p:nvPr/>
        </p:nvSpPr>
        <p:spPr>
          <a:xfrm>
            <a:off x="896111" y="4077208"/>
            <a:ext cx="10564063" cy="359156"/>
          </a:xfrm>
          <a:prstGeom prst="rect">
            <a:avLst/>
          </a:prstGeom>
          <a:noFill/>
        </p:spPr>
        <p:txBody>
          <a:bodyPr wrap="square">
            <a:spAutoFit/>
          </a:bodyPr>
          <a:lstStyle/>
          <a:p>
            <a:pPr algn="l">
              <a:defRPr sz="1400" b="0" i="0">
                <a:solidFill>
                  <a:srgbClr val="223043"/>
                </a:solidFill>
                <a:latin typeface="Liberation Sans"/>
              </a:defRPr>
            </a:pPr>
            <a:r>
              <a:t>OpenRCA 2.0 is not just a harder label dataset. It is a process benchmark with step-wise supervision that scores how the diagnosis is constructed.</a:t>
            </a:r>
          </a:p>
        </p:txBody>
      </p:sp>
      <p:sp>
        <p:nvSpPr>
          <p:cNvPr id="21" name="TextBox 20"/>
          <p:cNvSpPr txBox="1"/>
          <p:nvPr/>
        </p:nvSpPr>
        <p:spPr>
          <a:xfrm>
            <a:off x="731520" y="4692396"/>
            <a:ext cx="10728655" cy="425196"/>
          </a:xfrm>
          <a:prstGeom prst="rect">
            <a:avLst/>
          </a:prstGeom>
          <a:noFill/>
        </p:spPr>
        <p:txBody>
          <a:bodyPr wrap="square">
            <a:spAutoFit/>
          </a:bodyPr>
          <a:lstStyle/>
          <a:p>
            <a:pPr algn="l">
              <a:defRPr sz="1800" b="0" i="1">
                <a:solidFill>
                  <a:srgbClr val="647489"/>
                </a:solidFill>
                <a:latin typeface="Liberation Sans"/>
              </a:defRPr>
            </a:pPr>
            <a:r>
              <a:t>OpenRCA 2.0 gives us a benchmark where benchmark quality and training signal finally align.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1"/>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4"/>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7"/>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8"/>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2"/>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9"/>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4"/>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0"/>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21"/>
                            </p:tgtEl>
                            <p:attrNameLst>
                              <p:attrName>style.visibility</p:attrName>
                            </p:attrNameLst>
                          </p:cBhvr>
                          <p:to>
                            <p:strVal val="hidden"/>
                          </p:to>
                        </p:set>
                      </p:childTnLst>
                    </p:cTn>
                  </p:par>
                </p:childTnLst>
              </p:cTn>
            </p:par>
            <p:seq concurrent="1" nextAc="seek">
              <p:cTn id="32" dur="indefinite" nodeType="mainSeq">
                <p:childTnLst>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animEffect transition="in" filter="fade">
                                      <p:cBhvr>
                                        <p:cTn id="36" dur="500"/>
                                        <p:tgtEl>
                                          <p:spTgt spid="5"/>
                                        </p:tgtEl>
                                      </p:cBhvr>
                                    </p:animEffect>
                                    <p:set>
                                      <p:cBhvr>
                                        <p:cTn id="37" dur="1" fill="hold">
                                          <p:stCondLst>
                                            <p:cond delay="0"/>
                                          </p:stCondLst>
                                        </p:cTn>
                                        <p:tgtEl>
                                          <p:spTgt spid="5"/>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6"/>
                                        </p:tgtEl>
                                      </p:cBhvr>
                                    </p:animEffect>
                                    <p:set>
                                      <p:cBhvr>
                                        <p:cTn id="40" dur="1" fill="hold">
                                          <p:stCondLst>
                                            <p:cond delay="0"/>
                                          </p:stCondLst>
                                        </p:cTn>
                                        <p:tgtEl>
                                          <p:spTgt spid="6"/>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7"/>
                                        </p:tgtEl>
                                      </p:cBhvr>
                                    </p:animEffect>
                                    <p:set>
                                      <p:cBhvr>
                                        <p:cTn id="43" dur="1" fill="hold">
                                          <p:stCondLst>
                                            <p:cond delay="0"/>
                                          </p:stCondLst>
                                        </p:cTn>
                                        <p:tgtEl>
                                          <p:spTgt spid="7"/>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8"/>
                                        </p:tgtEl>
                                      </p:cBhvr>
                                    </p:animEffect>
                                    <p:set>
                                      <p:cBhvr>
                                        <p:cTn id="46" dur="1" fill="hold">
                                          <p:stCondLst>
                                            <p:cond delay="0"/>
                                          </p:stCondLst>
                                        </p:cTn>
                                        <p:tgtEl>
                                          <p:spTgt spid="8"/>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9"/>
                                        </p:tgtEl>
                                      </p:cBhvr>
                                    </p:animEffect>
                                    <p:set>
                                      <p:cBhvr>
                                        <p:cTn id="49" dur="1" fill="hold">
                                          <p:stCondLst>
                                            <p:cond delay="0"/>
                                          </p:stCondLst>
                                        </p:cTn>
                                        <p:tgtEl>
                                          <p:spTgt spid="9"/>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0"/>
                                        </p:tgtEl>
                                      </p:cBhvr>
                                    </p:animEffect>
                                    <p:set>
                                      <p:cBhvr>
                                        <p:cTn id="52" dur="1" fill="hold">
                                          <p:stCondLst>
                                            <p:cond delay="0"/>
                                          </p:stCondLst>
                                        </p:cTn>
                                        <p:tgtEl>
                                          <p:spTgt spid="1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animEffect transition="in" filter="fade">
                                      <p:cBhvr>
                                        <p:cTn id="56" dur="500"/>
                                        <p:tgtEl>
                                          <p:spTgt spid="11"/>
                                        </p:tgtEl>
                                      </p:cBhvr>
                                    </p:animEffect>
                                    <p:set>
                                      <p:cBhvr>
                                        <p:cTn id="57" dur="1" fill="hold">
                                          <p:stCondLst>
                                            <p:cond delay="0"/>
                                          </p:stCondLst>
                                        </p:cTn>
                                        <p:tgtEl>
                                          <p:spTgt spid="11"/>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2"/>
                                        </p:tgtEl>
                                      </p:cBhvr>
                                    </p:animEffect>
                                    <p:set>
                                      <p:cBhvr>
                                        <p:cTn id="60" dur="1" fill="hold">
                                          <p:stCondLst>
                                            <p:cond delay="0"/>
                                          </p:stCondLst>
                                        </p:cTn>
                                        <p:tgtEl>
                                          <p:spTgt spid="12"/>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3"/>
                                        </p:tgtEl>
                                      </p:cBhvr>
                                    </p:animEffect>
                                    <p:set>
                                      <p:cBhvr>
                                        <p:cTn id="63" dur="1" fill="hold">
                                          <p:stCondLst>
                                            <p:cond delay="0"/>
                                          </p:stCondLst>
                                        </p:cTn>
                                        <p:tgtEl>
                                          <p:spTgt spid="13"/>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4"/>
                                        </p:tgtEl>
                                      </p:cBhvr>
                                    </p:animEffect>
                                    <p:set>
                                      <p:cBhvr>
                                        <p:cTn id="66" dur="1" fill="hold">
                                          <p:stCondLst>
                                            <p:cond delay="0"/>
                                          </p:stCondLst>
                                        </p:cTn>
                                        <p:tgtEl>
                                          <p:spTgt spid="14"/>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16"/>
                                        </p:tgtEl>
                                      </p:cBhvr>
                                    </p:animEffect>
                                    <p:set>
                                      <p:cBhvr>
                                        <p:cTn id="72" dur="1" fill="hold">
                                          <p:stCondLst>
                                            <p:cond delay="0"/>
                                          </p:stCondLst>
                                        </p:cTn>
                                        <p:tgtEl>
                                          <p:spTgt spid="16"/>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7"/>
                                        </p:tgtEl>
                                      </p:cBhvr>
                                    </p:animEffect>
                                    <p:set>
                                      <p:cBhvr>
                                        <p:cTn id="75" dur="1" fill="hold">
                                          <p:stCondLst>
                                            <p:cond delay="0"/>
                                          </p:stCondLst>
                                        </p:cTn>
                                        <p:tgtEl>
                                          <p:spTgt spid="17"/>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11"/>
                                        </p:tgtEl>
                                      </p:cBhvr>
                                    </p:animEffect>
                                    <p:set>
                                      <p:cBhvr>
                                        <p:cTn id="80" dur="1" fill="hold">
                                          <p:stCondLst>
                                            <p:cond delay="0"/>
                                          </p:stCondLst>
                                        </p:cTn>
                                        <p:tgtEl>
                                          <p:spTgt spid="11"/>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8"/>
                                        </p:tgtEl>
                                      </p:cBhvr>
                                    </p:animEffect>
                                    <p:set>
                                      <p:cBhvr>
                                        <p:cTn id="83" dur="1" fill="hold">
                                          <p:stCondLst>
                                            <p:cond delay="0"/>
                                          </p:stCondLst>
                                        </p:cTn>
                                        <p:tgtEl>
                                          <p:spTgt spid="18"/>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2"/>
                                        </p:tgtEl>
                                      </p:cBhvr>
                                    </p:animEffect>
                                    <p:set>
                                      <p:cBhvr>
                                        <p:cTn id="86" dur="1" fill="hold">
                                          <p:stCondLst>
                                            <p:cond delay="0"/>
                                          </p:stCondLst>
                                        </p:cTn>
                                        <p:tgtEl>
                                          <p:spTgt spid="12"/>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19"/>
                                        </p:tgtEl>
                                      </p:cBhvr>
                                    </p:animEffect>
                                    <p:set>
                                      <p:cBhvr>
                                        <p:cTn id="89" dur="1" fill="hold">
                                          <p:stCondLst>
                                            <p:cond delay="0"/>
                                          </p:stCondLst>
                                        </p:cTn>
                                        <p:tgtEl>
                                          <p:spTgt spid="19"/>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4"/>
                                        </p:tgtEl>
                                      </p:cBhvr>
                                    </p:animEffect>
                                    <p:set>
                                      <p:cBhvr>
                                        <p:cTn id="92" dur="1" fill="hold">
                                          <p:stCondLst>
                                            <p:cond delay="0"/>
                                          </p:stCondLst>
                                        </p:cTn>
                                        <p:tgtEl>
                                          <p:spTgt spid="14"/>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20"/>
                                        </p:tgtEl>
                                      </p:cBhvr>
                                    </p:animEffect>
                                    <p:set>
                                      <p:cBhvr>
                                        <p:cTn id="95" dur="1" fill="hold">
                                          <p:stCondLst>
                                            <p:cond delay="0"/>
                                          </p:stCondLst>
                                        </p:cTn>
                                        <p:tgtEl>
                                          <p:spTgt spid="20"/>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21"/>
                                        </p:tgtEl>
                                      </p:cBhvr>
                                    </p:animEffect>
                                    <p:set>
                                      <p:cBhvr>
                                        <p:cTn id="9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Triangle: Multi-Agent Triage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TRIANGLE paper</a:t>
            </a:r>
          </a:p>
        </p:txBody>
      </p:sp>
      <p:sp>
        <p:nvSpPr>
          <p:cNvPr id="5" name="Rounded Rectangle 4"/>
          <p:cNvSpPr/>
          <p:nvPr/>
        </p:nvSpPr>
        <p:spPr>
          <a:xfrm>
            <a:off x="5084292" y="1371600"/>
            <a:ext cx="202311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Adjacent evidence</a:t>
            </a:r>
          </a:p>
        </p:txBody>
      </p:sp>
      <p:sp>
        <p:nvSpPr>
          <p:cNvPr id="6" name="Rounded Rectangle 5"/>
          <p:cNvSpPr/>
          <p:nvPr/>
        </p:nvSpPr>
        <p:spPr>
          <a:xfrm>
            <a:off x="2548737" y="1968500"/>
            <a:ext cx="1376825" cy="100584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Analyzer Agent</a:t>
            </a:r>
          </a:p>
        </p:txBody>
      </p:sp>
      <p:cxnSp>
        <p:nvCxnSpPr>
          <p:cNvPr id="7" name="Connector 6"/>
          <p:cNvCxnSpPr/>
          <p:nvPr/>
        </p:nvCxnSpPr>
        <p:spPr>
          <a:xfrm>
            <a:off x="3925562" y="2471419"/>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314835" y="1968500"/>
            <a:ext cx="1313325" cy="100584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Decider Agent</a:t>
            </a:r>
          </a:p>
        </p:txBody>
      </p:sp>
      <p:cxnSp>
        <p:nvCxnSpPr>
          <p:cNvPr id="9" name="Connector 8"/>
          <p:cNvCxnSpPr/>
          <p:nvPr/>
        </p:nvCxnSpPr>
        <p:spPr>
          <a:xfrm>
            <a:off x="5628161" y="2471419"/>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7434" y="1968500"/>
            <a:ext cx="1503825" cy="100584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Team assignment</a:t>
            </a:r>
          </a:p>
        </p:txBody>
      </p:sp>
      <p:cxnSp>
        <p:nvCxnSpPr>
          <p:cNvPr id="11" name="Connector 10"/>
          <p:cNvCxnSpPr/>
          <p:nvPr/>
        </p:nvCxnSpPr>
        <p:spPr>
          <a:xfrm>
            <a:off x="7521259" y="2471419"/>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910532" y="1968500"/>
            <a:ext cx="1732425" cy="100584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Team Manager Agent</a:t>
            </a:r>
          </a:p>
        </p:txBody>
      </p:sp>
      <p:sp>
        <p:nvSpPr>
          <p:cNvPr id="13" name="Rectangle 12"/>
          <p:cNvSpPr/>
          <p:nvPr/>
        </p:nvSpPr>
        <p:spPr>
          <a:xfrm>
            <a:off x="731520" y="3193796"/>
            <a:ext cx="27431" cy="110693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193796"/>
            <a:ext cx="3265322" cy="425196"/>
          </a:xfrm>
          <a:prstGeom prst="rect">
            <a:avLst/>
          </a:prstGeom>
          <a:noFill/>
        </p:spPr>
        <p:txBody>
          <a:bodyPr wrap="square">
            <a:spAutoFit/>
          </a:bodyPr>
          <a:lstStyle/>
          <a:p>
            <a:pPr algn="l">
              <a:defRPr sz="1800" b="1" i="0">
                <a:solidFill>
                  <a:srgbClr val="8FAAC8"/>
                </a:solidFill>
                <a:latin typeface="Liberation Sans"/>
              </a:defRPr>
            </a:pPr>
            <a:r>
              <a:t>Analyzer Agent</a:t>
            </a:r>
          </a:p>
        </p:txBody>
      </p:sp>
      <p:sp>
        <p:nvSpPr>
          <p:cNvPr id="15" name="TextBox 14"/>
          <p:cNvSpPr txBox="1"/>
          <p:nvPr/>
        </p:nvSpPr>
        <p:spPr>
          <a:xfrm>
            <a:off x="896112" y="3710432"/>
            <a:ext cx="3265322" cy="590296"/>
          </a:xfrm>
          <a:prstGeom prst="rect">
            <a:avLst/>
          </a:prstGeom>
          <a:noFill/>
        </p:spPr>
        <p:txBody>
          <a:bodyPr wrap="square">
            <a:spAutoFit/>
          </a:bodyPr>
          <a:lstStyle/>
          <a:p>
            <a:pPr algn="l">
              <a:defRPr sz="1400" b="0" i="0">
                <a:solidFill>
                  <a:srgbClr val="223043"/>
                </a:solidFill>
                <a:latin typeface="Liberation Sans"/>
              </a:defRPr>
            </a:pPr>
            <a:r>
              <a:t>Semantically distills noisy incident text into the core location, symptom, and capability signals.</a:t>
            </a:r>
          </a:p>
        </p:txBody>
      </p:sp>
      <p:sp>
        <p:nvSpPr>
          <p:cNvPr id="16" name="Rectangle 15"/>
          <p:cNvSpPr/>
          <p:nvPr/>
        </p:nvSpPr>
        <p:spPr>
          <a:xfrm>
            <a:off x="4380890" y="3193796"/>
            <a:ext cx="27431" cy="1106932"/>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5482" y="3193796"/>
            <a:ext cx="3265322" cy="425196"/>
          </a:xfrm>
          <a:prstGeom prst="rect">
            <a:avLst/>
          </a:prstGeom>
          <a:noFill/>
        </p:spPr>
        <p:txBody>
          <a:bodyPr wrap="square">
            <a:spAutoFit/>
          </a:bodyPr>
          <a:lstStyle/>
          <a:p>
            <a:pPr algn="l">
              <a:defRPr sz="1800" b="1" i="0">
                <a:solidFill>
                  <a:srgbClr val="D69A68"/>
                </a:solidFill>
                <a:latin typeface="Liberation Sans"/>
              </a:defRPr>
            </a:pPr>
            <a:r>
              <a:t>Decider Agent</a:t>
            </a:r>
          </a:p>
        </p:txBody>
      </p:sp>
      <p:sp>
        <p:nvSpPr>
          <p:cNvPr id="18" name="TextBox 17"/>
          <p:cNvSpPr txBox="1"/>
          <p:nvPr/>
        </p:nvSpPr>
        <p:spPr>
          <a:xfrm>
            <a:off x="4545482" y="3710432"/>
            <a:ext cx="3265322" cy="590296"/>
          </a:xfrm>
          <a:prstGeom prst="rect">
            <a:avLst/>
          </a:prstGeom>
          <a:noFill/>
        </p:spPr>
        <p:txBody>
          <a:bodyPr wrap="square">
            <a:spAutoFit/>
          </a:bodyPr>
          <a:lstStyle/>
          <a:p>
            <a:pPr algn="l">
              <a:defRPr sz="1400" b="0" i="0">
                <a:solidFill>
                  <a:srgbClr val="223043"/>
                </a:solidFill>
                <a:latin typeface="Liberation Sans"/>
              </a:defRPr>
            </a:pPr>
            <a:r>
              <a:t>Ranks candidate teams and orchestrates the negotiation over who should own the incident.</a:t>
            </a:r>
          </a:p>
        </p:txBody>
      </p:sp>
      <p:sp>
        <p:nvSpPr>
          <p:cNvPr id="19" name="Rectangle 18"/>
          <p:cNvSpPr/>
          <p:nvPr/>
        </p:nvSpPr>
        <p:spPr>
          <a:xfrm>
            <a:off x="8030260" y="3193796"/>
            <a:ext cx="27431"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4852" y="3193796"/>
            <a:ext cx="3265322" cy="425196"/>
          </a:xfrm>
          <a:prstGeom prst="rect">
            <a:avLst/>
          </a:prstGeom>
          <a:noFill/>
        </p:spPr>
        <p:txBody>
          <a:bodyPr wrap="square">
            <a:spAutoFit/>
          </a:bodyPr>
          <a:lstStyle/>
          <a:p>
            <a:pPr algn="l">
              <a:defRPr sz="1800" b="1" i="0">
                <a:solidFill>
                  <a:srgbClr val="7FA195"/>
                </a:solidFill>
                <a:latin typeface="Liberation Sans"/>
              </a:defRPr>
            </a:pPr>
            <a:r>
              <a:t>Team Manager Agent</a:t>
            </a:r>
          </a:p>
        </p:txBody>
      </p:sp>
      <p:sp>
        <p:nvSpPr>
          <p:cNvPr id="21" name="TextBox 20"/>
          <p:cNvSpPr txBox="1"/>
          <p:nvPr/>
        </p:nvSpPr>
        <p:spPr>
          <a:xfrm>
            <a:off x="8194852" y="3710432"/>
            <a:ext cx="3265322" cy="590296"/>
          </a:xfrm>
          <a:prstGeom prst="rect">
            <a:avLst/>
          </a:prstGeom>
          <a:noFill/>
        </p:spPr>
        <p:txBody>
          <a:bodyPr wrap="square">
            <a:spAutoFit/>
          </a:bodyPr>
          <a:lstStyle/>
          <a:p>
            <a:pPr algn="l">
              <a:defRPr sz="1400" b="0" i="0">
                <a:solidFill>
                  <a:srgbClr val="223043"/>
                </a:solidFill>
                <a:latin typeface="Liberation Sans"/>
              </a:defRPr>
            </a:pPr>
            <a:r>
              <a:t>Contributes team-specific knowledge, retrieves context, and votes during collaboration.</a:t>
            </a:r>
          </a:p>
        </p:txBody>
      </p:sp>
      <p:sp>
        <p:nvSpPr>
          <p:cNvPr id="22" name="Rounded Rectangle 21"/>
          <p:cNvSpPr/>
          <p:nvPr/>
        </p:nvSpPr>
        <p:spPr>
          <a:xfrm>
            <a:off x="1534363" y="4669282"/>
            <a:ext cx="1775459"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Triage accuracy</a:t>
            </a:r>
          </a:p>
        </p:txBody>
      </p:sp>
      <p:sp>
        <p:nvSpPr>
          <p:cNvPr id="23" name="TextBox 22"/>
          <p:cNvSpPr txBox="1"/>
          <p:nvPr/>
        </p:nvSpPr>
        <p:spPr>
          <a:xfrm>
            <a:off x="731520" y="5138166"/>
            <a:ext cx="3381146" cy="458216"/>
          </a:xfrm>
          <a:prstGeom prst="rect">
            <a:avLst/>
          </a:prstGeom>
          <a:noFill/>
        </p:spPr>
        <p:txBody>
          <a:bodyPr wrap="square">
            <a:spAutoFit/>
          </a:bodyPr>
          <a:lstStyle/>
          <a:p>
            <a:pPr algn="l">
              <a:defRPr sz="2000" b="1" i="0">
                <a:solidFill>
                  <a:srgbClr val="223043"/>
                </a:solidFill>
                <a:latin typeface="Liberation Sans"/>
              </a:defRPr>
            </a:pPr>
            <a:r>
              <a:t>97%</a:t>
            </a:r>
          </a:p>
        </p:txBody>
      </p:sp>
      <p:sp>
        <p:nvSpPr>
          <p:cNvPr id="24" name="Rounded Rectangle 23"/>
          <p:cNvSpPr/>
          <p:nvPr/>
        </p:nvSpPr>
        <p:spPr>
          <a:xfrm>
            <a:off x="5284317" y="4669282"/>
            <a:ext cx="162306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TTE reduction</a:t>
            </a:r>
          </a:p>
        </p:txBody>
      </p:sp>
      <p:sp>
        <p:nvSpPr>
          <p:cNvPr id="25" name="TextBox 24"/>
          <p:cNvSpPr txBox="1"/>
          <p:nvPr/>
        </p:nvSpPr>
        <p:spPr>
          <a:xfrm>
            <a:off x="4405274" y="5138166"/>
            <a:ext cx="3381146" cy="458216"/>
          </a:xfrm>
          <a:prstGeom prst="rect">
            <a:avLst/>
          </a:prstGeom>
          <a:noFill/>
        </p:spPr>
        <p:txBody>
          <a:bodyPr wrap="square">
            <a:spAutoFit/>
          </a:bodyPr>
          <a:lstStyle/>
          <a:p>
            <a:pPr algn="l">
              <a:defRPr sz="2000" b="1" i="0">
                <a:solidFill>
                  <a:srgbClr val="223043"/>
                </a:solidFill>
                <a:latin typeface="Liberation Sans"/>
              </a:defRPr>
            </a:pPr>
            <a:r>
              <a:t>91%</a:t>
            </a:r>
          </a:p>
        </p:txBody>
      </p:sp>
      <p:sp>
        <p:nvSpPr>
          <p:cNvPr id="26" name="Rectangle 25"/>
          <p:cNvSpPr/>
          <p:nvPr/>
        </p:nvSpPr>
        <p:spPr>
          <a:xfrm>
            <a:off x="8079028" y="4520184"/>
            <a:ext cx="27431" cy="1225296"/>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43620" y="4579366"/>
            <a:ext cx="3216554" cy="425196"/>
          </a:xfrm>
          <a:prstGeom prst="rect">
            <a:avLst/>
          </a:prstGeom>
          <a:noFill/>
        </p:spPr>
        <p:txBody>
          <a:bodyPr wrap="square">
            <a:spAutoFit/>
          </a:bodyPr>
          <a:lstStyle/>
          <a:p>
            <a:pPr algn="l">
              <a:defRPr sz="1800" b="1" i="0">
                <a:solidFill>
                  <a:srgbClr val="5C82AD"/>
                </a:solidFill>
                <a:latin typeface="Liberation Sans"/>
              </a:defRPr>
            </a:pPr>
            <a:r>
              <a:t>Lesson</a:t>
            </a:r>
          </a:p>
        </p:txBody>
      </p:sp>
      <p:sp>
        <p:nvSpPr>
          <p:cNvPr id="28" name="TextBox 27"/>
          <p:cNvSpPr txBox="1"/>
          <p:nvPr/>
        </p:nvSpPr>
        <p:spPr>
          <a:xfrm>
            <a:off x="8243620" y="5096002"/>
            <a:ext cx="3216554" cy="590296"/>
          </a:xfrm>
          <a:prstGeom prst="rect">
            <a:avLst/>
          </a:prstGeom>
          <a:noFill/>
        </p:spPr>
        <p:txBody>
          <a:bodyPr wrap="square">
            <a:spAutoFit/>
          </a:bodyPr>
          <a:lstStyle/>
          <a:p>
            <a:pPr algn="l">
              <a:defRPr sz="1400" b="0" i="0">
                <a:solidFill>
                  <a:srgbClr val="223043"/>
                </a:solidFill>
                <a:latin typeface="Liberation Sans"/>
              </a:defRPr>
            </a:pPr>
            <a:r>
              <a:t>Role separation plus negotiation can outperform one monolithic prompt on high-stakes routing.</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3"/>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4"/>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9"/>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5"/>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3"/>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6"/>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4"/>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5"/>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8"/>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6"/>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3"/>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6"/>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9"/>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7"/>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4"/>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17"/>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20"/>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9"/>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5"/>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18"/>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1"/>
                            </p:tgtEl>
                            <p:attrNameLst>
                              <p:attrName>style.visibility</p:attrName>
                            </p:attrNameLst>
                          </p:cBhvr>
                          <p:to>
                            <p:strVal val="hidden"/>
                          </p:to>
                        </p:set>
                      </p:childTnLst>
                    </p:cTn>
                  </p:par>
                  <p:par>
                    <p:cTn id="58" fill="hold">
                      <p:stCondLst>
                        <p:cond delay="0"/>
                      </p:stCondLst>
                      <p:childTnLst>
                        <p:set>
                          <p:cBhvr>
                            <p:cTn id="59" dur="1" fill="hold">
                              <p:stCondLst>
                                <p:cond delay="0"/>
                              </p:stCondLst>
                            </p:cTn>
                            <p:tgtEl>
                              <p:spTgt spid="22"/>
                            </p:tgtEl>
                            <p:attrNameLst>
                              <p:attrName>style.visibility</p:attrName>
                            </p:attrNameLst>
                          </p:cBhvr>
                          <p:to>
                            <p:strVal val="hidden"/>
                          </p:to>
                        </p:set>
                      </p:childTnLst>
                    </p:cTn>
                  </p:par>
                  <p:par>
                    <p:cTn id="60" fill="hold">
                      <p:stCondLst>
                        <p:cond delay="0"/>
                      </p:stCondLst>
                      <p:childTnLst>
                        <p:set>
                          <p:cBhvr>
                            <p:cTn id="61" dur="1" fill="hold">
                              <p:stCondLst>
                                <p:cond delay="0"/>
                              </p:stCondLst>
                            </p:cTn>
                            <p:tgtEl>
                              <p:spTgt spid="23"/>
                            </p:tgtEl>
                            <p:attrNameLst>
                              <p:attrName>style.visibility</p:attrName>
                            </p:attrNameLst>
                          </p:cBhvr>
                          <p:to>
                            <p:strVal val="hidden"/>
                          </p:to>
                        </p:set>
                      </p:childTnLst>
                    </p:cTn>
                  </p:par>
                  <p:par>
                    <p:cTn id="62" fill="hold">
                      <p:stCondLst>
                        <p:cond delay="0"/>
                      </p:stCondLst>
                      <p:childTnLst>
                        <p:set>
                          <p:cBhvr>
                            <p:cTn id="63" dur="1" fill="hold">
                              <p:stCondLst>
                                <p:cond delay="0"/>
                              </p:stCondLst>
                            </p:cTn>
                            <p:tgtEl>
                              <p:spTgt spid="24"/>
                            </p:tgtEl>
                            <p:attrNameLst>
                              <p:attrName>style.visibility</p:attrName>
                            </p:attrNameLst>
                          </p:cBhvr>
                          <p:to>
                            <p:strVal val="hidden"/>
                          </p:to>
                        </p:set>
                      </p:childTnLst>
                    </p:cTn>
                  </p:par>
                  <p:par>
                    <p:cTn id="64" fill="hold">
                      <p:stCondLst>
                        <p:cond delay="0"/>
                      </p:stCondLst>
                      <p:childTnLst>
                        <p:set>
                          <p:cBhvr>
                            <p:cTn id="65" dur="1" fill="hold">
                              <p:stCondLst>
                                <p:cond delay="0"/>
                              </p:stCondLst>
                            </p:cTn>
                            <p:tgtEl>
                              <p:spTgt spid="25"/>
                            </p:tgtEl>
                            <p:attrNameLst>
                              <p:attrName>style.visibility</p:attrName>
                            </p:attrNameLst>
                          </p:cBhvr>
                          <p:to>
                            <p:strVal val="hidden"/>
                          </p:to>
                        </p:set>
                      </p:childTnLst>
                    </p:cTn>
                  </p:par>
                  <p:par>
                    <p:cTn id="66" fill="hold">
                      <p:stCondLst>
                        <p:cond delay="0"/>
                      </p:stCondLst>
                      <p:childTnLst>
                        <p:set>
                          <p:cBhvr>
                            <p:cTn id="67" dur="1" fill="hold">
                              <p:stCondLst>
                                <p:cond delay="0"/>
                              </p:stCondLst>
                            </p:cTn>
                            <p:tgtEl>
                              <p:spTgt spid="6"/>
                            </p:tgtEl>
                            <p:attrNameLst>
                              <p:attrName>style.visibility</p:attrName>
                            </p:attrNameLst>
                          </p:cBhvr>
                          <p:to>
                            <p:strVal val="hidden"/>
                          </p:to>
                        </p:set>
                      </p:childTnLst>
                    </p:cTn>
                  </p:par>
                  <p:par>
                    <p:cTn id="68" fill="hold">
                      <p:stCondLst>
                        <p:cond delay="0"/>
                      </p:stCondLst>
                      <p:childTnLst>
                        <p:set>
                          <p:cBhvr>
                            <p:cTn id="69" dur="1" fill="hold">
                              <p:stCondLst>
                                <p:cond delay="0"/>
                              </p:stCondLst>
                            </p:cTn>
                            <p:tgtEl>
                              <p:spTgt spid="13"/>
                            </p:tgtEl>
                            <p:attrNameLst>
                              <p:attrName>style.visibility</p:attrName>
                            </p:attrNameLst>
                          </p:cBhvr>
                          <p:to>
                            <p:strVal val="hidden"/>
                          </p:to>
                        </p:set>
                      </p:childTnLst>
                    </p:cTn>
                  </p:par>
                  <p:par>
                    <p:cTn id="70" fill="hold">
                      <p:stCondLst>
                        <p:cond delay="0"/>
                      </p:stCondLst>
                      <p:childTnLst>
                        <p:set>
                          <p:cBhvr>
                            <p:cTn id="71" dur="1" fill="hold">
                              <p:stCondLst>
                                <p:cond delay="0"/>
                              </p:stCondLst>
                            </p:cTn>
                            <p:tgtEl>
                              <p:spTgt spid="16"/>
                            </p:tgtEl>
                            <p:attrNameLst>
                              <p:attrName>style.visibility</p:attrName>
                            </p:attrNameLst>
                          </p:cBhvr>
                          <p:to>
                            <p:strVal val="hidden"/>
                          </p:to>
                        </p:set>
                      </p:childTnLst>
                    </p:cTn>
                  </p:par>
                  <p:par>
                    <p:cTn id="72" fill="hold">
                      <p:stCondLst>
                        <p:cond delay="0"/>
                      </p:stCondLst>
                      <p:childTnLst>
                        <p:set>
                          <p:cBhvr>
                            <p:cTn id="73" dur="1" fill="hold">
                              <p:stCondLst>
                                <p:cond delay="0"/>
                              </p:stCondLst>
                            </p:cTn>
                            <p:tgtEl>
                              <p:spTgt spid="19"/>
                            </p:tgtEl>
                            <p:attrNameLst>
                              <p:attrName>style.visibility</p:attrName>
                            </p:attrNameLst>
                          </p:cBhvr>
                          <p:to>
                            <p:strVal val="hidden"/>
                          </p:to>
                        </p:set>
                      </p:childTnLst>
                    </p:cTn>
                  </p:par>
                  <p:par>
                    <p:cTn id="74" fill="hold">
                      <p:stCondLst>
                        <p:cond delay="0"/>
                      </p:stCondLst>
                      <p:childTnLst>
                        <p:set>
                          <p:cBhvr>
                            <p:cTn id="75" dur="1" fill="hold">
                              <p:stCondLst>
                                <p:cond delay="0"/>
                              </p:stCondLst>
                            </p:cTn>
                            <p:tgtEl>
                              <p:spTgt spid="26"/>
                            </p:tgtEl>
                            <p:attrNameLst>
                              <p:attrName>style.visibility</p:attrName>
                            </p:attrNameLst>
                          </p:cBhvr>
                          <p:to>
                            <p:strVal val="hidden"/>
                          </p:to>
                        </p:set>
                      </p:childTnLst>
                    </p:cTn>
                  </p:par>
                  <p:par>
                    <p:cTn id="76" fill="hold">
                      <p:stCondLst>
                        <p:cond delay="0"/>
                      </p:stCondLst>
                      <p:childTnLst>
                        <p:set>
                          <p:cBhvr>
                            <p:cTn id="77" dur="1" fill="hold">
                              <p:stCondLst>
                                <p:cond delay="0"/>
                              </p:stCondLst>
                            </p:cTn>
                            <p:tgtEl>
                              <p:spTgt spid="7"/>
                            </p:tgtEl>
                            <p:attrNameLst>
                              <p:attrName>style.visibility</p:attrName>
                            </p:attrNameLst>
                          </p:cBhvr>
                          <p:to>
                            <p:strVal val="hidden"/>
                          </p:to>
                        </p:set>
                      </p:childTnLst>
                    </p:cTn>
                  </p:par>
                  <p:par>
                    <p:cTn id="78" fill="hold">
                      <p:stCondLst>
                        <p:cond delay="0"/>
                      </p:stCondLst>
                      <p:childTnLst>
                        <p:set>
                          <p:cBhvr>
                            <p:cTn id="79" dur="1" fill="hold">
                              <p:stCondLst>
                                <p:cond delay="0"/>
                              </p:stCondLst>
                            </p:cTn>
                            <p:tgtEl>
                              <p:spTgt spid="14"/>
                            </p:tgtEl>
                            <p:attrNameLst>
                              <p:attrName>style.visibility</p:attrName>
                            </p:attrNameLst>
                          </p:cBhvr>
                          <p:to>
                            <p:strVal val="hidden"/>
                          </p:to>
                        </p:set>
                      </p:childTnLst>
                    </p:cTn>
                  </p:par>
                  <p:par>
                    <p:cTn id="80" fill="hold">
                      <p:stCondLst>
                        <p:cond delay="0"/>
                      </p:stCondLst>
                      <p:childTnLst>
                        <p:set>
                          <p:cBhvr>
                            <p:cTn id="81" dur="1" fill="hold">
                              <p:stCondLst>
                                <p:cond delay="0"/>
                              </p:stCondLst>
                            </p:cTn>
                            <p:tgtEl>
                              <p:spTgt spid="17"/>
                            </p:tgtEl>
                            <p:attrNameLst>
                              <p:attrName>style.visibility</p:attrName>
                            </p:attrNameLst>
                          </p:cBhvr>
                          <p:to>
                            <p:strVal val="hidden"/>
                          </p:to>
                        </p:set>
                      </p:childTnLst>
                    </p:cTn>
                  </p:par>
                  <p:par>
                    <p:cTn id="82" fill="hold">
                      <p:stCondLst>
                        <p:cond delay="0"/>
                      </p:stCondLst>
                      <p:childTnLst>
                        <p:set>
                          <p:cBhvr>
                            <p:cTn id="83" dur="1" fill="hold">
                              <p:stCondLst>
                                <p:cond delay="0"/>
                              </p:stCondLst>
                            </p:cTn>
                            <p:tgtEl>
                              <p:spTgt spid="20"/>
                            </p:tgtEl>
                            <p:attrNameLst>
                              <p:attrName>style.visibility</p:attrName>
                            </p:attrNameLst>
                          </p:cBhvr>
                          <p:to>
                            <p:strVal val="hidden"/>
                          </p:to>
                        </p:set>
                      </p:childTnLst>
                    </p:cTn>
                  </p:par>
                  <p:par>
                    <p:cTn id="84" fill="hold">
                      <p:stCondLst>
                        <p:cond delay="0"/>
                      </p:stCondLst>
                      <p:childTnLst>
                        <p:set>
                          <p:cBhvr>
                            <p:cTn id="85" dur="1" fill="hold">
                              <p:stCondLst>
                                <p:cond delay="0"/>
                              </p:stCondLst>
                            </p:cTn>
                            <p:tgtEl>
                              <p:spTgt spid="27"/>
                            </p:tgtEl>
                            <p:attrNameLst>
                              <p:attrName>style.visibility</p:attrName>
                            </p:attrNameLst>
                          </p:cBhvr>
                          <p:to>
                            <p:strVal val="hidden"/>
                          </p:to>
                        </p:set>
                      </p:childTnLst>
                    </p:cTn>
                  </p:par>
                  <p:par>
                    <p:cTn id="86" fill="hold">
                      <p:stCondLst>
                        <p:cond delay="0"/>
                      </p:stCondLst>
                      <p:childTnLst>
                        <p:set>
                          <p:cBhvr>
                            <p:cTn id="87" dur="1" fill="hold">
                              <p:stCondLst>
                                <p:cond delay="0"/>
                              </p:stCondLst>
                            </p:cTn>
                            <p:tgtEl>
                              <p:spTgt spid="9"/>
                            </p:tgtEl>
                            <p:attrNameLst>
                              <p:attrName>style.visibility</p:attrName>
                            </p:attrNameLst>
                          </p:cBhvr>
                          <p:to>
                            <p:strVal val="hidden"/>
                          </p:to>
                        </p:set>
                      </p:childTnLst>
                    </p:cTn>
                  </p:par>
                  <p:par>
                    <p:cTn id="88" fill="hold">
                      <p:stCondLst>
                        <p:cond delay="0"/>
                      </p:stCondLst>
                      <p:childTnLst>
                        <p:set>
                          <p:cBhvr>
                            <p:cTn id="89" dur="1" fill="hold">
                              <p:stCondLst>
                                <p:cond delay="0"/>
                              </p:stCondLst>
                            </p:cTn>
                            <p:tgtEl>
                              <p:spTgt spid="15"/>
                            </p:tgtEl>
                            <p:attrNameLst>
                              <p:attrName>style.visibility</p:attrName>
                            </p:attrNameLst>
                          </p:cBhvr>
                          <p:to>
                            <p:strVal val="hidden"/>
                          </p:to>
                        </p:set>
                      </p:childTnLst>
                    </p:cTn>
                  </p:par>
                  <p:par>
                    <p:cTn id="90" fill="hold">
                      <p:stCondLst>
                        <p:cond delay="0"/>
                      </p:stCondLst>
                      <p:childTnLst>
                        <p:set>
                          <p:cBhvr>
                            <p:cTn id="91" dur="1" fill="hold">
                              <p:stCondLst>
                                <p:cond delay="0"/>
                              </p:stCondLst>
                            </p:cTn>
                            <p:tgtEl>
                              <p:spTgt spid="18"/>
                            </p:tgtEl>
                            <p:attrNameLst>
                              <p:attrName>style.visibility</p:attrName>
                            </p:attrNameLst>
                          </p:cBhvr>
                          <p:to>
                            <p:strVal val="hidden"/>
                          </p:to>
                        </p:set>
                      </p:childTnLst>
                    </p:cTn>
                  </p:par>
                  <p:par>
                    <p:cTn id="92" fill="hold">
                      <p:stCondLst>
                        <p:cond delay="0"/>
                      </p:stCondLst>
                      <p:childTnLst>
                        <p:set>
                          <p:cBhvr>
                            <p:cTn id="93" dur="1" fill="hold">
                              <p:stCondLst>
                                <p:cond delay="0"/>
                              </p:stCondLst>
                            </p:cTn>
                            <p:tgtEl>
                              <p:spTgt spid="21"/>
                            </p:tgtEl>
                            <p:attrNameLst>
                              <p:attrName>style.visibility</p:attrName>
                            </p:attrNameLst>
                          </p:cBhvr>
                          <p:to>
                            <p:strVal val="hidden"/>
                          </p:to>
                        </p:set>
                      </p:childTnLst>
                    </p:cTn>
                  </p:par>
                  <p:par>
                    <p:cTn id="94" fill="hold">
                      <p:stCondLst>
                        <p:cond delay="0"/>
                      </p:stCondLst>
                      <p:childTnLst>
                        <p:set>
                          <p:cBhvr>
                            <p:cTn id="95" dur="1" fill="hold">
                              <p:stCondLst>
                                <p:cond delay="0"/>
                              </p:stCondLst>
                            </p:cTn>
                            <p:tgtEl>
                              <p:spTgt spid="28"/>
                            </p:tgtEl>
                            <p:attrNameLst>
                              <p:attrName>style.visibility</p:attrName>
                            </p:attrNameLst>
                          </p:cBhvr>
                          <p:to>
                            <p:strVal val="hidden"/>
                          </p:to>
                        </p:set>
                      </p:childTnLst>
                    </p:cTn>
                  </p:par>
                </p:childTnLst>
              </p:cTn>
            </p:par>
            <p:seq concurrent="1" nextAc="seek">
              <p:cTn id="96" dur="indefinite" nodeType="mainSeq">
                <p:childTnLst>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animEffect transition="in" filter="fade">
                                      <p:cBhvr>
                                        <p:cTn id="100" dur="500"/>
                                        <p:tgtEl>
                                          <p:spTgt spid="5"/>
                                        </p:tgtEl>
                                      </p:cBhvr>
                                    </p:animEffect>
                                    <p:set>
                                      <p:cBhvr>
                                        <p:cTn id="101" dur="1" fill="hold">
                                          <p:stCondLst>
                                            <p:cond delay="0"/>
                                          </p:stCondLst>
                                        </p:cTn>
                                        <p:tgtEl>
                                          <p:spTgt spid="5"/>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6"/>
                                        </p:tgtEl>
                                      </p:cBhvr>
                                    </p:animEffect>
                                    <p:set>
                                      <p:cBhvr>
                                        <p:cTn id="104" dur="1" fill="hold">
                                          <p:stCondLst>
                                            <p:cond delay="0"/>
                                          </p:stCondLst>
                                        </p:cTn>
                                        <p:tgtEl>
                                          <p:spTgt spid="6"/>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7"/>
                                        </p:tgtEl>
                                      </p:cBhvr>
                                    </p:animEffect>
                                    <p:set>
                                      <p:cBhvr>
                                        <p:cTn id="107" dur="1" fill="hold">
                                          <p:stCondLst>
                                            <p:cond delay="0"/>
                                          </p:stCondLst>
                                        </p:cTn>
                                        <p:tgtEl>
                                          <p:spTgt spid="7"/>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8"/>
                                        </p:tgtEl>
                                      </p:cBhvr>
                                    </p:animEffect>
                                    <p:set>
                                      <p:cBhvr>
                                        <p:cTn id="110" dur="1" fill="hold">
                                          <p:stCondLst>
                                            <p:cond delay="0"/>
                                          </p:stCondLst>
                                        </p:cTn>
                                        <p:tgtEl>
                                          <p:spTgt spid="8"/>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9"/>
                                        </p:tgtEl>
                                      </p:cBhvr>
                                    </p:animEffect>
                                    <p:set>
                                      <p:cBhvr>
                                        <p:cTn id="113" dur="1" fill="hold">
                                          <p:stCondLst>
                                            <p:cond delay="0"/>
                                          </p:stCondLst>
                                        </p:cTn>
                                        <p:tgtEl>
                                          <p:spTgt spid="9"/>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0"/>
                                        </p:tgtEl>
                                      </p:cBhvr>
                                    </p:animEffect>
                                    <p:set>
                                      <p:cBhvr>
                                        <p:cTn id="116" dur="1" fill="hold">
                                          <p:stCondLst>
                                            <p:cond delay="0"/>
                                          </p:stCondLst>
                                        </p:cTn>
                                        <p:tgtEl>
                                          <p:spTgt spid="10"/>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11"/>
                                        </p:tgtEl>
                                      </p:cBhvr>
                                    </p:animEffect>
                                    <p:set>
                                      <p:cBhvr>
                                        <p:cTn id="119" dur="1" fill="hold">
                                          <p:stCondLst>
                                            <p:cond delay="0"/>
                                          </p:stCondLst>
                                        </p:cTn>
                                        <p:tgtEl>
                                          <p:spTgt spid="11"/>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12"/>
                                        </p:tgtEl>
                                      </p:cBhvr>
                                    </p:animEffect>
                                    <p:set>
                                      <p:cBhvr>
                                        <p:cTn id="122" dur="1" fill="hold">
                                          <p:stCondLst>
                                            <p:cond delay="0"/>
                                          </p:stCondLst>
                                        </p:cTn>
                                        <p:tgtEl>
                                          <p:spTgt spid="12"/>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0" presetClass="entr" presetSubtype="0" fill="hold" grpId="0" nodeType="clickEffect">
                                  <p:stCondLst>
                                    <p:cond delay="0"/>
                                  </p:stCondLst>
                                  <p:childTnLst>
                                    <p:animEffect transition="in" filter="fade">
                                      <p:cBhvr>
                                        <p:cTn id="126" dur="500"/>
                                        <p:tgtEl>
                                          <p:spTgt spid="6"/>
                                        </p:tgtEl>
                                      </p:cBhvr>
                                    </p:animEffect>
                                    <p:set>
                                      <p:cBhvr>
                                        <p:cTn id="127" dur="1" fill="hold">
                                          <p:stCondLst>
                                            <p:cond delay="0"/>
                                          </p:stCondLst>
                                        </p:cTn>
                                        <p:tgtEl>
                                          <p:spTgt spid="6"/>
                                        </p:tgtEl>
                                        <p:attrNameLst>
                                          <p:attrName>style.visibility</p:attrName>
                                        </p:attrNameLst>
                                      </p:cBhvr>
                                      <p:to>
                                        <p:strVal val="visible"/>
                                      </p:to>
                                    </p:set>
                                  </p:childTnLst>
                                </p:cTn>
                              </p:par>
                              <p:par>
                                <p:cTn id="128" presetID="10" presetClass="entr" presetSubtype="0" fill="hold" grpId="0" nodeType="withEffect">
                                  <p:stCondLst>
                                    <p:cond delay="0"/>
                                  </p:stCondLst>
                                  <p:childTnLst>
                                    <p:animEffect transition="in" filter="fade">
                                      <p:cBhvr>
                                        <p:cTn id="129" dur="500"/>
                                        <p:tgtEl>
                                          <p:spTgt spid="13"/>
                                        </p:tgtEl>
                                      </p:cBhvr>
                                    </p:animEffect>
                                    <p:set>
                                      <p:cBhvr>
                                        <p:cTn id="130" dur="1" fill="hold">
                                          <p:stCondLst>
                                            <p:cond delay="0"/>
                                          </p:stCondLst>
                                        </p:cTn>
                                        <p:tgtEl>
                                          <p:spTgt spid="13"/>
                                        </p:tgtEl>
                                        <p:attrNameLst>
                                          <p:attrName>style.visibility</p:attrName>
                                        </p:attrNameLst>
                                      </p:cBhvr>
                                      <p:to>
                                        <p:strVal val="visible"/>
                                      </p:to>
                                    </p:set>
                                  </p:childTnLst>
                                </p:cTn>
                              </p:par>
                              <p:par>
                                <p:cTn id="131" presetID="10" presetClass="entr" presetSubtype="0" fill="hold" grpId="0" nodeType="withEffect">
                                  <p:stCondLst>
                                    <p:cond delay="0"/>
                                  </p:stCondLst>
                                  <p:childTnLst>
                                    <p:animEffect transition="in" filter="fade">
                                      <p:cBhvr>
                                        <p:cTn id="132" dur="500"/>
                                        <p:tgtEl>
                                          <p:spTgt spid="7"/>
                                        </p:tgtEl>
                                      </p:cBhvr>
                                    </p:animEffect>
                                    <p:set>
                                      <p:cBhvr>
                                        <p:cTn id="133" dur="1" fill="hold">
                                          <p:stCondLst>
                                            <p:cond delay="0"/>
                                          </p:stCondLst>
                                        </p:cTn>
                                        <p:tgtEl>
                                          <p:spTgt spid="7"/>
                                        </p:tgtEl>
                                        <p:attrNameLst>
                                          <p:attrName>style.visibility</p:attrName>
                                        </p:attrNameLst>
                                      </p:cBhvr>
                                      <p:to>
                                        <p:strVal val="visible"/>
                                      </p:to>
                                    </p:set>
                                  </p:childTnLst>
                                </p:cTn>
                              </p:par>
                              <p:par>
                                <p:cTn id="134" presetID="10" presetClass="entr" presetSubtype="0" fill="hold" grpId="0" nodeType="withEffect">
                                  <p:stCondLst>
                                    <p:cond delay="0"/>
                                  </p:stCondLst>
                                  <p:childTnLst>
                                    <p:animEffect transition="in" filter="fade">
                                      <p:cBhvr>
                                        <p:cTn id="135" dur="500"/>
                                        <p:tgtEl>
                                          <p:spTgt spid="14"/>
                                        </p:tgtEl>
                                      </p:cBhvr>
                                    </p:animEffect>
                                    <p:set>
                                      <p:cBhvr>
                                        <p:cTn id="136" dur="1" fill="hold">
                                          <p:stCondLst>
                                            <p:cond delay="0"/>
                                          </p:stCondLst>
                                        </p:cTn>
                                        <p:tgtEl>
                                          <p:spTgt spid="14"/>
                                        </p:tgtEl>
                                        <p:attrNameLst>
                                          <p:attrName>style.visibility</p:attrName>
                                        </p:attrNameLst>
                                      </p:cBhvr>
                                      <p:to>
                                        <p:strVal val="visible"/>
                                      </p:to>
                                    </p:set>
                                  </p:childTnLst>
                                </p:cTn>
                              </p:par>
                              <p:par>
                                <p:cTn id="137" presetID="10" presetClass="entr" presetSubtype="0" fill="hold" grpId="0" nodeType="withEffect">
                                  <p:stCondLst>
                                    <p:cond delay="0"/>
                                  </p:stCondLst>
                                  <p:childTnLst>
                                    <p:animEffect transition="in" filter="fade">
                                      <p:cBhvr>
                                        <p:cTn id="138" dur="500"/>
                                        <p:tgtEl>
                                          <p:spTgt spid="9"/>
                                        </p:tgtEl>
                                      </p:cBhvr>
                                    </p:animEffect>
                                    <p:set>
                                      <p:cBhvr>
                                        <p:cTn id="139" dur="1" fill="hold">
                                          <p:stCondLst>
                                            <p:cond delay="0"/>
                                          </p:stCondLst>
                                        </p:cTn>
                                        <p:tgtEl>
                                          <p:spTgt spid="9"/>
                                        </p:tgtEl>
                                        <p:attrNameLst>
                                          <p:attrName>style.visibility</p:attrName>
                                        </p:attrNameLst>
                                      </p:cBhvr>
                                      <p:to>
                                        <p:strVal val="visible"/>
                                      </p:to>
                                    </p:set>
                                  </p:childTnLst>
                                </p:cTn>
                              </p:par>
                              <p:par>
                                <p:cTn id="140" presetID="10" presetClass="entr" presetSubtype="0" fill="hold" grpId="0" nodeType="withEffect">
                                  <p:stCondLst>
                                    <p:cond delay="0"/>
                                  </p:stCondLst>
                                  <p:childTnLst>
                                    <p:animEffect transition="in" filter="fade">
                                      <p:cBhvr>
                                        <p:cTn id="141" dur="500"/>
                                        <p:tgtEl>
                                          <p:spTgt spid="15"/>
                                        </p:tgtEl>
                                      </p:cBhvr>
                                    </p:animEffect>
                                    <p:set>
                                      <p:cBhvr>
                                        <p:cTn id="142" dur="1" fill="hold">
                                          <p:stCondLst>
                                            <p:cond delay="0"/>
                                          </p:stCondLst>
                                        </p:cTn>
                                        <p:tgtEl>
                                          <p:spTgt spid="15"/>
                                        </p:tgtEl>
                                        <p:attrNameLst>
                                          <p:attrName>style.visibility</p:attrName>
                                        </p:attrNameLst>
                                      </p:cBhvr>
                                      <p:to>
                                        <p:strVal val="visible"/>
                                      </p:to>
                                    </p:set>
                                  </p:childTnLst>
                                </p:cTn>
                              </p:par>
                              <p:par>
                                <p:cTn id="143" presetID="10" presetClass="entr" presetSubtype="0" fill="hold" grpId="0" nodeType="withEffect">
                                  <p:stCondLst>
                                    <p:cond delay="0"/>
                                  </p:stCondLst>
                                  <p:childTnLst>
                                    <p:animEffect transition="in" filter="fade">
                                      <p:cBhvr>
                                        <p:cTn id="144" dur="500"/>
                                        <p:tgtEl>
                                          <p:spTgt spid="6"/>
                                        </p:tgtEl>
                                      </p:cBhvr>
                                    </p:animEffect>
                                    <p:set>
                                      <p:cBhvr>
                                        <p:cTn id="145" dur="1" fill="hold">
                                          <p:stCondLst>
                                            <p:cond delay="0"/>
                                          </p:stCondLst>
                                        </p:cTn>
                                        <p:tgtEl>
                                          <p:spTgt spid="6"/>
                                        </p:tgtEl>
                                        <p:attrNameLst>
                                          <p:attrName>style.visibility</p:attrName>
                                        </p:attrNameLst>
                                      </p:cBhvr>
                                      <p:to>
                                        <p:strVal val="visible"/>
                                      </p:to>
                                    </p:set>
                                  </p:childTnLst>
                                </p:cTn>
                              </p:par>
                              <p:par>
                                <p:cTn id="146" presetID="10" presetClass="entr" presetSubtype="0" fill="hold" grpId="0" nodeType="withEffect">
                                  <p:stCondLst>
                                    <p:cond delay="0"/>
                                  </p:stCondLst>
                                  <p:childTnLst>
                                    <p:animEffect transition="in" filter="fade">
                                      <p:cBhvr>
                                        <p:cTn id="147" dur="500"/>
                                        <p:tgtEl>
                                          <p:spTgt spid="13"/>
                                        </p:tgtEl>
                                      </p:cBhvr>
                                    </p:animEffect>
                                    <p:set>
                                      <p:cBhvr>
                                        <p:cTn id="148" dur="1" fill="hold">
                                          <p:stCondLst>
                                            <p:cond delay="0"/>
                                          </p:stCondLst>
                                        </p:cTn>
                                        <p:tgtEl>
                                          <p:spTgt spid="13"/>
                                        </p:tgtEl>
                                        <p:attrNameLst>
                                          <p:attrName>style.visibility</p:attrName>
                                        </p:attrNameLst>
                                      </p:cBhvr>
                                      <p:to>
                                        <p:strVal val="visible"/>
                                      </p:to>
                                    </p:set>
                                  </p:childTnLst>
                                </p:cTn>
                              </p:par>
                              <p:par>
                                <p:cTn id="149" presetID="10" presetClass="entr" presetSubtype="0" fill="hold" grpId="0" nodeType="withEffect">
                                  <p:stCondLst>
                                    <p:cond delay="0"/>
                                  </p:stCondLst>
                                  <p:childTnLst>
                                    <p:animEffect transition="in" filter="fade">
                                      <p:cBhvr>
                                        <p:cTn id="150" dur="500"/>
                                        <p:tgtEl>
                                          <p:spTgt spid="16"/>
                                        </p:tgtEl>
                                      </p:cBhvr>
                                    </p:animEffect>
                                    <p:set>
                                      <p:cBhvr>
                                        <p:cTn id="151" dur="1" fill="hold">
                                          <p:stCondLst>
                                            <p:cond delay="0"/>
                                          </p:stCondLst>
                                        </p:cTn>
                                        <p:tgtEl>
                                          <p:spTgt spid="16"/>
                                        </p:tgtEl>
                                        <p:attrNameLst>
                                          <p:attrName>style.visibility</p:attrName>
                                        </p:attrNameLst>
                                      </p:cBhvr>
                                      <p:to>
                                        <p:strVal val="visible"/>
                                      </p:to>
                                    </p:set>
                                  </p:childTnLst>
                                </p:cTn>
                              </p:par>
                              <p:par>
                                <p:cTn id="152" presetID="10" presetClass="entr" presetSubtype="0" fill="hold" grpId="0" nodeType="withEffect">
                                  <p:stCondLst>
                                    <p:cond delay="0"/>
                                  </p:stCondLst>
                                  <p:childTnLst>
                                    <p:animEffect transition="in" filter="fade">
                                      <p:cBhvr>
                                        <p:cTn id="153" dur="500"/>
                                        <p:tgtEl>
                                          <p:spTgt spid="7"/>
                                        </p:tgtEl>
                                      </p:cBhvr>
                                    </p:animEffect>
                                    <p:set>
                                      <p:cBhvr>
                                        <p:cTn id="154" dur="1" fill="hold">
                                          <p:stCondLst>
                                            <p:cond delay="0"/>
                                          </p:stCondLst>
                                        </p:cTn>
                                        <p:tgtEl>
                                          <p:spTgt spid="7"/>
                                        </p:tgtEl>
                                        <p:attrNameLst>
                                          <p:attrName>style.visibility</p:attrName>
                                        </p:attrNameLst>
                                      </p:cBhvr>
                                      <p:to>
                                        <p:strVal val="visible"/>
                                      </p:to>
                                    </p:set>
                                  </p:childTnLst>
                                </p:cTn>
                              </p:par>
                              <p:par>
                                <p:cTn id="155" presetID="10" presetClass="entr" presetSubtype="0" fill="hold" grpId="0" nodeType="withEffect">
                                  <p:stCondLst>
                                    <p:cond delay="0"/>
                                  </p:stCondLst>
                                  <p:childTnLst>
                                    <p:animEffect transition="in" filter="fade">
                                      <p:cBhvr>
                                        <p:cTn id="156" dur="500"/>
                                        <p:tgtEl>
                                          <p:spTgt spid="14"/>
                                        </p:tgtEl>
                                      </p:cBhvr>
                                    </p:animEffect>
                                    <p:set>
                                      <p:cBhvr>
                                        <p:cTn id="157" dur="1" fill="hold">
                                          <p:stCondLst>
                                            <p:cond delay="0"/>
                                          </p:stCondLst>
                                        </p:cTn>
                                        <p:tgtEl>
                                          <p:spTgt spid="14"/>
                                        </p:tgtEl>
                                        <p:attrNameLst>
                                          <p:attrName>style.visibility</p:attrName>
                                        </p:attrNameLst>
                                      </p:cBhvr>
                                      <p:to>
                                        <p:strVal val="visible"/>
                                      </p:to>
                                    </p:set>
                                  </p:childTnLst>
                                </p:cTn>
                              </p:par>
                              <p:par>
                                <p:cTn id="158" presetID="10" presetClass="entr" presetSubtype="0" fill="hold" grpId="0" nodeType="withEffect">
                                  <p:stCondLst>
                                    <p:cond delay="0"/>
                                  </p:stCondLst>
                                  <p:childTnLst>
                                    <p:animEffect transition="in" filter="fade">
                                      <p:cBhvr>
                                        <p:cTn id="159" dur="500"/>
                                        <p:tgtEl>
                                          <p:spTgt spid="17"/>
                                        </p:tgtEl>
                                      </p:cBhvr>
                                    </p:animEffect>
                                    <p:set>
                                      <p:cBhvr>
                                        <p:cTn id="160" dur="1" fill="hold">
                                          <p:stCondLst>
                                            <p:cond delay="0"/>
                                          </p:stCondLst>
                                        </p:cTn>
                                        <p:tgtEl>
                                          <p:spTgt spid="17"/>
                                        </p:tgtEl>
                                        <p:attrNameLst>
                                          <p:attrName>style.visibility</p:attrName>
                                        </p:attrNameLst>
                                      </p:cBhvr>
                                      <p:to>
                                        <p:strVal val="visible"/>
                                      </p:to>
                                    </p:set>
                                  </p:childTnLst>
                                </p:cTn>
                              </p:par>
                              <p:par>
                                <p:cTn id="161" presetID="10" presetClass="entr" presetSubtype="0" fill="hold" grpId="0" nodeType="withEffect">
                                  <p:stCondLst>
                                    <p:cond delay="0"/>
                                  </p:stCondLst>
                                  <p:childTnLst>
                                    <p:animEffect transition="in" filter="fade">
                                      <p:cBhvr>
                                        <p:cTn id="162" dur="500"/>
                                        <p:tgtEl>
                                          <p:spTgt spid="9"/>
                                        </p:tgtEl>
                                      </p:cBhvr>
                                    </p:animEffect>
                                    <p:set>
                                      <p:cBhvr>
                                        <p:cTn id="163" dur="1" fill="hold">
                                          <p:stCondLst>
                                            <p:cond delay="0"/>
                                          </p:stCondLst>
                                        </p:cTn>
                                        <p:tgtEl>
                                          <p:spTgt spid="9"/>
                                        </p:tgtEl>
                                        <p:attrNameLst>
                                          <p:attrName>style.visibility</p:attrName>
                                        </p:attrNameLst>
                                      </p:cBhvr>
                                      <p:to>
                                        <p:strVal val="visible"/>
                                      </p:to>
                                    </p:set>
                                  </p:childTnLst>
                                </p:cTn>
                              </p:par>
                              <p:par>
                                <p:cTn id="164" presetID="10" presetClass="entr" presetSubtype="0" fill="hold" grpId="0" nodeType="withEffect">
                                  <p:stCondLst>
                                    <p:cond delay="0"/>
                                  </p:stCondLst>
                                  <p:childTnLst>
                                    <p:animEffect transition="in" filter="fade">
                                      <p:cBhvr>
                                        <p:cTn id="165" dur="500"/>
                                        <p:tgtEl>
                                          <p:spTgt spid="15"/>
                                        </p:tgtEl>
                                      </p:cBhvr>
                                    </p:animEffect>
                                    <p:set>
                                      <p:cBhvr>
                                        <p:cTn id="166" dur="1" fill="hold">
                                          <p:stCondLst>
                                            <p:cond delay="0"/>
                                          </p:stCondLst>
                                        </p:cTn>
                                        <p:tgtEl>
                                          <p:spTgt spid="15"/>
                                        </p:tgtEl>
                                        <p:attrNameLst>
                                          <p:attrName>style.visibility</p:attrName>
                                        </p:attrNameLst>
                                      </p:cBhvr>
                                      <p:to>
                                        <p:strVal val="visible"/>
                                      </p:to>
                                    </p:set>
                                  </p:childTnLst>
                                </p:cTn>
                              </p:par>
                              <p:par>
                                <p:cTn id="167" presetID="10" presetClass="entr" presetSubtype="0" fill="hold" grpId="0" nodeType="withEffect">
                                  <p:stCondLst>
                                    <p:cond delay="0"/>
                                  </p:stCondLst>
                                  <p:childTnLst>
                                    <p:animEffect transition="in" filter="fade">
                                      <p:cBhvr>
                                        <p:cTn id="168" dur="500"/>
                                        <p:tgtEl>
                                          <p:spTgt spid="18"/>
                                        </p:tgtEl>
                                      </p:cBhvr>
                                    </p:animEffect>
                                    <p:set>
                                      <p:cBhvr>
                                        <p:cTn id="169" dur="1" fill="hold">
                                          <p:stCondLst>
                                            <p:cond delay="0"/>
                                          </p:stCondLst>
                                        </p:cTn>
                                        <p:tgtEl>
                                          <p:spTgt spid="18"/>
                                        </p:tgtEl>
                                        <p:attrNameLst>
                                          <p:attrName>style.visibility</p:attrName>
                                        </p:attrNameLst>
                                      </p:cBhvr>
                                      <p:to>
                                        <p:strVal val="visible"/>
                                      </p:to>
                                    </p:set>
                                  </p:childTnLst>
                                </p:cTn>
                              </p:par>
                              <p:par>
                                <p:cTn id="170" presetID="10" presetClass="entr" presetSubtype="0" fill="hold" grpId="0" nodeType="withEffect">
                                  <p:stCondLst>
                                    <p:cond delay="0"/>
                                  </p:stCondLst>
                                  <p:childTnLst>
                                    <p:animEffect transition="in" filter="fade">
                                      <p:cBhvr>
                                        <p:cTn id="171" dur="500"/>
                                        <p:tgtEl>
                                          <p:spTgt spid="6"/>
                                        </p:tgtEl>
                                      </p:cBhvr>
                                    </p:animEffect>
                                    <p:set>
                                      <p:cBhvr>
                                        <p:cTn id="172" dur="1" fill="hold">
                                          <p:stCondLst>
                                            <p:cond delay="0"/>
                                          </p:stCondLst>
                                        </p:cTn>
                                        <p:tgtEl>
                                          <p:spTgt spid="6"/>
                                        </p:tgtEl>
                                        <p:attrNameLst>
                                          <p:attrName>style.visibility</p:attrName>
                                        </p:attrNameLst>
                                      </p:cBhvr>
                                      <p:to>
                                        <p:strVal val="visible"/>
                                      </p:to>
                                    </p:set>
                                  </p:childTnLst>
                                </p:cTn>
                              </p:par>
                              <p:par>
                                <p:cTn id="173" presetID="10" presetClass="entr" presetSubtype="0" fill="hold" grpId="0" nodeType="withEffect">
                                  <p:stCondLst>
                                    <p:cond delay="0"/>
                                  </p:stCondLst>
                                  <p:childTnLst>
                                    <p:animEffect transition="in" filter="fade">
                                      <p:cBhvr>
                                        <p:cTn id="174" dur="500"/>
                                        <p:tgtEl>
                                          <p:spTgt spid="13"/>
                                        </p:tgtEl>
                                      </p:cBhvr>
                                    </p:animEffect>
                                    <p:set>
                                      <p:cBhvr>
                                        <p:cTn id="175" dur="1" fill="hold">
                                          <p:stCondLst>
                                            <p:cond delay="0"/>
                                          </p:stCondLst>
                                        </p:cTn>
                                        <p:tgtEl>
                                          <p:spTgt spid="13"/>
                                        </p:tgtEl>
                                        <p:attrNameLst>
                                          <p:attrName>style.visibility</p:attrName>
                                        </p:attrNameLst>
                                      </p:cBhvr>
                                      <p:to>
                                        <p:strVal val="visible"/>
                                      </p:to>
                                    </p:set>
                                  </p:childTnLst>
                                </p:cTn>
                              </p:par>
                              <p:par>
                                <p:cTn id="176" presetID="10" presetClass="entr" presetSubtype="0" fill="hold" grpId="0" nodeType="withEffect">
                                  <p:stCondLst>
                                    <p:cond delay="0"/>
                                  </p:stCondLst>
                                  <p:childTnLst>
                                    <p:animEffect transition="in" filter="fade">
                                      <p:cBhvr>
                                        <p:cTn id="177" dur="500"/>
                                        <p:tgtEl>
                                          <p:spTgt spid="16"/>
                                        </p:tgtEl>
                                      </p:cBhvr>
                                    </p:animEffect>
                                    <p:set>
                                      <p:cBhvr>
                                        <p:cTn id="178" dur="1" fill="hold">
                                          <p:stCondLst>
                                            <p:cond delay="0"/>
                                          </p:stCondLst>
                                        </p:cTn>
                                        <p:tgtEl>
                                          <p:spTgt spid="16"/>
                                        </p:tgtEl>
                                        <p:attrNameLst>
                                          <p:attrName>style.visibility</p:attrName>
                                        </p:attrNameLst>
                                      </p:cBhvr>
                                      <p:to>
                                        <p:strVal val="visible"/>
                                      </p:to>
                                    </p:set>
                                  </p:childTnLst>
                                </p:cTn>
                              </p:par>
                              <p:par>
                                <p:cTn id="179" presetID="10" presetClass="entr" presetSubtype="0" fill="hold" grpId="0" nodeType="withEffect">
                                  <p:stCondLst>
                                    <p:cond delay="0"/>
                                  </p:stCondLst>
                                  <p:childTnLst>
                                    <p:animEffect transition="in" filter="fade">
                                      <p:cBhvr>
                                        <p:cTn id="180" dur="500"/>
                                        <p:tgtEl>
                                          <p:spTgt spid="19"/>
                                        </p:tgtEl>
                                      </p:cBhvr>
                                    </p:animEffect>
                                    <p:set>
                                      <p:cBhvr>
                                        <p:cTn id="181" dur="1" fill="hold">
                                          <p:stCondLst>
                                            <p:cond delay="0"/>
                                          </p:stCondLst>
                                        </p:cTn>
                                        <p:tgtEl>
                                          <p:spTgt spid="19"/>
                                        </p:tgtEl>
                                        <p:attrNameLst>
                                          <p:attrName>style.visibility</p:attrName>
                                        </p:attrNameLst>
                                      </p:cBhvr>
                                      <p:to>
                                        <p:strVal val="visible"/>
                                      </p:to>
                                    </p:set>
                                  </p:childTnLst>
                                </p:cTn>
                              </p:par>
                              <p:par>
                                <p:cTn id="182" presetID="10" presetClass="entr" presetSubtype="0" fill="hold" grpId="0" nodeType="withEffect">
                                  <p:stCondLst>
                                    <p:cond delay="0"/>
                                  </p:stCondLst>
                                  <p:childTnLst>
                                    <p:animEffect transition="in" filter="fade">
                                      <p:cBhvr>
                                        <p:cTn id="183" dur="500"/>
                                        <p:tgtEl>
                                          <p:spTgt spid="7"/>
                                        </p:tgtEl>
                                      </p:cBhvr>
                                    </p:animEffect>
                                    <p:set>
                                      <p:cBhvr>
                                        <p:cTn id="184" dur="1" fill="hold">
                                          <p:stCondLst>
                                            <p:cond delay="0"/>
                                          </p:stCondLst>
                                        </p:cTn>
                                        <p:tgtEl>
                                          <p:spTgt spid="7"/>
                                        </p:tgtEl>
                                        <p:attrNameLst>
                                          <p:attrName>style.visibility</p:attrName>
                                        </p:attrNameLst>
                                      </p:cBhvr>
                                      <p:to>
                                        <p:strVal val="visible"/>
                                      </p:to>
                                    </p:set>
                                  </p:childTnLst>
                                </p:cTn>
                              </p:par>
                              <p:par>
                                <p:cTn id="185" presetID="10" presetClass="entr" presetSubtype="0" fill="hold" grpId="0" nodeType="withEffect">
                                  <p:stCondLst>
                                    <p:cond delay="0"/>
                                  </p:stCondLst>
                                  <p:childTnLst>
                                    <p:animEffect transition="in" filter="fade">
                                      <p:cBhvr>
                                        <p:cTn id="186" dur="500"/>
                                        <p:tgtEl>
                                          <p:spTgt spid="14"/>
                                        </p:tgtEl>
                                      </p:cBhvr>
                                    </p:animEffect>
                                    <p:set>
                                      <p:cBhvr>
                                        <p:cTn id="187" dur="1" fill="hold">
                                          <p:stCondLst>
                                            <p:cond delay="0"/>
                                          </p:stCondLst>
                                        </p:cTn>
                                        <p:tgtEl>
                                          <p:spTgt spid="14"/>
                                        </p:tgtEl>
                                        <p:attrNameLst>
                                          <p:attrName>style.visibility</p:attrName>
                                        </p:attrNameLst>
                                      </p:cBhvr>
                                      <p:to>
                                        <p:strVal val="visible"/>
                                      </p:to>
                                    </p:set>
                                  </p:childTnLst>
                                </p:cTn>
                              </p:par>
                              <p:par>
                                <p:cTn id="188" presetID="10" presetClass="entr" presetSubtype="0" fill="hold" grpId="0" nodeType="withEffect">
                                  <p:stCondLst>
                                    <p:cond delay="0"/>
                                  </p:stCondLst>
                                  <p:childTnLst>
                                    <p:animEffect transition="in" filter="fade">
                                      <p:cBhvr>
                                        <p:cTn id="189" dur="500"/>
                                        <p:tgtEl>
                                          <p:spTgt spid="17"/>
                                        </p:tgtEl>
                                      </p:cBhvr>
                                    </p:animEffect>
                                    <p:set>
                                      <p:cBhvr>
                                        <p:cTn id="190" dur="1" fill="hold">
                                          <p:stCondLst>
                                            <p:cond delay="0"/>
                                          </p:stCondLst>
                                        </p:cTn>
                                        <p:tgtEl>
                                          <p:spTgt spid="17"/>
                                        </p:tgtEl>
                                        <p:attrNameLst>
                                          <p:attrName>style.visibility</p:attrName>
                                        </p:attrNameLst>
                                      </p:cBhvr>
                                      <p:to>
                                        <p:strVal val="visible"/>
                                      </p:to>
                                    </p:set>
                                  </p:childTnLst>
                                </p:cTn>
                              </p:par>
                              <p:par>
                                <p:cTn id="191" presetID="10" presetClass="entr" presetSubtype="0" fill="hold" grpId="0" nodeType="withEffect">
                                  <p:stCondLst>
                                    <p:cond delay="0"/>
                                  </p:stCondLst>
                                  <p:childTnLst>
                                    <p:animEffect transition="in" filter="fade">
                                      <p:cBhvr>
                                        <p:cTn id="192" dur="500"/>
                                        <p:tgtEl>
                                          <p:spTgt spid="20"/>
                                        </p:tgtEl>
                                      </p:cBhvr>
                                    </p:animEffect>
                                    <p:set>
                                      <p:cBhvr>
                                        <p:cTn id="193" dur="1" fill="hold">
                                          <p:stCondLst>
                                            <p:cond delay="0"/>
                                          </p:stCondLst>
                                        </p:cTn>
                                        <p:tgtEl>
                                          <p:spTgt spid="20"/>
                                        </p:tgtEl>
                                        <p:attrNameLst>
                                          <p:attrName>style.visibility</p:attrName>
                                        </p:attrNameLst>
                                      </p:cBhvr>
                                      <p:to>
                                        <p:strVal val="visible"/>
                                      </p:to>
                                    </p:set>
                                  </p:childTnLst>
                                </p:cTn>
                              </p:par>
                              <p:par>
                                <p:cTn id="194" presetID="10" presetClass="entr" presetSubtype="0" fill="hold" grpId="0" nodeType="withEffect">
                                  <p:stCondLst>
                                    <p:cond delay="0"/>
                                  </p:stCondLst>
                                  <p:childTnLst>
                                    <p:animEffect transition="in" filter="fade">
                                      <p:cBhvr>
                                        <p:cTn id="195" dur="500"/>
                                        <p:tgtEl>
                                          <p:spTgt spid="9"/>
                                        </p:tgtEl>
                                      </p:cBhvr>
                                    </p:animEffect>
                                    <p:set>
                                      <p:cBhvr>
                                        <p:cTn id="196" dur="1" fill="hold">
                                          <p:stCondLst>
                                            <p:cond delay="0"/>
                                          </p:stCondLst>
                                        </p:cTn>
                                        <p:tgtEl>
                                          <p:spTgt spid="9"/>
                                        </p:tgtEl>
                                        <p:attrNameLst>
                                          <p:attrName>style.visibility</p:attrName>
                                        </p:attrNameLst>
                                      </p:cBhvr>
                                      <p:to>
                                        <p:strVal val="visible"/>
                                      </p:to>
                                    </p:set>
                                  </p:childTnLst>
                                </p:cTn>
                              </p:par>
                              <p:par>
                                <p:cTn id="197" presetID="10" presetClass="entr" presetSubtype="0" fill="hold" grpId="0" nodeType="withEffect">
                                  <p:stCondLst>
                                    <p:cond delay="0"/>
                                  </p:stCondLst>
                                  <p:childTnLst>
                                    <p:animEffect transition="in" filter="fade">
                                      <p:cBhvr>
                                        <p:cTn id="198" dur="500"/>
                                        <p:tgtEl>
                                          <p:spTgt spid="15"/>
                                        </p:tgtEl>
                                      </p:cBhvr>
                                    </p:animEffect>
                                    <p:set>
                                      <p:cBhvr>
                                        <p:cTn id="199" dur="1" fill="hold">
                                          <p:stCondLst>
                                            <p:cond delay="0"/>
                                          </p:stCondLst>
                                        </p:cTn>
                                        <p:tgtEl>
                                          <p:spTgt spid="15"/>
                                        </p:tgtEl>
                                        <p:attrNameLst>
                                          <p:attrName>style.visibility</p:attrName>
                                        </p:attrNameLst>
                                      </p:cBhvr>
                                      <p:to>
                                        <p:strVal val="visible"/>
                                      </p:to>
                                    </p:set>
                                  </p:childTnLst>
                                </p:cTn>
                              </p:par>
                              <p:par>
                                <p:cTn id="200" presetID="10" presetClass="entr" presetSubtype="0" fill="hold" grpId="0" nodeType="withEffect">
                                  <p:stCondLst>
                                    <p:cond delay="0"/>
                                  </p:stCondLst>
                                  <p:childTnLst>
                                    <p:animEffect transition="in" filter="fade">
                                      <p:cBhvr>
                                        <p:cTn id="201" dur="500"/>
                                        <p:tgtEl>
                                          <p:spTgt spid="18"/>
                                        </p:tgtEl>
                                      </p:cBhvr>
                                    </p:animEffect>
                                    <p:set>
                                      <p:cBhvr>
                                        <p:cTn id="202" dur="1" fill="hold">
                                          <p:stCondLst>
                                            <p:cond delay="0"/>
                                          </p:stCondLst>
                                        </p:cTn>
                                        <p:tgtEl>
                                          <p:spTgt spid="18"/>
                                        </p:tgtEl>
                                        <p:attrNameLst>
                                          <p:attrName>style.visibility</p:attrName>
                                        </p:attrNameLst>
                                      </p:cBhvr>
                                      <p:to>
                                        <p:strVal val="visible"/>
                                      </p:to>
                                    </p:set>
                                  </p:childTnLst>
                                </p:cTn>
                              </p:par>
                              <p:par>
                                <p:cTn id="203" presetID="10" presetClass="entr" presetSubtype="0" fill="hold" grpId="0" nodeType="withEffect">
                                  <p:stCondLst>
                                    <p:cond delay="0"/>
                                  </p:stCondLst>
                                  <p:childTnLst>
                                    <p:animEffect transition="in" filter="fade">
                                      <p:cBhvr>
                                        <p:cTn id="204" dur="500"/>
                                        <p:tgtEl>
                                          <p:spTgt spid="21"/>
                                        </p:tgtEl>
                                      </p:cBhvr>
                                    </p:animEffect>
                                    <p:set>
                                      <p:cBhvr>
                                        <p:cTn id="205" dur="1" fill="hold">
                                          <p:stCondLst>
                                            <p:cond delay="0"/>
                                          </p:stCondLst>
                                        </p:cTn>
                                        <p:tgtEl>
                                          <p:spTgt spid="21"/>
                                        </p:tgtEl>
                                        <p:attrNameLst>
                                          <p:attrName>style.visibility</p:attrName>
                                        </p:attrNameLst>
                                      </p:cBhvr>
                                      <p:to>
                                        <p:strVal val="visible"/>
                                      </p:to>
                                    </p:set>
                                  </p:childTnLst>
                                </p:cTn>
                              </p:par>
                            </p:childTnLst>
                          </p:cTn>
                        </p:par>
                      </p:childTnLst>
                    </p:cTn>
                  </p:par>
                  <p:par>
                    <p:cTn id="206" fill="hold">
                      <p:stCondLst>
                        <p:cond delay="indefinite"/>
                      </p:stCondLst>
                      <p:childTnLst>
                        <p:par>
                          <p:cTn id="207" fill="hold">
                            <p:stCondLst>
                              <p:cond delay="0"/>
                            </p:stCondLst>
                            <p:childTnLst>
                              <p:par>
                                <p:cTn id="208" presetID="10" presetClass="entr" presetSubtype="0" fill="hold" grpId="0" nodeType="clickEffect">
                                  <p:stCondLst>
                                    <p:cond delay="0"/>
                                  </p:stCondLst>
                                  <p:childTnLst>
                                    <p:animEffect transition="in" filter="fade">
                                      <p:cBhvr>
                                        <p:cTn id="209" dur="500"/>
                                        <p:tgtEl>
                                          <p:spTgt spid="22"/>
                                        </p:tgtEl>
                                      </p:cBhvr>
                                    </p:animEffect>
                                    <p:set>
                                      <p:cBhvr>
                                        <p:cTn id="210" dur="1" fill="hold">
                                          <p:stCondLst>
                                            <p:cond delay="0"/>
                                          </p:stCondLst>
                                        </p:cTn>
                                        <p:tgtEl>
                                          <p:spTgt spid="22"/>
                                        </p:tgtEl>
                                        <p:attrNameLst>
                                          <p:attrName>style.visibility</p:attrName>
                                        </p:attrNameLst>
                                      </p:cBhvr>
                                      <p:to>
                                        <p:strVal val="visible"/>
                                      </p:to>
                                    </p:set>
                                  </p:childTnLst>
                                </p:cTn>
                              </p:par>
                              <p:par>
                                <p:cTn id="211" presetID="10" presetClass="entr" presetSubtype="0" fill="hold" grpId="0" nodeType="withEffect">
                                  <p:stCondLst>
                                    <p:cond delay="0"/>
                                  </p:stCondLst>
                                  <p:childTnLst>
                                    <p:animEffect transition="in" filter="fade">
                                      <p:cBhvr>
                                        <p:cTn id="212" dur="500"/>
                                        <p:tgtEl>
                                          <p:spTgt spid="23"/>
                                        </p:tgtEl>
                                      </p:cBhvr>
                                    </p:animEffect>
                                    <p:set>
                                      <p:cBhvr>
                                        <p:cTn id="213" dur="1" fill="hold">
                                          <p:stCondLst>
                                            <p:cond delay="0"/>
                                          </p:stCondLst>
                                        </p:cTn>
                                        <p:tgtEl>
                                          <p:spTgt spid="23"/>
                                        </p:tgtEl>
                                        <p:attrNameLst>
                                          <p:attrName>style.visibility</p:attrName>
                                        </p:attrNameLst>
                                      </p:cBhvr>
                                      <p:to>
                                        <p:strVal val="visible"/>
                                      </p:to>
                                    </p:set>
                                  </p:childTnLst>
                                </p:cTn>
                              </p:par>
                              <p:par>
                                <p:cTn id="214" presetID="10" presetClass="entr" presetSubtype="0" fill="hold" grpId="0" nodeType="withEffect">
                                  <p:stCondLst>
                                    <p:cond delay="0"/>
                                  </p:stCondLst>
                                  <p:childTnLst>
                                    <p:animEffect transition="in" filter="fade">
                                      <p:cBhvr>
                                        <p:cTn id="215" dur="500"/>
                                        <p:tgtEl>
                                          <p:spTgt spid="24"/>
                                        </p:tgtEl>
                                      </p:cBhvr>
                                    </p:animEffect>
                                    <p:set>
                                      <p:cBhvr>
                                        <p:cTn id="216" dur="1" fill="hold">
                                          <p:stCondLst>
                                            <p:cond delay="0"/>
                                          </p:stCondLst>
                                        </p:cTn>
                                        <p:tgtEl>
                                          <p:spTgt spid="24"/>
                                        </p:tgtEl>
                                        <p:attrNameLst>
                                          <p:attrName>style.visibility</p:attrName>
                                        </p:attrNameLst>
                                      </p:cBhvr>
                                      <p:to>
                                        <p:strVal val="visible"/>
                                      </p:to>
                                    </p:set>
                                  </p:childTnLst>
                                </p:cTn>
                              </p:par>
                              <p:par>
                                <p:cTn id="217" presetID="10" presetClass="entr" presetSubtype="0" fill="hold" grpId="0" nodeType="withEffect">
                                  <p:stCondLst>
                                    <p:cond delay="0"/>
                                  </p:stCondLst>
                                  <p:childTnLst>
                                    <p:animEffect transition="in" filter="fade">
                                      <p:cBhvr>
                                        <p:cTn id="218" dur="500"/>
                                        <p:tgtEl>
                                          <p:spTgt spid="25"/>
                                        </p:tgtEl>
                                      </p:cBhvr>
                                    </p:animEffect>
                                    <p:set>
                                      <p:cBhvr>
                                        <p:cTn id="219" dur="1" fill="hold">
                                          <p:stCondLst>
                                            <p:cond delay="0"/>
                                          </p:stCondLst>
                                        </p:cTn>
                                        <p:tgtEl>
                                          <p:spTgt spid="25"/>
                                        </p:tgtEl>
                                        <p:attrNameLst>
                                          <p:attrName>style.visibility</p:attrName>
                                        </p:attrNameLst>
                                      </p:cBhvr>
                                      <p:to>
                                        <p:strVal val="visible"/>
                                      </p:to>
                                    </p:set>
                                  </p:childTnLst>
                                </p:cTn>
                              </p:par>
                              <p:par>
                                <p:cTn id="220" presetID="10" presetClass="entr" presetSubtype="0" fill="hold" grpId="0" nodeType="withEffect">
                                  <p:stCondLst>
                                    <p:cond delay="0"/>
                                  </p:stCondLst>
                                  <p:childTnLst>
                                    <p:animEffect transition="in" filter="fade">
                                      <p:cBhvr>
                                        <p:cTn id="221" dur="500"/>
                                        <p:tgtEl>
                                          <p:spTgt spid="6"/>
                                        </p:tgtEl>
                                      </p:cBhvr>
                                    </p:animEffect>
                                    <p:set>
                                      <p:cBhvr>
                                        <p:cTn id="222" dur="1" fill="hold">
                                          <p:stCondLst>
                                            <p:cond delay="0"/>
                                          </p:stCondLst>
                                        </p:cTn>
                                        <p:tgtEl>
                                          <p:spTgt spid="6"/>
                                        </p:tgtEl>
                                        <p:attrNameLst>
                                          <p:attrName>style.visibility</p:attrName>
                                        </p:attrNameLst>
                                      </p:cBhvr>
                                      <p:to>
                                        <p:strVal val="visible"/>
                                      </p:to>
                                    </p:set>
                                  </p:childTnLst>
                                </p:cTn>
                              </p:par>
                              <p:par>
                                <p:cTn id="223" presetID="10" presetClass="entr" presetSubtype="0" fill="hold" grpId="0" nodeType="withEffect">
                                  <p:stCondLst>
                                    <p:cond delay="0"/>
                                  </p:stCondLst>
                                  <p:childTnLst>
                                    <p:animEffect transition="in" filter="fade">
                                      <p:cBhvr>
                                        <p:cTn id="224" dur="500"/>
                                        <p:tgtEl>
                                          <p:spTgt spid="13"/>
                                        </p:tgtEl>
                                      </p:cBhvr>
                                    </p:animEffect>
                                    <p:set>
                                      <p:cBhvr>
                                        <p:cTn id="225" dur="1" fill="hold">
                                          <p:stCondLst>
                                            <p:cond delay="0"/>
                                          </p:stCondLst>
                                        </p:cTn>
                                        <p:tgtEl>
                                          <p:spTgt spid="13"/>
                                        </p:tgtEl>
                                        <p:attrNameLst>
                                          <p:attrName>style.visibility</p:attrName>
                                        </p:attrNameLst>
                                      </p:cBhvr>
                                      <p:to>
                                        <p:strVal val="visible"/>
                                      </p:to>
                                    </p:set>
                                  </p:childTnLst>
                                </p:cTn>
                              </p:par>
                              <p:par>
                                <p:cTn id="226" presetID="10" presetClass="entr" presetSubtype="0" fill="hold" grpId="0" nodeType="withEffect">
                                  <p:stCondLst>
                                    <p:cond delay="0"/>
                                  </p:stCondLst>
                                  <p:childTnLst>
                                    <p:animEffect transition="in" filter="fade">
                                      <p:cBhvr>
                                        <p:cTn id="227" dur="500"/>
                                        <p:tgtEl>
                                          <p:spTgt spid="16"/>
                                        </p:tgtEl>
                                      </p:cBhvr>
                                    </p:animEffect>
                                    <p:set>
                                      <p:cBhvr>
                                        <p:cTn id="228" dur="1" fill="hold">
                                          <p:stCondLst>
                                            <p:cond delay="0"/>
                                          </p:stCondLst>
                                        </p:cTn>
                                        <p:tgtEl>
                                          <p:spTgt spid="16"/>
                                        </p:tgtEl>
                                        <p:attrNameLst>
                                          <p:attrName>style.visibility</p:attrName>
                                        </p:attrNameLst>
                                      </p:cBhvr>
                                      <p:to>
                                        <p:strVal val="visible"/>
                                      </p:to>
                                    </p:set>
                                  </p:childTnLst>
                                </p:cTn>
                              </p:par>
                              <p:par>
                                <p:cTn id="229" presetID="10" presetClass="entr" presetSubtype="0" fill="hold" grpId="0" nodeType="withEffect">
                                  <p:stCondLst>
                                    <p:cond delay="0"/>
                                  </p:stCondLst>
                                  <p:childTnLst>
                                    <p:animEffect transition="in" filter="fade">
                                      <p:cBhvr>
                                        <p:cTn id="230" dur="500"/>
                                        <p:tgtEl>
                                          <p:spTgt spid="19"/>
                                        </p:tgtEl>
                                      </p:cBhvr>
                                    </p:animEffect>
                                    <p:set>
                                      <p:cBhvr>
                                        <p:cTn id="231" dur="1" fill="hold">
                                          <p:stCondLst>
                                            <p:cond delay="0"/>
                                          </p:stCondLst>
                                        </p:cTn>
                                        <p:tgtEl>
                                          <p:spTgt spid="19"/>
                                        </p:tgtEl>
                                        <p:attrNameLst>
                                          <p:attrName>style.visibility</p:attrName>
                                        </p:attrNameLst>
                                      </p:cBhvr>
                                      <p:to>
                                        <p:strVal val="visible"/>
                                      </p:to>
                                    </p:set>
                                  </p:childTnLst>
                                </p:cTn>
                              </p:par>
                              <p:par>
                                <p:cTn id="232" presetID="10" presetClass="entr" presetSubtype="0" fill="hold" grpId="0" nodeType="withEffect">
                                  <p:stCondLst>
                                    <p:cond delay="0"/>
                                  </p:stCondLst>
                                  <p:childTnLst>
                                    <p:animEffect transition="in" filter="fade">
                                      <p:cBhvr>
                                        <p:cTn id="233" dur="500"/>
                                        <p:tgtEl>
                                          <p:spTgt spid="26"/>
                                        </p:tgtEl>
                                      </p:cBhvr>
                                    </p:animEffect>
                                    <p:set>
                                      <p:cBhvr>
                                        <p:cTn id="234" dur="1" fill="hold">
                                          <p:stCondLst>
                                            <p:cond delay="0"/>
                                          </p:stCondLst>
                                        </p:cTn>
                                        <p:tgtEl>
                                          <p:spTgt spid="26"/>
                                        </p:tgtEl>
                                        <p:attrNameLst>
                                          <p:attrName>style.visibility</p:attrName>
                                        </p:attrNameLst>
                                      </p:cBhvr>
                                      <p:to>
                                        <p:strVal val="visible"/>
                                      </p:to>
                                    </p:set>
                                  </p:childTnLst>
                                </p:cTn>
                              </p:par>
                              <p:par>
                                <p:cTn id="235" presetID="10" presetClass="entr" presetSubtype="0" fill="hold" grpId="0" nodeType="withEffect">
                                  <p:stCondLst>
                                    <p:cond delay="0"/>
                                  </p:stCondLst>
                                  <p:childTnLst>
                                    <p:animEffect transition="in" filter="fade">
                                      <p:cBhvr>
                                        <p:cTn id="236" dur="500"/>
                                        <p:tgtEl>
                                          <p:spTgt spid="7"/>
                                        </p:tgtEl>
                                      </p:cBhvr>
                                    </p:animEffect>
                                    <p:set>
                                      <p:cBhvr>
                                        <p:cTn id="237" dur="1" fill="hold">
                                          <p:stCondLst>
                                            <p:cond delay="0"/>
                                          </p:stCondLst>
                                        </p:cTn>
                                        <p:tgtEl>
                                          <p:spTgt spid="7"/>
                                        </p:tgtEl>
                                        <p:attrNameLst>
                                          <p:attrName>style.visibility</p:attrName>
                                        </p:attrNameLst>
                                      </p:cBhvr>
                                      <p:to>
                                        <p:strVal val="visible"/>
                                      </p:to>
                                    </p:set>
                                  </p:childTnLst>
                                </p:cTn>
                              </p:par>
                              <p:par>
                                <p:cTn id="238" presetID="10" presetClass="entr" presetSubtype="0" fill="hold" grpId="0" nodeType="withEffect">
                                  <p:stCondLst>
                                    <p:cond delay="0"/>
                                  </p:stCondLst>
                                  <p:childTnLst>
                                    <p:animEffect transition="in" filter="fade">
                                      <p:cBhvr>
                                        <p:cTn id="239" dur="500"/>
                                        <p:tgtEl>
                                          <p:spTgt spid="14"/>
                                        </p:tgtEl>
                                      </p:cBhvr>
                                    </p:animEffect>
                                    <p:set>
                                      <p:cBhvr>
                                        <p:cTn id="240" dur="1" fill="hold">
                                          <p:stCondLst>
                                            <p:cond delay="0"/>
                                          </p:stCondLst>
                                        </p:cTn>
                                        <p:tgtEl>
                                          <p:spTgt spid="14"/>
                                        </p:tgtEl>
                                        <p:attrNameLst>
                                          <p:attrName>style.visibility</p:attrName>
                                        </p:attrNameLst>
                                      </p:cBhvr>
                                      <p:to>
                                        <p:strVal val="visible"/>
                                      </p:to>
                                    </p:set>
                                  </p:childTnLst>
                                </p:cTn>
                              </p:par>
                              <p:par>
                                <p:cTn id="241" presetID="10" presetClass="entr" presetSubtype="0" fill="hold" grpId="0" nodeType="withEffect">
                                  <p:stCondLst>
                                    <p:cond delay="0"/>
                                  </p:stCondLst>
                                  <p:childTnLst>
                                    <p:animEffect transition="in" filter="fade">
                                      <p:cBhvr>
                                        <p:cTn id="242" dur="500"/>
                                        <p:tgtEl>
                                          <p:spTgt spid="17"/>
                                        </p:tgtEl>
                                      </p:cBhvr>
                                    </p:animEffect>
                                    <p:set>
                                      <p:cBhvr>
                                        <p:cTn id="243" dur="1" fill="hold">
                                          <p:stCondLst>
                                            <p:cond delay="0"/>
                                          </p:stCondLst>
                                        </p:cTn>
                                        <p:tgtEl>
                                          <p:spTgt spid="17"/>
                                        </p:tgtEl>
                                        <p:attrNameLst>
                                          <p:attrName>style.visibility</p:attrName>
                                        </p:attrNameLst>
                                      </p:cBhvr>
                                      <p:to>
                                        <p:strVal val="visible"/>
                                      </p:to>
                                    </p:set>
                                  </p:childTnLst>
                                </p:cTn>
                              </p:par>
                              <p:par>
                                <p:cTn id="244" presetID="10" presetClass="entr" presetSubtype="0" fill="hold" grpId="0" nodeType="withEffect">
                                  <p:stCondLst>
                                    <p:cond delay="0"/>
                                  </p:stCondLst>
                                  <p:childTnLst>
                                    <p:animEffect transition="in" filter="fade">
                                      <p:cBhvr>
                                        <p:cTn id="245" dur="500"/>
                                        <p:tgtEl>
                                          <p:spTgt spid="20"/>
                                        </p:tgtEl>
                                      </p:cBhvr>
                                    </p:animEffect>
                                    <p:set>
                                      <p:cBhvr>
                                        <p:cTn id="246" dur="1" fill="hold">
                                          <p:stCondLst>
                                            <p:cond delay="0"/>
                                          </p:stCondLst>
                                        </p:cTn>
                                        <p:tgtEl>
                                          <p:spTgt spid="20"/>
                                        </p:tgtEl>
                                        <p:attrNameLst>
                                          <p:attrName>style.visibility</p:attrName>
                                        </p:attrNameLst>
                                      </p:cBhvr>
                                      <p:to>
                                        <p:strVal val="visible"/>
                                      </p:to>
                                    </p:set>
                                  </p:childTnLst>
                                </p:cTn>
                              </p:par>
                              <p:par>
                                <p:cTn id="247" presetID="10" presetClass="entr" presetSubtype="0" fill="hold" grpId="0" nodeType="withEffect">
                                  <p:stCondLst>
                                    <p:cond delay="0"/>
                                  </p:stCondLst>
                                  <p:childTnLst>
                                    <p:animEffect transition="in" filter="fade">
                                      <p:cBhvr>
                                        <p:cTn id="248" dur="500"/>
                                        <p:tgtEl>
                                          <p:spTgt spid="27"/>
                                        </p:tgtEl>
                                      </p:cBhvr>
                                    </p:animEffect>
                                    <p:set>
                                      <p:cBhvr>
                                        <p:cTn id="249" dur="1" fill="hold">
                                          <p:stCondLst>
                                            <p:cond delay="0"/>
                                          </p:stCondLst>
                                        </p:cTn>
                                        <p:tgtEl>
                                          <p:spTgt spid="27"/>
                                        </p:tgtEl>
                                        <p:attrNameLst>
                                          <p:attrName>style.visibility</p:attrName>
                                        </p:attrNameLst>
                                      </p:cBhvr>
                                      <p:to>
                                        <p:strVal val="visible"/>
                                      </p:to>
                                    </p:set>
                                  </p:childTnLst>
                                </p:cTn>
                              </p:par>
                              <p:par>
                                <p:cTn id="250" presetID="10" presetClass="entr" presetSubtype="0" fill="hold" grpId="0" nodeType="withEffect">
                                  <p:stCondLst>
                                    <p:cond delay="0"/>
                                  </p:stCondLst>
                                  <p:childTnLst>
                                    <p:animEffect transition="in" filter="fade">
                                      <p:cBhvr>
                                        <p:cTn id="251" dur="500"/>
                                        <p:tgtEl>
                                          <p:spTgt spid="9"/>
                                        </p:tgtEl>
                                      </p:cBhvr>
                                    </p:animEffect>
                                    <p:set>
                                      <p:cBhvr>
                                        <p:cTn id="252" dur="1" fill="hold">
                                          <p:stCondLst>
                                            <p:cond delay="0"/>
                                          </p:stCondLst>
                                        </p:cTn>
                                        <p:tgtEl>
                                          <p:spTgt spid="9"/>
                                        </p:tgtEl>
                                        <p:attrNameLst>
                                          <p:attrName>style.visibility</p:attrName>
                                        </p:attrNameLst>
                                      </p:cBhvr>
                                      <p:to>
                                        <p:strVal val="visible"/>
                                      </p:to>
                                    </p:set>
                                  </p:childTnLst>
                                </p:cTn>
                              </p:par>
                              <p:par>
                                <p:cTn id="253" presetID="10" presetClass="entr" presetSubtype="0" fill="hold" grpId="0" nodeType="withEffect">
                                  <p:stCondLst>
                                    <p:cond delay="0"/>
                                  </p:stCondLst>
                                  <p:childTnLst>
                                    <p:animEffect transition="in" filter="fade">
                                      <p:cBhvr>
                                        <p:cTn id="254" dur="500"/>
                                        <p:tgtEl>
                                          <p:spTgt spid="15"/>
                                        </p:tgtEl>
                                      </p:cBhvr>
                                    </p:animEffect>
                                    <p:set>
                                      <p:cBhvr>
                                        <p:cTn id="255" dur="1" fill="hold">
                                          <p:stCondLst>
                                            <p:cond delay="0"/>
                                          </p:stCondLst>
                                        </p:cTn>
                                        <p:tgtEl>
                                          <p:spTgt spid="15"/>
                                        </p:tgtEl>
                                        <p:attrNameLst>
                                          <p:attrName>style.visibility</p:attrName>
                                        </p:attrNameLst>
                                      </p:cBhvr>
                                      <p:to>
                                        <p:strVal val="visible"/>
                                      </p:to>
                                    </p:set>
                                  </p:childTnLst>
                                </p:cTn>
                              </p:par>
                              <p:par>
                                <p:cTn id="256" presetID="10" presetClass="entr" presetSubtype="0" fill="hold" grpId="0" nodeType="withEffect">
                                  <p:stCondLst>
                                    <p:cond delay="0"/>
                                  </p:stCondLst>
                                  <p:childTnLst>
                                    <p:animEffect transition="in" filter="fade">
                                      <p:cBhvr>
                                        <p:cTn id="257" dur="500"/>
                                        <p:tgtEl>
                                          <p:spTgt spid="18"/>
                                        </p:tgtEl>
                                      </p:cBhvr>
                                    </p:animEffect>
                                    <p:set>
                                      <p:cBhvr>
                                        <p:cTn id="258" dur="1" fill="hold">
                                          <p:stCondLst>
                                            <p:cond delay="0"/>
                                          </p:stCondLst>
                                        </p:cTn>
                                        <p:tgtEl>
                                          <p:spTgt spid="18"/>
                                        </p:tgtEl>
                                        <p:attrNameLst>
                                          <p:attrName>style.visibility</p:attrName>
                                        </p:attrNameLst>
                                      </p:cBhvr>
                                      <p:to>
                                        <p:strVal val="visible"/>
                                      </p:to>
                                    </p:set>
                                  </p:childTnLst>
                                </p:cTn>
                              </p:par>
                              <p:par>
                                <p:cTn id="259" presetID="10" presetClass="entr" presetSubtype="0" fill="hold" grpId="0" nodeType="withEffect">
                                  <p:stCondLst>
                                    <p:cond delay="0"/>
                                  </p:stCondLst>
                                  <p:childTnLst>
                                    <p:animEffect transition="in" filter="fade">
                                      <p:cBhvr>
                                        <p:cTn id="260" dur="500"/>
                                        <p:tgtEl>
                                          <p:spTgt spid="21"/>
                                        </p:tgtEl>
                                      </p:cBhvr>
                                    </p:animEffect>
                                    <p:set>
                                      <p:cBhvr>
                                        <p:cTn id="261" dur="1" fill="hold">
                                          <p:stCondLst>
                                            <p:cond delay="0"/>
                                          </p:stCondLst>
                                        </p:cTn>
                                        <p:tgtEl>
                                          <p:spTgt spid="21"/>
                                        </p:tgtEl>
                                        <p:attrNameLst>
                                          <p:attrName>style.visibility</p:attrName>
                                        </p:attrNameLst>
                                      </p:cBhvr>
                                      <p:to>
                                        <p:strVal val="visible"/>
                                      </p:to>
                                    </p:set>
                                  </p:childTnLst>
                                </p:cTn>
                              </p:par>
                              <p:par>
                                <p:cTn id="262" presetID="10" presetClass="entr" presetSubtype="0" fill="hold" grpId="0" nodeType="withEffect">
                                  <p:stCondLst>
                                    <p:cond delay="0"/>
                                  </p:stCondLst>
                                  <p:childTnLst>
                                    <p:animEffect transition="in" filter="fade">
                                      <p:cBhvr>
                                        <p:cTn id="263" dur="500"/>
                                        <p:tgtEl>
                                          <p:spTgt spid="28"/>
                                        </p:tgtEl>
                                      </p:cBhvr>
                                    </p:animEffect>
                                    <p:set>
                                      <p:cBhvr>
                                        <p:cTn id="26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1: Train the Agent</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46217" y="1371600"/>
            <a:ext cx="169926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Roadmap part 1</a:t>
            </a:r>
          </a:p>
        </p:txBody>
      </p:sp>
      <p:sp>
        <p:nvSpPr>
          <p:cNvPr id="5" name="Rounded Rectangle 4"/>
          <p:cNvSpPr/>
          <p:nvPr/>
        </p:nvSpPr>
        <p:spPr>
          <a:xfrm>
            <a:off x="3381222" y="2041652"/>
            <a:ext cx="133731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Simulation</a:t>
            </a:r>
          </a:p>
        </p:txBody>
      </p:sp>
      <p:cxnSp>
        <p:nvCxnSpPr>
          <p:cNvPr id="6" name="Connector 5"/>
          <p:cNvCxnSpPr/>
          <p:nvPr/>
        </p:nvCxnSpPr>
        <p:spPr>
          <a:xfrm>
            <a:off x="4718532" y="2416556"/>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992852" y="2041652"/>
            <a:ext cx="133731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Hypothesis</a:t>
            </a:r>
          </a:p>
        </p:txBody>
      </p:sp>
      <p:cxnSp>
        <p:nvCxnSpPr>
          <p:cNvPr id="8" name="Connector 7"/>
          <p:cNvCxnSpPr/>
          <p:nvPr/>
        </p:nvCxnSpPr>
        <p:spPr>
          <a:xfrm>
            <a:off x="6330162" y="2416556"/>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604482" y="2041652"/>
            <a:ext cx="89916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Verify</a:t>
            </a:r>
          </a:p>
        </p:txBody>
      </p:sp>
      <p:cxnSp>
        <p:nvCxnSpPr>
          <p:cNvPr id="10" name="Connector 9"/>
          <p:cNvCxnSpPr/>
          <p:nvPr/>
        </p:nvCxnSpPr>
        <p:spPr>
          <a:xfrm>
            <a:off x="7503642" y="2416556"/>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777962" y="2041652"/>
            <a:ext cx="1032510" cy="749808"/>
          </a:xfrm>
          <a:prstGeom prst="roundRect">
            <a:avLst/>
          </a:prstGeom>
          <a:solidFill>
            <a:srgbClr val="D8A86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Reward</a:t>
            </a:r>
          </a:p>
        </p:txBody>
      </p:sp>
      <p:sp>
        <p:nvSpPr>
          <p:cNvPr id="12" name="Rectangle 11"/>
          <p:cNvSpPr/>
          <p:nvPr/>
        </p:nvSpPr>
        <p:spPr>
          <a:xfrm>
            <a:off x="731520" y="3084067"/>
            <a:ext cx="27431" cy="87579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1" y="3084067"/>
            <a:ext cx="10564063" cy="425196"/>
          </a:xfrm>
          <a:prstGeom prst="rect">
            <a:avLst/>
          </a:prstGeom>
          <a:noFill/>
        </p:spPr>
        <p:txBody>
          <a:bodyPr wrap="square">
            <a:spAutoFit/>
          </a:bodyPr>
          <a:lstStyle/>
          <a:p>
            <a:pPr algn="l">
              <a:defRPr sz="1800" b="1" i="0">
                <a:solidFill>
                  <a:srgbClr val="5C82AD"/>
                </a:solidFill>
                <a:latin typeface="Liberation Sans"/>
              </a:defRPr>
            </a:pPr>
            <a:r>
              <a:t>Train on closed loops</a:t>
            </a:r>
          </a:p>
        </p:txBody>
      </p:sp>
      <p:sp>
        <p:nvSpPr>
          <p:cNvPr id="14" name="TextBox 13"/>
          <p:cNvSpPr txBox="1"/>
          <p:nvPr/>
        </p:nvSpPr>
        <p:spPr>
          <a:xfrm>
            <a:off x="896111" y="3600703"/>
            <a:ext cx="10564063" cy="359156"/>
          </a:xfrm>
          <a:prstGeom prst="rect">
            <a:avLst/>
          </a:prstGeom>
          <a:noFill/>
        </p:spPr>
        <p:txBody>
          <a:bodyPr wrap="square">
            <a:spAutoFit/>
          </a:bodyPr>
          <a:lstStyle/>
          <a:p>
            <a:pPr algn="l">
              <a:defRPr sz="1400" b="0" i="0">
                <a:solidFill>
                  <a:srgbClr val="223043"/>
                </a:solidFill>
                <a:latin typeface="Liberation Sans"/>
              </a:defRPr>
            </a:pPr>
            <a:r>
              <a:t>Start with interventions and telemetry so the agent repeatedly proposes a hypothesis, checks it, and gets feedback on the full loop.</a:t>
            </a:r>
          </a:p>
        </p:txBody>
      </p:sp>
      <p:sp>
        <p:nvSpPr>
          <p:cNvPr id="15" name="TextBox 14"/>
          <p:cNvSpPr txBox="1"/>
          <p:nvPr/>
        </p:nvSpPr>
        <p:spPr>
          <a:xfrm>
            <a:off x="731520" y="4252468"/>
            <a:ext cx="10728655" cy="425196"/>
          </a:xfrm>
          <a:prstGeom prst="rect">
            <a:avLst/>
          </a:prstGeom>
          <a:noFill/>
        </p:spPr>
        <p:txBody>
          <a:bodyPr wrap="square">
            <a:spAutoFit/>
          </a:bodyPr>
          <a:lstStyle/>
          <a:p>
            <a:pPr algn="l">
              <a:defRPr sz="1800" b="0" i="1">
                <a:solidFill>
                  <a:srgbClr val="647489"/>
                </a:solidFill>
                <a:latin typeface="Liberation Sans"/>
              </a:defRPr>
            </a:pPr>
            <a:r>
              <a:t>The first milestone is an agent that learns from repeated simulation to verification cycles, not from answer labels alone.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9"/>
                                        </p:tgtEl>
                                      </p:cBhvr>
                                    </p:animEffect>
                                    <p:set>
                                      <p:cBhvr>
                                        <p:cTn id="38" dur="1" fill="hold">
                                          <p:stCondLst>
                                            <p:cond delay="0"/>
                                          </p:stCondLst>
                                        </p:cTn>
                                        <p:tgtEl>
                                          <p:spTgt spid="9"/>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10"/>
                                        </p:tgtEl>
                                      </p:cBhvr>
                                    </p:animEffect>
                                    <p:set>
                                      <p:cBhvr>
                                        <p:cTn id="41" dur="1" fill="hold">
                                          <p:stCondLst>
                                            <p:cond delay="0"/>
                                          </p:stCondLst>
                                        </p:cTn>
                                        <p:tgtEl>
                                          <p:spTgt spid="10"/>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11"/>
                                        </p:tgtEl>
                                      </p:cBhvr>
                                    </p:animEffect>
                                    <p:set>
                                      <p:cBhvr>
                                        <p:cTn id="44" dur="1" fill="hold">
                                          <p:stCondLst>
                                            <p:cond delay="0"/>
                                          </p:stCondLst>
                                        </p:cTn>
                                        <p:tgtEl>
                                          <p:spTgt spid="1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animEffect transition="in" filter="fade">
                                      <p:cBhvr>
                                        <p:cTn id="48" dur="500"/>
                                        <p:tgtEl>
                                          <p:spTgt spid="5"/>
                                        </p:tgtEl>
                                      </p:cBhvr>
                                    </p:animEffect>
                                    <p:set>
                                      <p:cBhvr>
                                        <p:cTn id="49" dur="1" fill="hold">
                                          <p:stCondLst>
                                            <p:cond delay="0"/>
                                          </p:stCondLst>
                                        </p:cTn>
                                        <p:tgtEl>
                                          <p:spTgt spid="5"/>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2"/>
                                        </p:tgtEl>
                                      </p:cBhvr>
                                    </p:animEffect>
                                    <p:set>
                                      <p:cBhvr>
                                        <p:cTn id="52" dur="1" fill="hold">
                                          <p:stCondLst>
                                            <p:cond delay="0"/>
                                          </p:stCondLst>
                                        </p:cTn>
                                        <p:tgtEl>
                                          <p:spTgt spid="12"/>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3"/>
                                        </p:tgtEl>
                                      </p:cBhvr>
                                    </p:animEffect>
                                    <p:set>
                                      <p:cBhvr>
                                        <p:cTn id="58" dur="1" fill="hold">
                                          <p:stCondLst>
                                            <p:cond delay="0"/>
                                          </p:stCondLst>
                                        </p:cTn>
                                        <p:tgtEl>
                                          <p:spTgt spid="13"/>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8"/>
                                        </p:tgtEl>
                                      </p:cBhvr>
                                    </p:animEffect>
                                    <p:set>
                                      <p:cBhvr>
                                        <p:cTn id="61" dur="1" fill="hold">
                                          <p:stCondLst>
                                            <p:cond delay="0"/>
                                          </p:stCondLst>
                                        </p:cTn>
                                        <p:tgtEl>
                                          <p:spTgt spid="8"/>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4"/>
                                        </p:tgtEl>
                                      </p:cBhvr>
                                    </p:animEffect>
                                    <p:set>
                                      <p:cBhvr>
                                        <p:cTn id="64" dur="1" fill="hold">
                                          <p:stCondLst>
                                            <p:cond delay="0"/>
                                          </p:stCondLst>
                                        </p:cTn>
                                        <p:tgtEl>
                                          <p:spTgt spid="1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2: Distill World Model</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777462" y="1371600"/>
            <a:ext cx="141351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Many traces</a:t>
            </a:r>
          </a:p>
        </p:txBody>
      </p:sp>
      <p:cxnSp>
        <p:nvCxnSpPr>
          <p:cNvPr id="5" name="Connector 4"/>
          <p:cNvCxnSpPr/>
          <p:nvPr/>
        </p:nvCxnSpPr>
        <p:spPr>
          <a:xfrm>
            <a:off x="5190972" y="174650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465292" y="1371600"/>
            <a:ext cx="122301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Compress</a:t>
            </a:r>
          </a:p>
        </p:txBody>
      </p:sp>
      <p:cxnSp>
        <p:nvCxnSpPr>
          <p:cNvPr id="7" name="Connector 6"/>
          <p:cNvCxnSpPr/>
          <p:nvPr/>
        </p:nvCxnSpPr>
        <p:spPr>
          <a:xfrm>
            <a:off x="6688302" y="1746504"/>
            <a:ext cx="274320"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962622" y="1371600"/>
            <a:ext cx="1451610" cy="749808"/>
          </a:xfrm>
          <a:prstGeom prst="roundRect">
            <a:avLst/>
          </a:prstGeom>
          <a:solidFill>
            <a:srgbClr val="5C82AD"/>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0">
                <a:solidFill>
                  <a:srgbClr val="223043"/>
                </a:solidFill>
                <a:latin typeface="Liberation Sans"/>
              </a:defRPr>
            </a:pPr>
            <a:r>
              <a:t>world model</a:t>
            </a:r>
          </a:p>
        </p:txBody>
      </p:sp>
      <p:sp>
        <p:nvSpPr>
          <p:cNvPr id="9" name="Rounded Rectangle 8"/>
          <p:cNvSpPr/>
          <p:nvPr/>
        </p:nvSpPr>
        <p:spPr>
          <a:xfrm>
            <a:off x="3217392" y="2816352"/>
            <a:ext cx="141351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FFFFFF"/>
                </a:solidFill>
                <a:latin typeface="Liberation Sans"/>
              </a:defRPr>
            </a:pPr>
            <a:r>
              <a:t>Many traces</a:t>
            </a:r>
          </a:p>
        </p:txBody>
      </p:sp>
      <p:sp>
        <p:nvSpPr>
          <p:cNvPr id="10" name="Rounded Rectangle 9"/>
          <p:cNvSpPr/>
          <p:nvPr/>
        </p:nvSpPr>
        <p:spPr>
          <a:xfrm>
            <a:off x="3036417" y="3321812"/>
            <a:ext cx="1775459"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Incident trace A</a:t>
            </a:r>
          </a:p>
        </p:txBody>
      </p:sp>
      <p:sp>
        <p:nvSpPr>
          <p:cNvPr id="11" name="Rounded Rectangle 10"/>
          <p:cNvSpPr/>
          <p:nvPr/>
        </p:nvSpPr>
        <p:spPr>
          <a:xfrm>
            <a:off x="3045942" y="3998468"/>
            <a:ext cx="1756410"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Incident trace B</a:t>
            </a:r>
          </a:p>
        </p:txBody>
      </p:sp>
      <p:sp>
        <p:nvSpPr>
          <p:cNvPr id="12" name="Rounded Rectangle 11"/>
          <p:cNvSpPr/>
          <p:nvPr/>
        </p:nvSpPr>
        <p:spPr>
          <a:xfrm>
            <a:off x="3036417" y="4675124"/>
            <a:ext cx="1775459"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Incident trace C</a:t>
            </a:r>
          </a:p>
        </p:txBody>
      </p:sp>
      <p:sp>
        <p:nvSpPr>
          <p:cNvPr id="13" name="Rounded Rectangle 12"/>
          <p:cNvSpPr/>
          <p:nvPr/>
        </p:nvSpPr>
        <p:spPr>
          <a:xfrm>
            <a:off x="7099782" y="2340864"/>
            <a:ext cx="160401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Reusable core</a:t>
            </a:r>
          </a:p>
        </p:txBody>
      </p:sp>
      <p:sp>
        <p:nvSpPr>
          <p:cNvPr id="14" name="Oval 13"/>
          <p:cNvSpPr/>
          <p:nvPr/>
        </p:nvSpPr>
        <p:spPr>
          <a:xfrm>
            <a:off x="6918807" y="2864612"/>
            <a:ext cx="1965960" cy="1965960"/>
          </a:xfrm>
          <a:prstGeom prst="ellipse">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800" b="1">
                <a:solidFill>
                  <a:srgbClr val="FFFFFF"/>
                </a:solidFill>
                <a:latin typeface="Liberation Sans"/>
              </a:defRPr>
            </a:pPr>
            <a:r>
              <a:t>world</a:t>
            </a:r>
            <a:br/>
            <a:r>
              <a:t>model</a:t>
            </a:r>
          </a:p>
        </p:txBody>
      </p:sp>
      <p:sp>
        <p:nvSpPr>
          <p:cNvPr id="15" name="TextBox 14"/>
          <p:cNvSpPr txBox="1"/>
          <p:nvPr/>
        </p:nvSpPr>
        <p:spPr>
          <a:xfrm>
            <a:off x="5981547" y="4976876"/>
            <a:ext cx="3840480" cy="722376"/>
          </a:xfrm>
          <a:prstGeom prst="rect">
            <a:avLst/>
          </a:prstGeom>
          <a:noFill/>
        </p:spPr>
        <p:txBody>
          <a:bodyPr wrap="square">
            <a:spAutoFit/>
          </a:bodyPr>
          <a:lstStyle/>
          <a:p>
            <a:pPr algn="l">
              <a:defRPr sz="1800" b="0" i="0">
                <a:solidFill>
                  <a:srgbClr val="223043"/>
                </a:solidFill>
                <a:latin typeface="Liberation Sans"/>
              </a:defRPr>
            </a:pPr>
            <a:r>
              <a:t>A compact causal representation that preserves propagation structure while dropping repetitive incident detail.</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9"/>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0"/>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3"/>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animEffect transition="in" filter="fade">
                                      <p:cBhvr>
                                        <p:cTn id="39" dur="500"/>
                                        <p:tgtEl>
                                          <p:spTgt spid="9"/>
                                        </p:tgtEl>
                                      </p:cBhvr>
                                    </p:animEffect>
                                    <p:set>
                                      <p:cBhvr>
                                        <p:cTn id="40" dur="1" fill="hold">
                                          <p:stCondLst>
                                            <p:cond delay="0"/>
                                          </p:stCondLst>
                                        </p:cTn>
                                        <p:tgtEl>
                                          <p:spTgt spid="9"/>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10"/>
                                        </p:tgtEl>
                                      </p:cBhvr>
                                    </p:animEffect>
                                    <p:set>
                                      <p:cBhvr>
                                        <p:cTn id="43" dur="1" fill="hold">
                                          <p:stCondLst>
                                            <p:cond delay="0"/>
                                          </p:stCondLst>
                                        </p:cTn>
                                        <p:tgtEl>
                                          <p:spTgt spid="10"/>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1"/>
                                        </p:tgtEl>
                                      </p:cBhvr>
                                    </p:animEffect>
                                    <p:set>
                                      <p:cBhvr>
                                        <p:cTn id="46" dur="1" fill="hold">
                                          <p:stCondLst>
                                            <p:cond delay="0"/>
                                          </p:stCondLst>
                                        </p:cTn>
                                        <p:tgtEl>
                                          <p:spTgt spid="11"/>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2"/>
                                        </p:tgtEl>
                                      </p:cBhvr>
                                    </p:animEffect>
                                    <p:set>
                                      <p:cBhvr>
                                        <p:cTn id="49" dur="1" fill="hold">
                                          <p:stCondLst>
                                            <p:cond delay="0"/>
                                          </p:stCondLst>
                                        </p:cTn>
                                        <p:tgtEl>
                                          <p:spTgt spid="12"/>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animEffect transition="in" filter="fade">
                                      <p:cBhvr>
                                        <p:cTn id="53" dur="500"/>
                                        <p:tgtEl>
                                          <p:spTgt spid="13"/>
                                        </p:tgtEl>
                                      </p:cBhvr>
                                    </p:animEffect>
                                    <p:set>
                                      <p:cBhvr>
                                        <p:cTn id="54" dur="1" fill="hold">
                                          <p:stCondLst>
                                            <p:cond delay="0"/>
                                          </p:stCondLst>
                                        </p:cTn>
                                        <p:tgtEl>
                                          <p:spTgt spid="13"/>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4"/>
                                        </p:tgtEl>
                                      </p:cBhvr>
                                    </p:animEffect>
                                    <p:set>
                                      <p:cBhvr>
                                        <p:cTn id="57" dur="1" fill="hold">
                                          <p:stCondLst>
                                            <p:cond delay="0"/>
                                          </p:stCondLst>
                                        </p:cTn>
                                        <p:tgtEl>
                                          <p:spTgt spid="14"/>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5"/>
                                        </p:tgtEl>
                                      </p:cBhvr>
                                    </p:animEffect>
                                    <p:set>
                                      <p:cBhvr>
                                        <p:cTn id="6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3: Universal Expert</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555087" y="1371600"/>
            <a:ext cx="1211725" cy="100584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World model</a:t>
            </a:r>
          </a:p>
        </p:txBody>
      </p:sp>
      <p:cxnSp>
        <p:nvCxnSpPr>
          <p:cNvPr id="5" name="Connector 4"/>
          <p:cNvCxnSpPr/>
          <p:nvPr/>
        </p:nvCxnSpPr>
        <p:spPr>
          <a:xfrm>
            <a:off x="3766812" y="1874519"/>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156085" y="1371600"/>
            <a:ext cx="1516525" cy="100584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Repair suggestion</a:t>
            </a:r>
          </a:p>
        </p:txBody>
      </p:sp>
      <p:cxnSp>
        <p:nvCxnSpPr>
          <p:cNvPr id="7" name="Connector 6"/>
          <p:cNvCxnSpPr/>
          <p:nvPr/>
        </p:nvCxnSpPr>
        <p:spPr>
          <a:xfrm>
            <a:off x="5672611" y="1874519"/>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61884" y="1371600"/>
            <a:ext cx="1783225" cy="100584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Root-cause localization</a:t>
            </a:r>
          </a:p>
        </p:txBody>
      </p:sp>
      <p:cxnSp>
        <p:nvCxnSpPr>
          <p:cNvPr id="9" name="Connector 8"/>
          <p:cNvCxnSpPr/>
          <p:nvPr/>
        </p:nvCxnSpPr>
        <p:spPr>
          <a:xfrm>
            <a:off x="7845109" y="1874519"/>
            <a:ext cx="389273"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234382" y="1371600"/>
            <a:ext cx="1402225" cy="100584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Fault prediction</a:t>
            </a:r>
          </a:p>
        </p:txBody>
      </p:sp>
      <p:sp>
        <p:nvSpPr>
          <p:cNvPr id="11" name="Rectangle 10"/>
          <p:cNvSpPr/>
          <p:nvPr/>
        </p:nvSpPr>
        <p:spPr>
          <a:xfrm>
            <a:off x="731520" y="2670048"/>
            <a:ext cx="27431" cy="87579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1" y="2670048"/>
            <a:ext cx="10564063" cy="425196"/>
          </a:xfrm>
          <a:prstGeom prst="rect">
            <a:avLst/>
          </a:prstGeom>
          <a:noFill/>
        </p:spPr>
        <p:txBody>
          <a:bodyPr wrap="square">
            <a:spAutoFit/>
          </a:bodyPr>
          <a:lstStyle/>
          <a:p>
            <a:pPr algn="l">
              <a:defRPr sz="1800" b="1" i="0">
                <a:solidFill>
                  <a:srgbClr val="5C82AD"/>
                </a:solidFill>
                <a:latin typeface="Liberation Sans"/>
              </a:defRPr>
            </a:pPr>
            <a:r>
              <a:t>One reasoning core, many tasks</a:t>
            </a:r>
          </a:p>
        </p:txBody>
      </p:sp>
      <p:sp>
        <p:nvSpPr>
          <p:cNvPr id="13" name="TextBox 12"/>
          <p:cNvSpPr txBox="1"/>
          <p:nvPr/>
        </p:nvSpPr>
        <p:spPr>
          <a:xfrm>
            <a:off x="896111" y="3186684"/>
            <a:ext cx="10564063" cy="359156"/>
          </a:xfrm>
          <a:prstGeom prst="rect">
            <a:avLst/>
          </a:prstGeom>
          <a:noFill/>
        </p:spPr>
        <p:txBody>
          <a:bodyPr wrap="square">
            <a:spAutoFit/>
          </a:bodyPr>
          <a:lstStyle/>
          <a:p>
            <a:pPr algn="l">
              <a:defRPr sz="1400" b="0" i="0">
                <a:solidFill>
                  <a:srgbClr val="223043"/>
                </a:solidFill>
                <a:latin typeface="Liberation Sans"/>
              </a:defRPr>
            </a:pPr>
            <a:r>
              <a:t>The end state is a universal expert that reuses the same causal world model for localization, forecasting, and actionable support.</a:t>
            </a:r>
          </a:p>
        </p:txBody>
      </p:sp>
      <p:sp>
        <p:nvSpPr>
          <p:cNvPr id="14" name="TextBox 13"/>
          <p:cNvSpPr txBox="1"/>
          <p:nvPr/>
        </p:nvSpPr>
        <p:spPr>
          <a:xfrm>
            <a:off x="731520" y="3838448"/>
            <a:ext cx="10728655" cy="425196"/>
          </a:xfrm>
          <a:prstGeom prst="rect">
            <a:avLst/>
          </a:prstGeom>
          <a:noFill/>
        </p:spPr>
        <p:txBody>
          <a:bodyPr wrap="square">
            <a:spAutoFit/>
          </a:bodyPr>
          <a:lstStyle/>
          <a:p>
            <a:pPr algn="l">
              <a:defRPr sz="1800" b="0" i="1">
                <a:solidFill>
                  <a:srgbClr val="647489"/>
                </a:solidFill>
                <a:latin typeface="Liberation Sans"/>
              </a:defRPr>
            </a:pPr>
            <a:r>
              <a:t>The value of the world model is leverage: one internal representation fans out to multiple reliability workflows.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1"/>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5"/>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4"/>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9"/>
                                        </p:tgtEl>
                                      </p:cBhvr>
                                    </p:animEffect>
                                    <p:set>
                                      <p:cBhvr>
                                        <p:cTn id="38" dur="1" fill="hold">
                                          <p:stCondLst>
                                            <p:cond delay="0"/>
                                          </p:stCondLst>
                                        </p:cTn>
                                        <p:tgtEl>
                                          <p:spTgt spid="9"/>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10"/>
                                        </p:tgtEl>
                                      </p:cBhvr>
                                    </p:animEffect>
                                    <p:set>
                                      <p:cBhvr>
                                        <p:cTn id="41" dur="1" fill="hold">
                                          <p:stCondLst>
                                            <p:cond delay="0"/>
                                          </p:stCondLst>
                                        </p:cTn>
                                        <p:tgtEl>
                                          <p:spTgt spid="10"/>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animEffect transition="in" filter="fade">
                                      <p:cBhvr>
                                        <p:cTn id="45" dur="500"/>
                                        <p:tgtEl>
                                          <p:spTgt spid="4"/>
                                        </p:tgtEl>
                                      </p:cBhvr>
                                    </p:animEffect>
                                    <p:set>
                                      <p:cBhvr>
                                        <p:cTn id="46" dur="1" fill="hold">
                                          <p:stCondLst>
                                            <p:cond delay="0"/>
                                          </p:stCondLst>
                                        </p:cTn>
                                        <p:tgtEl>
                                          <p:spTgt spid="4"/>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1"/>
                                        </p:tgtEl>
                                      </p:cBhvr>
                                    </p:animEffect>
                                    <p:set>
                                      <p:cBhvr>
                                        <p:cTn id="49" dur="1" fill="hold">
                                          <p:stCondLst>
                                            <p:cond delay="0"/>
                                          </p:stCondLst>
                                        </p:cTn>
                                        <p:tgtEl>
                                          <p:spTgt spid="11"/>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5"/>
                                        </p:tgtEl>
                                      </p:cBhvr>
                                    </p:animEffect>
                                    <p:set>
                                      <p:cBhvr>
                                        <p:cTn id="52" dur="1" fill="hold">
                                          <p:stCondLst>
                                            <p:cond delay="0"/>
                                          </p:stCondLst>
                                        </p:cTn>
                                        <p:tgtEl>
                                          <p:spTgt spid="5"/>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2"/>
                                        </p:tgtEl>
                                      </p:cBhvr>
                                    </p:animEffect>
                                    <p:set>
                                      <p:cBhvr>
                                        <p:cTn id="55" dur="1" fill="hold">
                                          <p:stCondLst>
                                            <p:cond delay="0"/>
                                          </p:stCondLst>
                                        </p:cTn>
                                        <p:tgtEl>
                                          <p:spTgt spid="12"/>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7"/>
                                        </p:tgtEl>
                                      </p:cBhvr>
                                    </p:animEffect>
                                    <p:set>
                                      <p:cBhvr>
                                        <p:cTn id="58" dur="1" fill="hold">
                                          <p:stCondLst>
                                            <p:cond delay="0"/>
                                          </p:stCondLst>
                                        </p:cTn>
                                        <p:tgtEl>
                                          <p:spTgt spid="7"/>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3"/>
                                        </p:tgtEl>
                                      </p:cBhvr>
                                    </p:animEffect>
                                    <p:set>
                                      <p:cBhvr>
                                        <p:cTn id="61" dur="1" fill="hold">
                                          <p:stCondLst>
                                            <p:cond delay="0"/>
                                          </p:stCondLst>
                                        </p:cTn>
                                        <p:tgtEl>
                                          <p:spTgt spid="13"/>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animEffect transition="in" filter="fade">
                                      <p:cBhvr>
                                        <p:cTn id="65" dur="500"/>
                                        <p:tgtEl>
                                          <p:spTgt spid="14"/>
                                        </p:tgtEl>
                                      </p:cBhvr>
                                    </p:animEffect>
                                    <p:set>
                                      <p:cBhvr>
                                        <p:cTn id="6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My Research Philosophy</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712817" y="1371600"/>
            <a:ext cx="276606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Three research capabilities</a:t>
            </a:r>
          </a:p>
        </p:txBody>
      </p:sp>
      <p:sp>
        <p:nvSpPr>
          <p:cNvPr id="5" name="Rectangle 4"/>
          <p:cNvSpPr/>
          <p:nvPr/>
        </p:nvSpPr>
        <p:spPr>
          <a:xfrm>
            <a:off x="731520" y="2023364"/>
            <a:ext cx="27431" cy="133807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023364"/>
            <a:ext cx="3289706" cy="425196"/>
          </a:xfrm>
          <a:prstGeom prst="rect">
            <a:avLst/>
          </a:prstGeom>
          <a:noFill/>
        </p:spPr>
        <p:txBody>
          <a:bodyPr wrap="square">
            <a:spAutoFit/>
          </a:bodyPr>
          <a:lstStyle/>
          <a:p>
            <a:pPr algn="l">
              <a:defRPr sz="1800" b="1" i="0">
                <a:solidFill>
                  <a:srgbClr val="8FAAC8"/>
                </a:solidFill>
                <a:latin typeface="Liberation Sans"/>
              </a:defRPr>
            </a:pPr>
            <a:r>
              <a:t>Simulate</a:t>
            </a:r>
          </a:p>
        </p:txBody>
      </p:sp>
      <p:sp>
        <p:nvSpPr>
          <p:cNvPr id="7" name="TextBox 6"/>
          <p:cNvSpPr txBox="1"/>
          <p:nvPr/>
        </p:nvSpPr>
        <p:spPr>
          <a:xfrm>
            <a:off x="896112" y="2540000"/>
            <a:ext cx="3289706" cy="821436"/>
          </a:xfrm>
          <a:prstGeom prst="rect">
            <a:avLst/>
          </a:prstGeom>
          <a:noFill/>
        </p:spPr>
        <p:txBody>
          <a:bodyPr wrap="square">
            <a:spAutoFit/>
          </a:bodyPr>
          <a:lstStyle/>
          <a:p>
            <a:pPr algn="l">
              <a:defRPr sz="1400" b="0" i="0">
                <a:solidFill>
                  <a:srgbClr val="223043"/>
                </a:solidFill>
                <a:latin typeface="Liberation Sans"/>
              </a:defRPr>
            </a:pPr>
            <a:r>
              <a:t>Create controllable failures so the agent can learn from interventions and propagation, not only historical anecdotes.</a:t>
            </a:r>
          </a:p>
        </p:txBody>
      </p:sp>
      <p:sp>
        <p:nvSpPr>
          <p:cNvPr id="8" name="Rectangle 7"/>
          <p:cNvSpPr/>
          <p:nvPr/>
        </p:nvSpPr>
        <p:spPr>
          <a:xfrm>
            <a:off x="4368698" y="2023364"/>
            <a:ext cx="27431" cy="1338072"/>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3290" y="2138933"/>
            <a:ext cx="3289706" cy="425196"/>
          </a:xfrm>
          <a:prstGeom prst="rect">
            <a:avLst/>
          </a:prstGeom>
          <a:noFill/>
        </p:spPr>
        <p:txBody>
          <a:bodyPr wrap="square">
            <a:spAutoFit/>
          </a:bodyPr>
          <a:lstStyle/>
          <a:p>
            <a:pPr algn="l">
              <a:defRPr sz="1800" b="1" i="0">
                <a:solidFill>
                  <a:srgbClr val="D69A68"/>
                </a:solidFill>
                <a:latin typeface="Liberation Sans"/>
              </a:defRPr>
            </a:pPr>
            <a:r>
              <a:t>Compress</a:t>
            </a:r>
          </a:p>
        </p:txBody>
      </p:sp>
      <p:sp>
        <p:nvSpPr>
          <p:cNvPr id="10" name="TextBox 9"/>
          <p:cNvSpPr txBox="1"/>
          <p:nvPr/>
        </p:nvSpPr>
        <p:spPr>
          <a:xfrm>
            <a:off x="4533290" y="2655569"/>
            <a:ext cx="3289706" cy="590296"/>
          </a:xfrm>
          <a:prstGeom prst="rect">
            <a:avLst/>
          </a:prstGeom>
          <a:noFill/>
        </p:spPr>
        <p:txBody>
          <a:bodyPr wrap="square">
            <a:spAutoFit/>
          </a:bodyPr>
          <a:lstStyle/>
          <a:p>
            <a:pPr algn="l">
              <a:defRPr sz="1400" b="0" i="0">
                <a:solidFill>
                  <a:srgbClr val="223043"/>
                </a:solidFill>
                <a:latin typeface="Liberation Sans"/>
              </a:defRPr>
            </a:pPr>
            <a:r>
              <a:t>Turn many incident traces into a compact world model that remains inspectable and reusable.</a:t>
            </a:r>
          </a:p>
        </p:txBody>
      </p:sp>
      <p:sp>
        <p:nvSpPr>
          <p:cNvPr id="11" name="Rectangle 10"/>
          <p:cNvSpPr/>
          <p:nvPr/>
        </p:nvSpPr>
        <p:spPr>
          <a:xfrm>
            <a:off x="8005876" y="2023364"/>
            <a:ext cx="27431" cy="133807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0468" y="2138933"/>
            <a:ext cx="3289706" cy="425196"/>
          </a:xfrm>
          <a:prstGeom prst="rect">
            <a:avLst/>
          </a:prstGeom>
          <a:noFill/>
        </p:spPr>
        <p:txBody>
          <a:bodyPr wrap="square">
            <a:spAutoFit/>
          </a:bodyPr>
          <a:lstStyle/>
          <a:p>
            <a:pPr algn="l">
              <a:defRPr sz="1800" b="1" i="0">
                <a:solidFill>
                  <a:srgbClr val="7FA195"/>
                </a:solidFill>
                <a:latin typeface="Liberation Sans"/>
              </a:defRPr>
            </a:pPr>
            <a:r>
              <a:t>Generalize</a:t>
            </a:r>
          </a:p>
        </p:txBody>
      </p:sp>
      <p:sp>
        <p:nvSpPr>
          <p:cNvPr id="13" name="TextBox 12"/>
          <p:cNvSpPr txBox="1"/>
          <p:nvPr/>
        </p:nvSpPr>
        <p:spPr>
          <a:xfrm>
            <a:off x="8170468" y="2655569"/>
            <a:ext cx="3289706" cy="590296"/>
          </a:xfrm>
          <a:prstGeom prst="rect">
            <a:avLst/>
          </a:prstGeom>
          <a:noFill/>
        </p:spPr>
        <p:txBody>
          <a:bodyPr wrap="square">
            <a:spAutoFit/>
          </a:bodyPr>
          <a:lstStyle/>
          <a:p>
            <a:pPr algn="l">
              <a:defRPr sz="1400" b="0" i="0">
                <a:solidFill>
                  <a:srgbClr val="223043"/>
                </a:solidFill>
                <a:latin typeface="Liberation Sans"/>
              </a:defRPr>
            </a:pPr>
            <a:r>
              <a:t>Reuse one reasoning core across triage, diagnosis, prediction, and repair support.</a:t>
            </a:r>
          </a:p>
        </p:txBody>
      </p:sp>
      <p:sp>
        <p:nvSpPr>
          <p:cNvPr id="14" name="TextBox 13"/>
          <p:cNvSpPr txBox="1"/>
          <p:nvPr/>
        </p:nvSpPr>
        <p:spPr>
          <a:xfrm>
            <a:off x="731520" y="3635756"/>
            <a:ext cx="10728655" cy="425196"/>
          </a:xfrm>
          <a:prstGeom prst="rect">
            <a:avLst/>
          </a:prstGeom>
          <a:noFill/>
        </p:spPr>
        <p:txBody>
          <a:bodyPr wrap="square">
            <a:spAutoFit/>
          </a:bodyPr>
          <a:lstStyle/>
          <a:p>
            <a:pPr algn="l">
              <a:defRPr sz="1800" b="0" i="1">
                <a:solidFill>
                  <a:srgbClr val="647489"/>
                </a:solidFill>
                <a:latin typeface="Liberation Sans"/>
              </a:defRPr>
            </a:pPr>
            <a:r>
              <a:t>My philosophy is to build diagnostic systems that can simulate reality, compress it into structure, and generalize that structure across tasks.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5"/>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9"/>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7"/>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0"/>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5"/>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8"/>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1"/>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6"/>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2"/>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7"/>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0"/>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3"/>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4"/>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4"/>
                                        </p:tgtEl>
                                      </p:cBhvr>
                                    </p:animEffect>
                                    <p:set>
                                      <p:cBhvr>
                                        <p:cTn id="47" dur="1" fill="hold">
                                          <p:stCondLst>
                                            <p:cond delay="0"/>
                                          </p:stCondLst>
                                        </p:cTn>
                                        <p:tgtEl>
                                          <p:spTgt spid="4"/>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animEffect transition="in" filter="fade">
                                      <p:cBhvr>
                                        <p:cTn id="51" dur="500"/>
                                        <p:tgtEl>
                                          <p:spTgt spid="5"/>
                                        </p:tgtEl>
                                      </p:cBhvr>
                                    </p:animEffect>
                                    <p:set>
                                      <p:cBhvr>
                                        <p:cTn id="52" dur="1" fill="hold">
                                          <p:stCondLst>
                                            <p:cond delay="0"/>
                                          </p:stCondLst>
                                        </p:cTn>
                                        <p:tgtEl>
                                          <p:spTgt spid="5"/>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7"/>
                                        </p:tgtEl>
                                      </p:cBhvr>
                                    </p:animEffect>
                                    <p:set>
                                      <p:cBhvr>
                                        <p:cTn id="58" dur="1" fill="hold">
                                          <p:stCondLst>
                                            <p:cond delay="0"/>
                                          </p:stCondLst>
                                        </p:cTn>
                                        <p:tgtEl>
                                          <p:spTgt spid="7"/>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5"/>
                                        </p:tgtEl>
                                      </p:cBhvr>
                                    </p:animEffect>
                                    <p:set>
                                      <p:cBhvr>
                                        <p:cTn id="61" dur="1" fill="hold">
                                          <p:stCondLst>
                                            <p:cond delay="0"/>
                                          </p:stCondLst>
                                        </p:cTn>
                                        <p:tgtEl>
                                          <p:spTgt spid="5"/>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8"/>
                                        </p:tgtEl>
                                      </p:cBhvr>
                                    </p:animEffect>
                                    <p:set>
                                      <p:cBhvr>
                                        <p:cTn id="64" dur="1" fill="hold">
                                          <p:stCondLst>
                                            <p:cond delay="0"/>
                                          </p:stCondLst>
                                        </p:cTn>
                                        <p:tgtEl>
                                          <p:spTgt spid="8"/>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6"/>
                                        </p:tgtEl>
                                      </p:cBhvr>
                                    </p:animEffect>
                                    <p:set>
                                      <p:cBhvr>
                                        <p:cTn id="67" dur="1" fill="hold">
                                          <p:stCondLst>
                                            <p:cond delay="0"/>
                                          </p:stCondLst>
                                        </p:cTn>
                                        <p:tgtEl>
                                          <p:spTgt spid="6"/>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9"/>
                                        </p:tgtEl>
                                      </p:cBhvr>
                                    </p:animEffect>
                                    <p:set>
                                      <p:cBhvr>
                                        <p:cTn id="70" dur="1" fill="hold">
                                          <p:stCondLst>
                                            <p:cond delay="0"/>
                                          </p:stCondLst>
                                        </p:cTn>
                                        <p:tgtEl>
                                          <p:spTgt spid="9"/>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7"/>
                                        </p:tgtEl>
                                      </p:cBhvr>
                                    </p:animEffect>
                                    <p:set>
                                      <p:cBhvr>
                                        <p:cTn id="73" dur="1" fill="hold">
                                          <p:stCondLst>
                                            <p:cond delay="0"/>
                                          </p:stCondLst>
                                        </p:cTn>
                                        <p:tgtEl>
                                          <p:spTgt spid="7"/>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10"/>
                                        </p:tgtEl>
                                      </p:cBhvr>
                                    </p:animEffect>
                                    <p:set>
                                      <p:cBhvr>
                                        <p:cTn id="76" dur="1" fill="hold">
                                          <p:stCondLst>
                                            <p:cond delay="0"/>
                                          </p:stCondLst>
                                        </p:cTn>
                                        <p:tgtEl>
                                          <p:spTgt spid="10"/>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5"/>
                                        </p:tgtEl>
                                      </p:cBhvr>
                                    </p:animEffect>
                                    <p:set>
                                      <p:cBhvr>
                                        <p:cTn id="79" dur="1" fill="hold">
                                          <p:stCondLst>
                                            <p:cond delay="0"/>
                                          </p:stCondLst>
                                        </p:cTn>
                                        <p:tgtEl>
                                          <p:spTgt spid="5"/>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8"/>
                                        </p:tgtEl>
                                      </p:cBhvr>
                                    </p:animEffect>
                                    <p:set>
                                      <p:cBhvr>
                                        <p:cTn id="82" dur="1" fill="hold">
                                          <p:stCondLst>
                                            <p:cond delay="0"/>
                                          </p:stCondLst>
                                        </p:cTn>
                                        <p:tgtEl>
                                          <p:spTgt spid="8"/>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1"/>
                                        </p:tgtEl>
                                      </p:cBhvr>
                                    </p:animEffect>
                                    <p:set>
                                      <p:cBhvr>
                                        <p:cTn id="85" dur="1" fill="hold">
                                          <p:stCondLst>
                                            <p:cond delay="0"/>
                                          </p:stCondLst>
                                        </p:cTn>
                                        <p:tgtEl>
                                          <p:spTgt spid="11"/>
                                        </p:tgtEl>
                                        <p:attrNameLst>
                                          <p:attrName>style.visibility</p:attrName>
                                        </p:attrNameLst>
                                      </p:cBhvr>
                                      <p:to>
                                        <p:strVal val="visible"/>
                                      </p:to>
                                    </p:set>
                                  </p:childTnLst>
                                </p:cTn>
                              </p:par>
                              <p:par>
                                <p:cTn id="86" presetID="10" presetClass="entr" presetSubtype="0" fill="hold" grpId="0" nodeType="withEffect">
                                  <p:stCondLst>
                                    <p:cond delay="0"/>
                                  </p:stCondLst>
                                  <p:childTnLst>
                                    <p:animEffect transition="in" filter="fade">
                                      <p:cBhvr>
                                        <p:cTn id="87" dur="500"/>
                                        <p:tgtEl>
                                          <p:spTgt spid="6"/>
                                        </p:tgtEl>
                                      </p:cBhvr>
                                    </p:animEffect>
                                    <p:set>
                                      <p:cBhvr>
                                        <p:cTn id="88" dur="1" fill="hold">
                                          <p:stCondLst>
                                            <p:cond delay="0"/>
                                          </p:stCondLst>
                                        </p:cTn>
                                        <p:tgtEl>
                                          <p:spTgt spid="6"/>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9"/>
                                        </p:tgtEl>
                                      </p:cBhvr>
                                    </p:animEffect>
                                    <p:set>
                                      <p:cBhvr>
                                        <p:cTn id="91" dur="1" fill="hold">
                                          <p:stCondLst>
                                            <p:cond delay="0"/>
                                          </p:stCondLst>
                                        </p:cTn>
                                        <p:tgtEl>
                                          <p:spTgt spid="9"/>
                                        </p:tgtEl>
                                        <p:attrNameLst>
                                          <p:attrName>style.visibility</p:attrName>
                                        </p:attrNameLst>
                                      </p:cBhvr>
                                      <p:to>
                                        <p:strVal val="visible"/>
                                      </p:to>
                                    </p:set>
                                  </p:childTnLst>
                                </p:cTn>
                              </p:par>
                              <p:par>
                                <p:cTn id="92" presetID="10" presetClass="entr" presetSubtype="0" fill="hold" grpId="0" nodeType="withEffect">
                                  <p:stCondLst>
                                    <p:cond delay="0"/>
                                  </p:stCondLst>
                                  <p:childTnLst>
                                    <p:animEffect transition="in" filter="fade">
                                      <p:cBhvr>
                                        <p:cTn id="93" dur="500"/>
                                        <p:tgtEl>
                                          <p:spTgt spid="12"/>
                                        </p:tgtEl>
                                      </p:cBhvr>
                                    </p:animEffect>
                                    <p:set>
                                      <p:cBhvr>
                                        <p:cTn id="94" dur="1" fill="hold">
                                          <p:stCondLst>
                                            <p:cond delay="0"/>
                                          </p:stCondLst>
                                        </p:cTn>
                                        <p:tgtEl>
                                          <p:spTgt spid="12"/>
                                        </p:tgtEl>
                                        <p:attrNameLst>
                                          <p:attrName>style.visibility</p:attrName>
                                        </p:attrNameLst>
                                      </p:cBhvr>
                                      <p:to>
                                        <p:strVal val="visible"/>
                                      </p:to>
                                    </p:set>
                                  </p:childTnLst>
                                </p:cTn>
                              </p:par>
                              <p:par>
                                <p:cTn id="95" presetID="10" presetClass="entr" presetSubtype="0" fill="hold" grpId="0" nodeType="withEffect">
                                  <p:stCondLst>
                                    <p:cond delay="0"/>
                                  </p:stCondLst>
                                  <p:childTnLst>
                                    <p:animEffect transition="in" filter="fade">
                                      <p:cBhvr>
                                        <p:cTn id="96" dur="500"/>
                                        <p:tgtEl>
                                          <p:spTgt spid="7"/>
                                        </p:tgtEl>
                                      </p:cBhvr>
                                    </p:animEffect>
                                    <p:set>
                                      <p:cBhvr>
                                        <p:cTn id="97" dur="1" fill="hold">
                                          <p:stCondLst>
                                            <p:cond delay="0"/>
                                          </p:stCondLst>
                                        </p:cTn>
                                        <p:tgtEl>
                                          <p:spTgt spid="7"/>
                                        </p:tgtEl>
                                        <p:attrNameLst>
                                          <p:attrName>style.visibility</p:attrName>
                                        </p:attrNameLst>
                                      </p:cBhvr>
                                      <p:to>
                                        <p:strVal val="visible"/>
                                      </p:to>
                                    </p:set>
                                  </p:childTnLst>
                                </p:cTn>
                              </p:par>
                              <p:par>
                                <p:cTn id="98" presetID="10" presetClass="entr" presetSubtype="0" fill="hold" grpId="0" nodeType="withEffect">
                                  <p:stCondLst>
                                    <p:cond delay="0"/>
                                  </p:stCondLst>
                                  <p:childTnLst>
                                    <p:animEffect transition="in" filter="fade">
                                      <p:cBhvr>
                                        <p:cTn id="99" dur="500"/>
                                        <p:tgtEl>
                                          <p:spTgt spid="10"/>
                                        </p:tgtEl>
                                      </p:cBhvr>
                                    </p:animEffect>
                                    <p:set>
                                      <p:cBhvr>
                                        <p:cTn id="100" dur="1" fill="hold">
                                          <p:stCondLst>
                                            <p:cond delay="0"/>
                                          </p:stCondLst>
                                        </p:cTn>
                                        <p:tgtEl>
                                          <p:spTgt spid="10"/>
                                        </p:tgtEl>
                                        <p:attrNameLst>
                                          <p:attrName>style.visibility</p:attrName>
                                        </p:attrNameLst>
                                      </p:cBhvr>
                                      <p:to>
                                        <p:strVal val="visible"/>
                                      </p:to>
                                    </p:set>
                                  </p:childTnLst>
                                </p:cTn>
                              </p:par>
                              <p:par>
                                <p:cTn id="101" presetID="10" presetClass="entr" presetSubtype="0" fill="hold" grpId="0" nodeType="withEffect">
                                  <p:stCondLst>
                                    <p:cond delay="0"/>
                                  </p:stCondLst>
                                  <p:childTnLst>
                                    <p:animEffect transition="in" filter="fade">
                                      <p:cBhvr>
                                        <p:cTn id="102" dur="500"/>
                                        <p:tgtEl>
                                          <p:spTgt spid="13"/>
                                        </p:tgtEl>
                                      </p:cBhvr>
                                    </p:animEffect>
                                    <p:set>
                                      <p:cBhvr>
                                        <p:cTn id="103" dur="1" fill="hold">
                                          <p:stCondLst>
                                            <p:cond delay="0"/>
                                          </p:stCondLst>
                                        </p:cTn>
                                        <p:tgtEl>
                                          <p:spTgt spid="13"/>
                                        </p:tgtEl>
                                        <p:attrNameLst>
                                          <p:attrName>style.visibility</p:attrName>
                                        </p:attrNameLst>
                                      </p:cBhvr>
                                      <p:to>
                                        <p:strVal val="visible"/>
                                      </p:to>
                                    </p:set>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grpId="0" nodeType="clickEffect">
                                  <p:stCondLst>
                                    <p:cond delay="0"/>
                                  </p:stCondLst>
                                  <p:childTnLst>
                                    <p:animEffect transition="in" filter="fade">
                                      <p:cBhvr>
                                        <p:cTn id="107" dur="500"/>
                                        <p:tgtEl>
                                          <p:spTgt spid="14"/>
                                        </p:tgtEl>
                                      </p:cBhvr>
                                    </p:animEffect>
                                    <p:set>
                                      <p:cBhvr>
                                        <p:cTn id="10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AF0F7"/>
        </a:solidFill>
        <a:effectLst/>
      </p:bgPr>
    </p:bg>
    <p:spTree>
      <p:nvGrpSpPr>
        <p:cNvPr id="1" name=""/>
        <p:cNvGrpSpPr/>
        <p:nvPr/>
      </p:nvGrpSpPr>
      <p:grpSpPr/>
      <p:sp>
        <p:nvSpPr>
          <p:cNvPr id="2" name="TextBox 1"/>
          <p:cNvSpPr txBox="1"/>
          <p:nvPr/>
        </p:nvSpPr>
        <p:spPr>
          <a:xfrm>
            <a:off x="731520" y="1371600"/>
            <a:ext cx="10728655" cy="623316"/>
          </a:xfrm>
          <a:prstGeom prst="rect">
            <a:avLst/>
          </a:prstGeom>
          <a:noFill/>
        </p:spPr>
        <p:txBody>
          <a:bodyPr wrap="square">
            <a:spAutoFit/>
          </a:bodyPr>
          <a:lstStyle/>
          <a:p>
            <a:pPr algn="l">
              <a:defRPr sz="3000" b="1" i="0">
                <a:solidFill>
                  <a:srgbClr val="5C82AD"/>
                </a:solidFill>
                <a:latin typeface="Liberation Sans"/>
              </a:defRPr>
            </a:pPr>
            <a:r>
              <a:t>Three Takeaways</a:t>
            </a:r>
          </a:p>
        </p:txBody>
      </p:sp>
      <p:sp>
        <p:nvSpPr>
          <p:cNvPr id="3" name="TextBox 2"/>
          <p:cNvSpPr txBox="1"/>
          <p:nvPr/>
        </p:nvSpPr>
        <p:spPr>
          <a:xfrm>
            <a:off x="731520" y="2104644"/>
            <a:ext cx="10728655" cy="425195"/>
          </a:xfrm>
          <a:prstGeom prst="rect">
            <a:avLst/>
          </a:prstGeom>
          <a:noFill/>
        </p:spPr>
        <p:txBody>
          <a:bodyPr wrap="square">
            <a:spAutoFit/>
          </a:bodyPr>
          <a:lstStyle/>
          <a:p>
            <a:pPr algn="l">
              <a:defRPr sz="1800" b="0" i="0">
                <a:solidFill>
                  <a:srgbClr val="647489"/>
                </a:solidFill>
                <a:latin typeface="Liberation Sans"/>
              </a:defRPr>
            </a:pPr>
            <a:r>
              <a:t>What matters is not only finding the right answer, but building a reasoning system we can trust and reuse.</a:t>
            </a:r>
          </a:p>
        </p:txBody>
      </p:sp>
      <p:sp>
        <p:nvSpPr>
          <p:cNvPr id="4" name="TextBox 3"/>
          <p:cNvSpPr txBox="1"/>
          <p:nvPr/>
        </p:nvSpPr>
        <p:spPr>
          <a:xfrm>
            <a:off x="952347" y="2913888"/>
            <a:ext cx="3154680" cy="623316"/>
          </a:xfrm>
          <a:prstGeom prst="rect">
            <a:avLst/>
          </a:prstGeom>
          <a:noFill/>
        </p:spPr>
        <p:txBody>
          <a:bodyPr wrap="square">
            <a:spAutoFit/>
          </a:bodyPr>
          <a:lstStyle/>
          <a:p>
            <a:pPr algn="l">
              <a:defRPr sz="3000" b="1" i="0">
                <a:solidFill>
                  <a:srgbClr val="D69A68"/>
                </a:solidFill>
                <a:latin typeface="Liberation Sans"/>
              </a:defRPr>
            </a:pPr>
            <a:r>
              <a:t>1</a:t>
            </a:r>
          </a:p>
        </p:txBody>
      </p:sp>
      <p:sp>
        <p:nvSpPr>
          <p:cNvPr id="5" name="TextBox 4"/>
          <p:cNvSpPr txBox="1"/>
          <p:nvPr/>
        </p:nvSpPr>
        <p:spPr>
          <a:xfrm>
            <a:off x="952347" y="3610356"/>
            <a:ext cx="3154680" cy="425196"/>
          </a:xfrm>
          <a:prstGeom prst="rect">
            <a:avLst/>
          </a:prstGeom>
          <a:noFill/>
        </p:spPr>
        <p:txBody>
          <a:bodyPr wrap="square">
            <a:spAutoFit/>
          </a:bodyPr>
          <a:lstStyle/>
          <a:p>
            <a:pPr algn="l">
              <a:defRPr sz="1800" b="1" i="0">
                <a:solidFill>
                  <a:srgbClr val="223043"/>
                </a:solidFill>
                <a:latin typeface="Liberation Sans"/>
              </a:defRPr>
            </a:pPr>
            <a:r>
              <a:t>Score the path, not just the answer.</a:t>
            </a:r>
          </a:p>
        </p:txBody>
      </p:sp>
      <p:sp>
        <p:nvSpPr>
          <p:cNvPr id="6" name="TextBox 5"/>
          <p:cNvSpPr txBox="1"/>
          <p:nvPr/>
        </p:nvSpPr>
        <p:spPr>
          <a:xfrm>
            <a:off x="4518507" y="2913888"/>
            <a:ext cx="3154680" cy="623316"/>
          </a:xfrm>
          <a:prstGeom prst="rect">
            <a:avLst/>
          </a:prstGeom>
          <a:noFill/>
        </p:spPr>
        <p:txBody>
          <a:bodyPr wrap="square">
            <a:spAutoFit/>
          </a:bodyPr>
          <a:lstStyle/>
          <a:p>
            <a:pPr algn="l">
              <a:defRPr sz="3000" b="1" i="0">
                <a:solidFill>
                  <a:srgbClr val="8FAAC8"/>
                </a:solidFill>
                <a:latin typeface="Liberation Sans"/>
              </a:defRPr>
            </a:pPr>
            <a:r>
              <a:t>2</a:t>
            </a:r>
          </a:p>
        </p:txBody>
      </p:sp>
      <p:sp>
        <p:nvSpPr>
          <p:cNvPr id="7" name="TextBox 6"/>
          <p:cNvSpPr txBox="1"/>
          <p:nvPr/>
        </p:nvSpPr>
        <p:spPr>
          <a:xfrm>
            <a:off x="4518507" y="3610356"/>
            <a:ext cx="3154680" cy="425196"/>
          </a:xfrm>
          <a:prstGeom prst="rect">
            <a:avLst/>
          </a:prstGeom>
          <a:noFill/>
        </p:spPr>
        <p:txBody>
          <a:bodyPr wrap="square">
            <a:spAutoFit/>
          </a:bodyPr>
          <a:lstStyle/>
          <a:p>
            <a:pPr algn="l">
              <a:defRPr sz="1800" b="1" i="0">
                <a:solidFill>
                  <a:srgbClr val="223043"/>
                </a:solidFill>
                <a:latin typeface="Liberation Sans"/>
              </a:defRPr>
            </a:pPr>
            <a:r>
              <a:t>Train on verification loops, not only labels.</a:t>
            </a:r>
          </a:p>
        </p:txBody>
      </p:sp>
      <p:sp>
        <p:nvSpPr>
          <p:cNvPr id="8" name="TextBox 7"/>
          <p:cNvSpPr txBox="1"/>
          <p:nvPr/>
        </p:nvSpPr>
        <p:spPr>
          <a:xfrm>
            <a:off x="8084667" y="2913888"/>
            <a:ext cx="3154680" cy="623316"/>
          </a:xfrm>
          <a:prstGeom prst="rect">
            <a:avLst/>
          </a:prstGeom>
          <a:noFill/>
        </p:spPr>
        <p:txBody>
          <a:bodyPr wrap="square">
            <a:spAutoFit/>
          </a:bodyPr>
          <a:lstStyle/>
          <a:p>
            <a:pPr algn="l">
              <a:defRPr sz="3000" b="1" i="0">
                <a:solidFill>
                  <a:srgbClr val="7FA195"/>
                </a:solidFill>
                <a:latin typeface="Liberation Sans"/>
              </a:defRPr>
            </a:pPr>
            <a:r>
              <a:t>3</a:t>
            </a:r>
          </a:p>
        </p:txBody>
      </p:sp>
      <p:sp>
        <p:nvSpPr>
          <p:cNvPr id="9" name="TextBox 8"/>
          <p:cNvSpPr txBox="1"/>
          <p:nvPr/>
        </p:nvSpPr>
        <p:spPr>
          <a:xfrm>
            <a:off x="8084667" y="3610356"/>
            <a:ext cx="3154680" cy="425196"/>
          </a:xfrm>
          <a:prstGeom prst="rect">
            <a:avLst/>
          </a:prstGeom>
          <a:noFill/>
        </p:spPr>
        <p:txBody>
          <a:bodyPr wrap="square">
            <a:spAutoFit/>
          </a:bodyPr>
          <a:lstStyle/>
          <a:p>
            <a:pPr algn="l">
              <a:defRPr sz="1800" b="1" i="0">
                <a:solidFill>
                  <a:srgbClr val="223043"/>
                </a:solidFill>
                <a:latin typeface="Liberation Sans"/>
              </a:defRPr>
            </a:pPr>
            <a:r>
              <a:t>Build the model once, then reuse it broadly.</a:t>
            </a:r>
          </a:p>
        </p:txBody>
      </p:sp>
      <p:sp>
        <p:nvSpPr>
          <p:cNvPr id="10" name="TextBox 9"/>
          <p:cNvSpPr txBox="1"/>
          <p:nvPr/>
        </p:nvSpPr>
        <p:spPr>
          <a:xfrm>
            <a:off x="731520" y="4419600"/>
            <a:ext cx="10728655" cy="491236"/>
          </a:xfrm>
          <a:prstGeom prst="rect">
            <a:avLst/>
          </a:prstGeom>
          <a:noFill/>
        </p:spPr>
        <p:txBody>
          <a:bodyPr wrap="square">
            <a:spAutoFit/>
          </a:bodyPr>
          <a:lstStyle/>
          <a:p>
            <a:pPr algn="ctr">
              <a:defRPr sz="2200" b="1" i="0">
                <a:solidFill>
                  <a:srgbClr val="5C82AD"/>
                </a:solidFill>
                <a:latin typeface="Liberation Sans"/>
              </a:defRPr>
            </a:pPr>
            <a:r>
              <a:t>Build the model once. Reuse it across diagnosis, prediction, and repair.</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2"/>
                                        </p:tgtEl>
                                      </p:cBhvr>
                                    </p:animEffect>
                                    <p:set>
                                      <p:cBhvr>
                                        <p:cTn id="23" dur="1" fill="hold">
                                          <p:stCondLst>
                                            <p:cond delay="0"/>
                                          </p:stCondLst>
                                        </p:cTn>
                                        <p:tgtEl>
                                          <p:spTgt spid="2"/>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3"/>
                                        </p:tgtEl>
                                      </p:cBhvr>
                                    </p:animEffec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animEffect transition="in" filter="fade">
                                      <p:cBhvr>
                                        <p:cTn id="30" dur="500"/>
                                        <p:tgtEl>
                                          <p:spTgt spid="4"/>
                                        </p:tgtEl>
                                      </p:cBhvr>
                                    </p:animEffect>
                                    <p:set>
                                      <p:cBhvr>
                                        <p:cTn id="31" dur="1" fill="hold">
                                          <p:stCondLst>
                                            <p:cond delay="0"/>
                                          </p:stCondLst>
                                        </p:cTn>
                                        <p:tgtEl>
                                          <p:spTgt spid="4"/>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500"/>
                                        <p:tgtEl>
                                          <p:spTgt spid="5"/>
                                        </p:tgtEl>
                                      </p:cBhvr>
                                    </p:animEffect>
                                    <p:set>
                                      <p:cBhvr>
                                        <p:cTn id="34" dur="1" fill="hold">
                                          <p:stCondLst>
                                            <p:cond delay="0"/>
                                          </p:stCondLst>
                                        </p:cTn>
                                        <p:tgtEl>
                                          <p:spTgt spid="5"/>
                                        </p:tgtEl>
                                        <p:attrNameLst>
                                          <p:attrName>style.visibility</p:attrName>
                                        </p:attrNameLst>
                                      </p:cBhvr>
                                      <p:to>
                                        <p:strVal val="visible"/>
                                      </p:to>
                                    </p:set>
                                  </p:childTnLst>
                                </p:cTn>
                              </p:par>
                              <p:par>
                                <p:cTn id="35" presetID="10" presetClass="entr" presetSubtype="0" fill="hold" grpId="0" nodeType="withEffect">
                                  <p:stCondLst>
                                    <p:cond delay="0"/>
                                  </p:stCondLst>
                                  <p:childTnLst>
                                    <p:animEffect transition="in" filter="fade">
                                      <p:cBhvr>
                                        <p:cTn id="36" dur="500"/>
                                        <p:tgtEl>
                                          <p:spTgt spid="6"/>
                                        </p:tgtEl>
                                      </p:cBhvr>
                                    </p:animEffect>
                                    <p:set>
                                      <p:cBhvr>
                                        <p:cTn id="37" dur="1" fill="hold">
                                          <p:stCondLst>
                                            <p:cond delay="0"/>
                                          </p:stCondLst>
                                        </p:cTn>
                                        <p:tgtEl>
                                          <p:spTgt spid="6"/>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7"/>
                                        </p:tgtEl>
                                      </p:cBhvr>
                                    </p:animEffect>
                                    <p:set>
                                      <p:cBhvr>
                                        <p:cTn id="40" dur="1" fill="hold">
                                          <p:stCondLst>
                                            <p:cond delay="0"/>
                                          </p:stCondLst>
                                        </p:cTn>
                                        <p:tgtEl>
                                          <p:spTgt spid="7"/>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8"/>
                                        </p:tgtEl>
                                      </p:cBhvr>
                                    </p:animEffect>
                                    <p:set>
                                      <p:cBhvr>
                                        <p:cTn id="43" dur="1" fill="hold">
                                          <p:stCondLst>
                                            <p:cond delay="0"/>
                                          </p:stCondLst>
                                        </p:cTn>
                                        <p:tgtEl>
                                          <p:spTgt spid="8"/>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9"/>
                                        </p:tgtEl>
                                      </p:cBhvr>
                                    </p:animEffect>
                                    <p:set>
                                      <p:cBhvr>
                                        <p:cTn id="46" dur="1" fill="hold">
                                          <p:stCondLst>
                                            <p:cond delay="0"/>
                                          </p:stCondLst>
                                        </p:cTn>
                                        <p:tgtEl>
                                          <p:spTgt spid="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10"/>
                                        </p:tgtEl>
                                      </p:cBhvr>
                                    </p:animEffect>
                                    <p:set>
                                      <p:cBhvr>
                                        <p:cTn id="5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