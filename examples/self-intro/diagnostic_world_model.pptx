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reframing RCA as a world-modeling problem rather than a label prediction problem. Transition by stating that the next slides unpack the three premises that make this view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today's black-box symptom-to-label flow with a world-model loop that hypothesizes and verifies propagation. Transition by asking what assumptions must be true for that loop to be feasible.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first premise: the intervention space is broad but still bounded enough to model. OpenRCA and FORGE demonstrate this with 25 fault types across 6 categories. Transition by noting that bounded atomic faults only help if we can replay them inside a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second premise: if we can inject faults under workload, we can watch failures propagate instead of merely reading symptoms after the fact. Transition by saying replay alone is insufficient unless we can score whether a reasoning path matches reality.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third premise explicit: a diagnosis should earn reward only when the causal path checks out against ground truth. Transition by saying that once world-model RCA is feasible, the real bottleneck becomes how RCA is defined and evaluated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survey's core insight: RCA should output a propagation graph, not just a root-cause node. This is the north star that exposes why current benchmarks are insufficient. Transition to the benchmark crisis: if we measure only point accuracy, we miss the real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dataset study's headline result: simple heuristics are surprisingly competitive with SOTA on public benchmarks. This exposes a fundamental problem: current benchmarks measure point accuracy, not graph-building ability. Transition by asking what structural defects make those benchmarks so forgiving.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Drill into the three structural defects behind the benchmark crisis: shallow labels, static workloads, and point-only metrics. Transition by previewing what a harder benchmark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first section with the benchmark pipeline and the core result numbers: 9,152 injections, 1,430 validated cases, 25 fault types, 0.21 average Top@1, and 0.37 best. Transition by saying the rest of the deck will explain the process-level supervision and benchmark design behind this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survey's Effectiveness-Data-Cost triangle as the governing trade-off behind practical RCA systems. The crucial point: we must measure graph-building quality, not just point accuracy, to make this trade-off worthwhile. Transition to the benchmark crisis: current benchmarks measure the wrong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to separate outcome correctness from process correctness with the 0.76 versus 0.63 comparison. The key insight: 13% of answers are 'lucky guesses' with invalid reasoning paths. Transition by asking how to turn an ill-posed backward RCA task into something verifiable enough to supervise.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information asymmetry at the heart of FORGE: the agent reasons backward, while annotation can verify forward from the known intervention. Transition by turning that verification mechanism into a concrete benchmark identity.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the benchmark identity in three facts: 500 instances, step-wise causal annotations, and process supervision. Transition by broadening from RCA diagnosis to the adjacent triage workflow where multi-agent coordination already shows practical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 TRIANGLE as independent validation of the same research belief: explicit reasoning structures beat black-box approaches. The key evidence is production deployment at scale—structured multi-agent triage works in practice. Transition: if structured reasoning works for triage and RCA evaluation, can we train agents to build reusable world models?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from OpenRCA 2.0's evaluation to the training challenge: we need automated training data generation. The solution is closed-loop training with fault injection simulation—leveraging the same verification mechanism as FORGE. Transition: after collecting many successful traces, what can we do with them?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two is distillation: compress many training traces into one reusable world model. The key challenge: preserve causal structure while generalizing across different incidents. Transition: once we have the world model, how do we maximize its value?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three is about leverage: the same world model enables multiple downstream tasks. This is the payoff of the three-stage roadmap: simulate, compress, then generalize. Transition to the closing takeaways.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three short takeaways rather than a dense recap, keeping the typography strong and the message memorable. End on the final line as the thesis statement for the whole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2E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371600"/>
            <a:ext cx="6583680" cy="336803"/>
          </a:xfrm>
          <a:prstGeom prst="roundRect">
            <a:avLst/>
          </a:prstGeom>
          <a:solidFill>
            <a:srgbClr val="C87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Research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72996"/>
            <a:ext cx="6583680" cy="1017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6324F"/>
                </a:solidFill>
                <a:latin typeface="Liberation Sans"/>
              </a:defRPr>
            </a:pPr>
            <a:r>
              <a:t>Building World Models for</a:t>
            </a:r>
          </a:p>
          <a:p>
            <a:pPr algn="l">
              <a:defRPr sz="2800" b="1" i="0">
                <a:solidFill>
                  <a:srgbClr val="16324F"/>
                </a:solidFill>
                <a:latin typeface="Liberation Sans"/>
              </a:defRPr>
            </a:pPr>
            <a:r>
              <a:t>Diagnostic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54604"/>
            <a:ext cx="6583680" cy="636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51606F"/>
                </a:solidFill>
                <a:latin typeface="Liberation Sans"/>
              </a:defRPr>
            </a:pPr>
            <a:r>
              <a:t>From outcome labels to causal process supervision in root cause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55212"/>
            <a:ext cx="6583680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C8792A"/>
                </a:solidFill>
                <a:latin typeface="Liberation Sans"/>
              </a:defRPr>
            </a:pPr>
            <a:r>
              <a:t>Move RCA from point finding to graph building.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108960" cy="336803"/>
          </a:xfrm>
          <a:prstGeom prst="roundRect">
            <a:avLst/>
          </a:prstGeom>
          <a:solidFill>
            <a:srgbClr val="B4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99844"/>
            <a:ext cx="3108960" cy="477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6212B"/>
                </a:solidFill>
                <a:latin typeface="Liberation Sans"/>
              </a:defRPr>
            </a:pPr>
            <a:r>
              <a:t>Oversimplified RCA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2496566"/>
            <a:ext cx="3108960" cy="336803"/>
          </a:xfrm>
          <a:prstGeom prst="roundRect">
            <a:avLst/>
          </a:prstGeom>
          <a:solidFill>
            <a:srgbClr val="356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924810"/>
            <a:ext cx="3108960" cy="477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6212B"/>
                </a:solidFill>
                <a:latin typeface="Liberation Sans"/>
              </a:defRPr>
            </a:pPr>
            <a:r>
              <a:t>Forward verification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621532"/>
            <a:ext cx="3108960" cy="336803"/>
          </a:xfrm>
          <a:prstGeom prst="roundRect">
            <a:avLst/>
          </a:prstGeom>
          <a:solidFill>
            <a:srgbClr val="2E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049775"/>
            <a:ext cx="3108960" cy="477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6212B"/>
                </a:solidFill>
                <a:latin typeface="Liberation Sans"/>
              </a:defRPr>
            </a:pPr>
            <a:r>
              <a:t>Trusted diagnosis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92802"/>
            <a:ext cx="10728655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51606F"/>
                </a:solidFill>
                <a:latin typeface="Liberation Sans"/>
              </a:defRPr>
            </a:pPr>
            <a:r>
              <a:t>Trusted diagnosis needs simulatable failures, verifiable reasoning, and explicit propagation structure.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12B"/>
                </a:solidFill>
                <a:latin typeface="Liberation Sans"/>
              </a:defRPr>
            </a:pPr>
            <a:r>
              <a:t>The Vision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C8A98"/>
                </a:solidFill>
                <a:latin typeface="Liberation Sans"/>
              </a:defRPr>
            </a:pPr>
            <a:r>
              <a:t>Goal-driven RCA survey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389120" cy="336803"/>
          </a:xfrm>
          <a:prstGeom prst="roundRect">
            <a:avLst/>
          </a:prstGeom>
          <a:solidFill>
            <a:srgbClr val="B4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Black-box RCA</a:t>
            </a:r>
          </a:p>
        </p:txBody>
      </p:sp>
      <p:pic>
        <p:nvPicPr>
          <p:cNvPr id="6" name="Picture 5" descr="tmp93dpqd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45564"/>
            <a:ext cx="320040" cy="320040"/>
          </a:xfrm>
          <a:prstGeom prst="rect">
            <a:avLst/>
          </a:prstGeom>
        </p:spPr>
      </p:pic>
      <p:pic>
        <p:nvPicPr>
          <p:cNvPr id="7" name="Picture 6" descr="tmp98opsht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1845564"/>
            <a:ext cx="320040" cy="3200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302764"/>
            <a:ext cx="732536" cy="749808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Data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64056" y="2677668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939544" y="2302764"/>
            <a:ext cx="1202436" cy="749808"/>
          </a:xfrm>
          <a:prstGeom prst="roundRect">
            <a:avLst/>
          </a:prstGeom>
          <a:solidFill>
            <a:srgbClr val="B44D3E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LLM guess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41980" y="2677668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617468" y="2302764"/>
            <a:ext cx="796036" cy="749808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Label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189732"/>
            <a:ext cx="54864" cy="982472"/>
          </a:xfrm>
          <a:prstGeom prst="rect">
            <a:avLst/>
          </a:prstGeom>
          <a:solidFill>
            <a:srgbClr val="B44D3E"/>
          </a:solidFill>
          <a:ln w="12700">
            <a:solidFill>
              <a:srgbClr val="B4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189732"/>
            <a:ext cx="4197096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B44D3E"/>
                </a:solidFill>
                <a:latin typeface="Liberation Sans"/>
              </a:defRPr>
            </a:pPr>
            <a:r>
              <a:t>Current pattern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663188"/>
            <a:ext cx="4197096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Optimize for a correct answer, even if the causal path is hidden or hallucinated.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0" y="1371600"/>
            <a:ext cx="4389120" cy="336803"/>
          </a:xfrm>
          <a:prstGeom prst="roundRect">
            <a:avLst/>
          </a:prstGeom>
          <a:solidFill>
            <a:srgbClr val="2E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World-model RCA</a:t>
            </a:r>
          </a:p>
        </p:txBody>
      </p:sp>
      <p:pic>
        <p:nvPicPr>
          <p:cNvPr id="17" name="Picture 16" descr="tmp93dpqd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845564"/>
            <a:ext cx="320040" cy="320040"/>
          </a:xfrm>
          <a:prstGeom prst="rect">
            <a:avLst/>
          </a:prstGeom>
        </p:spPr>
      </p:pic>
      <p:pic>
        <p:nvPicPr>
          <p:cNvPr id="18" name="Picture 17" descr="tmpqf84xrj_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1845564"/>
            <a:ext cx="320040" cy="32004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486400" y="2302764"/>
            <a:ext cx="732536" cy="749808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Data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18936" y="2677668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694424" y="2302764"/>
            <a:ext cx="821436" cy="749808"/>
          </a:xfrm>
          <a:prstGeom prst="roundRect">
            <a:avLst/>
          </a:prstGeom>
          <a:solidFill>
            <a:srgbClr val="C8792A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Verify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15860" y="2677668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991348" y="2302764"/>
            <a:ext cx="846836" cy="749808"/>
          </a:xfrm>
          <a:prstGeom prst="roundRect">
            <a:avLst/>
          </a:prstGeom>
          <a:solidFill>
            <a:srgbClr val="2E6B57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Graph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3189732"/>
            <a:ext cx="54864" cy="982472"/>
          </a:xfrm>
          <a:prstGeom prst="rect">
            <a:avLst/>
          </a:prstGeom>
          <a:solidFill>
            <a:srgbClr val="2E6B57"/>
          </a:solidFill>
          <a:ln w="12700">
            <a:solidFill>
              <a:srgbClr val="2E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78424" y="3189732"/>
            <a:ext cx="4197096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2E6B57"/>
                </a:solidFill>
                <a:latin typeface="Liberation Sans"/>
              </a:defRPr>
            </a:pPr>
            <a:r>
              <a:t>Target behavior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3663188"/>
            <a:ext cx="4197096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Build and check a causal loop so the answer and the reasoning are both inspectable.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28236"/>
            <a:ext cx="10728655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51606F"/>
                </a:solidFill>
                <a:latin typeface="Liberation Sans"/>
              </a:defRPr>
            </a:pPr>
            <a:r>
              <a:t>Black-box RCA predicts an answer. World-model RCA closes a causal loop.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30" dur="indefinite" nodeType="mainSeq">
                <p:childTnLst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12B"/>
                </a:solidFill>
                <a:latin typeface="Liberation Sans"/>
              </a:defRPr>
            </a:pPr>
            <a:r>
              <a:t>Premise 1: Fault Injection &amp; Detection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C8A98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4864" cy="982472"/>
          </a:xfrm>
          <a:prstGeom prst="rect">
            <a:avLst/>
          </a:prstGeom>
          <a:solidFill>
            <a:srgbClr val="356B6F"/>
          </a:solidFill>
          <a:ln w="12700">
            <a:solidFill>
              <a:srgbClr val="356B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371600"/>
            <a:ext cx="10536631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56B6F"/>
                </a:solidFill>
                <a:latin typeface="Liberation Sans"/>
              </a:defRPr>
            </a:pPr>
            <a:r>
              <a:t>Fault detection precedes diagnosis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1845056"/>
            <a:ext cx="10536631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Before RCA can begin, we need to know a fault exists. OpenRCA and FORGE show that a bounded set of atomic faults can be systematically injected and observed.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73528"/>
            <a:ext cx="1265936" cy="749808"/>
          </a:xfrm>
          <a:prstGeom prst="roundRect">
            <a:avLst/>
          </a:prstGeom>
          <a:solidFill>
            <a:srgbClr val="356B6F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Finite faults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97456" y="2948432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72944" y="2573528"/>
            <a:ext cx="1837436" cy="749808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Controlled injection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0380" y="2948432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785868" y="2573528"/>
            <a:ext cx="1773936" cy="749808"/>
          </a:xfrm>
          <a:prstGeom prst="roundRect">
            <a:avLst/>
          </a:prstGeom>
          <a:solidFill>
            <a:srgbClr val="C8792A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Observable effects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42792"/>
            <a:ext cx="3478682" cy="713232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16212B"/>
                </a:solidFill>
                <a:latin typeface="Liberation Sans"/>
              </a:defRPr>
            </a:pPr>
            <a:r>
              <a:t>CPU stress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6506" y="3542792"/>
            <a:ext cx="3478682" cy="713232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16212B"/>
                </a:solidFill>
                <a:latin typeface="Liberation Sans"/>
              </a:defRPr>
            </a:pPr>
            <a:r>
              <a:t>Memory leak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81492" y="3542792"/>
            <a:ext cx="3478682" cy="713232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16212B"/>
                </a:solidFill>
                <a:latin typeface="Liberation Sans"/>
              </a:defRPr>
            </a:pPr>
            <a:r>
              <a:t>Packet loss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02328"/>
            <a:ext cx="3478682" cy="713232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16212B"/>
                </a:solidFill>
                <a:latin typeface="Liberation Sans"/>
              </a:defRPr>
            </a:pPr>
            <a:r>
              <a:t>Delay spike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6506" y="4402328"/>
            <a:ext cx="3478682" cy="713232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16212B"/>
                </a:solidFill>
                <a:latin typeface="Liberation Sans"/>
              </a:defRPr>
            </a:pPr>
            <a:r>
              <a:t>Config drift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81492" y="4402328"/>
            <a:ext cx="3478682" cy="713232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16212B"/>
                </a:solidFill>
                <a:latin typeface="Liberation Sans"/>
              </a:defRPr>
            </a:pPr>
            <a:r>
              <a:t>Code regression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335016"/>
            <a:ext cx="10728655" cy="636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51606F"/>
                </a:solidFill>
                <a:latin typeface="Liberation Sans"/>
              </a:defRPr>
            </a:pPr>
            <a:r>
              <a:t>Large incidents are combinations of local faults. The key is bounded atomic faults that can be injected, replayed, and verified.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8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12B"/>
                </a:solidFill>
                <a:latin typeface="Liberation Sans"/>
              </a:defRPr>
            </a:pPr>
            <a:r>
              <a:t>Premise 2: Simulatable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C8A98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431036" cy="914400"/>
          </a:xfrm>
          <a:prstGeom prst="roundRect">
            <a:avLst/>
          </a:prstGeom>
          <a:solidFill>
            <a:srgbClr val="C8792A"/>
          </a:solidFill>
          <a:ln w="12700">
            <a:solidFill>
              <a:srgbClr val="C8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Fault injection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62556" y="1828800"/>
            <a:ext cx="475488" cy="0"/>
          </a:xfrm>
          <a:prstGeom prst="line">
            <a:avLst/>
          </a:prstGeom>
          <a:ln w="19050">
            <a:solidFill>
              <a:srgbClr val="1632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38044" y="1371600"/>
            <a:ext cx="1748536" cy="914400"/>
          </a:xfrm>
          <a:prstGeom prst="roundRect">
            <a:avLst/>
          </a:prstGeom>
          <a:solidFill>
            <a:srgbClr val="356B6F"/>
          </a:solidFill>
          <a:ln w="12700">
            <a:solidFill>
              <a:srgbClr val="356B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Dynamic workload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86580" y="1828800"/>
            <a:ext cx="475488" cy="0"/>
          </a:xfrm>
          <a:prstGeom prst="line">
            <a:avLst/>
          </a:prstGeom>
          <a:ln w="19050">
            <a:solidFill>
              <a:srgbClr val="1632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862068" y="1371600"/>
            <a:ext cx="1367536" cy="914400"/>
          </a:xfrm>
          <a:prstGeom prst="roundRect">
            <a:avLst/>
          </a:prstGeom>
          <a:solidFill>
            <a:srgbClr val="16324F"/>
          </a:solidFill>
          <a:ln w="12700">
            <a:solidFill>
              <a:srgbClr val="16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Observability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29604" y="1828800"/>
            <a:ext cx="475488" cy="0"/>
          </a:xfrm>
          <a:prstGeom prst="line">
            <a:avLst/>
          </a:prstGeom>
          <a:ln w="19050">
            <a:solidFill>
              <a:srgbClr val="1632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05092" y="1371600"/>
            <a:ext cx="1545336" cy="914400"/>
          </a:xfrm>
          <a:prstGeom prst="roundRect">
            <a:avLst/>
          </a:prstGeom>
          <a:solidFill>
            <a:srgbClr val="2E6B57"/>
          </a:solidFill>
          <a:ln w="12700">
            <a:solidFill>
              <a:srgbClr val="2E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Validated cases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542032"/>
            <a:ext cx="54864" cy="982472"/>
          </a:xfrm>
          <a:prstGeom prst="rect">
            <a:avLst/>
          </a:prstGeom>
          <a:solidFill>
            <a:srgbClr val="356B6F"/>
          </a:solidFill>
          <a:ln w="12700">
            <a:solidFill>
              <a:srgbClr val="356B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542032"/>
            <a:ext cx="3274466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56B6F"/>
                </a:solidFill>
                <a:latin typeface="Liberation Sans"/>
              </a:defRPr>
            </a:pPr>
            <a:r>
              <a:t>Replayable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015488"/>
            <a:ext cx="3274466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Known interventions make the incident generation process reproducible.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2602" y="2542032"/>
            <a:ext cx="54864" cy="982472"/>
          </a:xfrm>
          <a:prstGeom prst="rect">
            <a:avLst/>
          </a:prstGeom>
          <a:solidFill>
            <a:srgbClr val="2E6B57"/>
          </a:solidFill>
          <a:ln w="12700">
            <a:solidFill>
              <a:srgbClr val="2E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4626" y="2542032"/>
            <a:ext cx="3274466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2E6B57"/>
                </a:solidFill>
                <a:latin typeface="Liberation Sans"/>
              </a:defRPr>
            </a:pPr>
            <a:r>
              <a:t>Operationally relevant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4626" y="3015488"/>
            <a:ext cx="3274466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Keep only failures that produce observable user-facing impact.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3684" y="2542032"/>
            <a:ext cx="54864" cy="982472"/>
          </a:xfrm>
          <a:prstGeom prst="rect">
            <a:avLst/>
          </a:prstGeom>
          <a:solidFill>
            <a:srgbClr val="C8792A"/>
          </a:solidFill>
          <a:ln w="12700">
            <a:solidFill>
              <a:srgbClr val="C8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5708" y="2542032"/>
            <a:ext cx="3274466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C8792A"/>
                </a:solidFill>
                <a:latin typeface="Liberation Sans"/>
              </a:defRPr>
            </a:pPr>
            <a:r>
              <a:t>Causal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5708" y="3015488"/>
            <a:ext cx="3274466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The intervention gives a concrete starting point for tracing propagation.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80536"/>
            <a:ext cx="10728655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51606F"/>
                </a:solidFill>
                <a:latin typeface="Liberation Sans"/>
              </a:defRPr>
            </a:pPr>
            <a:r>
              <a:t>Simulation turns RCA data collection from passive observation into controlled causal experimentation.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6" fill="hold">
                      <p:stCondLst>
                        <p:cond delay="0"/>
                      </p:stCondLst>
                      <p:childTnLst>
                        <p:set>
                          <p:cBhvr>
                            <p:cTn id="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set>
                          <p:cBhvr>
                            <p:cTn id="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set>
                          <p:cBhvr>
                            <p:cTn id="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42" dur="indefinite" nodeType="mainSeq">
                <p:childTnLst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12B"/>
                </a:solidFill>
                <a:latin typeface="Liberation Sans"/>
              </a:defRPr>
            </a:pPr>
            <a:r>
              <a:t>Premise 3: Verifiable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C8A98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227836" cy="749808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Hypothesis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59356" y="1746504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34844" y="1371600"/>
            <a:ext cx="821436" cy="749808"/>
          </a:xfrm>
          <a:prstGeom prst="roundRect">
            <a:avLst/>
          </a:prstGeom>
          <a:solidFill>
            <a:srgbClr val="356B6F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Verify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56280" y="1746504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731768" y="1371600"/>
            <a:ext cx="1304036" cy="749808"/>
          </a:xfrm>
          <a:prstGeom prst="roundRect">
            <a:avLst/>
          </a:prstGeom>
          <a:solidFill>
            <a:srgbClr val="C8792A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Reward / fail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35804" y="1746504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511292" y="1371600"/>
            <a:ext cx="923035" cy="749808"/>
          </a:xfrm>
          <a:prstGeom prst="roundRect">
            <a:avLst/>
          </a:prstGeom>
          <a:solidFill>
            <a:srgbClr val="2E6B57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Update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14015"/>
            <a:ext cx="54864" cy="1051560"/>
          </a:xfrm>
          <a:prstGeom prst="rect">
            <a:avLst/>
          </a:prstGeom>
          <a:solidFill>
            <a:srgbClr val="2E6B57"/>
          </a:solidFill>
          <a:ln w="12700">
            <a:solidFill>
              <a:srgbClr val="2E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414015"/>
            <a:ext cx="10536631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2E6B57"/>
                </a:solidFill>
                <a:latin typeface="Liberation Sans"/>
              </a:defRPr>
            </a:pPr>
            <a:r>
              <a:t>Ground truth anchor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2887472"/>
            <a:ext cx="10536631" cy="318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Verified propagation tells us whether the reasoning path is faithful, not just whether the final answer is lucky.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58183"/>
            <a:ext cx="10728655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51606F"/>
                </a:solidFill>
                <a:latin typeface="Liberation Sans"/>
              </a:defRPr>
            </a:pPr>
            <a:r>
              <a:t>Ground truth closes the learning loop: hypotheses are checked against the incident path, then revised.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12B"/>
                </a:solidFill>
                <a:latin typeface="Liberation Sans"/>
              </a:defRPr>
            </a:pPr>
            <a:r>
              <a:t>From Point-Finding to Graph-Building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C8A98"/>
                </a:solidFill>
                <a:latin typeface="Liberation Sans"/>
              </a:defRPr>
            </a:pPr>
            <a:r>
              <a:t>Goal-driven RCA survey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029200" cy="336803"/>
          </a:xfrm>
          <a:prstGeom prst="roundRect">
            <a:avLst/>
          </a:prstGeom>
          <a:solidFill>
            <a:srgbClr val="B4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Point-finding paradigm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54708"/>
            <a:ext cx="1113536" cy="749808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Telemetry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45056" y="2229612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20544" y="1854708"/>
            <a:ext cx="1088136" cy="749808"/>
          </a:xfrm>
          <a:prstGeom prst="roundRect">
            <a:avLst/>
          </a:prstGeom>
          <a:solidFill>
            <a:srgbClr val="B44D3E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Inference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08680" y="2229612"/>
            <a:ext cx="475487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84167" y="1854708"/>
            <a:ext cx="1227836" cy="749808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Root 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50820"/>
            <a:ext cx="5029200" cy="636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16212B"/>
                </a:solidFill>
                <a:latin typeface="Liberation Sans"/>
              </a:defRPr>
            </a:pPr>
            <a:r>
              <a:t>Current methods optimize for identifying the faulty component, ignoring the propagation 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33140"/>
            <a:ext cx="5029200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51606F"/>
                </a:solidFill>
                <a:latin typeface="Liberation Sans"/>
              </a:defRPr>
            </a:pPr>
            <a:r>
              <a:t>This is insufficient: engineers need to understand why this component caused the symptoms.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371600"/>
            <a:ext cx="5029200" cy="336803"/>
          </a:xfrm>
          <a:prstGeom prst="roundRect">
            <a:avLst/>
          </a:prstGeom>
          <a:solidFill>
            <a:srgbClr val="2E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Graph-building paradigm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854708"/>
            <a:ext cx="1113536" cy="749808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Telemetry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40016" y="2229612"/>
            <a:ext cx="475487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15503" y="1854708"/>
            <a:ext cx="1088136" cy="749808"/>
          </a:xfrm>
          <a:prstGeom prst="roundRect">
            <a:avLst/>
          </a:prstGeom>
          <a:solidFill>
            <a:srgbClr val="C8792A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Inference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03639" y="2229612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279127" y="1854708"/>
            <a:ext cx="1367536" cy="749808"/>
          </a:xfrm>
          <a:prstGeom prst="roundRect">
            <a:avLst/>
          </a:prstGeom>
          <a:solidFill>
            <a:srgbClr val="2E6B57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Causal graph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2750820"/>
            <a:ext cx="54864" cy="982472"/>
          </a:xfrm>
          <a:prstGeom prst="rect">
            <a:avLst/>
          </a:prstGeom>
          <a:solidFill>
            <a:srgbClr val="2E6B57"/>
          </a:solidFill>
          <a:ln w="12700">
            <a:solidFill>
              <a:srgbClr val="2E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4" y="2750820"/>
            <a:ext cx="4837175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2E6B57"/>
                </a:solidFill>
                <a:latin typeface="Liberation Sans"/>
              </a:defRPr>
            </a:pPr>
            <a:r>
              <a:t>What changes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3224276"/>
            <a:ext cx="4837175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The output is not just a node, but the causal graph explaining how the fault propagated to symptoms.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98188"/>
            <a:ext cx="10728655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51606F"/>
                </a:solidFill>
                <a:latin typeface="Liberation Sans"/>
              </a:defRPr>
            </a:pPr>
            <a:r>
              <a:t>Ideal RCA builds an interpretable causal graph, not just a ranked root-cause label.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34" dur="indefinite" nodeType="mainSeq">
                <p:childTnLst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12B"/>
                </a:solidFill>
                <a:latin typeface="Liberation Sans"/>
              </a:defRPr>
            </a:pPr>
            <a:r>
              <a:t>The Benchmark Crisis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C8A98"/>
                </a:solidFill>
                <a:latin typeface="Liberation Sans"/>
              </a:defRPr>
            </a:pPr>
            <a:r>
              <a:t>FSE RCA benchmark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029200" cy="336803"/>
          </a:xfrm>
          <a:prstGeom prst="roundRect">
            <a:avLst/>
          </a:prstGeom>
          <a:solidFill>
            <a:srgbClr val="C87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Simple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54708"/>
            <a:ext cx="5029200" cy="1005840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16212B"/>
                </a:solidFill>
                <a:latin typeface="Liberation Sans"/>
              </a:defRPr>
            </a:pPr>
            <a:r>
              <a:t>Alerts + thresholds</a:t>
            </a:r>
            <a:br/>
            <a:r>
              <a:t>rule-based ranking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06852"/>
            <a:ext cx="5029200" cy="636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16212B"/>
                </a:solidFill>
                <a:latin typeface="Liberation Sans"/>
              </a:defRPr>
            </a:pPr>
            <a:r>
              <a:t>Can match or beat sophisticated models on several public RCA benchmarks.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371600"/>
            <a:ext cx="5029200" cy="336803"/>
          </a:xfrm>
          <a:prstGeom prst="round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Published SOTA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54708"/>
            <a:ext cx="5029200" cy="1170432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16212B"/>
                </a:solidFill>
                <a:latin typeface="Liberation Sans"/>
              </a:defRPr>
            </a:pPr>
            <a:r>
              <a:t>Graph models</a:t>
            </a:r>
            <a:br/>
            <a:r>
              <a:t>multi-modal reasoning</a:t>
            </a:r>
            <a:br/>
            <a:r>
              <a:t>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171444"/>
            <a:ext cx="5029200" cy="636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16212B"/>
                </a:solidFill>
                <a:latin typeface="Liberation Sans"/>
              </a:defRPr>
            </a:pPr>
            <a:r>
              <a:t>Looks strong on paper, but the benchmark may be testing easy correlations instead of hard causality.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063492"/>
            <a:ext cx="54864" cy="791972"/>
          </a:xfrm>
          <a:prstGeom prst="rect">
            <a:avLst/>
          </a:prstGeom>
          <a:solidFill>
            <a:srgbClr val="B44D3E"/>
          </a:solidFill>
          <a:ln w="12700">
            <a:solidFill>
              <a:srgbClr val="B4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063492"/>
            <a:ext cx="10536631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B44D3E"/>
                </a:solidFill>
                <a:latin typeface="Liberation Sans"/>
              </a:defRPr>
            </a:pPr>
            <a:r>
              <a:t>Benchmark crisis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4536948"/>
            <a:ext cx="10536631" cy="318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If a simple baseline rivals SOTA, the benchmark is oversimplifying real RCA difficulty.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6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12B"/>
                </a:solidFill>
                <a:latin typeface="Liberation Sans"/>
              </a:defRPr>
            </a:pPr>
            <a:r>
              <a:t>Why Existing Benchmarks Fail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C8A98"/>
                </a:solidFill>
                <a:latin typeface="Liberation Sans"/>
              </a:defRPr>
            </a:pPr>
            <a:r>
              <a:t>FSE RCA benchmark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16212B"/>
                </a:solidFill>
                <a:latin typeface="Liberation Sans"/>
              </a:defRPr>
            </a:pPr>
            <a:r>
              <a:t>Three structural defects make public benchmarks too forgiving: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73071"/>
            <a:ext cx="54864" cy="982472"/>
          </a:xfrm>
          <a:prstGeom prst="rect">
            <a:avLst/>
          </a:prstGeom>
          <a:solidFill>
            <a:srgbClr val="B44D3E"/>
          </a:solidFill>
          <a:ln w="12700">
            <a:solidFill>
              <a:srgbClr val="B4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3071"/>
            <a:ext cx="3262274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B44D3E"/>
                </a:solidFill>
                <a:latin typeface="Liberation Sans"/>
              </a:defRPr>
            </a:pPr>
            <a:r>
              <a:t>Shallow ground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46528"/>
            <a:ext cx="3262274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Labels only reach service level. No code-level or propagation-level annotation.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1973071"/>
            <a:ext cx="54864" cy="982472"/>
          </a:xfrm>
          <a:prstGeom prst="rect">
            <a:avLst/>
          </a:prstGeom>
          <a:solidFill>
            <a:srgbClr val="B44D3E"/>
          </a:solidFill>
          <a:ln w="12700">
            <a:solidFill>
              <a:srgbClr val="B4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0722" y="1973071"/>
            <a:ext cx="3262274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B44D3E"/>
                </a:solidFill>
                <a:latin typeface="Liberation Sans"/>
              </a:defRPr>
            </a:pPr>
            <a:r>
              <a:t>Static workloads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0722" y="2446528"/>
            <a:ext cx="3262274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Fixed request patterns hide concurrency and load-dependent fault propagation.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5876" y="1973071"/>
            <a:ext cx="54864" cy="982472"/>
          </a:xfrm>
          <a:prstGeom prst="rect">
            <a:avLst/>
          </a:prstGeom>
          <a:solidFill>
            <a:srgbClr val="B44D3E"/>
          </a:solidFill>
          <a:ln w="12700">
            <a:solidFill>
              <a:srgbClr val="B4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7900" y="1973071"/>
            <a:ext cx="3262274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B44D3E"/>
                </a:solidFill>
                <a:latin typeface="Liberation Sans"/>
              </a:defRPr>
            </a:pPr>
            <a:r>
              <a:t>Point-only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7900" y="2446528"/>
            <a:ext cx="3262274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Top@K accuracy rewards lucky guesses. No evaluation of causal paths.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175000"/>
            <a:ext cx="54864" cy="791972"/>
          </a:xfrm>
          <a:prstGeom prst="rect">
            <a:avLst/>
          </a:prstGeom>
          <a:solidFill>
            <a:srgbClr val="B6923E"/>
          </a:solidFill>
          <a:ln w="12700">
            <a:solidFill>
              <a:srgbClr val="B69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175000"/>
            <a:ext cx="10536631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B6923E"/>
                </a:solidFill>
                <a:latin typeface="Liberation Sans"/>
              </a:defRPr>
            </a:pPr>
            <a:r>
              <a:t>Consequence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3648456"/>
            <a:ext cx="10536631" cy="318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Simple heuristics exploit these shortcuts. Reported SOTA progress is inflated by benchmark design, not real diagnostic capability.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86428"/>
            <a:ext cx="10728655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51606F"/>
                </a:solidFill>
                <a:latin typeface="Liberation Sans"/>
              </a:defRPr>
            </a:pPr>
            <a:r>
              <a:t>A harder benchmark must fix all three: deeper labels, dynamic workloads, and propagation-aware evaluation.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6" fill="hold">
                      <p:stCondLst>
                        <p:cond delay="0"/>
                      </p:stCondLst>
                      <p:childTnLst>
                        <p:set>
                          <p:cBhvr>
                            <p:cTn id="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set>
                          <p:cBhvr>
                            <p:cTn id="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set>
                          <p:cBhvr>
                            <p:cTn id="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2" fill="hold">
                      <p:stCondLst>
                        <p:cond delay="0"/>
                      </p:stCondLst>
                      <p:childTnLst>
                        <p:set>
                          <p:cBhvr>
                            <p:cTn id="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set>
                          <p:cBhvr>
                            <p:cTn id="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6" fill="hold">
                      <p:stCondLst>
                        <p:cond delay="0"/>
                      </p:stCondLst>
                      <p:childTnLst>
                        <p:set>
                          <p:cBhvr>
                            <p:cTn id="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set>
                          <p:cBhvr>
                            <p:cTn id="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set>
                          <p:cBhvr>
                            <p:cTn id="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2" fill="hold">
                      <p:stCondLst>
                        <p:cond delay="0"/>
                      </p:stCondLst>
                      <p:childTnLst>
                        <p:set>
                          <p:cBhvr>
                            <p:cTn id="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set>
                          <p:cBhvr>
                            <p:cTn id="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6" fill="hold">
                      <p:stCondLst>
                        <p:cond delay="0"/>
                      </p:stCondLst>
                      <p:childTnLst>
                        <p:set>
                          <p:cBhvr>
                            <p:cTn id="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set>
                          <p:cBhvr>
                            <p:cTn id="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0" fill="hold">
                      <p:stCondLst>
                        <p:cond delay="0"/>
                      </p:stCondLst>
                      <p:childTnLst>
                        <p:set>
                          <p:cBhvr>
                            <p:cTn id="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2" fill="hold">
                      <p:stCondLst>
                        <p:cond delay="0"/>
                      </p:stCondLst>
                      <p:childTnLst>
                        <p:set>
                          <p:cBhvr>
                            <p:cTn id="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set>
                          <p:cBhvr>
                            <p:cTn id="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66" dur="indefinite" nodeType="mainSeq">
                <p:childTnLst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12B"/>
                </a:solidFill>
                <a:latin typeface="Liberation Sans"/>
              </a:defRPr>
            </a:pPr>
            <a:r>
              <a:t>Our Solution: A Harder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C8A98"/>
                </a:solidFill>
                <a:latin typeface="Liberation Sans"/>
              </a:defRPr>
            </a:pPr>
            <a:r>
              <a:t>FSE RCA benchmark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545336" cy="960120"/>
          </a:xfrm>
          <a:prstGeom prst="roundRect">
            <a:avLst/>
          </a:prstGeom>
          <a:solidFill>
            <a:srgbClr val="C8792A"/>
          </a:solidFill>
          <a:ln w="12700">
            <a:solidFill>
              <a:srgbClr val="C8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9,152 injections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76856" y="1851660"/>
            <a:ext cx="475488" cy="0"/>
          </a:xfrm>
          <a:prstGeom prst="line">
            <a:avLst/>
          </a:prstGeom>
          <a:ln w="19050">
            <a:solidFill>
              <a:srgbClr val="1632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752344" y="1371600"/>
            <a:ext cx="1951736" cy="960120"/>
          </a:xfrm>
          <a:prstGeom prst="roundRect">
            <a:avLst/>
          </a:prstGeom>
          <a:solidFill>
            <a:srgbClr val="356B6F"/>
          </a:solidFill>
          <a:ln w="12700">
            <a:solidFill>
              <a:srgbClr val="356B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1,430 validated cases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04079" y="1851660"/>
            <a:ext cx="475489" cy="0"/>
          </a:xfrm>
          <a:prstGeom prst="line">
            <a:avLst/>
          </a:prstGeom>
          <a:ln w="19050">
            <a:solidFill>
              <a:srgbClr val="1632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79568" y="1371600"/>
            <a:ext cx="1380236" cy="960120"/>
          </a:xfrm>
          <a:prstGeom prst="roundRect">
            <a:avLst/>
          </a:prstGeom>
          <a:solidFill>
            <a:srgbClr val="2E6B57"/>
          </a:solidFill>
          <a:ln w="12700">
            <a:solidFill>
              <a:srgbClr val="2E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25 fault types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24328"/>
            <a:ext cx="1417320" cy="336803"/>
          </a:xfrm>
          <a:prstGeom prst="roundRect">
            <a:avLst/>
          </a:prstGeom>
          <a:solidFill>
            <a:srgbClr val="B4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Average Top@1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52572"/>
            <a:ext cx="1417320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6212B"/>
                </a:solidFill>
                <a:latin typeface="Liberation Sans"/>
              </a:defRPr>
            </a:pPr>
            <a:r>
              <a:t>0.21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78024" y="2624328"/>
            <a:ext cx="1417320" cy="336803"/>
          </a:xfrm>
          <a:prstGeom prst="roundRect">
            <a:avLst/>
          </a:prstGeom>
          <a:solidFill>
            <a:srgbClr val="B69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Best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3052572"/>
            <a:ext cx="1417320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6212B"/>
                </a:solidFill>
                <a:latin typeface="Liberation Sans"/>
              </a:defRPr>
            </a:pPr>
            <a:r>
              <a:t>0.37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4528" y="2624328"/>
            <a:ext cx="54864" cy="84201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624328"/>
            <a:ext cx="7031736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6324F"/>
                </a:solidFill>
                <a:latin typeface="Liberation Sans"/>
              </a:defRPr>
            </a:pPr>
            <a:r>
              <a:t>What changed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097784"/>
            <a:ext cx="7031736" cy="318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A harder benchmark preserves propagation and exposes a real performance collapse.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758946"/>
            <a:ext cx="10728655" cy="636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51606F"/>
                </a:solidFill>
                <a:latin typeface="Liberation Sans"/>
              </a:defRPr>
            </a:pPr>
            <a:r>
              <a:t>Our solution is not only more data. It is validated, propagation-aware data that reveals how fragile current RCA systems still are.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0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12B"/>
                </a:solidFill>
                <a:latin typeface="Liberation Sans"/>
              </a:defRPr>
            </a:pPr>
            <a:r>
              <a:t>The Effectiveness-Data-Cost Trade-off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C8A98"/>
                </a:solidFill>
                <a:latin typeface="Liberation Sans"/>
              </a:defRPr>
            </a:pPr>
            <a:r>
              <a:t>Goal-driven RCA survey</a:t>
            </a:r>
          </a:p>
        </p:txBody>
      </p:sp>
      <p:sp>
        <p:nvSpPr>
          <p:cNvPr id="5" name="Oval 4"/>
          <p:cNvSpPr/>
          <p:nvPr/>
        </p:nvSpPr>
        <p:spPr>
          <a:xfrm>
            <a:off x="3657600" y="1371600"/>
            <a:ext cx="1691640" cy="1691640"/>
          </a:xfrm>
          <a:prstGeom prst="ellipse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Liberation Sans"/>
              </a:defRPr>
            </a:pPr>
            <a:r>
              <a:t>Effectiveness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3191256"/>
            <a:ext cx="1508760" cy="1508760"/>
          </a:xfrm>
          <a:prstGeom prst="ellipse">
            <a:avLst/>
          </a:prstGeom>
          <a:solidFill>
            <a:srgbClr val="356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Liberation Sans"/>
              </a:defRPr>
            </a:pPr>
            <a:r>
              <a:t>Data</a:t>
            </a:r>
          </a:p>
        </p:txBody>
      </p:sp>
      <p:sp>
        <p:nvSpPr>
          <p:cNvPr id="7" name="Oval 6"/>
          <p:cNvSpPr/>
          <p:nvPr/>
        </p:nvSpPr>
        <p:spPr>
          <a:xfrm>
            <a:off x="3154680" y="3191256"/>
            <a:ext cx="1508760" cy="1508760"/>
          </a:xfrm>
          <a:prstGeom prst="ellipse">
            <a:avLst/>
          </a:prstGeom>
          <a:solidFill>
            <a:srgbClr val="B69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Liberation Sans"/>
              </a:defRPr>
            </a:pPr>
            <a: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828032"/>
            <a:ext cx="54864" cy="98247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4828032"/>
            <a:ext cx="3393507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6324F"/>
                </a:solidFill>
                <a:latin typeface="Liberation Sans"/>
              </a:defRPr>
            </a:pPr>
            <a:r>
              <a:t>Effectiveness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5301488"/>
            <a:ext cx="3393507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Better diagnosis quality and broader causal coverage.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99931" y="4828032"/>
            <a:ext cx="54864" cy="982472"/>
          </a:xfrm>
          <a:prstGeom prst="rect">
            <a:avLst/>
          </a:prstGeom>
          <a:solidFill>
            <a:srgbClr val="356B6F"/>
          </a:solidFill>
          <a:ln w="12700">
            <a:solidFill>
              <a:srgbClr val="356B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1955" y="4828032"/>
            <a:ext cx="3393507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56B6F"/>
                </a:solidFill>
                <a:latin typeface="Liberation Sans"/>
              </a:defRPr>
            </a:pPr>
            <a: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1955" y="5301488"/>
            <a:ext cx="3393507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More telemetry, more modalities, deeper observability.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68343" y="4828032"/>
            <a:ext cx="54864" cy="982472"/>
          </a:xfrm>
          <a:prstGeom prst="rect">
            <a:avLst/>
          </a:prstGeom>
          <a:solidFill>
            <a:srgbClr val="B6923E"/>
          </a:solidFill>
          <a:ln w="12700">
            <a:solidFill>
              <a:srgbClr val="B69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60367" y="4828032"/>
            <a:ext cx="2999807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B6923E"/>
                </a:solidFill>
                <a:latin typeface="Liberation Sans"/>
              </a:defRPr>
            </a:pPr>
            <a:r>
              <a:t>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60367" y="5301488"/>
            <a:ext cx="2999807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Ingestion, storage, and compute rise with scope.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38520"/>
            <a:ext cx="10728655" cy="286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51606F"/>
                </a:solidFill>
                <a:latin typeface="Liberation Sans"/>
              </a:defRPr>
            </a:pPr>
            <a:r>
              <a:t>Better RCA needs richer data, and richer data raises cost. The key is measuring the right thing.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6" fill="hold">
                      <p:stCondLst>
                        <p:cond delay="0"/>
                      </p:stCondLst>
                      <p:childTnLst>
                        <p:set>
                          <p:cBhvr>
                            <p:cTn id="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set>
                          <p:cBhvr>
                            <p:cTn id="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set>
                          <p:cBhvr>
                            <p:cTn id="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2" fill="hold">
                      <p:stCondLst>
                        <p:cond delay="0"/>
                      </p:stCondLst>
                      <p:childTnLst>
                        <p:set>
                          <p:cBhvr>
                            <p:cTn id="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set>
                          <p:cBhvr>
                            <p:cTn id="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46" dur="indefinite" nodeType="mainSeq">
                <p:childTnLst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12B"/>
                </a:solidFill>
                <a:latin typeface="Liberation Sans"/>
              </a:defRPr>
            </a:pPr>
            <a:r>
              <a:t>The Process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C8A98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389120" cy="336803"/>
          </a:xfrm>
          <a:prstGeom prst="roundRect">
            <a:avLst/>
          </a:prstGeom>
          <a:solidFill>
            <a:srgbClr val="356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Outcome correctness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18132"/>
            <a:ext cx="438912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356B6F"/>
                </a:solidFill>
                <a:latin typeface="Liberation Sans"/>
              </a:defRPr>
            </a:pPr>
            <a:r>
              <a:t>0.76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27375"/>
            <a:ext cx="4389120" cy="318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51606F"/>
                </a:solidFill>
                <a:latin typeface="Liberation Sans"/>
              </a:defRPr>
            </a:pPr>
            <a:r>
              <a:t>Pass@1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55619"/>
            <a:ext cx="4389120" cy="318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Right answer, but not necessarily right reasoning.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79" y="1371600"/>
            <a:ext cx="4389120" cy="336803"/>
          </a:xfrm>
          <a:prstGeom prst="roundRect">
            <a:avLst/>
          </a:prstGeom>
          <a:solidFill>
            <a:srgbClr val="B69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Process correctness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79" y="1818132"/>
            <a:ext cx="438912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B6923E"/>
                </a:solidFill>
                <a:latin typeface="Liberation Sans"/>
              </a:defRPr>
            </a:pPr>
            <a:r>
              <a:t>0.63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79" y="2627375"/>
            <a:ext cx="4389120" cy="318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51606F"/>
                </a:solidFill>
                <a:latin typeface="Liberation Sans"/>
              </a:defRPr>
            </a:pPr>
            <a:r>
              <a:t>Path Reachability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79" y="3055619"/>
            <a:ext cx="4389120" cy="318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Valid causal path from root cause to symptom.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66744"/>
            <a:ext cx="54864" cy="791972"/>
          </a:xfrm>
          <a:prstGeom prst="rect">
            <a:avLst/>
          </a:prstGeom>
          <a:solidFill>
            <a:srgbClr val="B44D3E"/>
          </a:solidFill>
          <a:ln w="12700">
            <a:solidFill>
              <a:srgbClr val="B4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666744"/>
            <a:ext cx="10536631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B44D3E"/>
                </a:solidFill>
                <a:latin typeface="Liberation Sans"/>
              </a:defRPr>
            </a:pPr>
            <a:r>
              <a:t>The gap: 13% of correct answers have broken reasoning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4140200"/>
            <a:ext cx="10536631" cy="318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Outcome correctness flatters the agent. Process correctness tells us whether the diagnosis can be trusted.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8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12B"/>
                </a:solidFill>
                <a:latin typeface="Liberation Sans"/>
              </a:defRPr>
            </a:pPr>
            <a:r>
              <a:t>FORGE: Forward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C8A98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389120" cy="336803"/>
          </a:xfrm>
          <a:prstGeom prst="roundRect">
            <a:avLst/>
          </a:prstGeom>
          <a:solidFill>
            <a:srgbClr val="B4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Backward diagnosis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2996"/>
            <a:ext cx="1189736" cy="749808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Symptoms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1255" y="2247900"/>
            <a:ext cx="475489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96744" y="1872996"/>
            <a:ext cx="719836" cy="749808"/>
          </a:xfrm>
          <a:prstGeom prst="roundRect">
            <a:avLst/>
          </a:prstGeom>
          <a:solidFill>
            <a:srgbClr val="B44D3E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??? 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16580" y="2247900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592068" y="1872996"/>
            <a:ext cx="1024636" cy="749808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Ill-posed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787396"/>
            <a:ext cx="54864" cy="982472"/>
          </a:xfrm>
          <a:prstGeom prst="rect">
            <a:avLst/>
          </a:prstGeom>
          <a:solidFill>
            <a:srgbClr val="B44D3E"/>
          </a:solidFill>
          <a:ln w="12700">
            <a:solidFill>
              <a:srgbClr val="B4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787396"/>
            <a:ext cx="4197096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B44D3E"/>
                </a:solidFill>
                <a:latin typeface="Liberation Sans"/>
              </a:defRPr>
            </a:pPr>
            <a:r>
              <a:t>Why it is hard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260852"/>
            <a:ext cx="4197096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The RCA agent must infer an unseen cause from partial telemetry, confounders, and noisy symptoms.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371600"/>
            <a:ext cx="4389120" cy="336803"/>
          </a:xfrm>
          <a:prstGeom prst="roundRect">
            <a:avLst/>
          </a:prstGeom>
          <a:solidFill>
            <a:srgbClr val="2E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Forward verification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1872996"/>
            <a:ext cx="1278636" cy="749808"/>
          </a:xfrm>
          <a:prstGeom prst="roundRect">
            <a:avLst/>
          </a:prstGeom>
          <a:solidFill>
            <a:srgbClr val="C8792A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Known fault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6476" y="2247900"/>
            <a:ext cx="475487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31963" y="1872996"/>
            <a:ext cx="1151636" cy="749808"/>
          </a:xfrm>
          <a:prstGeom prst="roundRect">
            <a:avLst/>
          </a:prstGeom>
          <a:solidFill>
            <a:srgbClr val="356B6F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Propagate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83600" y="2247900"/>
            <a:ext cx="475487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959087" y="1872996"/>
            <a:ext cx="948436" cy="749808"/>
          </a:xfrm>
          <a:prstGeom prst="roundRect">
            <a:avLst/>
          </a:prstGeom>
          <a:solidFill>
            <a:srgbClr val="2E6B57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Verified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2787396"/>
            <a:ext cx="54864" cy="982472"/>
          </a:xfrm>
          <a:prstGeom prst="rect">
            <a:avLst/>
          </a:prstGeom>
          <a:solidFill>
            <a:srgbClr val="2E6B57"/>
          </a:solidFill>
          <a:ln w="12700">
            <a:solidFill>
              <a:srgbClr val="2E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9864" y="2787396"/>
            <a:ext cx="4197096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2E6B57"/>
                </a:solidFill>
                <a:latin typeface="Liberation Sans"/>
              </a:defRPr>
            </a:pPr>
            <a:r>
              <a:t>Why FORGE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9864" y="3260852"/>
            <a:ext cx="4197096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Known intervention makes verification tractable: trace cause to effect.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5900"/>
            <a:ext cx="10728655" cy="636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51606F"/>
                </a:solidFill>
                <a:latin typeface="Liberation Sans"/>
              </a:defRPr>
            </a:pPr>
            <a:r>
              <a:t>FORGE exploits the asymmetry: backward diagnosis is ill-posed, but forward verification is tractable when the intervention is known.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6" fill="hold">
                      <p:stCondLst>
                        <p:cond delay="0"/>
                      </p:stCondLst>
                      <p:childTnLst>
                        <p:set>
                          <p:cBhvr>
                            <p:cTn id="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38" dur="indefinite" nodeType="mainSeq">
                <p:childTnLst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12B"/>
                </a:solidFill>
                <a:latin typeface="Liberation Sans"/>
              </a:defRPr>
            </a:pPr>
            <a:r>
              <a:t>OpenRCA 2.0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C8A98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834640" cy="336803"/>
          </a:xfrm>
          <a:prstGeom prst="round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99844"/>
            <a:ext cx="2834640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6212B"/>
                </a:solidFill>
                <a:latin typeface="Liberation Sans"/>
              </a:defRPr>
            </a:pPr>
            <a:r>
              <a:t>500 cases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5615" y="1371600"/>
            <a:ext cx="3429000" cy="336803"/>
          </a:xfrm>
          <a:prstGeom prst="roundRect">
            <a:avLst/>
          </a:prstGeom>
          <a:solidFill>
            <a:srgbClr val="C87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5615" y="1799844"/>
            <a:ext cx="3429000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6212B"/>
                </a:solidFill>
                <a:latin typeface="Liberation Sans"/>
              </a:defRPr>
            </a:pPr>
            <a:r>
              <a:t>Step-wise annotations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34071" y="1371600"/>
            <a:ext cx="3291840" cy="336803"/>
          </a:xfrm>
          <a:prstGeom prst="roundRect">
            <a:avLst/>
          </a:prstGeom>
          <a:solidFill>
            <a:srgbClr val="2E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Supervision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34071" y="1799844"/>
            <a:ext cx="3291840" cy="41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6212B"/>
                </a:solidFill>
                <a:latin typeface="Liberation Sans"/>
              </a:defRPr>
            </a:pPr>
            <a:r>
              <a:t>Process supervision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69642"/>
            <a:ext cx="1824736" cy="749808"/>
          </a:xfrm>
          <a:prstGeom prst="roundRect">
            <a:avLst/>
          </a:prstGeom>
          <a:solidFill>
            <a:srgbClr val="C8792A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Known intervention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56256" y="2844546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031744" y="2469642"/>
            <a:ext cx="1875536" cy="749808"/>
          </a:xfrm>
          <a:prstGeom prst="roundRect">
            <a:avLst/>
          </a:prstGeom>
          <a:solidFill>
            <a:srgbClr val="356B6F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Verified propagation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907280" y="2844546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82768" y="2469642"/>
            <a:ext cx="1304036" cy="749808"/>
          </a:xfrm>
          <a:prstGeom prst="roundRect">
            <a:avLst/>
          </a:prstGeom>
          <a:solidFill>
            <a:srgbClr val="2E6B57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Agent graph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86804" y="2844546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162292" y="2469642"/>
            <a:ext cx="1583436" cy="749808"/>
          </a:xfrm>
          <a:prstGeom prst="roundRect">
            <a:avLst/>
          </a:prstGeom>
          <a:solidFill>
            <a:srgbClr val="16324F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Process metrics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475482"/>
            <a:ext cx="54864" cy="98247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475482"/>
            <a:ext cx="10536631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6324F"/>
                </a:solidFill>
                <a:latin typeface="Liberation Sans"/>
              </a:defRPr>
            </a:pPr>
            <a:r>
              <a:t>Benchmark identity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" y="3948938"/>
            <a:ext cx="10536631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OpenRCA 2.0 is not just a harder label dataset. It is a process benchmark with step-wise supervision that scores how the diagnosis is constructed.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13986"/>
            <a:ext cx="10728655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51606F"/>
                </a:solidFill>
                <a:latin typeface="Liberation Sans"/>
              </a:defRPr>
            </a:pPr>
            <a:r>
              <a:t>OpenRCA 2.0 gives us a benchmark where benchmark quality and training signal finally align.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6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12B"/>
                </a:solidFill>
                <a:latin typeface="Liberation Sans"/>
              </a:defRPr>
            </a:pPr>
            <a:r>
              <a:t>Validation: Structured Reasoning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C8A98"/>
                </a:solidFill>
                <a:latin typeface="Liberation Sans"/>
              </a:defRPr>
            </a:pPr>
            <a:r>
              <a:t>TRIANGLE paper / Incident triage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4864" cy="982472"/>
          </a:xfrm>
          <a:prstGeom prst="rect">
            <a:avLst/>
          </a:prstGeom>
          <a:solidFill>
            <a:srgbClr val="356B6F"/>
          </a:solidFill>
          <a:ln w="12700">
            <a:solidFill>
              <a:srgbClr val="356B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371600"/>
            <a:ext cx="10536631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56B6F"/>
                </a:solidFill>
                <a:latin typeface="Liberation Sans"/>
              </a:defRPr>
            </a:pPr>
            <a:r>
              <a:t>From diagnosis to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1845056"/>
            <a:ext cx="10536631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RCA diagnosis is one step in the incident lifecycle. TRIANGLE tackles the upstream step—triage—and shows that structured multi-agent reasoning outperforms monolithic approaches in production.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73528"/>
            <a:ext cx="1507236" cy="914400"/>
          </a:xfrm>
          <a:prstGeom prst="roundRect">
            <a:avLst/>
          </a:prstGeom>
          <a:solidFill>
            <a:srgbClr val="356B6F"/>
          </a:solidFill>
          <a:ln w="12700">
            <a:solidFill>
              <a:srgbClr val="356B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Analyzer Agent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38756" y="3030728"/>
            <a:ext cx="475488" cy="0"/>
          </a:xfrm>
          <a:prstGeom prst="line">
            <a:avLst/>
          </a:prstGeom>
          <a:ln w="19050">
            <a:solidFill>
              <a:srgbClr val="1632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14244" y="2573528"/>
            <a:ext cx="1431036" cy="914400"/>
          </a:xfrm>
          <a:prstGeom prst="roundRect">
            <a:avLst/>
          </a:prstGeom>
          <a:solidFill>
            <a:srgbClr val="C8792A"/>
          </a:solidFill>
          <a:ln w="12700">
            <a:solidFill>
              <a:srgbClr val="C8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Decider Agent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45280" y="3030728"/>
            <a:ext cx="475488" cy="0"/>
          </a:xfrm>
          <a:prstGeom prst="line">
            <a:avLst/>
          </a:prstGeom>
          <a:ln w="19050">
            <a:solidFill>
              <a:srgbClr val="1632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620768" y="2573528"/>
            <a:ext cx="1672336" cy="914400"/>
          </a:xfrm>
          <a:prstGeom prst="roundRect">
            <a:avLst/>
          </a:prstGeom>
          <a:solidFill>
            <a:srgbClr val="16324F"/>
          </a:solidFill>
          <a:ln w="12700">
            <a:solidFill>
              <a:srgbClr val="16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Team assignment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93104" y="3030728"/>
            <a:ext cx="475488" cy="0"/>
          </a:xfrm>
          <a:prstGeom prst="line">
            <a:avLst/>
          </a:prstGeom>
          <a:ln w="19050">
            <a:solidFill>
              <a:srgbClr val="1632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768592" y="2573528"/>
            <a:ext cx="1926336" cy="914400"/>
          </a:xfrm>
          <a:prstGeom prst="roundRect">
            <a:avLst/>
          </a:prstGeom>
          <a:solidFill>
            <a:srgbClr val="2E6B57"/>
          </a:solidFill>
          <a:ln w="12700">
            <a:solidFill>
              <a:srgbClr val="2E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Team Manager 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07384"/>
            <a:ext cx="1480820" cy="336803"/>
          </a:xfrm>
          <a:prstGeom prst="roundRect">
            <a:avLst/>
          </a:prstGeom>
          <a:solidFill>
            <a:srgbClr val="2E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Triage 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35628"/>
            <a:ext cx="1480820" cy="477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6212B"/>
                </a:solidFill>
                <a:latin typeface="Liberation Sans"/>
              </a:defRPr>
            </a:pPr>
            <a:r>
              <a:t>97%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78100" y="3707384"/>
            <a:ext cx="1353820" cy="336803"/>
          </a:xfrm>
          <a:prstGeom prst="roundRect">
            <a:avLst/>
          </a:prstGeom>
          <a:solidFill>
            <a:srgbClr val="C87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TTE reduction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8100" y="4135628"/>
            <a:ext cx="1353820" cy="477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6212B"/>
                </a:solidFill>
                <a:latin typeface="Liberation Sans"/>
              </a:defRPr>
            </a:pPr>
            <a:r>
              <a:t>91%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24528" y="3707384"/>
            <a:ext cx="54864" cy="90551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3707384"/>
            <a:ext cx="6940296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6324F"/>
                </a:solidFill>
                <a:latin typeface="Liberation Sans"/>
              </a:defRPr>
            </a:pPr>
            <a:r>
              <a:t>Production validated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4180840"/>
            <a:ext cx="6940296" cy="318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Deployed at Microsoft for large-scale production triage.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6" fill="hold">
                      <p:stCondLst>
                        <p:cond delay="0"/>
                      </p:stCondLst>
                      <p:childTnLst>
                        <p:set>
                          <p:cBhvr>
                            <p:cTn id="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38" dur="indefinite" nodeType="mainSeq">
                <p:childTnLst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12B"/>
                </a:solidFill>
                <a:latin typeface="Liberation Sans"/>
              </a:defRPr>
            </a:pPr>
            <a:r>
              <a:t>Stage 1: Train on Closed Loops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" cy="791972"/>
          </a:xfrm>
          <a:prstGeom prst="rect">
            <a:avLst/>
          </a:prstGeom>
          <a:solidFill>
            <a:srgbClr val="356B6F"/>
          </a:solidFill>
          <a:ln w="12700">
            <a:solidFill>
              <a:srgbClr val="356B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1371600"/>
            <a:ext cx="10536631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56B6F"/>
                </a:solidFill>
                <a:latin typeface="Liberation Sans"/>
              </a:defRPr>
            </a:pPr>
            <a:r>
              <a:t>From evaluation to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1845056"/>
            <a:ext cx="10536631" cy="318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OpenRCA 2.0 gives us process supervision for evaluation. But where does the training data come from? Manual annotation is too expensive.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19604"/>
            <a:ext cx="1177036" cy="749808"/>
          </a:xfrm>
          <a:prstGeom prst="roundRect">
            <a:avLst/>
          </a:prstGeom>
          <a:solidFill>
            <a:srgbClr val="C8792A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Simulation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08556" y="2794508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384044" y="2419604"/>
            <a:ext cx="1227836" cy="749808"/>
          </a:xfrm>
          <a:prstGeom prst="roundRect">
            <a:avLst/>
          </a:prstGeom>
          <a:solidFill>
            <a:srgbClr val="356B6F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Hypothesis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11880" y="2794508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087368" y="2419604"/>
            <a:ext cx="821436" cy="749808"/>
          </a:xfrm>
          <a:prstGeom prst="roundRect">
            <a:avLst/>
          </a:prstGeom>
          <a:solidFill>
            <a:srgbClr val="2E6B57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Verify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908804" y="2794508"/>
            <a:ext cx="475487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384291" y="2419604"/>
            <a:ext cx="948436" cy="749808"/>
          </a:xfrm>
          <a:prstGeom prst="roundRect">
            <a:avLst/>
          </a:prstGeom>
          <a:solidFill>
            <a:srgbClr val="B6923E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Reward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425444"/>
            <a:ext cx="54864" cy="98247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425444"/>
            <a:ext cx="10536631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6324F"/>
                </a:solidFill>
                <a:latin typeface="Liberation Sans"/>
              </a:defRPr>
            </a:pPr>
            <a:r>
              <a:t>Stage 1: Train on closed loops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3898900"/>
            <a:ext cx="10536631" cy="509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Use fault injection to generate unlimited training cases. The agent proposes hypotheses, verifies against ground truth, and learns from the full loop—not just answer labels.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30" dur="indefinite" nodeType="mainSeq">
                <p:childTnLst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12B"/>
                </a:solidFill>
                <a:latin typeface="Liberation Sans"/>
              </a:defRPr>
            </a:pPr>
            <a:r>
              <a:t>Stage 2: Distill World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291336" cy="749808"/>
          </a:xfrm>
          <a:prstGeom prst="roundRect">
            <a:avLst/>
          </a:prstGeom>
          <a:solidFill>
            <a:srgbClr val="356B6F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Many traces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022856" y="1746504"/>
            <a:ext cx="475488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498344" y="1371600"/>
            <a:ext cx="821436" cy="749808"/>
          </a:xfrm>
          <a:prstGeom prst="roundRect">
            <a:avLst/>
          </a:prstGeom>
          <a:solidFill>
            <a:srgbClr val="C8792A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Distill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319780" y="1746504"/>
            <a:ext cx="475487" cy="0"/>
          </a:xfrm>
          <a:prstGeom prst="line">
            <a:avLst/>
          </a:prstGeom>
          <a:ln w="19050">
            <a:solidFill>
              <a:srgbClr val="7C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95267" y="1371600"/>
            <a:ext cx="1316736" cy="749808"/>
          </a:xfrm>
          <a:prstGeom prst="roundRect">
            <a:avLst/>
          </a:prstGeom>
          <a:solidFill>
            <a:srgbClr val="16324F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6212B"/>
                </a:solidFill>
                <a:latin typeface="Liberation Sans"/>
              </a:defRPr>
            </a:pPr>
            <a:r>
              <a:t>World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40864"/>
            <a:ext cx="3108960" cy="336803"/>
          </a:xfrm>
          <a:prstGeom prst="roundRect">
            <a:avLst/>
          </a:prstGeom>
          <a:solidFill>
            <a:srgbClr val="356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Training traces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05684"/>
            <a:ext cx="3108960" cy="548640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16212B"/>
                </a:solidFill>
                <a:latin typeface="Liberation Sans"/>
              </a:defRPr>
            </a:pPr>
            <a:r>
              <a:t>Trace A: CPU → Latency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82340"/>
            <a:ext cx="3108960" cy="548640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16212B"/>
                </a:solidFill>
                <a:latin typeface="Liberation Sans"/>
              </a:defRPr>
            </a:pPr>
            <a:r>
              <a:t>Trace B: Memory → OOM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58996"/>
            <a:ext cx="3108960" cy="548640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C5CB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16212B"/>
                </a:solidFill>
                <a:latin typeface="Liberation Sans"/>
              </a:defRPr>
            </a:pPr>
            <a:r>
              <a:t>Trace C: Network → Timeout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340864"/>
            <a:ext cx="3840480" cy="336803"/>
          </a:xfrm>
          <a:prstGeom prst="round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Stage 2: Reusable world model</a:t>
            </a:r>
          </a:p>
        </p:txBody>
      </p:sp>
      <p:sp>
        <p:nvSpPr>
          <p:cNvPr id="14" name="Oval 13"/>
          <p:cNvSpPr/>
          <p:nvPr/>
        </p:nvSpPr>
        <p:spPr>
          <a:xfrm>
            <a:off x="4343400" y="2823972"/>
            <a:ext cx="1965960" cy="1965960"/>
          </a:xfrm>
          <a:prstGeom prst="ellipse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Liberation Sans"/>
              </a:defRPr>
            </a:pPr>
            <a:r>
              <a:t>world</a:t>
            </a:r>
            <a:br/>
            <a: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4936236"/>
            <a:ext cx="3840480" cy="114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16212B"/>
                </a:solidFill>
                <a:latin typeface="Liberation Sans"/>
              </a:defRPr>
            </a:pPr>
            <a:r>
              <a:t>Compress many traces into a compact causal representation. Preserve propagation structure, drop incident-specific noise.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8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6212B"/>
                </a:solidFill>
                <a:latin typeface="Liberation Sans"/>
              </a:defRPr>
            </a:pPr>
            <a:r>
              <a:t>Stage 3: Maximize Leverage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" cy="79197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1371600"/>
            <a:ext cx="10536631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6324F"/>
                </a:solidFill>
                <a:latin typeface="Liberation Sans"/>
              </a:defRPr>
            </a:pPr>
            <a:r>
              <a:t>Stage 3: Maximize leverage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1845056"/>
            <a:ext cx="10536631" cy="318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6212B"/>
                </a:solidFill>
                <a:latin typeface="Liberation Sans"/>
              </a:defRPr>
            </a:pPr>
            <a:r>
              <a:t>Build the world model once, then apply it across the entire incident management lifecycle.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19604"/>
            <a:ext cx="1316736" cy="1005840"/>
          </a:xfrm>
          <a:prstGeom prst="roundRect">
            <a:avLst/>
          </a:prstGeom>
          <a:solidFill>
            <a:srgbClr val="16324F"/>
          </a:solidFill>
          <a:ln w="12700">
            <a:solidFill>
              <a:srgbClr val="16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World model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48256" y="2922524"/>
            <a:ext cx="475488" cy="0"/>
          </a:xfrm>
          <a:prstGeom prst="line">
            <a:avLst/>
          </a:prstGeom>
          <a:ln w="19050">
            <a:solidFill>
              <a:srgbClr val="1632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523744" y="2419604"/>
            <a:ext cx="1735836" cy="1005840"/>
          </a:xfrm>
          <a:prstGeom prst="roundRect">
            <a:avLst/>
          </a:prstGeom>
          <a:solidFill>
            <a:srgbClr val="2E6B57"/>
          </a:solidFill>
          <a:ln w="12700">
            <a:solidFill>
              <a:srgbClr val="2E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Repair suggestion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59580" y="2922524"/>
            <a:ext cx="475488" cy="0"/>
          </a:xfrm>
          <a:prstGeom prst="line">
            <a:avLst/>
          </a:prstGeom>
          <a:ln w="19050">
            <a:solidFill>
              <a:srgbClr val="1632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735068" y="2419604"/>
            <a:ext cx="2104136" cy="1005840"/>
          </a:xfrm>
          <a:prstGeom prst="roundRect">
            <a:avLst/>
          </a:prstGeom>
          <a:solidFill>
            <a:srgbClr val="356B6F"/>
          </a:solidFill>
          <a:ln w="12700">
            <a:solidFill>
              <a:srgbClr val="356B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Root-cause localization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39204" y="2922524"/>
            <a:ext cx="475488" cy="0"/>
          </a:xfrm>
          <a:prstGeom prst="line">
            <a:avLst/>
          </a:prstGeom>
          <a:ln w="19050">
            <a:solidFill>
              <a:srgbClr val="1632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4692" y="2419604"/>
            <a:ext cx="1545336" cy="1005840"/>
          </a:xfrm>
          <a:prstGeom prst="roundRect">
            <a:avLst/>
          </a:prstGeom>
          <a:solidFill>
            <a:srgbClr val="C8792A"/>
          </a:solidFill>
          <a:ln w="12700">
            <a:solidFill>
              <a:srgbClr val="C8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Fault prediction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81476"/>
            <a:ext cx="10728655" cy="636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51606F"/>
                </a:solidFill>
                <a:latin typeface="Liberation Sans"/>
              </a:defRPr>
            </a:pPr>
            <a:r>
              <a:t>The world model's value is reuse: one causal representation supports diagnosis, prediction, and repair across different operational contexts.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0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2E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604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16324F"/>
                </a:solidFill>
                <a:latin typeface="Liberation Sans"/>
              </a:defRPr>
            </a:pPr>
            <a:r>
              <a:t>Three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85594"/>
            <a:ext cx="10728655" cy="382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51606F"/>
                </a:solidFill>
                <a:latin typeface="Liberation Sans"/>
              </a:defRPr>
            </a:pPr>
            <a:r>
              <a:t>What matters is not only finding the right answer, but building a reasoning system we can trust and reuse.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51658"/>
            <a:ext cx="3154680" cy="604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C8792A"/>
                </a:solidFill>
                <a:latin typeface="Liberation Sans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29076"/>
            <a:ext cx="3154680" cy="636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6212B"/>
                </a:solidFill>
                <a:latin typeface="Liberation Sans"/>
              </a:defRPr>
            </a:pPr>
            <a:r>
              <a:t>Score the path, not just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2851658"/>
            <a:ext cx="3154680" cy="604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356B6F"/>
                </a:solidFill>
                <a:latin typeface="Liberation Sans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3529076"/>
            <a:ext cx="3154680" cy="636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6212B"/>
                </a:solidFill>
                <a:latin typeface="Liberation Sans"/>
              </a:defRPr>
            </a:pPr>
            <a:r>
              <a:t>Train on verification loops, not only labels.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851658"/>
            <a:ext cx="3154680" cy="604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2E6B57"/>
                </a:solidFill>
                <a:latin typeface="Liberation Sans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529076"/>
            <a:ext cx="3154680" cy="636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6212B"/>
                </a:solidFill>
                <a:latin typeface="Liberation Sans"/>
              </a:defRPr>
            </a:pPr>
            <a:r>
              <a:t>Build the model once, then reuse it broadly.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49140"/>
            <a:ext cx="10728655" cy="477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6324F"/>
                </a:solidFill>
                <a:latin typeface="Liberation Sans"/>
              </a:defRPr>
            </a:pPr>
            <a:r>
              <a:t>Build the model once. Reuse it across diagnosis, prediction, and repair.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8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