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reframing RCA as a world-modeling problem rather than a label prediction problem. Transition by stating that the next slides unpack the three premises that make this view practical.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Contrast today's black-box symptom-to-label flow with a world-model loop that hypothesizes and verifies propagation. Transition by asking what assumptions must be true for that loop to be feasible.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first premise: the intervention space is broad but still bounded enough to model. OpenRCA and FORGE demonstrate this with 25 fault types across 6 categories. Transition by noting that bounded atomic faults only help if we can replay them inside a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second premise: if we can inject faults under workload, we can watch failures propagate instead of merely reading symptoms after the fact. Transition by saying replay alone is insufficient unless we can score whether a reasoning path matches reality.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 the third premise explicit: a diagnosis should earn reward only when the causal path checks out against ground truth. Transition by saying that once world-model RCA is feasible, the real bottleneck becomes how RCA is defined and evaluated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survey's core insight: RCA should output a propagation graph, not just a root-cause node. This is the north star that exposes why current benchmarks are insufficient. Transition to the benchmark crisis: if we measure only point accuracy, we miss the real challenge.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the dataset study's headline result: simple heuristics are surprisingly competitive with SOTA on public benchmarks. This exposes a fundamental problem: current benchmarks measure point accuracy, not graph-building ability. Transition by asking what structural defects make those benchmarks so forgiving.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Drill into the three structural defects behind the benchmark crisis: shallow labels, static workloads, and point-only metrics. Transition by previewing what a harder benchmark looks like.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the first section with the benchmark pipeline and the core result numbers: 9,152 injections, 1,430 validated cases, 25 fault types, 0.21 average Top@1, and 0.37 best. Transition by saying the rest of the deck will explain the process-level supervision and benchmark design behind this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the survey's Effectiveness-Data-Cost triangle as the governing trade-off behind practical RCA systems. The crucial point: we must measure graph-building quality, not just point accuracy, to make this trade-off worthwhile. Transition to the benchmark crisis: current benchmarks measure the wrong 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this slide to separate outcome correctness from process correctness with the 0.76 versus 0.63 comparison. The key insight: 13% of answers are 'lucky guesses' with invalid reasoning paths. Transition by asking how to turn an ill-posed backward RCA task into something verifiable enough to supervise.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the information asymmetry at the heart of FORGE: the agent reasons backward, while annotation can verify forward from the known intervention. Transition by turning that verification mechanism into a concrete benchmark identity.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the benchmark identity in three facts: 500 instances, step-wise causal annotations, and process supervision. Transition by broadening from RCA diagnosis to the adjacent triage workflow where multi-agent coordination already shows practical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Position TRIANGLE as independent validation of the same research belief: explicit reasoning structures beat black-box approaches. The key evidence is production deployment at scale—structured multi-agent triage works in practice. Transition: if structured reasoning works for triage and RCA evaluation, can we train agents to build reusable world models?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Bridge from OpenRCA 2.0's evaluation to the training challenge: we need automated training data generation. The solution is closed-loop training with fault injection simulation—leveraging the same verification mechanism as FORGE. Transition: after collecting many successful traces, what can we do with them?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Stage two is distillation: compress many training traces into one reusable world model. The key challenge: preserve causal structure while generalizing across different incidents. Transition: once we have the world model, how do we maximize its value?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Stage three is about leverage: the same world model enables multiple downstream tasks. This is the payoff of the three-stage roadmap: simulate, compress, then generalize. Transition to the closing takeaways.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with three short takeaways rather than a dense recap, keeping the typography strong and the message memorable. End on the final line as the thesis statement for the whole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0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1371600"/>
            <a:ext cx="6583680" cy="368554"/>
          </a:xfrm>
          <a:prstGeom prst="roundRect">
            <a:avLst/>
          </a:prstGeom>
          <a:solidFill>
            <a:srgbClr val="D69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Research Vision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904746"/>
            <a:ext cx="6583680" cy="1017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5C82AD"/>
                </a:solidFill>
                <a:latin typeface="Liberation Sans"/>
              </a:defRPr>
            </a:pPr>
            <a:r>
              <a:t>Building World Models for</a:t>
            </a:r>
          </a:p>
          <a:p>
            <a:pPr algn="l">
              <a:defRPr sz="2800" b="1" i="0">
                <a:solidFill>
                  <a:srgbClr val="5C82AD"/>
                </a:solidFill>
                <a:latin typeface="Liberation Sans"/>
              </a:defRPr>
            </a:pPr>
            <a:r>
              <a:t>Diagnostic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086354"/>
            <a:ext cx="6583680" cy="699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647489"/>
                </a:solidFill>
                <a:latin typeface="Liberation Sans"/>
              </a:defRPr>
            </a:pPr>
            <a:r>
              <a:t>From outcome labels to causal process supervision in root cause analysis.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50462"/>
            <a:ext cx="6583680" cy="41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D69A68"/>
                </a:solidFill>
                <a:latin typeface="Liberation Sans"/>
              </a:defRPr>
            </a:pPr>
            <a:r>
              <a:t>Move RCA from point finding to graph building.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0" y="1371600"/>
            <a:ext cx="3108960" cy="368554"/>
          </a:xfrm>
          <a:prstGeom prst="roundRect">
            <a:avLst/>
          </a:prstGeom>
          <a:solidFill>
            <a:srgbClr val="C98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831594"/>
            <a:ext cx="3108960" cy="445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223043"/>
                </a:solidFill>
                <a:latin typeface="Liberation Sans"/>
              </a:defRPr>
            </a:pPr>
            <a:r>
              <a:t>Oversimplified RCA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2496566"/>
            <a:ext cx="3108960" cy="368554"/>
          </a:xfrm>
          <a:prstGeom prst="roundRect">
            <a:avLst/>
          </a:prstGeom>
          <a:solidFill>
            <a:srgbClr val="8FAA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Method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2956560"/>
            <a:ext cx="3108960" cy="445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223043"/>
                </a:solidFill>
                <a:latin typeface="Liberation Sans"/>
              </a:defRPr>
            </a:pPr>
            <a:r>
              <a:t>Forward verification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3621532"/>
            <a:ext cx="3108960" cy="368554"/>
          </a:xfrm>
          <a:prstGeom prst="roundRect">
            <a:avLst/>
          </a:prstGeom>
          <a:solidFill>
            <a:srgbClr val="7FA1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Goal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4081526"/>
            <a:ext cx="3108960" cy="445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223043"/>
                </a:solidFill>
                <a:latin typeface="Liberation Sans"/>
              </a:defRPr>
            </a:pPr>
            <a:r>
              <a:t>Trusted diagnosis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892802"/>
            <a:ext cx="10728655" cy="699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1">
                <a:solidFill>
                  <a:srgbClr val="647489"/>
                </a:solidFill>
                <a:latin typeface="Liberation Sans"/>
              </a:defRPr>
            </a:pPr>
            <a:r>
              <a:t>Trusted diagnosis needs simulatable failures, verifiable reasoning, and explicit propagation structure.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set>
                          <p:cBhvr>
                            <p:cTn id="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set>
                          <p:cBhvr>
                            <p:cTn id="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set>
                          <p:cBhvr>
                            <p:cTn id="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22" dur="indefinite" nodeType="mainSeq">
                <p:childTnLst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23043"/>
                </a:solidFill>
                <a:latin typeface="Liberation Sans"/>
              </a:defRPr>
            </a:pPr>
            <a:r>
              <a:t>The Vision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5C82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>
                <a:solidFill>
                  <a:srgbClr val="94A3B6"/>
                </a:solidFill>
                <a:latin typeface="Liberation Sans"/>
              </a:defRPr>
            </a:pPr>
            <a:r>
              <a:t>Goal-driven RCA survey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4389120" cy="368554"/>
          </a:xfrm>
          <a:prstGeom prst="roundRect">
            <a:avLst/>
          </a:prstGeom>
          <a:solidFill>
            <a:srgbClr val="C98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Black-box RCA</a:t>
            </a:r>
          </a:p>
        </p:txBody>
      </p:sp>
      <p:pic>
        <p:nvPicPr>
          <p:cNvPr id="6" name="Picture 5" descr="tmpw289ocb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877313"/>
            <a:ext cx="320040" cy="320040"/>
          </a:xfrm>
          <a:prstGeom prst="rect">
            <a:avLst/>
          </a:prstGeom>
        </p:spPr>
      </p:pic>
      <p:pic>
        <p:nvPicPr>
          <p:cNvPr id="7" name="Picture 6" descr="tmpuwpv2m2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8720" y="1877313"/>
            <a:ext cx="320040" cy="3200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2334514"/>
            <a:ext cx="796036" cy="749808"/>
          </a:xfrm>
          <a:prstGeom prst="roundRect">
            <a:avLst/>
          </a:prstGeom>
          <a:solidFill>
            <a:srgbClr val="F1F5F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Data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27556" y="2709418"/>
            <a:ext cx="475488" cy="0"/>
          </a:xfrm>
          <a:prstGeom prst="line">
            <a:avLst/>
          </a:prstGeom>
          <a:ln w="19050">
            <a:solidFill>
              <a:srgbClr val="94A3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003044" y="2334514"/>
            <a:ext cx="1329436" cy="749808"/>
          </a:xfrm>
          <a:prstGeom prst="roundRect">
            <a:avLst/>
          </a:prstGeom>
          <a:solidFill>
            <a:srgbClr val="C98A78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LLM guess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332480" y="2709418"/>
            <a:ext cx="475488" cy="0"/>
          </a:xfrm>
          <a:prstGeom prst="line">
            <a:avLst/>
          </a:prstGeom>
          <a:ln w="19050">
            <a:solidFill>
              <a:srgbClr val="94A3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807968" y="2334514"/>
            <a:ext cx="872235" cy="749808"/>
          </a:xfrm>
          <a:prstGeom prst="roundRect">
            <a:avLst/>
          </a:prstGeom>
          <a:solidFill>
            <a:srgbClr val="F1F5F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Label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221482"/>
            <a:ext cx="54864" cy="855472"/>
          </a:xfrm>
          <a:prstGeom prst="rect">
            <a:avLst/>
          </a:prstGeom>
          <a:solidFill>
            <a:srgbClr val="C98A78"/>
          </a:solidFill>
          <a:ln w="12700">
            <a:solidFill>
              <a:srgbClr val="C98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3221482"/>
            <a:ext cx="4197095" cy="41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C98A78"/>
                </a:solidFill>
                <a:latin typeface="Liberation Sans"/>
              </a:defRPr>
            </a:pPr>
            <a:r>
              <a:t>Current pattern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" y="3726688"/>
            <a:ext cx="4197095" cy="350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23043"/>
                </a:solidFill>
                <a:latin typeface="Liberation Sans"/>
              </a:defRPr>
            </a:pPr>
            <a:r>
              <a:t>Optimize for a correct answer, even if the causal path is hidden or hallucinated.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0" y="1371600"/>
            <a:ext cx="4389120" cy="368554"/>
          </a:xfrm>
          <a:prstGeom prst="roundRect">
            <a:avLst/>
          </a:prstGeom>
          <a:solidFill>
            <a:srgbClr val="7FA1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World-model RCA</a:t>
            </a:r>
          </a:p>
        </p:txBody>
      </p:sp>
      <p:pic>
        <p:nvPicPr>
          <p:cNvPr id="17" name="Picture 16" descr="tmpw289ocb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1877313"/>
            <a:ext cx="320040" cy="320040"/>
          </a:xfrm>
          <a:prstGeom prst="rect">
            <a:avLst/>
          </a:prstGeom>
        </p:spPr>
      </p:pic>
      <p:pic>
        <p:nvPicPr>
          <p:cNvPr id="18" name="Picture 17" descr="tmpcq2sxws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0" y="1877313"/>
            <a:ext cx="320040" cy="32004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5486400" y="2334514"/>
            <a:ext cx="796036" cy="749808"/>
          </a:xfrm>
          <a:prstGeom prst="roundRect">
            <a:avLst/>
          </a:prstGeom>
          <a:solidFill>
            <a:srgbClr val="F1F5F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Data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282436" y="2709418"/>
            <a:ext cx="475488" cy="0"/>
          </a:xfrm>
          <a:prstGeom prst="line">
            <a:avLst/>
          </a:prstGeom>
          <a:ln w="19050">
            <a:solidFill>
              <a:srgbClr val="94A3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757924" y="2334514"/>
            <a:ext cx="884936" cy="749808"/>
          </a:xfrm>
          <a:prstGeom prst="roundRect">
            <a:avLst/>
          </a:prstGeom>
          <a:solidFill>
            <a:srgbClr val="D69A68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Verify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642859" y="2709418"/>
            <a:ext cx="475488" cy="0"/>
          </a:xfrm>
          <a:prstGeom prst="line">
            <a:avLst/>
          </a:prstGeom>
          <a:ln w="19050">
            <a:solidFill>
              <a:srgbClr val="94A3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8118347" y="2334514"/>
            <a:ext cx="923035" cy="749808"/>
          </a:xfrm>
          <a:prstGeom prst="roundRect">
            <a:avLst/>
          </a:prstGeom>
          <a:solidFill>
            <a:srgbClr val="7FA195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Graph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0" y="3221482"/>
            <a:ext cx="54864" cy="855472"/>
          </a:xfrm>
          <a:prstGeom prst="rect">
            <a:avLst/>
          </a:prstGeom>
          <a:solidFill>
            <a:srgbClr val="7FA195"/>
          </a:solidFill>
          <a:ln w="12700">
            <a:solidFill>
              <a:srgbClr val="7FA1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78424" y="3221482"/>
            <a:ext cx="4197096" cy="41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7FA195"/>
                </a:solidFill>
                <a:latin typeface="Liberation Sans"/>
              </a:defRPr>
            </a:pPr>
            <a:r>
              <a:t>Target behavior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78424" y="3726688"/>
            <a:ext cx="4197096" cy="350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23043"/>
                </a:solidFill>
                <a:latin typeface="Liberation Sans"/>
              </a:defRPr>
            </a:pPr>
            <a:r>
              <a:t>Build and check a causal loop so the answer and the reasoning are both inspectable.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332986"/>
            <a:ext cx="10728655" cy="41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1">
                <a:solidFill>
                  <a:srgbClr val="647489"/>
                </a:solidFill>
                <a:latin typeface="Liberation Sans"/>
              </a:defRPr>
            </a:pPr>
            <a:r>
              <a:t>Black-box RCA predicts an answer. World-model RCA closes a causal loop.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set>
                          <p:cBhvr>
                            <p:cTn id="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set>
                          <p:cBhvr>
                            <p:cTn id="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set>
                          <p:cBhvr>
                            <p:cTn id="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2" fill="hold">
                      <p:stCondLst>
                        <p:cond delay="0"/>
                      </p:stCondLst>
                      <p:childTnLst>
                        <p:set>
                          <p:cBhvr>
                            <p:cTn id="2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set>
                          <p:cBhvr>
                            <p:cTn id="2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6" fill="hold">
                      <p:stCondLst>
                        <p:cond delay="0"/>
                      </p:stCondLst>
                      <p:childTnLst>
                        <p:set>
                          <p:cBhvr>
                            <p:cTn id="2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8" fill="hold">
                      <p:stCondLst>
                        <p:cond delay="0"/>
                      </p:stCondLst>
                      <p:childTnLst>
                        <p:set>
                          <p:cBhvr>
                            <p:cTn id="2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0" fill="hold">
                      <p:stCondLst>
                        <p:cond delay="0"/>
                      </p:stCondLst>
                      <p:childTnLst>
                        <p:set>
                          <p:cBhvr>
                            <p:cTn id="3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32" dur="indefinite" nodeType="mainSeq">
                <p:childTnLst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23043"/>
                </a:solidFill>
                <a:latin typeface="Liberation Sans"/>
              </a:defRPr>
            </a:pPr>
            <a:r>
              <a:t>Premise 1: Fault Injection &amp; Detection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5C82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>
                <a:solidFill>
                  <a:srgbClr val="94A3B6"/>
                </a:solidFill>
                <a:latin typeface="Liberation Sans"/>
              </a:defRPr>
            </a:pPr>
            <a:r>
              <a:t>OpenRCA 2.0 / FORGE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54864" cy="855472"/>
          </a:xfrm>
          <a:prstGeom prst="rect">
            <a:avLst/>
          </a:prstGeom>
          <a:solidFill>
            <a:srgbClr val="8FAAC8"/>
          </a:solidFill>
          <a:ln w="12700">
            <a:solidFill>
              <a:srgbClr val="8FA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371600"/>
            <a:ext cx="10536631" cy="41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8FAAC8"/>
                </a:solidFill>
                <a:latin typeface="Liberation Sans"/>
              </a:defRPr>
            </a:pPr>
            <a:r>
              <a:t>Fault detection precedes diagnosis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1876806"/>
            <a:ext cx="10536631" cy="350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23043"/>
                </a:solidFill>
                <a:latin typeface="Liberation Sans"/>
              </a:defRPr>
            </a:pPr>
            <a:r>
              <a:t>Before RCA can begin, we need to know a fault exists. OpenRCA and FORGE show that a bounded set of atomic faults can be systematically injected and observed.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446528"/>
            <a:ext cx="1405636" cy="749808"/>
          </a:xfrm>
          <a:prstGeom prst="roundRect">
            <a:avLst/>
          </a:prstGeom>
          <a:solidFill>
            <a:srgbClr val="8FAAC8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Finite faults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137156" y="2821432"/>
            <a:ext cx="475488" cy="0"/>
          </a:xfrm>
          <a:prstGeom prst="line">
            <a:avLst/>
          </a:prstGeom>
          <a:ln w="19050">
            <a:solidFill>
              <a:srgbClr val="94A3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612644" y="2446528"/>
            <a:ext cx="2066036" cy="749808"/>
          </a:xfrm>
          <a:prstGeom prst="roundRect">
            <a:avLst/>
          </a:prstGeom>
          <a:solidFill>
            <a:srgbClr val="F1F5F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Controlled injection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678680" y="2821432"/>
            <a:ext cx="475488" cy="0"/>
          </a:xfrm>
          <a:prstGeom prst="line">
            <a:avLst/>
          </a:prstGeom>
          <a:ln w="19050">
            <a:solidFill>
              <a:srgbClr val="94A3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154168" y="2446528"/>
            <a:ext cx="1989836" cy="749808"/>
          </a:xfrm>
          <a:prstGeom prst="roundRect">
            <a:avLst/>
          </a:prstGeom>
          <a:solidFill>
            <a:srgbClr val="D69A68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Observable effects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415792"/>
            <a:ext cx="3478682" cy="713232"/>
          </a:xfrm>
          <a:prstGeom prst="roundRect">
            <a:avLst/>
          </a:prstGeom>
          <a:solidFill>
            <a:srgbClr val="F1F5F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0">
                <a:solidFill>
                  <a:srgbClr val="223043"/>
                </a:solidFill>
                <a:latin typeface="Liberation Sans"/>
              </a:defRPr>
            </a:pPr>
            <a:r>
              <a:t>CPU stress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56506" y="3415792"/>
            <a:ext cx="3478682" cy="713232"/>
          </a:xfrm>
          <a:prstGeom prst="roundRect">
            <a:avLst/>
          </a:prstGeom>
          <a:solidFill>
            <a:srgbClr val="F1F5F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0">
                <a:solidFill>
                  <a:srgbClr val="223043"/>
                </a:solidFill>
                <a:latin typeface="Liberation Sans"/>
              </a:defRPr>
            </a:pPr>
            <a:r>
              <a:t>Memory leak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81492" y="3415792"/>
            <a:ext cx="3478682" cy="713232"/>
          </a:xfrm>
          <a:prstGeom prst="roundRect">
            <a:avLst/>
          </a:prstGeom>
          <a:solidFill>
            <a:srgbClr val="F1F5F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0">
                <a:solidFill>
                  <a:srgbClr val="223043"/>
                </a:solidFill>
                <a:latin typeface="Liberation Sans"/>
              </a:defRPr>
            </a:pPr>
            <a:r>
              <a:t>Packet loss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275328"/>
            <a:ext cx="3478682" cy="713232"/>
          </a:xfrm>
          <a:prstGeom prst="roundRect">
            <a:avLst/>
          </a:prstGeom>
          <a:solidFill>
            <a:srgbClr val="F1F5F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0">
                <a:solidFill>
                  <a:srgbClr val="223043"/>
                </a:solidFill>
                <a:latin typeface="Liberation Sans"/>
              </a:defRPr>
            </a:pPr>
            <a:r>
              <a:t>Delay spike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56506" y="4275328"/>
            <a:ext cx="3478682" cy="713232"/>
          </a:xfrm>
          <a:prstGeom prst="roundRect">
            <a:avLst/>
          </a:prstGeom>
          <a:solidFill>
            <a:srgbClr val="F1F5F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0">
                <a:solidFill>
                  <a:srgbClr val="223043"/>
                </a:solidFill>
                <a:latin typeface="Liberation Sans"/>
              </a:defRPr>
            </a:pPr>
            <a:r>
              <a:t>Config drift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81492" y="4275328"/>
            <a:ext cx="3478682" cy="713232"/>
          </a:xfrm>
          <a:prstGeom prst="roundRect">
            <a:avLst/>
          </a:prstGeom>
          <a:solidFill>
            <a:srgbClr val="F1F5F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0">
                <a:solidFill>
                  <a:srgbClr val="223043"/>
                </a:solidFill>
                <a:latin typeface="Liberation Sans"/>
              </a:defRPr>
            </a:pPr>
            <a:r>
              <a:t>Code regression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208016"/>
            <a:ext cx="10728655" cy="699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1">
                <a:solidFill>
                  <a:srgbClr val="647489"/>
                </a:solidFill>
                <a:latin typeface="Liberation Sans"/>
              </a:defRPr>
            </a:pPr>
            <a:r>
              <a:t>Large incidents are combinations of local faults. The key is bounded atomic faults that can be injected, replayed, and verified.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set>
                          <p:cBhvr>
                            <p:cTn id="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set>
                          <p:cBhvr>
                            <p:cTn id="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set>
                          <p:cBhvr>
                            <p:cTn id="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2" fill="hold">
                      <p:stCondLst>
                        <p:cond delay="0"/>
                      </p:stCondLst>
                      <p:childTnLst>
                        <p:set>
                          <p:cBhvr>
                            <p:cTn id="2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set>
                          <p:cBhvr>
                            <p:cTn id="2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6" fill="hold">
                      <p:stCondLst>
                        <p:cond delay="0"/>
                      </p:stCondLst>
                      <p:childTnLst>
                        <p:set>
                          <p:cBhvr>
                            <p:cTn id="2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8" fill="hold">
                      <p:stCondLst>
                        <p:cond delay="0"/>
                      </p:stCondLst>
                      <p:childTnLst>
                        <p:set>
                          <p:cBhvr>
                            <p:cTn id="2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30" dur="indefinite" nodeType="mainSeq">
                <p:childTnLst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23043"/>
                </a:solidFill>
                <a:latin typeface="Liberation Sans"/>
              </a:defRPr>
            </a:pPr>
            <a:r>
              <a:t>Premise 2: Simulatable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5C82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>
                <a:solidFill>
                  <a:srgbClr val="94A3B6"/>
                </a:solidFill>
                <a:latin typeface="Liberation Sans"/>
              </a:defRPr>
            </a:pPr>
            <a:r>
              <a:t>OpenRCA 2.0 / FORGE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608836" cy="914400"/>
          </a:xfrm>
          <a:prstGeom prst="roundRect">
            <a:avLst/>
          </a:prstGeom>
          <a:solidFill>
            <a:srgbClr val="D69A68"/>
          </a:solidFill>
          <a:ln w="12700">
            <a:solidFill>
              <a:srgbClr val="D69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Fault injection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340356" y="1828800"/>
            <a:ext cx="475488" cy="0"/>
          </a:xfrm>
          <a:prstGeom prst="line">
            <a:avLst/>
          </a:prstGeom>
          <a:ln w="19050">
            <a:solidFill>
              <a:srgbClr val="5C82A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815844" y="1371600"/>
            <a:ext cx="1977136" cy="914400"/>
          </a:xfrm>
          <a:prstGeom prst="roundRect">
            <a:avLst/>
          </a:prstGeom>
          <a:solidFill>
            <a:srgbClr val="8FAAC8"/>
          </a:solidFill>
          <a:ln w="12700">
            <a:solidFill>
              <a:srgbClr val="8FA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Dynamic workload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792980" y="1828800"/>
            <a:ext cx="475488" cy="0"/>
          </a:xfrm>
          <a:prstGeom prst="line">
            <a:avLst/>
          </a:prstGeom>
          <a:ln w="19050">
            <a:solidFill>
              <a:srgbClr val="5C82A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268468" y="1371600"/>
            <a:ext cx="1532636" cy="914400"/>
          </a:xfrm>
          <a:prstGeom prst="roundRect">
            <a:avLst/>
          </a:prstGeom>
          <a:solidFill>
            <a:srgbClr val="5C82AD"/>
          </a:solidFill>
          <a:ln w="12700">
            <a:solidFill>
              <a:srgbClr val="5C82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Observability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01104" y="1828800"/>
            <a:ext cx="475488" cy="0"/>
          </a:xfrm>
          <a:prstGeom prst="line">
            <a:avLst/>
          </a:prstGeom>
          <a:ln w="19050">
            <a:solidFill>
              <a:srgbClr val="5C82A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276592" y="1371600"/>
            <a:ext cx="1723136" cy="914400"/>
          </a:xfrm>
          <a:prstGeom prst="roundRect">
            <a:avLst/>
          </a:prstGeom>
          <a:solidFill>
            <a:srgbClr val="7FA195"/>
          </a:solidFill>
          <a:ln w="12700">
            <a:solidFill>
              <a:srgbClr val="7FA1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Validated cases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542032"/>
            <a:ext cx="54864" cy="855472"/>
          </a:xfrm>
          <a:prstGeom prst="rect">
            <a:avLst/>
          </a:prstGeom>
          <a:solidFill>
            <a:srgbClr val="8FAAC8"/>
          </a:solidFill>
          <a:ln w="12700">
            <a:solidFill>
              <a:srgbClr val="8FA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2542032"/>
            <a:ext cx="3274466" cy="41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8FAAC8"/>
                </a:solidFill>
                <a:latin typeface="Liberation Sans"/>
              </a:defRPr>
            </a:pPr>
            <a:r>
              <a:t>Replayable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" y="3047238"/>
            <a:ext cx="3274466" cy="350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23043"/>
                </a:solidFill>
                <a:latin typeface="Liberation Sans"/>
              </a:defRPr>
            </a:pPr>
            <a:r>
              <a:t>Known interventions make the incident generation process reproducible.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62602" y="2542032"/>
            <a:ext cx="54864" cy="855472"/>
          </a:xfrm>
          <a:prstGeom prst="rect">
            <a:avLst/>
          </a:prstGeom>
          <a:solidFill>
            <a:srgbClr val="7FA195"/>
          </a:solidFill>
          <a:ln w="12700">
            <a:solidFill>
              <a:srgbClr val="7FA1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4626" y="2542032"/>
            <a:ext cx="3274466" cy="41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7FA195"/>
                </a:solidFill>
                <a:latin typeface="Liberation Sans"/>
              </a:defRPr>
            </a:pPr>
            <a:r>
              <a:t>Operationally relevant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4626" y="3047238"/>
            <a:ext cx="3274466" cy="350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23043"/>
                </a:solidFill>
                <a:latin typeface="Liberation Sans"/>
              </a:defRPr>
            </a:pPr>
            <a:r>
              <a:t>Keep only failures that produce observable user-facing impact.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93684" y="2542032"/>
            <a:ext cx="54864" cy="855472"/>
          </a:xfrm>
          <a:prstGeom prst="rect">
            <a:avLst/>
          </a:prstGeom>
          <a:solidFill>
            <a:srgbClr val="D69A68"/>
          </a:solidFill>
          <a:ln w="12700">
            <a:solidFill>
              <a:srgbClr val="D69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85708" y="2542032"/>
            <a:ext cx="3274466" cy="41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D69A68"/>
                </a:solidFill>
                <a:latin typeface="Liberation Sans"/>
              </a:defRPr>
            </a:pPr>
            <a:r>
              <a:t>Causal evidence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5708" y="3047238"/>
            <a:ext cx="3274466" cy="350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23043"/>
                </a:solidFill>
                <a:latin typeface="Liberation Sans"/>
              </a:defRPr>
            </a:pPr>
            <a:r>
              <a:t>The intervention gives a concrete starting point for tracing propagation.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653536"/>
            <a:ext cx="10728655" cy="699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1">
                <a:solidFill>
                  <a:srgbClr val="647489"/>
                </a:solidFill>
                <a:latin typeface="Liberation Sans"/>
              </a:defRPr>
            </a:pPr>
            <a:r>
              <a:t>Simulation turns RCA data collection from passive observation into controlled causal experimentation.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set>
                          <p:cBhvr>
                            <p:cTn id="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set>
                          <p:cBhvr>
                            <p:cTn id="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set>
                          <p:cBhvr>
                            <p:cTn id="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2" fill="hold">
                      <p:stCondLst>
                        <p:cond delay="0"/>
                      </p:stCondLst>
                      <p:childTnLst>
                        <p:set>
                          <p:cBhvr>
                            <p:cTn id="2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set>
                          <p:cBhvr>
                            <p:cTn id="2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6" fill="hold">
                      <p:stCondLst>
                        <p:cond delay="0"/>
                      </p:stCondLst>
                      <p:childTnLst>
                        <p:set>
                          <p:cBhvr>
                            <p:cTn id="2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28" dur="indefinite" nodeType="mainSeq">
                <p:childTnLst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23043"/>
                </a:solidFill>
                <a:latin typeface="Liberation Sans"/>
              </a:defRPr>
            </a:pPr>
            <a:r>
              <a:t>Premise 3: Verifiable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5C82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>
                <a:solidFill>
                  <a:srgbClr val="94A3B6"/>
                </a:solidFill>
                <a:latin typeface="Liberation Sans"/>
              </a:defRPr>
            </a:pPr>
            <a:r>
              <a:t>OpenRCA 2.0 / FORGE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367536" cy="749808"/>
          </a:xfrm>
          <a:prstGeom prst="roundRect">
            <a:avLst/>
          </a:prstGeom>
          <a:solidFill>
            <a:srgbClr val="F1F5F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Hypothesis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99056" y="1746504"/>
            <a:ext cx="475488" cy="0"/>
          </a:xfrm>
          <a:prstGeom prst="line">
            <a:avLst/>
          </a:prstGeom>
          <a:ln w="19050">
            <a:solidFill>
              <a:srgbClr val="94A3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574544" y="1371600"/>
            <a:ext cx="884936" cy="749808"/>
          </a:xfrm>
          <a:prstGeom prst="roundRect">
            <a:avLst/>
          </a:prstGeom>
          <a:solidFill>
            <a:srgbClr val="8FAAC8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Verify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459480" y="1746504"/>
            <a:ext cx="475488" cy="0"/>
          </a:xfrm>
          <a:prstGeom prst="line">
            <a:avLst/>
          </a:prstGeom>
          <a:ln w="19050">
            <a:solidFill>
              <a:srgbClr val="94A3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934968" y="1371600"/>
            <a:ext cx="1443736" cy="749808"/>
          </a:xfrm>
          <a:prstGeom prst="roundRect">
            <a:avLst/>
          </a:prstGeom>
          <a:solidFill>
            <a:srgbClr val="D69A68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Reward / fail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378704" y="1746504"/>
            <a:ext cx="475488" cy="0"/>
          </a:xfrm>
          <a:prstGeom prst="line">
            <a:avLst/>
          </a:prstGeom>
          <a:ln w="19050">
            <a:solidFill>
              <a:srgbClr val="94A3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854192" y="1371600"/>
            <a:ext cx="1011936" cy="749808"/>
          </a:xfrm>
          <a:prstGeom prst="roundRect">
            <a:avLst/>
          </a:prstGeom>
          <a:solidFill>
            <a:srgbClr val="7FA195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Update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414015"/>
            <a:ext cx="54864" cy="1051560"/>
          </a:xfrm>
          <a:prstGeom prst="rect">
            <a:avLst/>
          </a:prstGeom>
          <a:solidFill>
            <a:srgbClr val="7FA195"/>
          </a:solidFill>
          <a:ln w="12700">
            <a:solidFill>
              <a:srgbClr val="7FA1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2414015"/>
            <a:ext cx="10536631" cy="41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7FA195"/>
                </a:solidFill>
                <a:latin typeface="Liberation Sans"/>
              </a:defRPr>
            </a:pPr>
            <a:r>
              <a:t>Ground truth anchor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" y="2919222"/>
            <a:ext cx="10536631" cy="350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23043"/>
                </a:solidFill>
                <a:latin typeface="Liberation Sans"/>
              </a:defRPr>
            </a:pPr>
            <a:r>
              <a:t>Verified propagation tells us whether the reasoning path is faithful, not just whether the final answer is lucky.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58183"/>
            <a:ext cx="10728655" cy="699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1">
                <a:solidFill>
                  <a:srgbClr val="647489"/>
                </a:solidFill>
                <a:latin typeface="Liberation Sans"/>
              </a:defRPr>
            </a:pPr>
            <a:r>
              <a:t>Ground truth closes the learning loop: hypotheses are checked against the incident path, then revised.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16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23043"/>
                </a:solidFill>
                <a:latin typeface="Liberation Sans"/>
              </a:defRPr>
            </a:pPr>
            <a:r>
              <a:t>From Point-Finding to Graph-Building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5C82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>
                <a:solidFill>
                  <a:srgbClr val="94A3B6"/>
                </a:solidFill>
                <a:latin typeface="Liberation Sans"/>
              </a:defRPr>
            </a:pPr>
            <a:r>
              <a:t>Goal-driven RCA survey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029200" cy="368554"/>
          </a:xfrm>
          <a:prstGeom prst="roundRect">
            <a:avLst/>
          </a:prstGeom>
          <a:solidFill>
            <a:srgbClr val="C98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Point-finding paradigm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86458"/>
            <a:ext cx="1227836" cy="749808"/>
          </a:xfrm>
          <a:prstGeom prst="roundRect">
            <a:avLst/>
          </a:prstGeom>
          <a:solidFill>
            <a:srgbClr val="F1F5F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Telemetry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59356" y="2261362"/>
            <a:ext cx="475488" cy="0"/>
          </a:xfrm>
          <a:prstGeom prst="line">
            <a:avLst/>
          </a:prstGeom>
          <a:ln w="19050">
            <a:solidFill>
              <a:srgbClr val="94A3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434844" y="1886458"/>
            <a:ext cx="1189736" cy="749808"/>
          </a:xfrm>
          <a:prstGeom prst="roundRect">
            <a:avLst/>
          </a:prstGeom>
          <a:solidFill>
            <a:srgbClr val="C98A78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Inference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624580" y="2261362"/>
            <a:ext cx="475488" cy="0"/>
          </a:xfrm>
          <a:prstGeom prst="line">
            <a:avLst/>
          </a:prstGeom>
          <a:ln w="19050">
            <a:solidFill>
              <a:srgbClr val="94A3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100068" y="1886458"/>
            <a:ext cx="1367536" cy="749808"/>
          </a:xfrm>
          <a:prstGeom prst="roundRect">
            <a:avLst/>
          </a:prstGeom>
          <a:solidFill>
            <a:srgbClr val="F1F5F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Root cause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782570"/>
            <a:ext cx="5029200" cy="985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223043"/>
                </a:solidFill>
                <a:latin typeface="Liberation Sans"/>
              </a:defRPr>
            </a:pPr>
            <a:r>
              <a:t>Current methods optimize for identifying the faulty component, ignoring the propagation path.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914140"/>
            <a:ext cx="5029200" cy="572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647489"/>
                </a:solidFill>
                <a:latin typeface="Liberation Sans"/>
              </a:defRPr>
            </a:pPr>
            <a:r>
              <a:t>This is insufficient: engineers need to understand why this component caused the symptoms.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371600"/>
            <a:ext cx="5029200" cy="368554"/>
          </a:xfrm>
          <a:prstGeom prst="roundRect">
            <a:avLst/>
          </a:prstGeom>
          <a:solidFill>
            <a:srgbClr val="7FA1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Graph-building paradigm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1886458"/>
            <a:ext cx="1227836" cy="749808"/>
          </a:xfrm>
          <a:prstGeom prst="roundRect">
            <a:avLst/>
          </a:prstGeom>
          <a:solidFill>
            <a:srgbClr val="F1F5F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Telemetry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354316" y="2261362"/>
            <a:ext cx="475487" cy="0"/>
          </a:xfrm>
          <a:prstGeom prst="line">
            <a:avLst/>
          </a:prstGeom>
          <a:ln w="19050">
            <a:solidFill>
              <a:srgbClr val="94A3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829803" y="1886458"/>
            <a:ext cx="1189736" cy="749808"/>
          </a:xfrm>
          <a:prstGeom prst="roundRect">
            <a:avLst/>
          </a:prstGeom>
          <a:solidFill>
            <a:srgbClr val="D69A68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Inference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019539" y="2261362"/>
            <a:ext cx="475488" cy="0"/>
          </a:xfrm>
          <a:prstGeom prst="line">
            <a:avLst/>
          </a:prstGeom>
          <a:ln w="19050">
            <a:solidFill>
              <a:srgbClr val="94A3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495027" y="1886458"/>
            <a:ext cx="1532636" cy="749808"/>
          </a:xfrm>
          <a:prstGeom prst="roundRect">
            <a:avLst/>
          </a:prstGeom>
          <a:solidFill>
            <a:srgbClr val="7FA195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Causal graph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26480" y="2782570"/>
            <a:ext cx="54864" cy="855472"/>
          </a:xfrm>
          <a:prstGeom prst="rect">
            <a:avLst/>
          </a:prstGeom>
          <a:solidFill>
            <a:srgbClr val="7FA195"/>
          </a:solidFill>
          <a:ln w="12700">
            <a:solidFill>
              <a:srgbClr val="7FA1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18504" y="2782570"/>
            <a:ext cx="4837176" cy="41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7FA195"/>
                </a:solidFill>
                <a:latin typeface="Liberation Sans"/>
              </a:defRPr>
            </a:pPr>
            <a:r>
              <a:t>What changes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18504" y="3287776"/>
            <a:ext cx="4837176" cy="350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23043"/>
                </a:solidFill>
                <a:latin typeface="Liberation Sans"/>
              </a:defRPr>
            </a:pPr>
            <a:r>
              <a:t>The output is not just a node, but the causal graph explaining how the fault propagated to symptoms.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742688"/>
            <a:ext cx="10728655" cy="41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1">
                <a:solidFill>
                  <a:srgbClr val="647489"/>
                </a:solidFill>
                <a:latin typeface="Liberation Sans"/>
              </a:defRPr>
            </a:pPr>
            <a:r>
              <a:t>Ideal RCA builds an interpretable causal graph, not just a ranked root-cause label.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set>
                          <p:cBhvr>
                            <p:cTn id="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set>
                          <p:cBhvr>
                            <p:cTn id="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set>
                          <p:cBhvr>
                            <p:cTn id="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2" fill="hold">
                      <p:stCondLst>
                        <p:cond delay="0"/>
                      </p:stCondLst>
                      <p:childTnLst>
                        <p:set>
                          <p:cBhvr>
                            <p:cTn id="2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set>
                          <p:cBhvr>
                            <p:cTn id="2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6" fill="hold">
                      <p:stCondLst>
                        <p:cond delay="0"/>
                      </p:stCondLst>
                      <p:childTnLst>
                        <p:set>
                          <p:cBhvr>
                            <p:cTn id="2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28" dur="indefinite" nodeType="mainSeq">
                <p:childTnLst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23043"/>
                </a:solidFill>
                <a:latin typeface="Liberation Sans"/>
              </a:defRPr>
            </a:pPr>
            <a:r>
              <a:t>The Benchmark Crisis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5C82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>
                <a:solidFill>
                  <a:srgbClr val="94A3B6"/>
                </a:solidFill>
                <a:latin typeface="Liberation Sans"/>
              </a:defRPr>
            </a:pPr>
            <a:r>
              <a:t>FSE RCA benchmark study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029200" cy="368554"/>
          </a:xfrm>
          <a:prstGeom prst="roundRect">
            <a:avLst/>
          </a:prstGeom>
          <a:solidFill>
            <a:srgbClr val="D69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Simple baseline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86458"/>
            <a:ext cx="5029200" cy="1005840"/>
          </a:xfrm>
          <a:prstGeom prst="roundRect">
            <a:avLst/>
          </a:prstGeom>
          <a:solidFill>
            <a:srgbClr val="F1F5F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0">
                <a:solidFill>
                  <a:srgbClr val="223043"/>
                </a:solidFill>
                <a:latin typeface="Liberation Sans"/>
              </a:defRPr>
            </a:pPr>
            <a:r>
              <a:t>Alerts + thresholds</a:t>
            </a:r>
            <a:br/>
            <a:r>
              <a:t>rule-based ranking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038602"/>
            <a:ext cx="5029200" cy="699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223043"/>
                </a:solidFill>
                <a:latin typeface="Liberation Sans"/>
              </a:defRPr>
            </a:pPr>
            <a:r>
              <a:t>Can match or beat sophisticated models on several public RCA benchmarks.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371600"/>
            <a:ext cx="5029200" cy="368554"/>
          </a:xfrm>
          <a:prstGeom prst="roundRect">
            <a:avLst/>
          </a:prstGeom>
          <a:solidFill>
            <a:srgbClr val="5C82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Published SOTA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886458"/>
            <a:ext cx="5029200" cy="1170432"/>
          </a:xfrm>
          <a:prstGeom prst="roundRect">
            <a:avLst/>
          </a:prstGeom>
          <a:solidFill>
            <a:srgbClr val="F1F5F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0">
                <a:solidFill>
                  <a:srgbClr val="223043"/>
                </a:solidFill>
                <a:latin typeface="Liberation Sans"/>
              </a:defRPr>
            </a:pPr>
            <a:r>
              <a:t>Graph models</a:t>
            </a:r>
            <a:br/>
            <a:r>
              <a:t>multi-modal reasoning</a:t>
            </a:r>
            <a:br/>
            <a:r>
              <a:t>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3203194"/>
            <a:ext cx="5029200" cy="985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223043"/>
                </a:solidFill>
                <a:latin typeface="Liberation Sans"/>
              </a:defRPr>
            </a:pPr>
            <a:r>
              <a:t>Looks strong on paper, but the benchmark may be testing easy correlations instead of hard causality.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4444492"/>
            <a:ext cx="54864" cy="855472"/>
          </a:xfrm>
          <a:prstGeom prst="rect">
            <a:avLst/>
          </a:prstGeom>
          <a:solidFill>
            <a:srgbClr val="C98A78"/>
          </a:solidFill>
          <a:ln w="12700">
            <a:solidFill>
              <a:srgbClr val="C98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544" y="4444492"/>
            <a:ext cx="10536631" cy="41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C98A78"/>
                </a:solidFill>
                <a:latin typeface="Liberation Sans"/>
              </a:defRPr>
            </a:pPr>
            <a:r>
              <a:t>Benchmark crisis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" y="4949698"/>
            <a:ext cx="10536631" cy="350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23043"/>
                </a:solidFill>
                <a:latin typeface="Liberation Sans"/>
              </a:defRPr>
            </a:pPr>
            <a:r>
              <a:t>If a simple baseline rivals SOTA, the benchmark is oversimplifying real RCA difficulty.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16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23043"/>
                </a:solidFill>
                <a:latin typeface="Liberation Sans"/>
              </a:defRPr>
            </a:pPr>
            <a:r>
              <a:t>Why Existing Benchmarks Fail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5C82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>
                <a:solidFill>
                  <a:srgbClr val="94A3B6"/>
                </a:solidFill>
                <a:latin typeface="Liberation Sans"/>
              </a:defRPr>
            </a:pPr>
            <a:r>
              <a:t>FSE RCA benchmark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1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223043"/>
                </a:solidFill>
                <a:latin typeface="Liberation Sans"/>
              </a:defRPr>
            </a:pPr>
            <a:r>
              <a:t>Three structural defects make public benchmarks too forgiving: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004822"/>
            <a:ext cx="54864" cy="855472"/>
          </a:xfrm>
          <a:prstGeom prst="rect">
            <a:avLst/>
          </a:prstGeom>
          <a:solidFill>
            <a:srgbClr val="C98A78"/>
          </a:solidFill>
          <a:ln w="12700">
            <a:solidFill>
              <a:srgbClr val="C98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004822"/>
            <a:ext cx="3262274" cy="41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C98A78"/>
                </a:solidFill>
                <a:latin typeface="Liberation Sans"/>
              </a:defRPr>
            </a:pPr>
            <a:r>
              <a:t>Shallow ground truth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510028"/>
            <a:ext cx="3262274" cy="350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23043"/>
                </a:solidFill>
                <a:latin typeface="Liberation Sans"/>
              </a:defRPr>
            </a:pPr>
            <a:r>
              <a:t>Labels only reach service level. No code-level or propagation-level annotation.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8698" y="2004822"/>
            <a:ext cx="54864" cy="855472"/>
          </a:xfrm>
          <a:prstGeom prst="rect">
            <a:avLst/>
          </a:prstGeom>
          <a:solidFill>
            <a:srgbClr val="C98A78"/>
          </a:solidFill>
          <a:ln w="12700">
            <a:solidFill>
              <a:srgbClr val="C98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60722" y="2004822"/>
            <a:ext cx="3262274" cy="41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C98A78"/>
                </a:solidFill>
                <a:latin typeface="Liberation Sans"/>
              </a:defRPr>
            </a:pPr>
            <a:r>
              <a:t>Static workloads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60722" y="2510028"/>
            <a:ext cx="3262274" cy="350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23043"/>
                </a:solidFill>
                <a:latin typeface="Liberation Sans"/>
              </a:defRPr>
            </a:pPr>
            <a:r>
              <a:t>Fixed request patterns hide concurrency and load-dependent fault propagation.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5876" y="2004822"/>
            <a:ext cx="54864" cy="855472"/>
          </a:xfrm>
          <a:prstGeom prst="rect">
            <a:avLst/>
          </a:prstGeom>
          <a:solidFill>
            <a:srgbClr val="C98A78"/>
          </a:solidFill>
          <a:ln w="12700">
            <a:solidFill>
              <a:srgbClr val="C98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97900" y="2004822"/>
            <a:ext cx="3262274" cy="41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C98A78"/>
                </a:solidFill>
                <a:latin typeface="Liberation Sans"/>
              </a:defRPr>
            </a:pPr>
            <a:r>
              <a:t>Point-only metrics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7900" y="2510028"/>
            <a:ext cx="3262274" cy="350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23043"/>
                </a:solidFill>
                <a:latin typeface="Liberation Sans"/>
              </a:defRPr>
            </a:pPr>
            <a:r>
              <a:t>Top@K accuracy rewards lucky guesses. No evaluation of causal paths.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079750"/>
            <a:ext cx="54864" cy="855472"/>
          </a:xfrm>
          <a:prstGeom prst="rect">
            <a:avLst/>
          </a:prstGeom>
          <a:solidFill>
            <a:srgbClr val="D8A86A"/>
          </a:solidFill>
          <a:ln w="12700">
            <a:solidFill>
              <a:srgbClr val="D8A8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544" y="3079750"/>
            <a:ext cx="10536631" cy="41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D8A86A"/>
                </a:solidFill>
                <a:latin typeface="Liberation Sans"/>
              </a:defRPr>
            </a:pPr>
            <a:r>
              <a:t>Consequence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" y="3584956"/>
            <a:ext cx="10536631" cy="350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23043"/>
                </a:solidFill>
                <a:latin typeface="Liberation Sans"/>
              </a:defRPr>
            </a:pPr>
            <a:r>
              <a:t>Simple heuristics exploit these shortcuts. Reported SOTA progress is inflated by benchmark design, not real diagnostic capability.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154677"/>
            <a:ext cx="10728655" cy="699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1">
                <a:solidFill>
                  <a:srgbClr val="647489"/>
                </a:solidFill>
                <a:latin typeface="Liberation Sans"/>
              </a:defRPr>
            </a:pPr>
            <a:r>
              <a:t>A harder benchmark must fix all three: deeper labels, dynamic workloads, and propagation-aware evaluation.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set>
                          <p:cBhvr>
                            <p:cTn id="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set>
                          <p:cBhvr>
                            <p:cTn id="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set>
                          <p:cBhvr>
                            <p:cTn id="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2" fill="hold">
                      <p:stCondLst>
                        <p:cond delay="0"/>
                      </p:stCondLst>
                      <p:childTnLst>
                        <p:set>
                          <p:cBhvr>
                            <p:cTn id="2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set>
                          <p:cBhvr>
                            <p:cTn id="2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6" fill="hold">
                      <p:stCondLst>
                        <p:cond delay="0"/>
                      </p:stCondLst>
                      <p:childTnLst>
                        <p:set>
                          <p:cBhvr>
                            <p:cTn id="2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8" fill="hold">
                      <p:stCondLst>
                        <p:cond delay="0"/>
                      </p:stCondLst>
                      <p:childTnLst>
                        <p:set>
                          <p:cBhvr>
                            <p:cTn id="2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0" fill="hold">
                      <p:stCondLst>
                        <p:cond delay="0"/>
                      </p:stCondLst>
                      <p:childTnLst>
                        <p:set>
                          <p:cBhvr>
                            <p:cTn id="3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2" fill="hold">
                      <p:stCondLst>
                        <p:cond delay="0"/>
                      </p:stCondLst>
                      <p:childTnLst>
                        <p:set>
                          <p:cBhvr>
                            <p:cTn id="3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4" fill="hold">
                      <p:stCondLst>
                        <p:cond delay="0"/>
                      </p:stCondLst>
                      <p:childTnLst>
                        <p:set>
                          <p:cBhvr>
                            <p:cTn id="3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36" dur="indefinite" nodeType="mainSeq">
                <p:childTnLst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23043"/>
                </a:solidFill>
                <a:latin typeface="Liberation Sans"/>
              </a:defRPr>
            </a:pPr>
            <a:r>
              <a:t>Our Solution: A Harder Benchmark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5C82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>
                <a:solidFill>
                  <a:srgbClr val="94A3B6"/>
                </a:solidFill>
                <a:latin typeface="Liberation Sans"/>
              </a:defRPr>
            </a:pPr>
            <a:r>
              <a:t>FSE RCA benchmark study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723136" cy="960120"/>
          </a:xfrm>
          <a:prstGeom prst="roundRect">
            <a:avLst/>
          </a:prstGeom>
          <a:solidFill>
            <a:srgbClr val="D69A68"/>
          </a:solidFill>
          <a:ln w="12700">
            <a:solidFill>
              <a:srgbClr val="D69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9,152 injections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454656" y="1851660"/>
            <a:ext cx="475488" cy="0"/>
          </a:xfrm>
          <a:prstGeom prst="line">
            <a:avLst/>
          </a:prstGeom>
          <a:ln w="19050">
            <a:solidFill>
              <a:srgbClr val="5C82A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930144" y="1371600"/>
            <a:ext cx="2218436" cy="960120"/>
          </a:xfrm>
          <a:prstGeom prst="roundRect">
            <a:avLst/>
          </a:prstGeom>
          <a:solidFill>
            <a:srgbClr val="8FAAC8"/>
          </a:solidFill>
          <a:ln w="12700">
            <a:solidFill>
              <a:srgbClr val="8FA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1,430 validated cases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148580" y="1851660"/>
            <a:ext cx="475488" cy="0"/>
          </a:xfrm>
          <a:prstGeom prst="line">
            <a:avLst/>
          </a:prstGeom>
          <a:ln w="19050">
            <a:solidFill>
              <a:srgbClr val="5C82A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624068" y="1371600"/>
            <a:ext cx="1545336" cy="960120"/>
          </a:xfrm>
          <a:prstGeom prst="roundRect">
            <a:avLst/>
          </a:prstGeom>
          <a:solidFill>
            <a:srgbClr val="7FA195"/>
          </a:solidFill>
          <a:ln w="12700">
            <a:solidFill>
              <a:srgbClr val="7FA1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25 fault types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624328"/>
            <a:ext cx="1263802" cy="368554"/>
          </a:xfrm>
          <a:prstGeom prst="roundRect">
            <a:avLst/>
          </a:prstGeom>
          <a:solidFill>
            <a:srgbClr val="C98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Average Top@1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084322"/>
            <a:ext cx="1263802" cy="445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223043"/>
                </a:solidFill>
                <a:latin typeface="Liberation Sans"/>
              </a:defRPr>
            </a:pPr>
            <a:r>
              <a:t>0.21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324506" y="2624328"/>
            <a:ext cx="882802" cy="368554"/>
          </a:xfrm>
          <a:prstGeom prst="roundRect">
            <a:avLst/>
          </a:prstGeom>
          <a:solidFill>
            <a:srgbClr val="D8A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Best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24506" y="3084322"/>
            <a:ext cx="882802" cy="445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223043"/>
                </a:solidFill>
                <a:latin typeface="Liberation Sans"/>
              </a:defRPr>
            </a:pPr>
            <a:r>
              <a:t>0.37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36492" y="2624328"/>
            <a:ext cx="54864" cy="905509"/>
          </a:xfrm>
          <a:prstGeom prst="rect">
            <a:avLst/>
          </a:prstGeom>
          <a:solidFill>
            <a:srgbClr val="5C82AD"/>
          </a:solidFill>
          <a:ln w="12700">
            <a:solidFill>
              <a:srgbClr val="5C82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28516" y="2624328"/>
            <a:ext cx="7731658" cy="41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5C82AD"/>
                </a:solidFill>
                <a:latin typeface="Liberation Sans"/>
              </a:defRPr>
            </a:pPr>
            <a:r>
              <a:t>What changed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28516" y="3129534"/>
            <a:ext cx="7731658" cy="400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23043"/>
                </a:solidFill>
                <a:latin typeface="Liberation Sans"/>
              </a:defRPr>
            </a:pPr>
            <a:r>
              <a:t>A harder benchmark preserves complex propagation and exposes a real performance collapse.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822446"/>
            <a:ext cx="10728655" cy="699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1">
                <a:solidFill>
                  <a:srgbClr val="647489"/>
                </a:solidFill>
                <a:latin typeface="Liberation Sans"/>
              </a:defRPr>
            </a:pPr>
            <a:r>
              <a:t>Our solution is not only more data. It is validated, propagation-aware data that reveals how fragile current RCA systems still are.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set>
                          <p:cBhvr>
                            <p:cTn id="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set>
                          <p:cBhvr>
                            <p:cTn id="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set>
                          <p:cBhvr>
                            <p:cTn id="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22" dur="indefinite" nodeType="mainSeq">
                <p:childTnLst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23043"/>
                </a:solidFill>
                <a:latin typeface="Liberation Sans"/>
              </a:defRPr>
            </a:pPr>
            <a:r>
              <a:t>The Effectiveness-Data-Cost Trade-off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5C82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>
                <a:solidFill>
                  <a:srgbClr val="94A3B6"/>
                </a:solidFill>
                <a:latin typeface="Liberation Sans"/>
              </a:defRPr>
            </a:pPr>
            <a:r>
              <a:t>Goal-driven RCA survey</a:t>
            </a:r>
          </a:p>
        </p:txBody>
      </p:sp>
      <p:sp>
        <p:nvSpPr>
          <p:cNvPr id="5" name="Oval 4"/>
          <p:cNvSpPr/>
          <p:nvPr/>
        </p:nvSpPr>
        <p:spPr>
          <a:xfrm>
            <a:off x="3657600" y="1371600"/>
            <a:ext cx="1691640" cy="1691640"/>
          </a:xfrm>
          <a:prstGeom prst="ellipse">
            <a:avLst/>
          </a:prstGeom>
          <a:solidFill>
            <a:srgbClr val="5C82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Liberation Sans"/>
              </a:defRPr>
            </a:pPr>
            <a:r>
              <a:t>Effectiveness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3191256"/>
            <a:ext cx="1508760" cy="1508760"/>
          </a:xfrm>
          <a:prstGeom prst="ellipse">
            <a:avLst/>
          </a:prstGeom>
          <a:solidFill>
            <a:srgbClr val="8FAA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Liberation Sans"/>
              </a:defRPr>
            </a:pPr>
            <a:r>
              <a:t>Data</a:t>
            </a:r>
          </a:p>
        </p:txBody>
      </p:sp>
      <p:sp>
        <p:nvSpPr>
          <p:cNvPr id="7" name="Oval 6"/>
          <p:cNvSpPr/>
          <p:nvPr/>
        </p:nvSpPr>
        <p:spPr>
          <a:xfrm>
            <a:off x="3154680" y="3191256"/>
            <a:ext cx="1508760" cy="1508760"/>
          </a:xfrm>
          <a:prstGeom prst="ellipse">
            <a:avLst/>
          </a:prstGeom>
          <a:solidFill>
            <a:srgbClr val="D8A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Liberation Sans"/>
              </a:defRPr>
            </a:pPr>
            <a:r>
              <a:t>Cost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4828032"/>
            <a:ext cx="54864" cy="855472"/>
          </a:xfrm>
          <a:prstGeom prst="rect">
            <a:avLst/>
          </a:prstGeom>
          <a:solidFill>
            <a:srgbClr val="5C82AD"/>
          </a:solidFill>
          <a:ln w="12700">
            <a:solidFill>
              <a:srgbClr val="5C82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4828032"/>
            <a:ext cx="3414674" cy="41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5C82AD"/>
                </a:solidFill>
                <a:latin typeface="Liberation Sans"/>
              </a:defRPr>
            </a:pPr>
            <a:r>
              <a:t>Effectiveness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5333238"/>
            <a:ext cx="3414674" cy="350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23043"/>
                </a:solidFill>
                <a:latin typeface="Liberation Sans"/>
              </a:defRPr>
            </a:pPr>
            <a:r>
              <a:t>Better diagnosis quality and broader causal coverage.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21098" y="4828032"/>
            <a:ext cx="54864" cy="855472"/>
          </a:xfrm>
          <a:prstGeom prst="rect">
            <a:avLst/>
          </a:prstGeom>
          <a:solidFill>
            <a:srgbClr val="8FAAC8"/>
          </a:solidFill>
          <a:ln w="12700">
            <a:solidFill>
              <a:srgbClr val="8FA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13122" y="4828032"/>
            <a:ext cx="3414674" cy="41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8FAAC8"/>
                </a:solidFill>
                <a:latin typeface="Liberation Sans"/>
              </a:defRPr>
            </a:pPr>
            <a:r>
              <a:t>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13122" y="5333238"/>
            <a:ext cx="3414674" cy="350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23043"/>
                </a:solidFill>
                <a:latin typeface="Liberation Sans"/>
              </a:defRPr>
            </a:pPr>
            <a:r>
              <a:t>More telemetry, more modalities, deeper observability.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10676" y="4828032"/>
            <a:ext cx="54864" cy="855472"/>
          </a:xfrm>
          <a:prstGeom prst="rect">
            <a:avLst/>
          </a:prstGeom>
          <a:solidFill>
            <a:srgbClr val="D8A86A"/>
          </a:solidFill>
          <a:ln w="12700">
            <a:solidFill>
              <a:srgbClr val="D8A8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2700" y="4828032"/>
            <a:ext cx="2957474" cy="41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D8A86A"/>
                </a:solidFill>
                <a:latin typeface="Liberation Sans"/>
              </a:defRPr>
            </a:pPr>
            <a:r>
              <a:t>Cost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2700" y="5333238"/>
            <a:ext cx="2957474" cy="350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23043"/>
                </a:solidFill>
                <a:latin typeface="Liberation Sans"/>
              </a:defRPr>
            </a:pPr>
            <a:r>
              <a:t>Ingestion, storage, and compute rise with scope.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811520"/>
            <a:ext cx="10728655" cy="3026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47489"/>
                </a:solidFill>
                <a:latin typeface="Liberation Sans"/>
              </a:defRPr>
            </a:pPr>
            <a:r>
              <a:t>Better RCA needs richer data, and richer data raises cost. The key is measuring the right thing.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set>
                          <p:cBhvr>
                            <p:cTn id="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set>
                          <p:cBhvr>
                            <p:cTn id="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set>
                          <p:cBhvr>
                            <p:cTn id="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2" fill="hold">
                      <p:stCondLst>
                        <p:cond delay="0"/>
                      </p:stCondLst>
                      <p:childTnLst>
                        <p:set>
                          <p:cBhvr>
                            <p:cTn id="2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set>
                          <p:cBhvr>
                            <p:cTn id="2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6" fill="hold">
                      <p:stCondLst>
                        <p:cond delay="0"/>
                      </p:stCondLst>
                      <p:childTnLst>
                        <p:set>
                          <p:cBhvr>
                            <p:cTn id="2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8" fill="hold">
                      <p:stCondLst>
                        <p:cond delay="0"/>
                      </p:stCondLst>
                      <p:childTnLst>
                        <p:set>
                          <p:cBhvr>
                            <p:cTn id="2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30" dur="indefinite" nodeType="mainSeq">
                <p:childTnLst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23043"/>
                </a:solidFill>
                <a:latin typeface="Liberation Sans"/>
              </a:defRPr>
            </a:pPr>
            <a:r>
              <a:t>The Process Gap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5C82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>
                <a:solidFill>
                  <a:srgbClr val="94A3B6"/>
                </a:solidFill>
                <a:latin typeface="Liberation Sans"/>
              </a:defRPr>
            </a:pPr>
            <a:r>
              <a:t>OpenRCA 2.0 / FORGE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4389120" cy="368554"/>
          </a:xfrm>
          <a:prstGeom prst="roundRect">
            <a:avLst/>
          </a:prstGeom>
          <a:solidFill>
            <a:srgbClr val="8FAA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Outcome correctness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49882"/>
            <a:ext cx="4389120" cy="699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 i="0">
                <a:solidFill>
                  <a:srgbClr val="8FAAC8"/>
                </a:solidFill>
                <a:latin typeface="Liberation Sans"/>
              </a:defRPr>
            </a:pPr>
            <a:r>
              <a:t>0.76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59126"/>
            <a:ext cx="4389120" cy="350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647489"/>
                </a:solidFill>
                <a:latin typeface="Liberation Sans"/>
              </a:defRPr>
            </a:pPr>
            <a:r>
              <a:t>Pass@1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19120"/>
            <a:ext cx="4389120" cy="350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223043"/>
                </a:solidFill>
                <a:latin typeface="Liberation Sans"/>
              </a:defRPr>
            </a:pPr>
            <a:r>
              <a:t>Right answer, but not necessarily right reasoning.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79" y="1371600"/>
            <a:ext cx="4389120" cy="368554"/>
          </a:xfrm>
          <a:prstGeom prst="roundRect">
            <a:avLst/>
          </a:prstGeom>
          <a:solidFill>
            <a:srgbClr val="D8A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Process correctness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79" y="1849882"/>
            <a:ext cx="4389120" cy="699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 i="0">
                <a:solidFill>
                  <a:srgbClr val="D8A86A"/>
                </a:solidFill>
                <a:latin typeface="Liberation Sans"/>
              </a:defRPr>
            </a:pPr>
            <a:r>
              <a:t>0.63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79" y="2659126"/>
            <a:ext cx="4389120" cy="350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647489"/>
                </a:solidFill>
                <a:latin typeface="Liberation Sans"/>
              </a:defRPr>
            </a:pPr>
            <a:r>
              <a:t>Path Reachability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79" y="3119120"/>
            <a:ext cx="4389120" cy="350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223043"/>
                </a:solidFill>
                <a:latin typeface="Liberation Sans"/>
              </a:defRPr>
            </a:pPr>
            <a:r>
              <a:t>Valid causal path from root cause to symptom.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761993"/>
            <a:ext cx="54864" cy="855472"/>
          </a:xfrm>
          <a:prstGeom prst="rect">
            <a:avLst/>
          </a:prstGeom>
          <a:solidFill>
            <a:srgbClr val="C98A78"/>
          </a:solidFill>
          <a:ln w="12700">
            <a:solidFill>
              <a:srgbClr val="C98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3761993"/>
            <a:ext cx="10536631" cy="41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C98A78"/>
                </a:solidFill>
                <a:latin typeface="Liberation Sans"/>
              </a:defRPr>
            </a:pPr>
            <a:r>
              <a:t>The gap: 13% of correct answers have broken reasoning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" y="4267199"/>
            <a:ext cx="10536631" cy="350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23043"/>
                </a:solidFill>
                <a:latin typeface="Liberation Sans"/>
              </a:defRPr>
            </a:pPr>
            <a:r>
              <a:t>Outcome correctness flatters the agent. Process correctness tells us whether the diagnosis can be trusted.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set>
                          <p:cBhvr>
                            <p:cTn id="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18" dur="indefinite" nodeType="mainSeq">
                <p:childTnLst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23043"/>
                </a:solidFill>
                <a:latin typeface="Liberation Sans"/>
              </a:defRPr>
            </a:pPr>
            <a:r>
              <a:t>FORGE: Forward Verification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5C82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>
                <a:solidFill>
                  <a:srgbClr val="94A3B6"/>
                </a:solidFill>
                <a:latin typeface="Liberation Sans"/>
              </a:defRPr>
            </a:pPr>
            <a:r>
              <a:t>OpenRCA 2.0 / FORGE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4389120" cy="368554"/>
          </a:xfrm>
          <a:prstGeom prst="roundRect">
            <a:avLst/>
          </a:prstGeom>
          <a:solidFill>
            <a:srgbClr val="C98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Backward diagnosis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04746"/>
            <a:ext cx="1316736" cy="749808"/>
          </a:xfrm>
          <a:prstGeom prst="roundRect">
            <a:avLst/>
          </a:prstGeom>
          <a:solidFill>
            <a:srgbClr val="F1F5F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Symptoms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048256" y="2279650"/>
            <a:ext cx="475488" cy="0"/>
          </a:xfrm>
          <a:prstGeom prst="line">
            <a:avLst/>
          </a:prstGeom>
          <a:ln w="19050">
            <a:solidFill>
              <a:srgbClr val="94A3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523744" y="1904746"/>
            <a:ext cx="783336" cy="749808"/>
          </a:xfrm>
          <a:prstGeom prst="roundRect">
            <a:avLst/>
          </a:prstGeom>
          <a:solidFill>
            <a:srgbClr val="C98A78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??? 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307079" y="2279650"/>
            <a:ext cx="475489" cy="0"/>
          </a:xfrm>
          <a:prstGeom prst="line">
            <a:avLst/>
          </a:prstGeom>
          <a:ln w="19050">
            <a:solidFill>
              <a:srgbClr val="94A3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782568" y="1904746"/>
            <a:ext cx="1138936" cy="749808"/>
          </a:xfrm>
          <a:prstGeom prst="roundRect">
            <a:avLst/>
          </a:prstGeom>
          <a:solidFill>
            <a:srgbClr val="F1F5F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Ill-posed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819146"/>
            <a:ext cx="54864" cy="855472"/>
          </a:xfrm>
          <a:prstGeom prst="rect">
            <a:avLst/>
          </a:prstGeom>
          <a:solidFill>
            <a:srgbClr val="C98A78"/>
          </a:solidFill>
          <a:ln w="12700">
            <a:solidFill>
              <a:srgbClr val="C98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544" y="2819146"/>
            <a:ext cx="4197096" cy="41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C98A78"/>
                </a:solidFill>
                <a:latin typeface="Liberation Sans"/>
              </a:defRPr>
            </a:pPr>
            <a:r>
              <a:t>Why it is hard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" y="3324352"/>
            <a:ext cx="4197096" cy="350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23043"/>
                </a:solidFill>
                <a:latin typeface="Liberation Sans"/>
              </a:defRPr>
            </a:pPr>
            <a:r>
              <a:t>The RCA agent must infer an unseen cause from partial telemetry, confounders, and noisy symptoms.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77840" y="1371600"/>
            <a:ext cx="4389120" cy="368554"/>
          </a:xfrm>
          <a:prstGeom prst="roundRect">
            <a:avLst/>
          </a:prstGeom>
          <a:solidFill>
            <a:srgbClr val="7FA1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Forward verification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77840" y="1904746"/>
            <a:ext cx="1109471" cy="749808"/>
          </a:xfrm>
          <a:prstGeom prst="roundRect">
            <a:avLst/>
          </a:prstGeom>
          <a:solidFill>
            <a:srgbClr val="D69A68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Known fault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687311" y="2279650"/>
            <a:ext cx="475489" cy="0"/>
          </a:xfrm>
          <a:prstGeom prst="line">
            <a:avLst/>
          </a:prstGeom>
          <a:ln w="19050">
            <a:solidFill>
              <a:srgbClr val="94A3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162800" y="1904746"/>
            <a:ext cx="1278636" cy="749808"/>
          </a:xfrm>
          <a:prstGeom prst="roundRect">
            <a:avLst/>
          </a:prstGeom>
          <a:solidFill>
            <a:srgbClr val="8FAAC8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Propagate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441435" y="2279650"/>
            <a:ext cx="475488" cy="0"/>
          </a:xfrm>
          <a:prstGeom prst="line">
            <a:avLst/>
          </a:prstGeom>
          <a:ln w="19050">
            <a:solidFill>
              <a:srgbClr val="94A3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916923" y="1904746"/>
            <a:ext cx="1050036" cy="749808"/>
          </a:xfrm>
          <a:prstGeom prst="roundRect">
            <a:avLst/>
          </a:prstGeom>
          <a:solidFill>
            <a:srgbClr val="7FA195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Verified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77840" y="2819146"/>
            <a:ext cx="54864" cy="855472"/>
          </a:xfrm>
          <a:prstGeom prst="rect">
            <a:avLst/>
          </a:prstGeom>
          <a:solidFill>
            <a:srgbClr val="7FA195"/>
          </a:solidFill>
          <a:ln w="12700">
            <a:solidFill>
              <a:srgbClr val="7FA1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69864" y="2819146"/>
            <a:ext cx="4197096" cy="41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7FA195"/>
                </a:solidFill>
                <a:latin typeface="Liberation Sans"/>
              </a:defRPr>
            </a:pPr>
            <a:r>
              <a:t>Why FORGE works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9864" y="3324352"/>
            <a:ext cx="4197096" cy="350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23043"/>
                </a:solidFill>
                <a:latin typeface="Liberation Sans"/>
              </a:defRPr>
            </a:pPr>
            <a:r>
              <a:t>Known intervention makes verification tractable: trace cause to effect.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3930649"/>
            <a:ext cx="10728655" cy="699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1">
                <a:solidFill>
                  <a:srgbClr val="647489"/>
                </a:solidFill>
                <a:latin typeface="Liberation Sans"/>
              </a:defRPr>
            </a:pPr>
            <a:r>
              <a:t>FORGE exploits the asymmetry: backward diagnosis is ill-posed, but forward verification is tractable when the intervention is known.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set>
                          <p:cBhvr>
                            <p:cTn id="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set>
                          <p:cBhvr>
                            <p:cTn id="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set>
                          <p:cBhvr>
                            <p:cTn id="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2" fill="hold">
                      <p:stCondLst>
                        <p:cond delay="0"/>
                      </p:stCondLst>
                      <p:childTnLst>
                        <p:set>
                          <p:cBhvr>
                            <p:cTn id="2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set>
                          <p:cBhvr>
                            <p:cTn id="2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6" fill="hold">
                      <p:stCondLst>
                        <p:cond delay="0"/>
                      </p:stCondLst>
                      <p:childTnLst>
                        <p:set>
                          <p:cBhvr>
                            <p:cTn id="2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28" dur="indefinite" nodeType="mainSeq">
                <p:childTnLst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23043"/>
                </a:solidFill>
                <a:latin typeface="Liberation Sans"/>
              </a:defRPr>
            </a:pPr>
            <a:r>
              <a:t>OpenRCA 2.0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5C82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>
                <a:solidFill>
                  <a:srgbClr val="94A3B6"/>
                </a:solidFill>
                <a:latin typeface="Liberation Sans"/>
              </a:defRPr>
            </a:pPr>
            <a:r>
              <a:t>OpenRCA 2.0 / FORGE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755140" cy="368554"/>
          </a:xfrm>
          <a:prstGeom prst="roundRect">
            <a:avLst/>
          </a:prstGeom>
          <a:solidFill>
            <a:srgbClr val="5C82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Benchmark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31594"/>
            <a:ext cx="1755140" cy="445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223043"/>
                </a:solidFill>
                <a:latin typeface="Liberation Sans"/>
              </a:defRPr>
            </a:pPr>
            <a:r>
              <a:t>500 instances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2692" y="1371600"/>
            <a:ext cx="3622040" cy="368554"/>
          </a:xfrm>
          <a:prstGeom prst="roundRect">
            <a:avLst/>
          </a:prstGeom>
          <a:solidFill>
            <a:srgbClr val="D69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Labels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2692" y="1831594"/>
            <a:ext cx="3622040" cy="445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223043"/>
                </a:solidFill>
                <a:latin typeface="Liberation Sans"/>
              </a:defRPr>
            </a:pPr>
            <a:r>
              <a:t>step-wise causal annotations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20764" y="1371600"/>
            <a:ext cx="2567940" cy="368554"/>
          </a:xfrm>
          <a:prstGeom prst="roundRect">
            <a:avLst/>
          </a:prstGeom>
          <a:solidFill>
            <a:srgbClr val="7FA1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Supervision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0764" y="1831594"/>
            <a:ext cx="2567940" cy="445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223043"/>
                </a:solidFill>
                <a:latin typeface="Liberation Sans"/>
              </a:defRPr>
            </a:pPr>
            <a:r>
              <a:t>process supervision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33142"/>
            <a:ext cx="2066036" cy="749808"/>
          </a:xfrm>
          <a:prstGeom prst="roundRect">
            <a:avLst/>
          </a:prstGeom>
          <a:solidFill>
            <a:srgbClr val="D69A68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Known intervention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797556" y="2908046"/>
            <a:ext cx="475488" cy="0"/>
          </a:xfrm>
          <a:prstGeom prst="line">
            <a:avLst/>
          </a:prstGeom>
          <a:ln w="19050">
            <a:solidFill>
              <a:srgbClr val="94A3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273044" y="2533142"/>
            <a:ext cx="2116836" cy="749808"/>
          </a:xfrm>
          <a:prstGeom prst="roundRect">
            <a:avLst/>
          </a:prstGeom>
          <a:solidFill>
            <a:srgbClr val="8FAAC8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Verified propagation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89879" y="2908046"/>
            <a:ext cx="475489" cy="0"/>
          </a:xfrm>
          <a:prstGeom prst="line">
            <a:avLst/>
          </a:prstGeom>
          <a:ln w="19050">
            <a:solidFill>
              <a:srgbClr val="94A3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865368" y="2533142"/>
            <a:ext cx="1443736" cy="749808"/>
          </a:xfrm>
          <a:prstGeom prst="roundRect">
            <a:avLst/>
          </a:prstGeom>
          <a:solidFill>
            <a:srgbClr val="7FA195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Agent graph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309104" y="2908046"/>
            <a:ext cx="475487" cy="0"/>
          </a:xfrm>
          <a:prstGeom prst="line">
            <a:avLst/>
          </a:prstGeom>
          <a:ln w="19050">
            <a:solidFill>
              <a:srgbClr val="94A3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784591" y="2533142"/>
            <a:ext cx="1773936" cy="749808"/>
          </a:xfrm>
          <a:prstGeom prst="roundRect">
            <a:avLst/>
          </a:prstGeom>
          <a:solidFill>
            <a:srgbClr val="5C82AD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Process metrics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3538982"/>
            <a:ext cx="54864" cy="855472"/>
          </a:xfrm>
          <a:prstGeom prst="rect">
            <a:avLst/>
          </a:prstGeom>
          <a:solidFill>
            <a:srgbClr val="5C82AD"/>
          </a:solidFill>
          <a:ln w="12700">
            <a:solidFill>
              <a:srgbClr val="5C82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" y="3538982"/>
            <a:ext cx="10536631" cy="41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5C82AD"/>
                </a:solidFill>
                <a:latin typeface="Liberation Sans"/>
              </a:defRPr>
            </a:pPr>
            <a:r>
              <a:t>Benchmark identity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" y="4044188"/>
            <a:ext cx="10536631" cy="350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23043"/>
                </a:solidFill>
                <a:latin typeface="Liberation Sans"/>
              </a:defRPr>
            </a:pPr>
            <a:r>
              <a:t>OpenRCA 2.0 is not just a harder label dataset. It is a process benchmark with step-wise supervision that scores how the diagnosis is constructed.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650486"/>
            <a:ext cx="10728655" cy="41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1">
                <a:solidFill>
                  <a:srgbClr val="647489"/>
                </a:solidFill>
                <a:latin typeface="Liberation Sans"/>
              </a:defRPr>
            </a:pPr>
            <a:r>
              <a:t>OpenRCA 2.0 gives us a benchmark where benchmark quality and training signal finally align.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set>
                          <p:cBhvr>
                            <p:cTn id="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set>
                          <p:cBhvr>
                            <p:cTn id="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set>
                          <p:cBhvr>
                            <p:cTn id="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2" fill="hold">
                      <p:stCondLst>
                        <p:cond delay="0"/>
                      </p:stCondLst>
                      <p:childTnLst>
                        <p:set>
                          <p:cBhvr>
                            <p:cTn id="2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set>
                          <p:cBhvr>
                            <p:cTn id="2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26" dur="indefinite" nodeType="mainSeq">
                <p:childTnLst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23043"/>
                </a:solidFill>
                <a:latin typeface="Liberation Sans"/>
              </a:defRPr>
            </a:pPr>
            <a:r>
              <a:t>Validation: Structured Reasoning Works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5C82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>
                <a:solidFill>
                  <a:srgbClr val="94A3B6"/>
                </a:solidFill>
                <a:latin typeface="Liberation Sans"/>
              </a:defRPr>
            </a:pPr>
            <a:r>
              <a:t>TRIANGLE paper / Incident triage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54864" cy="855472"/>
          </a:xfrm>
          <a:prstGeom prst="rect">
            <a:avLst/>
          </a:prstGeom>
          <a:solidFill>
            <a:srgbClr val="8FAAC8"/>
          </a:solidFill>
          <a:ln w="12700">
            <a:solidFill>
              <a:srgbClr val="8FA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371600"/>
            <a:ext cx="10536631" cy="41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8FAAC8"/>
                </a:solidFill>
                <a:latin typeface="Liberation Sans"/>
              </a:defRPr>
            </a:pPr>
            <a:r>
              <a:t>From diagnosis to triage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1876806"/>
            <a:ext cx="10536631" cy="350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23043"/>
                </a:solidFill>
                <a:latin typeface="Liberation Sans"/>
              </a:defRPr>
            </a:pPr>
            <a:r>
              <a:t>RCA diagnosis is one step in the incident lifecycle. TRIANGLE tackles the upstream step—triage—and shows that structured multi-agent reasoning outperforms monolithic approaches in production.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446528"/>
            <a:ext cx="1697736" cy="914400"/>
          </a:xfrm>
          <a:prstGeom prst="roundRect">
            <a:avLst/>
          </a:prstGeom>
          <a:solidFill>
            <a:srgbClr val="8FAAC8"/>
          </a:solidFill>
          <a:ln w="12700">
            <a:solidFill>
              <a:srgbClr val="8FA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Analyzer Agent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429256" y="2903728"/>
            <a:ext cx="475488" cy="0"/>
          </a:xfrm>
          <a:prstGeom prst="line">
            <a:avLst/>
          </a:prstGeom>
          <a:ln w="19050">
            <a:solidFill>
              <a:srgbClr val="5C82A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904744" y="2446528"/>
            <a:ext cx="1608836" cy="914400"/>
          </a:xfrm>
          <a:prstGeom prst="roundRect">
            <a:avLst/>
          </a:prstGeom>
          <a:solidFill>
            <a:srgbClr val="D69A68"/>
          </a:solidFill>
          <a:ln w="12700">
            <a:solidFill>
              <a:srgbClr val="D69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Decider Agent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13580" y="2903728"/>
            <a:ext cx="475488" cy="0"/>
          </a:xfrm>
          <a:prstGeom prst="line">
            <a:avLst/>
          </a:prstGeom>
          <a:ln w="19050">
            <a:solidFill>
              <a:srgbClr val="5C82A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989068" y="2446528"/>
            <a:ext cx="1900936" cy="914400"/>
          </a:xfrm>
          <a:prstGeom prst="roundRect">
            <a:avLst/>
          </a:prstGeom>
          <a:solidFill>
            <a:srgbClr val="5C82AD"/>
          </a:solidFill>
          <a:ln w="12700">
            <a:solidFill>
              <a:srgbClr val="5C82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Team assignment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90004" y="2903728"/>
            <a:ext cx="475488" cy="0"/>
          </a:xfrm>
          <a:prstGeom prst="line">
            <a:avLst/>
          </a:prstGeom>
          <a:ln w="19050">
            <a:solidFill>
              <a:srgbClr val="5C82A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365492" y="2446528"/>
            <a:ext cx="2180336" cy="914400"/>
          </a:xfrm>
          <a:prstGeom prst="roundRect">
            <a:avLst/>
          </a:prstGeom>
          <a:solidFill>
            <a:srgbClr val="7FA195"/>
          </a:solidFill>
          <a:ln w="12700">
            <a:solidFill>
              <a:srgbClr val="7FA1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Team Manager Agent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580384"/>
            <a:ext cx="1675384" cy="368554"/>
          </a:xfrm>
          <a:prstGeom prst="roundRect">
            <a:avLst/>
          </a:prstGeom>
          <a:solidFill>
            <a:srgbClr val="7FA1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Triage accuracy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040378"/>
            <a:ext cx="1675384" cy="445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223043"/>
                </a:solidFill>
                <a:latin typeface="Liberation Sans"/>
              </a:defRPr>
            </a:pPr>
            <a:r>
              <a:t>97%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72663" y="3580384"/>
            <a:ext cx="1522984" cy="368554"/>
          </a:xfrm>
          <a:prstGeom prst="roundRect">
            <a:avLst/>
          </a:prstGeom>
          <a:solidFill>
            <a:srgbClr val="D69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TTE reduction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72663" y="4040378"/>
            <a:ext cx="1522984" cy="445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223043"/>
                </a:solidFill>
                <a:latin typeface="Liberation Sans"/>
              </a:defRPr>
            </a:pPr>
            <a:r>
              <a:t>91%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88256" y="3580384"/>
            <a:ext cx="54864" cy="905509"/>
          </a:xfrm>
          <a:prstGeom prst="rect">
            <a:avLst/>
          </a:prstGeom>
          <a:solidFill>
            <a:srgbClr val="5C82AD"/>
          </a:solidFill>
          <a:ln w="12700">
            <a:solidFill>
              <a:srgbClr val="5C82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80280" y="3580384"/>
            <a:ext cx="4815839" cy="41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5C82AD"/>
                </a:solidFill>
                <a:latin typeface="Liberation Sans"/>
              </a:defRPr>
            </a:pPr>
            <a:r>
              <a:t>Production validated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80280" y="4085590"/>
            <a:ext cx="4815839" cy="350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23043"/>
                </a:solidFill>
                <a:latin typeface="Liberation Sans"/>
              </a:defRPr>
            </a:pPr>
            <a:r>
              <a:t>Deployed at Microsoft, serving tens of millions of users.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set>
                          <p:cBhvr>
                            <p:cTn id="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set>
                          <p:cBhvr>
                            <p:cTn id="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set>
                          <p:cBhvr>
                            <p:cTn id="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2" fill="hold">
                      <p:stCondLst>
                        <p:cond delay="0"/>
                      </p:stCondLst>
                      <p:childTnLst>
                        <p:set>
                          <p:cBhvr>
                            <p:cTn id="2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set>
                          <p:cBhvr>
                            <p:cTn id="2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6" fill="hold">
                      <p:stCondLst>
                        <p:cond delay="0"/>
                      </p:stCondLst>
                      <p:childTnLst>
                        <p:set>
                          <p:cBhvr>
                            <p:cTn id="2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8" fill="hold">
                      <p:stCondLst>
                        <p:cond delay="0"/>
                      </p:stCondLst>
                      <p:childTnLst>
                        <p:set>
                          <p:cBhvr>
                            <p:cTn id="2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0" fill="hold">
                      <p:stCondLst>
                        <p:cond delay="0"/>
                      </p:stCondLst>
                      <p:childTnLst>
                        <p:set>
                          <p:cBhvr>
                            <p:cTn id="3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2" fill="hold">
                      <p:stCondLst>
                        <p:cond delay="0"/>
                      </p:stCondLst>
                      <p:childTnLst>
                        <p:set>
                          <p:cBhvr>
                            <p:cTn id="3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4" fill="hold">
                      <p:stCondLst>
                        <p:cond delay="0"/>
                      </p:stCondLst>
                      <p:childTnLst>
                        <p:set>
                          <p:cBhvr>
                            <p:cTn id="3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6" fill="hold">
                      <p:stCondLst>
                        <p:cond delay="0"/>
                      </p:stCondLst>
                      <p:childTnLst>
                        <p:set>
                          <p:cBhvr>
                            <p:cTn id="3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38" dur="indefinite" nodeType="mainSeq">
                <p:childTnLst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23043"/>
                </a:solidFill>
                <a:latin typeface="Liberation Sans"/>
              </a:defRPr>
            </a:pPr>
            <a:r>
              <a:t>Stage 1: Train on Closed Loops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5C82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54864" cy="855472"/>
          </a:xfrm>
          <a:prstGeom prst="rect">
            <a:avLst/>
          </a:prstGeom>
          <a:solidFill>
            <a:srgbClr val="8FAAC8"/>
          </a:solidFill>
          <a:ln w="12700">
            <a:solidFill>
              <a:srgbClr val="8FA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23544" y="1371600"/>
            <a:ext cx="10536631" cy="41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8FAAC8"/>
                </a:solidFill>
                <a:latin typeface="Liberation Sans"/>
              </a:defRPr>
            </a:pPr>
            <a:r>
              <a:t>From evaluation to training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3544" y="1876806"/>
            <a:ext cx="10536631" cy="350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23043"/>
                </a:solidFill>
                <a:latin typeface="Liberation Sans"/>
              </a:defRPr>
            </a:pPr>
            <a:r>
              <a:t>OpenRCA 2.0 gives us process supervision for evaluation. But where does the training data come from? Manual annotation is too expensive.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483104"/>
            <a:ext cx="1316736" cy="749808"/>
          </a:xfrm>
          <a:prstGeom prst="roundRect">
            <a:avLst/>
          </a:prstGeom>
          <a:solidFill>
            <a:srgbClr val="D69A68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Simulation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048256" y="2858008"/>
            <a:ext cx="475488" cy="0"/>
          </a:xfrm>
          <a:prstGeom prst="line">
            <a:avLst/>
          </a:prstGeom>
          <a:ln w="19050">
            <a:solidFill>
              <a:srgbClr val="94A3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523744" y="2483104"/>
            <a:ext cx="1367536" cy="749808"/>
          </a:xfrm>
          <a:prstGeom prst="roundRect">
            <a:avLst/>
          </a:prstGeom>
          <a:solidFill>
            <a:srgbClr val="8FAAC8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Hypothesis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891280" y="2858008"/>
            <a:ext cx="475488" cy="0"/>
          </a:xfrm>
          <a:prstGeom prst="line">
            <a:avLst/>
          </a:prstGeom>
          <a:ln w="19050">
            <a:solidFill>
              <a:srgbClr val="94A3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4366768" y="2483104"/>
            <a:ext cx="884936" cy="749808"/>
          </a:xfrm>
          <a:prstGeom prst="roundRect">
            <a:avLst/>
          </a:prstGeom>
          <a:solidFill>
            <a:srgbClr val="7FA195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Verify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251704" y="2858008"/>
            <a:ext cx="475487" cy="0"/>
          </a:xfrm>
          <a:prstGeom prst="line">
            <a:avLst/>
          </a:prstGeom>
          <a:ln w="19050">
            <a:solidFill>
              <a:srgbClr val="94A3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727191" y="2483104"/>
            <a:ext cx="1050036" cy="749808"/>
          </a:xfrm>
          <a:prstGeom prst="roundRect">
            <a:avLst/>
          </a:prstGeom>
          <a:solidFill>
            <a:srgbClr val="D8A86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Reward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3488944"/>
            <a:ext cx="54864" cy="855472"/>
          </a:xfrm>
          <a:prstGeom prst="rect">
            <a:avLst/>
          </a:prstGeom>
          <a:solidFill>
            <a:srgbClr val="5C82AD"/>
          </a:solidFill>
          <a:ln w="12700">
            <a:solidFill>
              <a:srgbClr val="5C82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3488944"/>
            <a:ext cx="10536631" cy="41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5C82AD"/>
                </a:solidFill>
                <a:latin typeface="Liberation Sans"/>
              </a:defRPr>
            </a:pPr>
            <a:r>
              <a:t>Stage 1: Train on closed loops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" y="3994150"/>
            <a:ext cx="10536631" cy="350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23043"/>
                </a:solidFill>
                <a:latin typeface="Liberation Sans"/>
              </a:defRPr>
            </a:pPr>
            <a:r>
              <a:t>Use fault injection to generate unlimited training cases. The agent proposes hypotheses, verifies against ground truth, and learns from the full loop—not just answer labels.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set>
                          <p:cBhvr>
                            <p:cTn id="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set>
                          <p:cBhvr>
                            <p:cTn id="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set>
                          <p:cBhvr>
                            <p:cTn id="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2" fill="hold">
                      <p:stCondLst>
                        <p:cond delay="0"/>
                      </p:stCondLst>
                      <p:childTnLst>
                        <p:set>
                          <p:cBhvr>
                            <p:cTn id="2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set>
                          <p:cBhvr>
                            <p:cTn id="2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6" fill="hold">
                      <p:stCondLst>
                        <p:cond delay="0"/>
                      </p:stCondLst>
                      <p:childTnLst>
                        <p:set>
                          <p:cBhvr>
                            <p:cTn id="2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8" fill="hold">
                      <p:stCondLst>
                        <p:cond delay="0"/>
                      </p:stCondLst>
                      <p:childTnLst>
                        <p:set>
                          <p:cBhvr>
                            <p:cTn id="2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0" fill="hold">
                      <p:stCondLst>
                        <p:cond delay="0"/>
                      </p:stCondLst>
                      <p:childTnLst>
                        <p:set>
                          <p:cBhvr>
                            <p:cTn id="3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2" fill="hold">
                      <p:stCondLst>
                        <p:cond delay="0"/>
                      </p:stCondLst>
                      <p:childTnLst>
                        <p:set>
                          <p:cBhvr>
                            <p:cTn id="3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34" dur="indefinite" nodeType="mainSeq">
                <p:childTnLst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23043"/>
                </a:solidFill>
                <a:latin typeface="Liberation Sans"/>
              </a:defRPr>
            </a:pPr>
            <a:r>
              <a:t>Stage 2: Distill World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5C82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431036" cy="749808"/>
          </a:xfrm>
          <a:prstGeom prst="roundRect">
            <a:avLst/>
          </a:prstGeom>
          <a:solidFill>
            <a:srgbClr val="8FAAC8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Many traces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62556" y="1746504"/>
            <a:ext cx="475488" cy="0"/>
          </a:xfrm>
          <a:prstGeom prst="line">
            <a:avLst/>
          </a:prstGeom>
          <a:ln w="19050">
            <a:solidFill>
              <a:srgbClr val="94A3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638044" y="1371600"/>
            <a:ext cx="884936" cy="749808"/>
          </a:xfrm>
          <a:prstGeom prst="roundRect">
            <a:avLst/>
          </a:prstGeom>
          <a:solidFill>
            <a:srgbClr val="D69A68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Distill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22980" y="1746504"/>
            <a:ext cx="475487" cy="0"/>
          </a:xfrm>
          <a:prstGeom prst="line">
            <a:avLst/>
          </a:prstGeom>
          <a:ln w="19050">
            <a:solidFill>
              <a:srgbClr val="94A3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98467" y="1371600"/>
            <a:ext cx="1481836" cy="749808"/>
          </a:xfrm>
          <a:prstGeom prst="roundRect">
            <a:avLst/>
          </a:prstGeom>
          <a:solidFill>
            <a:srgbClr val="5C82AD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World model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340864"/>
            <a:ext cx="3108960" cy="368554"/>
          </a:xfrm>
          <a:prstGeom prst="roundRect">
            <a:avLst/>
          </a:prstGeom>
          <a:solidFill>
            <a:srgbClr val="8FAA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Training traces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37434"/>
            <a:ext cx="3108960" cy="548640"/>
          </a:xfrm>
          <a:prstGeom prst="roundRect">
            <a:avLst/>
          </a:prstGeom>
          <a:solidFill>
            <a:srgbClr val="F1F5F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0">
                <a:solidFill>
                  <a:srgbClr val="223043"/>
                </a:solidFill>
                <a:latin typeface="Liberation Sans"/>
              </a:defRPr>
            </a:pPr>
            <a:r>
              <a:t>Trace A: CPU → Latency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514090"/>
            <a:ext cx="3108960" cy="548640"/>
          </a:xfrm>
          <a:prstGeom prst="roundRect">
            <a:avLst/>
          </a:prstGeom>
          <a:solidFill>
            <a:srgbClr val="F1F5F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0">
                <a:solidFill>
                  <a:srgbClr val="223043"/>
                </a:solidFill>
                <a:latin typeface="Liberation Sans"/>
              </a:defRPr>
            </a:pPr>
            <a:r>
              <a:t>Trace B: Memory → OOM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190746"/>
            <a:ext cx="3108960" cy="548640"/>
          </a:xfrm>
          <a:prstGeom prst="roundRect">
            <a:avLst/>
          </a:prstGeom>
          <a:solidFill>
            <a:srgbClr val="F1F5F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0">
                <a:solidFill>
                  <a:srgbClr val="223043"/>
                </a:solidFill>
                <a:latin typeface="Liberation Sans"/>
              </a:defRPr>
            </a:pPr>
            <a:r>
              <a:t>Trace C: Network → Timeout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2340864"/>
            <a:ext cx="3840480" cy="368554"/>
          </a:xfrm>
          <a:prstGeom prst="roundRect">
            <a:avLst/>
          </a:prstGeom>
          <a:solidFill>
            <a:srgbClr val="5C82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Stage 2: Reusable world model</a:t>
            </a:r>
          </a:p>
        </p:txBody>
      </p:sp>
      <p:sp>
        <p:nvSpPr>
          <p:cNvPr id="14" name="Oval 13"/>
          <p:cNvSpPr/>
          <p:nvPr/>
        </p:nvSpPr>
        <p:spPr>
          <a:xfrm>
            <a:off x="4343400" y="2855722"/>
            <a:ext cx="1965960" cy="1965960"/>
          </a:xfrm>
          <a:prstGeom prst="ellipse">
            <a:avLst/>
          </a:prstGeom>
          <a:solidFill>
            <a:srgbClr val="5C82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Liberation Sans"/>
              </a:defRPr>
            </a:pPr>
            <a:r>
              <a:t>world</a:t>
            </a:r>
            <a:br/>
            <a:r>
              <a:t>model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4967986"/>
            <a:ext cx="3840480" cy="1271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223043"/>
                </a:solidFill>
                <a:latin typeface="Liberation Sans"/>
              </a:defRPr>
            </a:pPr>
            <a:r>
              <a:t>Compress many traces into a compact causal representation. Preserve propagation structure, drop incident-specific noise.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set>
                          <p:cBhvr>
                            <p:cTn id="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18" dur="indefinite" nodeType="mainSeq">
                <p:childTnLst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23043"/>
                </a:solidFill>
                <a:latin typeface="Liberation Sans"/>
              </a:defRPr>
            </a:pPr>
            <a:r>
              <a:t>Stage 3: Maximize Leverage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5C82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54864" cy="855472"/>
          </a:xfrm>
          <a:prstGeom prst="rect">
            <a:avLst/>
          </a:prstGeom>
          <a:solidFill>
            <a:srgbClr val="5C82AD"/>
          </a:solidFill>
          <a:ln w="12700">
            <a:solidFill>
              <a:srgbClr val="5C82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23544" y="1371600"/>
            <a:ext cx="10536631" cy="41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5C82AD"/>
                </a:solidFill>
                <a:latin typeface="Liberation Sans"/>
              </a:defRPr>
            </a:pPr>
            <a:r>
              <a:t>Stage 3: Maximize leverage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3544" y="1876806"/>
            <a:ext cx="10536631" cy="350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23043"/>
                </a:solidFill>
                <a:latin typeface="Liberation Sans"/>
              </a:defRPr>
            </a:pPr>
            <a:r>
              <a:t>Build the world model once, then apply it across the entire incident management lifecycle.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483104"/>
            <a:ext cx="1481836" cy="1005840"/>
          </a:xfrm>
          <a:prstGeom prst="roundRect">
            <a:avLst/>
          </a:prstGeom>
          <a:solidFill>
            <a:srgbClr val="5C82AD"/>
          </a:solidFill>
          <a:ln w="12700">
            <a:solidFill>
              <a:srgbClr val="5C82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World model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213356" y="2986024"/>
            <a:ext cx="475488" cy="0"/>
          </a:xfrm>
          <a:prstGeom prst="line">
            <a:avLst/>
          </a:prstGeom>
          <a:ln w="19050">
            <a:solidFill>
              <a:srgbClr val="5C82A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688844" y="2483104"/>
            <a:ext cx="1951736" cy="1005840"/>
          </a:xfrm>
          <a:prstGeom prst="roundRect">
            <a:avLst/>
          </a:prstGeom>
          <a:solidFill>
            <a:srgbClr val="7FA195"/>
          </a:solidFill>
          <a:ln w="12700">
            <a:solidFill>
              <a:srgbClr val="7FA1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Repair suggestion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640580" y="2986024"/>
            <a:ext cx="475488" cy="0"/>
          </a:xfrm>
          <a:prstGeom prst="line">
            <a:avLst/>
          </a:prstGeom>
          <a:ln w="19050">
            <a:solidFill>
              <a:srgbClr val="5C82A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116068" y="2483104"/>
            <a:ext cx="2383536" cy="1005840"/>
          </a:xfrm>
          <a:prstGeom prst="roundRect">
            <a:avLst/>
          </a:prstGeom>
          <a:solidFill>
            <a:srgbClr val="8FAAC8"/>
          </a:solidFill>
          <a:ln w="12700">
            <a:solidFill>
              <a:srgbClr val="8FA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Root-cause localization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499604" y="2986024"/>
            <a:ext cx="475487" cy="0"/>
          </a:xfrm>
          <a:prstGeom prst="line">
            <a:avLst/>
          </a:prstGeom>
          <a:ln w="19050">
            <a:solidFill>
              <a:srgbClr val="5C82A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975091" y="2483104"/>
            <a:ext cx="1735836" cy="1005840"/>
          </a:xfrm>
          <a:prstGeom prst="roundRect">
            <a:avLst/>
          </a:prstGeom>
          <a:solidFill>
            <a:srgbClr val="D69A68"/>
          </a:solidFill>
          <a:ln w="12700">
            <a:solidFill>
              <a:srgbClr val="D69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Fault prediction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744976"/>
            <a:ext cx="10728655" cy="699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1">
                <a:solidFill>
                  <a:srgbClr val="647489"/>
                </a:solidFill>
                <a:latin typeface="Liberation Sans"/>
              </a:defRPr>
            </a:pPr>
            <a:r>
              <a:t>The world model's value is reuse: one causal representation supports diagnosis, prediction, and repair across different operational contexts.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set>
                          <p:cBhvr>
                            <p:cTn id="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set>
                          <p:cBhvr>
                            <p:cTn id="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set>
                          <p:cBhvr>
                            <p:cTn id="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2" fill="hold">
                      <p:stCondLst>
                        <p:cond delay="0"/>
                      </p:stCondLst>
                      <p:childTnLst>
                        <p:set>
                          <p:cBhvr>
                            <p:cTn id="2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24" dur="indefinite" nodeType="mainSeq">
                <p:childTnLst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0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728655" cy="604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5C82AD"/>
                </a:solidFill>
                <a:latin typeface="Liberation Sans"/>
              </a:defRPr>
            </a:pPr>
            <a:r>
              <a:t>Three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085594"/>
            <a:ext cx="10728655" cy="699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647489"/>
                </a:solidFill>
                <a:latin typeface="Liberation Sans"/>
              </a:defRPr>
            </a:pPr>
            <a:r>
              <a:t>What matters is not only finding the right answer, but building a reasoning system we can trust and reuse.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169158"/>
            <a:ext cx="3154680" cy="604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D69A68"/>
                </a:solidFill>
                <a:latin typeface="Liberation Sans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6576"/>
            <a:ext cx="3154680" cy="699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223043"/>
                </a:solidFill>
                <a:latin typeface="Liberation Sans"/>
              </a:defRPr>
            </a:pPr>
            <a:r>
              <a:t>Score the path, not just the answer.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0" y="3169158"/>
            <a:ext cx="3154680" cy="604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8FAAC8"/>
                </a:solidFill>
                <a:latin typeface="Liberation Sans"/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3846576"/>
            <a:ext cx="3154680" cy="699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223043"/>
                </a:solidFill>
                <a:latin typeface="Liberation Sans"/>
              </a:defRPr>
            </a:pPr>
            <a:r>
              <a:t>Train on verification loops, not only labels.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3169158"/>
            <a:ext cx="3154680" cy="604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7FA195"/>
                </a:solidFill>
                <a:latin typeface="Liberation Sans"/>
              </a:defRPr>
            </a:pPr>
            <a: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3846576"/>
            <a:ext cx="3154680" cy="699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223043"/>
                </a:solidFill>
                <a:latin typeface="Liberation Sans"/>
              </a:defRPr>
            </a:pPr>
            <a:r>
              <a:t>Build the model once, then reuse it broadly.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930140"/>
            <a:ext cx="10728655" cy="477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5C82AD"/>
                </a:solidFill>
                <a:latin typeface="Liberation Sans"/>
              </a:defRPr>
            </a:pPr>
            <a:r>
              <a:t>Build the model once. Reuse it across diagnosis, prediction, and repair.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set>
                          <p:cBhvr>
                            <p:cTn id="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18" dur="indefinite" nodeType="mainSeq">
                <p:childTnLst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