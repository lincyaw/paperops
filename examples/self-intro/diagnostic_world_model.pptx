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reframing RCA as a world-modeling problem rather than a label prediction problem. Transition by stating that the next slides unpack the three premises that make this view practical.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today's black-box symptom-to-label flow with a world-model loop that hypothesizes and verifies propagation. Transition by asking what assumptions must be true for that loop to be feasible.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first premise: the intervention space is broad but still bounded enough to model. Transition by noting that bounded atomic faults only help if we can replay them inside a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second premise: if we can inject faults under workload, we can watch failures propagate instead of merely reading symptoms after the fact. Transition by saying replay alone is insufficient unless we can score whether a reasoning path matches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third premise explicit: a diagnosis should earn reward only when the causal path checks out against ground truth. Transition by saying that once world-model RCA is feasible, the real bottleneck becomes how RCA is defined and evaluated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survey to argue that the classical metrics-logs-traces taxonomy is exactly where the field drifts away from the world-model target. Transition by showing the deeper systems constraint that shapes all practical RCA methods.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survey's Effectiveness-Data-Cost triangle as the governing trade-off behind practical RCA systems. Transition by saying that once the trade-off is clear, we can define the ideal north-star formulation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survey's formalization F: O -&gt; G and stress that G is an incident propagation graph, not merely a ranked root-cause label. Transition by using that north star to diagnose why existing benchmarks create a misleading sense of progress.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dataset study's headline result: simple heuristics are surprisingly competitive with SOTA on public benchmarks. Transition by asking what structural defects make those benchmarks so forgiving.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three defects from the benchmark study: fault injection, dependency structure, and telemetry patterns. Transition by showing the concrete benchmark pipeline built to fix these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first section with the benchmark pipeline and the core result numbers: 9,152 injections, 1,430 validated cases, 25 fault types, 0.21 average Top@1, and 0.37 best. Transition by saying the rest of the deck will explain the process-level supervision and benchmark design behind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outcome correctness from process correctness with the 0.76 versus 0.63 comparison. Transition by asking how to turn an ill-posed backward RCA task into something verifiable enough to supervise.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information asymmetry at the heart of FORGE: the agent reasons backward, while annotation can verify forward from the known intervention. Transition by turning that verification mechanism into a concrete benchmark identity.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benchmark identity in three facts: 500 instances, step-wise causal annotations, and process supervision. Transition by broadening from RCA diagnosis to the adjacent triage workflow where multi-agent coordination already shows practical value.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TRIANGLE as adjacent evidence rather than the main RCA contribution: structured role separation already works in a neighboring reliability task. Transition by saying the next step is to turn that structured reliability reasoning into a reusable diagnostic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on the adjacent evidence from TRIANGLE and move into the main roadmap: stage one is training an agent inside a simulation-hypothesis-verify-reward loop. Transition by asking what remains after we collect many successful traces from that loop.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compression: distill many traces into one reusable world model without losing the causal structure we care about. Transition by showing that once the world model exists, the same core should branch into multiple operational tasks.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where the roadmap cashes out: one world model should support root-cause localization, fault prediction, and repair suggestion. Transition by summarizing the research philosophy that connects these stages.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 the roadmap into three research capabilities: simulate, compress, and generalize. Transition by turning those capabilities into the three closing takeaways for the audience.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three short takeaways rather than a dense recap, keeping the typography strong and the message memorable. End on the final line as the thesis statement for the whole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F0F7"/>
        </a:solidFill>
        <a:effectLst/>
      </p:bgPr>
    </p:bg>
    <p:spTree>
      <p:nvGrpSpPr>
        <p:cNvPr id="1" name=""/>
        <p:cNvGrpSpPr/>
        <p:nvPr/>
      </p:nvGrpSpPr>
      <p:grpSpPr/>
      <p:sp>
        <p:nvSpPr>
          <p:cNvPr id="2" name="Rounded Rectangle 1"/>
          <p:cNvSpPr/>
          <p:nvPr/>
        </p:nvSpPr>
        <p:spPr>
          <a:xfrm>
            <a:off x="731520" y="1371600"/>
            <a:ext cx="658368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Research Vision</a:t>
            </a:r>
          </a:p>
        </p:txBody>
      </p:sp>
      <p:sp>
        <p:nvSpPr>
          <p:cNvPr id="3" name="TextBox 2"/>
          <p:cNvSpPr txBox="1"/>
          <p:nvPr/>
        </p:nvSpPr>
        <p:spPr>
          <a:xfrm>
            <a:off x="731520" y="1913636"/>
            <a:ext cx="6583680" cy="1052576"/>
          </a:xfrm>
          <a:prstGeom prst="rect">
            <a:avLst/>
          </a:prstGeom>
          <a:noFill/>
        </p:spPr>
        <p:txBody>
          <a:bodyPr wrap="square">
            <a:spAutoFit/>
          </a:bodyPr>
          <a:lstStyle/>
          <a:p>
            <a:pPr algn="l">
              <a:defRPr sz="2800" b="1" i="0">
                <a:solidFill>
                  <a:srgbClr val="5C82AD"/>
                </a:solidFill>
                <a:latin typeface="Liberation Sans"/>
              </a:defRPr>
            </a:pPr>
            <a:r>
              <a:t>Building World Models for</a:t>
            </a:r>
          </a:p>
          <a:p>
            <a:pPr algn="l">
              <a:defRPr sz="2800" b="1" i="0">
                <a:solidFill>
                  <a:srgbClr val="5C82AD"/>
                </a:solidFill>
                <a:latin typeface="Liberation Sans"/>
              </a:defRPr>
            </a:pPr>
            <a:r>
              <a:t>Diagnostic Intelligence</a:t>
            </a:r>
          </a:p>
        </p:txBody>
      </p:sp>
      <p:sp>
        <p:nvSpPr>
          <p:cNvPr id="4" name="TextBox 3"/>
          <p:cNvSpPr txBox="1"/>
          <p:nvPr/>
        </p:nvSpPr>
        <p:spPr>
          <a:xfrm>
            <a:off x="731520" y="3130804"/>
            <a:ext cx="6583680" cy="722376"/>
          </a:xfrm>
          <a:prstGeom prst="rect">
            <a:avLst/>
          </a:prstGeom>
          <a:noFill/>
        </p:spPr>
        <p:txBody>
          <a:bodyPr wrap="square">
            <a:spAutoFit/>
          </a:bodyPr>
          <a:lstStyle/>
          <a:p>
            <a:pPr algn="l">
              <a:defRPr sz="1800" b="0" i="0">
                <a:solidFill>
                  <a:srgbClr val="647489"/>
                </a:solidFill>
                <a:latin typeface="Liberation Sans"/>
              </a:defRPr>
            </a:pPr>
            <a:r>
              <a:t>From outcome labels to causal process supervision in root cause analysis.</a:t>
            </a:r>
          </a:p>
        </p:txBody>
      </p:sp>
      <p:sp>
        <p:nvSpPr>
          <p:cNvPr id="5" name="TextBox 4"/>
          <p:cNvSpPr txBox="1"/>
          <p:nvPr/>
        </p:nvSpPr>
        <p:spPr>
          <a:xfrm>
            <a:off x="731520" y="4017772"/>
            <a:ext cx="6583680" cy="425196"/>
          </a:xfrm>
          <a:prstGeom prst="rect">
            <a:avLst/>
          </a:prstGeom>
          <a:noFill/>
        </p:spPr>
        <p:txBody>
          <a:bodyPr wrap="square">
            <a:spAutoFit/>
          </a:bodyPr>
          <a:lstStyle/>
          <a:p>
            <a:pPr algn="l">
              <a:defRPr sz="1800" b="1" i="0">
                <a:solidFill>
                  <a:srgbClr val="D69A68"/>
                </a:solidFill>
                <a:latin typeface="Liberation Sans"/>
              </a:defRPr>
            </a:pPr>
            <a:r>
              <a:t>Move RCA from point finding to graph building.</a:t>
            </a:r>
          </a:p>
        </p:txBody>
      </p:sp>
      <p:sp>
        <p:nvSpPr>
          <p:cNvPr id="6" name="Rounded Rectangle 5"/>
          <p:cNvSpPr/>
          <p:nvPr/>
        </p:nvSpPr>
        <p:spPr>
          <a:xfrm>
            <a:off x="7863840" y="1371600"/>
            <a:ext cx="310896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Problem</a:t>
            </a:r>
          </a:p>
        </p:txBody>
      </p:sp>
      <p:sp>
        <p:nvSpPr>
          <p:cNvPr id="7" name="TextBox 6"/>
          <p:cNvSpPr txBox="1"/>
          <p:nvPr/>
        </p:nvSpPr>
        <p:spPr>
          <a:xfrm>
            <a:off x="7863840" y="1840484"/>
            <a:ext cx="3108960" cy="458216"/>
          </a:xfrm>
          <a:prstGeom prst="rect">
            <a:avLst/>
          </a:prstGeom>
          <a:noFill/>
        </p:spPr>
        <p:txBody>
          <a:bodyPr wrap="square">
            <a:spAutoFit/>
          </a:bodyPr>
          <a:lstStyle/>
          <a:p>
            <a:pPr algn="l">
              <a:defRPr sz="2000" b="1" i="0">
                <a:solidFill>
                  <a:srgbClr val="223043"/>
                </a:solidFill>
                <a:latin typeface="Liberation Sans"/>
              </a:defRPr>
            </a:pPr>
            <a:r>
              <a:t>Oversimplified RCA</a:t>
            </a:r>
          </a:p>
        </p:txBody>
      </p:sp>
      <p:sp>
        <p:nvSpPr>
          <p:cNvPr id="8" name="Rounded Rectangle 7"/>
          <p:cNvSpPr/>
          <p:nvPr/>
        </p:nvSpPr>
        <p:spPr>
          <a:xfrm>
            <a:off x="7863840" y="2518156"/>
            <a:ext cx="310896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Method</a:t>
            </a:r>
          </a:p>
        </p:txBody>
      </p:sp>
      <p:sp>
        <p:nvSpPr>
          <p:cNvPr id="9" name="TextBox 8"/>
          <p:cNvSpPr txBox="1"/>
          <p:nvPr/>
        </p:nvSpPr>
        <p:spPr>
          <a:xfrm>
            <a:off x="7863840" y="2987040"/>
            <a:ext cx="3108960" cy="458216"/>
          </a:xfrm>
          <a:prstGeom prst="rect">
            <a:avLst/>
          </a:prstGeom>
          <a:noFill/>
        </p:spPr>
        <p:txBody>
          <a:bodyPr wrap="square">
            <a:spAutoFit/>
          </a:bodyPr>
          <a:lstStyle/>
          <a:p>
            <a:pPr algn="l">
              <a:defRPr sz="2000" b="1" i="0">
                <a:solidFill>
                  <a:srgbClr val="223043"/>
                </a:solidFill>
                <a:latin typeface="Liberation Sans"/>
              </a:defRPr>
            </a:pPr>
            <a:r>
              <a:t>Forward verification</a:t>
            </a:r>
          </a:p>
        </p:txBody>
      </p:sp>
      <p:sp>
        <p:nvSpPr>
          <p:cNvPr id="10" name="Rounded Rectangle 9"/>
          <p:cNvSpPr/>
          <p:nvPr/>
        </p:nvSpPr>
        <p:spPr>
          <a:xfrm>
            <a:off x="7863840" y="3664712"/>
            <a:ext cx="310896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Goal</a:t>
            </a:r>
          </a:p>
        </p:txBody>
      </p:sp>
      <p:sp>
        <p:nvSpPr>
          <p:cNvPr id="11" name="TextBox 10"/>
          <p:cNvSpPr txBox="1"/>
          <p:nvPr/>
        </p:nvSpPr>
        <p:spPr>
          <a:xfrm>
            <a:off x="7863840" y="4133596"/>
            <a:ext cx="3108960" cy="458216"/>
          </a:xfrm>
          <a:prstGeom prst="rect">
            <a:avLst/>
          </a:prstGeom>
          <a:noFill/>
        </p:spPr>
        <p:txBody>
          <a:bodyPr wrap="square">
            <a:spAutoFit/>
          </a:bodyPr>
          <a:lstStyle/>
          <a:p>
            <a:pPr algn="l">
              <a:defRPr sz="2000" b="1" i="0">
                <a:solidFill>
                  <a:srgbClr val="223043"/>
                </a:solidFill>
                <a:latin typeface="Liberation Sans"/>
              </a:defRPr>
            </a:pPr>
            <a:r>
              <a:t>Trusted diagnosis</a:t>
            </a:r>
          </a:p>
        </p:txBody>
      </p:sp>
      <p:sp>
        <p:nvSpPr>
          <p:cNvPr id="12" name="TextBox 11"/>
          <p:cNvSpPr txBox="1"/>
          <p:nvPr/>
        </p:nvSpPr>
        <p:spPr>
          <a:xfrm>
            <a:off x="731520" y="4957572"/>
            <a:ext cx="10728655" cy="722376"/>
          </a:xfrm>
          <a:prstGeom prst="rect">
            <a:avLst/>
          </a:prstGeom>
          <a:noFill/>
        </p:spPr>
        <p:txBody>
          <a:bodyPr wrap="square">
            <a:spAutoFit/>
          </a:bodyPr>
          <a:lstStyle/>
          <a:p>
            <a:pPr algn="l">
              <a:defRPr sz="1800" b="0" i="1">
                <a:solidFill>
                  <a:srgbClr val="647489"/>
                </a:solidFill>
                <a:latin typeface="Liberation Sans"/>
              </a:defRPr>
            </a:pPr>
            <a:r>
              <a:t>Trusted diagnosis needs simulatable failures, verifiable reasoning, and explicit propagation structure.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childTnLst>
              </p:cTn>
            </p:par>
            <p:seq concurrent="1" nextAc="seek">
              <p:cTn id="22" dur="indefinite" nodeType="mainSeq">
                <p:childTnLst>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animEffect transition="in" filter="fade">
                                      <p:cBhvr>
                                        <p:cTn id="26" dur="500"/>
                                        <p:tgtEl>
                                          <p:spTgt spid="2"/>
                                        </p:tgtEl>
                                      </p:cBhvr>
                                    </p:animEffect>
                                    <p:set>
                                      <p:cBhvr>
                                        <p:cTn id="27" dur="1" fill="hold">
                                          <p:stCondLst>
                                            <p:cond delay="0"/>
                                          </p:stCondLst>
                                        </p:cTn>
                                        <p:tgtEl>
                                          <p:spTgt spid="2"/>
                                        </p:tgtEl>
                                        <p:attrNameLst>
                                          <p:attrName>style.visibility</p:attrName>
                                        </p:attrNameLst>
                                      </p:cBhvr>
                                      <p:to>
                                        <p:strVal val="visible"/>
                                      </p:to>
                                    </p:set>
                                  </p:childTnLst>
                                </p:cTn>
                              </p:par>
                              <p:par>
                                <p:cTn id="28" presetID="10" presetClass="entr" presetSubtype="0" fill="hold" grpId="0" nodeType="withEffect">
                                  <p:stCondLst>
                                    <p:cond delay="0"/>
                                  </p:stCondLst>
                                  <p:childTnLst>
                                    <p:animEffect transition="in" filter="fade">
                                      <p:cBhvr>
                                        <p:cTn id="29" dur="500"/>
                                        <p:tgtEl>
                                          <p:spTgt spid="3"/>
                                        </p:tgtEl>
                                      </p:cBhvr>
                                    </p:animEffect>
                                    <p:set>
                                      <p:cBhvr>
                                        <p:cTn id="30" dur="1" fill="hold">
                                          <p:stCondLst>
                                            <p:cond delay="0"/>
                                          </p:stCondLst>
                                        </p:cTn>
                                        <p:tgtEl>
                                          <p:spTgt spid="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4"/>
                                        </p:tgtEl>
                                      </p:cBhvr>
                                    </p:animEffect>
                                    <p:set>
                                      <p:cBhvr>
                                        <p:cTn id="35" dur="1" fill="hold">
                                          <p:stCondLst>
                                            <p:cond delay="0"/>
                                          </p:stCondLst>
                                        </p:cTn>
                                        <p:tgtEl>
                                          <p:spTgt spid="4"/>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5"/>
                                        </p:tgtEl>
                                      </p:cBhvr>
                                    </p:animEffec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6"/>
                                        </p:tgtEl>
                                      </p:cBhvr>
                                    </p:animEffect>
                                    <p:set>
                                      <p:cBhvr>
                                        <p:cTn id="43" dur="1" fill="hold">
                                          <p:stCondLst>
                                            <p:cond delay="0"/>
                                          </p:stCondLst>
                                        </p:cTn>
                                        <p:tgtEl>
                                          <p:spTgt spid="6"/>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7"/>
                                        </p:tgtEl>
                                      </p:cBhvr>
                                    </p:animEffect>
                                    <p:set>
                                      <p:cBhvr>
                                        <p:cTn id="46" dur="1" fill="hold">
                                          <p:stCondLst>
                                            <p:cond delay="0"/>
                                          </p:stCondLst>
                                        </p:cTn>
                                        <p:tgtEl>
                                          <p:spTgt spid="7"/>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8"/>
                                        </p:tgtEl>
                                      </p:cBhvr>
                                    </p:animEffect>
                                    <p:set>
                                      <p:cBhvr>
                                        <p:cTn id="49" dur="1" fill="hold">
                                          <p:stCondLst>
                                            <p:cond delay="0"/>
                                          </p:stCondLst>
                                        </p:cTn>
                                        <p:tgtEl>
                                          <p:spTgt spid="8"/>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9"/>
                                        </p:tgtEl>
                                      </p:cBhvr>
                                    </p:animEffect>
                                    <p:set>
                                      <p:cBhvr>
                                        <p:cTn id="52" dur="1" fill="hold">
                                          <p:stCondLst>
                                            <p:cond delay="0"/>
                                          </p:stCondLst>
                                        </p:cTn>
                                        <p:tgtEl>
                                          <p:spTgt spid="9"/>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0"/>
                                        </p:tgtEl>
                                      </p:cBhvr>
                                    </p:animEffect>
                                    <p:set>
                                      <p:cBhvr>
                                        <p:cTn id="55" dur="1" fill="hold">
                                          <p:stCondLst>
                                            <p:cond delay="0"/>
                                          </p:stCondLst>
                                        </p:cTn>
                                        <p:tgtEl>
                                          <p:spTgt spid="10"/>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1"/>
                                        </p:tgtEl>
                                      </p:cBhvr>
                                    </p:animEffect>
                                    <p:set>
                                      <p:cBhvr>
                                        <p:cTn id="58" dur="1" fill="hold">
                                          <p:stCondLst>
                                            <p:cond delay="0"/>
                                          </p:stCondLst>
                                        </p:cTn>
                                        <p:tgtEl>
                                          <p:spTgt spid="11"/>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2"/>
                                        </p:tgtEl>
                                      </p:cBhvr>
                                    </p:animEffect>
                                    <p:set>
                                      <p:cBhvr>
                                        <p:cTn id="6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Vision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731520" y="1371600"/>
            <a:ext cx="502920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Black-box RCA</a:t>
            </a:r>
          </a:p>
        </p:txBody>
      </p:sp>
      <p:sp>
        <p:nvSpPr>
          <p:cNvPr id="6" name="Rounded Rectangle 5"/>
          <p:cNvSpPr/>
          <p:nvPr/>
        </p:nvSpPr>
        <p:spPr>
          <a:xfrm>
            <a:off x="731520" y="1913636"/>
            <a:ext cx="109982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Telemetry</a:t>
            </a:r>
          </a:p>
        </p:txBody>
      </p:sp>
      <p:cxnSp>
        <p:nvCxnSpPr>
          <p:cNvPr id="7" name="Connector 6"/>
          <p:cNvCxnSpPr/>
          <p:nvPr/>
        </p:nvCxnSpPr>
        <p:spPr>
          <a:xfrm>
            <a:off x="1831340"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306828" y="1913636"/>
            <a:ext cx="1201420" cy="749808"/>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LLM guess</a:t>
            </a:r>
          </a:p>
        </p:txBody>
      </p:sp>
      <p:cxnSp>
        <p:nvCxnSpPr>
          <p:cNvPr id="9" name="Connector 8"/>
          <p:cNvCxnSpPr/>
          <p:nvPr/>
        </p:nvCxnSpPr>
        <p:spPr>
          <a:xfrm>
            <a:off x="3508248"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983736" y="1913636"/>
            <a:ext cx="168402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Root cause label</a:t>
            </a:r>
          </a:p>
        </p:txBody>
      </p:sp>
      <p:sp>
        <p:nvSpPr>
          <p:cNvPr id="11" name="Rectangle 10"/>
          <p:cNvSpPr/>
          <p:nvPr/>
        </p:nvSpPr>
        <p:spPr>
          <a:xfrm>
            <a:off x="731520" y="2828036"/>
            <a:ext cx="54864" cy="110693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828036"/>
            <a:ext cx="4837176" cy="425196"/>
          </a:xfrm>
          <a:prstGeom prst="rect">
            <a:avLst/>
          </a:prstGeom>
          <a:noFill/>
        </p:spPr>
        <p:txBody>
          <a:bodyPr wrap="square">
            <a:spAutoFit/>
          </a:bodyPr>
          <a:lstStyle/>
          <a:p>
            <a:pPr algn="l">
              <a:defRPr sz="1800" b="1" i="0">
                <a:solidFill>
                  <a:srgbClr val="C98A78"/>
                </a:solidFill>
                <a:latin typeface="Liberation Sans"/>
              </a:defRPr>
            </a:pPr>
            <a:r>
              <a:t>Current pattern</a:t>
            </a:r>
          </a:p>
        </p:txBody>
      </p:sp>
      <p:sp>
        <p:nvSpPr>
          <p:cNvPr id="13" name="TextBox 12"/>
          <p:cNvSpPr txBox="1"/>
          <p:nvPr/>
        </p:nvSpPr>
        <p:spPr>
          <a:xfrm>
            <a:off x="923544" y="3344672"/>
            <a:ext cx="4837176" cy="590296"/>
          </a:xfrm>
          <a:prstGeom prst="rect">
            <a:avLst/>
          </a:prstGeom>
          <a:noFill/>
        </p:spPr>
        <p:txBody>
          <a:bodyPr wrap="square">
            <a:spAutoFit/>
          </a:bodyPr>
          <a:lstStyle/>
          <a:p>
            <a:pPr algn="l">
              <a:defRPr sz="1400" b="0" i="0">
                <a:solidFill>
                  <a:srgbClr val="223043"/>
                </a:solidFill>
                <a:latin typeface="Liberation Sans"/>
              </a:defRPr>
            </a:pPr>
            <a:r>
              <a:t>Optimize for a correct answer, even if the causal path is hidden or hallucinated.</a:t>
            </a:r>
          </a:p>
        </p:txBody>
      </p:sp>
      <p:sp>
        <p:nvSpPr>
          <p:cNvPr id="14" name="Rounded Rectangle 13"/>
          <p:cNvSpPr/>
          <p:nvPr/>
        </p:nvSpPr>
        <p:spPr>
          <a:xfrm>
            <a:off x="6126480" y="1371600"/>
            <a:ext cx="502920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World-model RCA</a:t>
            </a:r>
          </a:p>
        </p:txBody>
      </p:sp>
      <p:sp>
        <p:nvSpPr>
          <p:cNvPr id="15" name="Rounded Rectangle 14"/>
          <p:cNvSpPr/>
          <p:nvPr/>
        </p:nvSpPr>
        <p:spPr>
          <a:xfrm>
            <a:off x="6126480" y="1913636"/>
            <a:ext cx="803287"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Telemetry</a:t>
            </a:r>
          </a:p>
        </p:txBody>
      </p:sp>
      <p:cxnSp>
        <p:nvCxnSpPr>
          <p:cNvPr id="16" name="Connector 15"/>
          <p:cNvCxnSpPr/>
          <p:nvPr/>
        </p:nvCxnSpPr>
        <p:spPr>
          <a:xfrm>
            <a:off x="6929767"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5255" y="1913636"/>
            <a:ext cx="905321"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Hypothesis</a:t>
            </a:r>
          </a:p>
        </p:txBody>
      </p:sp>
      <p:cxnSp>
        <p:nvCxnSpPr>
          <p:cNvPr id="18" name="Connector 17"/>
          <p:cNvCxnSpPr/>
          <p:nvPr/>
        </p:nvCxnSpPr>
        <p:spPr>
          <a:xfrm>
            <a:off x="8310577"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786065" y="1913636"/>
            <a:ext cx="55284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Verify</a:t>
            </a:r>
          </a:p>
        </p:txBody>
      </p:sp>
      <p:cxnSp>
        <p:nvCxnSpPr>
          <p:cNvPr id="20" name="Connector 19"/>
          <p:cNvCxnSpPr/>
          <p:nvPr/>
        </p:nvCxnSpPr>
        <p:spPr>
          <a:xfrm>
            <a:off x="9338905"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14393" y="1913636"/>
            <a:ext cx="1341286"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Graph + diagnosis</a:t>
            </a:r>
          </a:p>
        </p:txBody>
      </p:sp>
      <p:sp>
        <p:nvSpPr>
          <p:cNvPr id="22" name="Rectangle 21"/>
          <p:cNvSpPr/>
          <p:nvPr/>
        </p:nvSpPr>
        <p:spPr>
          <a:xfrm>
            <a:off x="6126480" y="2828036"/>
            <a:ext cx="54864"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2828036"/>
            <a:ext cx="4837176" cy="425196"/>
          </a:xfrm>
          <a:prstGeom prst="rect">
            <a:avLst/>
          </a:prstGeom>
          <a:noFill/>
        </p:spPr>
        <p:txBody>
          <a:bodyPr wrap="square">
            <a:spAutoFit/>
          </a:bodyPr>
          <a:lstStyle/>
          <a:p>
            <a:pPr algn="l">
              <a:defRPr sz="1800" b="1" i="0">
                <a:solidFill>
                  <a:srgbClr val="7FA195"/>
                </a:solidFill>
                <a:latin typeface="Liberation Sans"/>
              </a:defRPr>
            </a:pPr>
            <a:r>
              <a:t>Target behavior</a:t>
            </a:r>
          </a:p>
        </p:txBody>
      </p:sp>
      <p:sp>
        <p:nvSpPr>
          <p:cNvPr id="24" name="TextBox 23"/>
          <p:cNvSpPr txBox="1"/>
          <p:nvPr/>
        </p:nvSpPr>
        <p:spPr>
          <a:xfrm>
            <a:off x="6318504" y="3344672"/>
            <a:ext cx="4837176" cy="590296"/>
          </a:xfrm>
          <a:prstGeom prst="rect">
            <a:avLst/>
          </a:prstGeom>
          <a:noFill/>
        </p:spPr>
        <p:txBody>
          <a:bodyPr wrap="square">
            <a:spAutoFit/>
          </a:bodyPr>
          <a:lstStyle/>
          <a:p>
            <a:pPr algn="l">
              <a:defRPr sz="1400" b="0" i="0">
                <a:solidFill>
                  <a:srgbClr val="223043"/>
                </a:solidFill>
                <a:latin typeface="Liberation Sans"/>
              </a:defRPr>
            </a:pPr>
            <a:r>
              <a:t>Build and check a causal loop so the answer and the reasoning are both inspectable.</a:t>
            </a:r>
          </a:p>
        </p:txBody>
      </p:sp>
      <p:sp>
        <p:nvSpPr>
          <p:cNvPr id="25" name="TextBox 24"/>
          <p:cNvSpPr txBox="1"/>
          <p:nvPr/>
        </p:nvSpPr>
        <p:spPr>
          <a:xfrm>
            <a:off x="731520" y="4190999"/>
            <a:ext cx="10728655" cy="425196"/>
          </a:xfrm>
          <a:prstGeom prst="rect">
            <a:avLst/>
          </a:prstGeom>
          <a:noFill/>
        </p:spPr>
        <p:txBody>
          <a:bodyPr wrap="square">
            <a:spAutoFit/>
          </a:bodyPr>
          <a:lstStyle/>
          <a:p>
            <a:pPr algn="l">
              <a:defRPr sz="1800" b="0" i="1">
                <a:solidFill>
                  <a:srgbClr val="647489"/>
                </a:solidFill>
                <a:latin typeface="Liberation Sans"/>
              </a:defRPr>
            </a:pPr>
            <a:r>
              <a:t>Black-box RCA predicts an answer. World-model RCA closes a causal loop.</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6"/>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7"/>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8"/>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0"/>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9"/>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20"/>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21"/>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22"/>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3"/>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25"/>
                            </p:tgtEl>
                            <p:attrNameLst>
                              <p:attrName>style.visibility</p:attrName>
                            </p:attrNameLst>
                          </p:cBhvr>
                          <p:to>
                            <p:strVal val="hidden"/>
                          </p:to>
                        </p:set>
                      </p:childTnLst>
                    </p:cTn>
                  </p:par>
                </p:childTnLst>
              </p:cTn>
            </p:par>
            <p:seq concurrent="1" nextAc="seek">
              <p:cTn id="34" dur="indefinite" nodeType="mainSeq">
                <p:childTnLst>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animEffect transition="in" filter="fade">
                                      <p:cBhvr>
                                        <p:cTn id="38" dur="500"/>
                                        <p:tgtEl>
                                          <p:spTgt spid="5"/>
                                        </p:tgtEl>
                                      </p:cBhvr>
                                    </p:animEffect>
                                    <p:set>
                                      <p:cBhvr>
                                        <p:cTn id="39" dur="1" fill="hold">
                                          <p:stCondLst>
                                            <p:cond delay="0"/>
                                          </p:stCondLst>
                                        </p:cTn>
                                        <p:tgtEl>
                                          <p:spTgt spid="5"/>
                                        </p:tgtEl>
                                        <p:attrNameLst>
                                          <p:attrName>style.visibility</p:attrName>
                                        </p:attrNameLst>
                                      </p:cBhvr>
                                      <p:to>
                                        <p:strVal val="visible"/>
                                      </p:to>
                                    </p:set>
                                  </p:childTnLst>
                                </p:cTn>
                              </p:par>
                              <p:par>
                                <p:cTn id="40" presetID="10" presetClass="entr" presetSubtype="0" fill="hold" grpId="0" nodeType="withEffect">
                                  <p:stCondLst>
                                    <p:cond delay="0"/>
                                  </p:stCondLst>
                                  <p:childTnLst>
                                    <p:animEffect transition="in" filter="fade">
                                      <p:cBhvr>
                                        <p:cTn id="41" dur="500"/>
                                        <p:tgtEl>
                                          <p:spTgt spid="6"/>
                                        </p:tgtEl>
                                      </p:cBhvr>
                                    </p:animEffect>
                                    <p:set>
                                      <p:cBhvr>
                                        <p:cTn id="42" dur="1" fill="hold">
                                          <p:stCondLst>
                                            <p:cond delay="0"/>
                                          </p:stCondLst>
                                        </p:cTn>
                                        <p:tgtEl>
                                          <p:spTgt spid="6"/>
                                        </p:tgtEl>
                                        <p:attrNameLst>
                                          <p:attrName>style.visibility</p:attrName>
                                        </p:attrNameLst>
                                      </p:cBhvr>
                                      <p:to>
                                        <p:strVal val="visible"/>
                                      </p:to>
                                    </p:set>
                                  </p:childTnLst>
                                </p:cTn>
                              </p:par>
                              <p:par>
                                <p:cTn id="43" presetID="10" presetClass="entr" presetSubtype="0" fill="hold" grpId="0" nodeType="withEffect">
                                  <p:stCondLst>
                                    <p:cond delay="0"/>
                                  </p:stCondLst>
                                  <p:childTnLst>
                                    <p:animEffect transition="in" filter="fade">
                                      <p:cBhvr>
                                        <p:cTn id="44" dur="500"/>
                                        <p:tgtEl>
                                          <p:spTgt spid="7"/>
                                        </p:tgtEl>
                                      </p:cBhvr>
                                    </p:animEffect>
                                    <p:set>
                                      <p:cBhvr>
                                        <p:cTn id="45" dur="1" fill="hold">
                                          <p:stCondLst>
                                            <p:cond delay="0"/>
                                          </p:stCondLst>
                                        </p:cTn>
                                        <p:tgtEl>
                                          <p:spTgt spid="7"/>
                                        </p:tgtEl>
                                        <p:attrNameLst>
                                          <p:attrName>style.visibility</p:attrName>
                                        </p:attrNameLst>
                                      </p:cBhvr>
                                      <p:to>
                                        <p:strVal val="visible"/>
                                      </p:to>
                                    </p:set>
                                  </p:childTnLst>
                                </p:cTn>
                              </p:par>
                              <p:par>
                                <p:cTn id="46" presetID="10" presetClass="entr" presetSubtype="0" fill="hold" grpId="0" nodeType="withEffect">
                                  <p:stCondLst>
                                    <p:cond delay="0"/>
                                  </p:stCondLst>
                                  <p:childTnLst>
                                    <p:animEffect transition="in" filter="fade">
                                      <p:cBhvr>
                                        <p:cTn id="47" dur="500"/>
                                        <p:tgtEl>
                                          <p:spTgt spid="8"/>
                                        </p:tgtEl>
                                      </p:cBhvr>
                                    </p:animEffect>
                                    <p:set>
                                      <p:cBhvr>
                                        <p:cTn id="48" dur="1" fill="hold">
                                          <p:stCondLst>
                                            <p:cond delay="0"/>
                                          </p:stCondLst>
                                        </p:cTn>
                                        <p:tgtEl>
                                          <p:spTgt spid="8"/>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9"/>
                                        </p:tgtEl>
                                      </p:cBhvr>
                                    </p:animEffect>
                                    <p:set>
                                      <p:cBhvr>
                                        <p:cTn id="51" dur="1" fill="hold">
                                          <p:stCondLst>
                                            <p:cond delay="0"/>
                                          </p:stCondLst>
                                        </p:cTn>
                                        <p:tgtEl>
                                          <p:spTgt spid="9"/>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0"/>
                                        </p:tgtEl>
                                      </p:cBhvr>
                                    </p:animEffect>
                                    <p:set>
                                      <p:cBhvr>
                                        <p:cTn id="54" dur="1" fill="hold">
                                          <p:stCondLst>
                                            <p:cond delay="0"/>
                                          </p:stCondLst>
                                        </p:cTn>
                                        <p:tgtEl>
                                          <p:spTgt spid="10"/>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1"/>
                                        </p:tgtEl>
                                      </p:cBhvr>
                                    </p:animEffect>
                                    <p:set>
                                      <p:cBhvr>
                                        <p:cTn id="57" dur="1" fill="hold">
                                          <p:stCondLst>
                                            <p:cond delay="0"/>
                                          </p:stCondLst>
                                        </p:cTn>
                                        <p:tgtEl>
                                          <p:spTgt spid="11"/>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2"/>
                                        </p:tgtEl>
                                      </p:cBhvr>
                                    </p:animEffect>
                                    <p:set>
                                      <p:cBhvr>
                                        <p:cTn id="60" dur="1" fill="hold">
                                          <p:stCondLst>
                                            <p:cond delay="0"/>
                                          </p:stCondLst>
                                        </p:cTn>
                                        <p:tgtEl>
                                          <p:spTgt spid="12"/>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3"/>
                                        </p:tgtEl>
                                      </p:cBhvr>
                                    </p:animEffect>
                                    <p:set>
                                      <p:cBhvr>
                                        <p:cTn id="63" dur="1" fill="hold">
                                          <p:stCondLst>
                                            <p:cond delay="0"/>
                                          </p:stCondLst>
                                        </p:cTn>
                                        <p:tgtEl>
                                          <p:spTgt spid="1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animEffect transition="in" filter="fade">
                                      <p:cBhvr>
                                        <p:cTn id="67" dur="500"/>
                                        <p:tgtEl>
                                          <p:spTgt spid="14"/>
                                        </p:tgtEl>
                                      </p:cBhvr>
                                    </p:animEffect>
                                    <p:set>
                                      <p:cBhvr>
                                        <p:cTn id="68" dur="1" fill="hold">
                                          <p:stCondLst>
                                            <p:cond delay="0"/>
                                          </p:stCondLst>
                                        </p:cTn>
                                        <p:tgtEl>
                                          <p:spTgt spid="14"/>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6"/>
                                        </p:tgtEl>
                                      </p:cBhvr>
                                    </p:animEffect>
                                    <p:set>
                                      <p:cBhvr>
                                        <p:cTn id="71" dur="1" fill="hold">
                                          <p:stCondLst>
                                            <p:cond delay="0"/>
                                          </p:stCondLst>
                                        </p:cTn>
                                        <p:tgtEl>
                                          <p:spTgt spid="6"/>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5"/>
                                        </p:tgtEl>
                                      </p:cBhvr>
                                    </p:animEffect>
                                    <p:set>
                                      <p:cBhvr>
                                        <p:cTn id="74" dur="1" fill="hold">
                                          <p:stCondLst>
                                            <p:cond delay="0"/>
                                          </p:stCondLst>
                                        </p:cTn>
                                        <p:tgtEl>
                                          <p:spTgt spid="15"/>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16"/>
                                        </p:tgtEl>
                                      </p:cBhvr>
                                    </p:animEffect>
                                    <p:set>
                                      <p:cBhvr>
                                        <p:cTn id="77" dur="1" fill="hold">
                                          <p:stCondLst>
                                            <p:cond delay="0"/>
                                          </p:stCondLst>
                                        </p:cTn>
                                        <p:tgtEl>
                                          <p:spTgt spid="16"/>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8"/>
                                        </p:tgtEl>
                                      </p:cBhvr>
                                    </p:animEffect>
                                    <p:set>
                                      <p:cBhvr>
                                        <p:cTn id="80" dur="1" fill="hold">
                                          <p:stCondLst>
                                            <p:cond delay="0"/>
                                          </p:stCondLst>
                                        </p:cTn>
                                        <p:tgtEl>
                                          <p:spTgt spid="8"/>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7"/>
                                        </p:tgtEl>
                                      </p:cBhvr>
                                    </p:animEffect>
                                    <p:set>
                                      <p:cBhvr>
                                        <p:cTn id="83" dur="1" fill="hold">
                                          <p:stCondLst>
                                            <p:cond delay="0"/>
                                          </p:stCondLst>
                                        </p:cTn>
                                        <p:tgtEl>
                                          <p:spTgt spid="17"/>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8"/>
                                        </p:tgtEl>
                                      </p:cBhvr>
                                    </p:animEffect>
                                    <p:set>
                                      <p:cBhvr>
                                        <p:cTn id="86" dur="1" fill="hold">
                                          <p:stCondLst>
                                            <p:cond delay="0"/>
                                          </p:stCondLst>
                                        </p:cTn>
                                        <p:tgtEl>
                                          <p:spTgt spid="18"/>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0"/>
                                        </p:tgtEl>
                                      </p:cBhvr>
                                    </p:animEffect>
                                    <p:set>
                                      <p:cBhvr>
                                        <p:cTn id="89" dur="1" fill="hold">
                                          <p:stCondLst>
                                            <p:cond delay="0"/>
                                          </p:stCondLst>
                                        </p:cTn>
                                        <p:tgtEl>
                                          <p:spTgt spid="10"/>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9"/>
                                        </p:tgtEl>
                                      </p:cBhvr>
                                    </p:animEffect>
                                    <p:set>
                                      <p:cBhvr>
                                        <p:cTn id="92" dur="1" fill="hold">
                                          <p:stCondLst>
                                            <p:cond delay="0"/>
                                          </p:stCondLst>
                                        </p:cTn>
                                        <p:tgtEl>
                                          <p:spTgt spid="19"/>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0"/>
                                        </p:tgtEl>
                                      </p:cBhvr>
                                    </p:animEffect>
                                    <p:set>
                                      <p:cBhvr>
                                        <p:cTn id="95" dur="1" fill="hold">
                                          <p:stCondLst>
                                            <p:cond delay="0"/>
                                          </p:stCondLst>
                                        </p:cTn>
                                        <p:tgtEl>
                                          <p:spTgt spid="20"/>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21"/>
                                        </p:tgtEl>
                                      </p:cBhvr>
                                    </p:animEffect>
                                    <p:set>
                                      <p:cBhvr>
                                        <p:cTn id="98" dur="1" fill="hold">
                                          <p:stCondLst>
                                            <p:cond delay="0"/>
                                          </p:stCondLst>
                                        </p:cTn>
                                        <p:tgtEl>
                                          <p:spTgt spid="21"/>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22"/>
                                        </p:tgtEl>
                                      </p:cBhvr>
                                    </p:animEffect>
                                    <p:set>
                                      <p:cBhvr>
                                        <p:cTn id="101" dur="1" fill="hold">
                                          <p:stCondLst>
                                            <p:cond delay="0"/>
                                          </p:stCondLst>
                                        </p:cTn>
                                        <p:tgtEl>
                                          <p:spTgt spid="22"/>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23"/>
                                        </p:tgtEl>
                                      </p:cBhvr>
                                    </p:animEffect>
                                    <p:set>
                                      <p:cBhvr>
                                        <p:cTn id="104" dur="1" fill="hold">
                                          <p:stCondLst>
                                            <p:cond delay="0"/>
                                          </p:stCondLst>
                                        </p:cTn>
                                        <p:tgtEl>
                                          <p:spTgt spid="23"/>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24"/>
                                        </p:tgtEl>
                                      </p:cBhvr>
                                    </p:animEffect>
                                    <p:set>
                                      <p:cBhvr>
                                        <p:cTn id="107" dur="1" fill="hold">
                                          <p:stCondLst>
                                            <p:cond delay="0"/>
                                          </p:stCondLst>
                                        </p:cTn>
                                        <p:tgtEl>
                                          <p:spTgt spid="24"/>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grpId="0" nodeType="clickEffect">
                                  <p:stCondLst>
                                    <p:cond delay="0"/>
                                  </p:stCondLst>
                                  <p:childTnLst>
                                    <p:animEffect transition="in" filter="fade">
                                      <p:cBhvr>
                                        <p:cTn id="111" dur="500"/>
                                        <p:tgtEl>
                                          <p:spTgt spid="25"/>
                                        </p:tgtEl>
                                      </p:cBhvr>
                                    </p:animEffect>
                                    <p:set>
                                      <p:cBhvr>
                                        <p:cTn id="11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1: Atomic Faults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ectangle 4"/>
          <p:cNvSpPr/>
          <p:nvPr/>
        </p:nvSpPr>
        <p:spPr>
          <a:xfrm>
            <a:off x="731520" y="1371600"/>
            <a:ext cx="54864" cy="87579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371600"/>
            <a:ext cx="10536631" cy="425196"/>
          </a:xfrm>
          <a:prstGeom prst="rect">
            <a:avLst/>
          </a:prstGeom>
          <a:noFill/>
        </p:spPr>
        <p:txBody>
          <a:bodyPr wrap="square">
            <a:spAutoFit/>
          </a:bodyPr>
          <a:lstStyle/>
          <a:p>
            <a:pPr algn="l">
              <a:defRPr sz="1800" b="1" i="0">
                <a:solidFill>
                  <a:srgbClr val="8FAAC8"/>
                </a:solidFill>
                <a:latin typeface="Liberation Sans"/>
              </a:defRPr>
            </a:pPr>
            <a:r>
              <a:t>Atomic premise</a:t>
            </a:r>
          </a:p>
        </p:txBody>
      </p:sp>
      <p:sp>
        <p:nvSpPr>
          <p:cNvPr id="7" name="TextBox 6"/>
          <p:cNvSpPr txBox="1"/>
          <p:nvPr/>
        </p:nvSpPr>
        <p:spPr>
          <a:xfrm>
            <a:off x="923544" y="1888236"/>
            <a:ext cx="10536631" cy="359156"/>
          </a:xfrm>
          <a:prstGeom prst="rect">
            <a:avLst/>
          </a:prstGeom>
          <a:noFill/>
        </p:spPr>
        <p:txBody>
          <a:bodyPr wrap="square">
            <a:spAutoFit/>
          </a:bodyPr>
          <a:lstStyle/>
          <a:p>
            <a:pPr algn="l">
              <a:defRPr sz="1400" b="0" i="0">
                <a:solidFill>
                  <a:srgbClr val="223043"/>
                </a:solidFill>
                <a:latin typeface="Liberation Sans"/>
              </a:defRPr>
            </a:pPr>
            <a:r>
              <a:t>Reason in terms of finite atomic fault types, then study how they compose into larger incidents.</a:t>
            </a:r>
          </a:p>
        </p:txBody>
      </p:sp>
      <p:sp>
        <p:nvSpPr>
          <p:cNvPr id="8" name="Rounded Rectangle 7"/>
          <p:cNvSpPr/>
          <p:nvPr/>
        </p:nvSpPr>
        <p:spPr>
          <a:xfrm>
            <a:off x="731520" y="2466848"/>
            <a:ext cx="75692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Finite</a:t>
            </a:r>
          </a:p>
        </p:txBody>
      </p:sp>
      <p:cxnSp>
        <p:nvCxnSpPr>
          <p:cNvPr id="9" name="Connector 8"/>
          <p:cNvCxnSpPr/>
          <p:nvPr/>
        </p:nvCxnSpPr>
        <p:spPr>
          <a:xfrm>
            <a:off x="1488440" y="2841752"/>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963928" y="2466848"/>
            <a:ext cx="104902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Bounded</a:t>
            </a:r>
          </a:p>
        </p:txBody>
      </p:sp>
      <p:cxnSp>
        <p:nvCxnSpPr>
          <p:cNvPr id="11" name="Connector 10"/>
          <p:cNvCxnSpPr/>
          <p:nvPr/>
        </p:nvCxnSpPr>
        <p:spPr>
          <a:xfrm>
            <a:off x="3012948" y="2841752"/>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88436" y="2466848"/>
            <a:ext cx="134112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Composable</a:t>
            </a:r>
          </a:p>
        </p:txBody>
      </p:sp>
      <p:sp>
        <p:nvSpPr>
          <p:cNvPr id="13" name="Rounded Rectangle 12"/>
          <p:cNvSpPr/>
          <p:nvPr/>
        </p:nvSpPr>
        <p:spPr>
          <a:xfrm>
            <a:off x="731520"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CPU stress</a:t>
            </a:r>
          </a:p>
        </p:txBody>
      </p:sp>
      <p:sp>
        <p:nvSpPr>
          <p:cNvPr id="14" name="Rounded Rectangle 13"/>
          <p:cNvSpPr/>
          <p:nvPr/>
        </p:nvSpPr>
        <p:spPr>
          <a:xfrm>
            <a:off x="4356506"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Memory leak</a:t>
            </a:r>
          </a:p>
        </p:txBody>
      </p:sp>
      <p:sp>
        <p:nvSpPr>
          <p:cNvPr id="15" name="Rounded Rectangle 14"/>
          <p:cNvSpPr/>
          <p:nvPr/>
        </p:nvSpPr>
        <p:spPr>
          <a:xfrm>
            <a:off x="7981492" y="3436112"/>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Packet loss</a:t>
            </a:r>
          </a:p>
        </p:txBody>
      </p:sp>
      <p:sp>
        <p:nvSpPr>
          <p:cNvPr id="16" name="Rounded Rectangle 15"/>
          <p:cNvSpPr/>
          <p:nvPr/>
        </p:nvSpPr>
        <p:spPr>
          <a:xfrm>
            <a:off x="731520"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Delay spike</a:t>
            </a:r>
          </a:p>
        </p:txBody>
      </p:sp>
      <p:sp>
        <p:nvSpPr>
          <p:cNvPr id="17" name="Rounded Rectangle 16"/>
          <p:cNvSpPr/>
          <p:nvPr/>
        </p:nvSpPr>
        <p:spPr>
          <a:xfrm>
            <a:off x="4356506"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Config drift</a:t>
            </a:r>
          </a:p>
        </p:txBody>
      </p:sp>
      <p:sp>
        <p:nvSpPr>
          <p:cNvPr id="18" name="Rounded Rectangle 17"/>
          <p:cNvSpPr/>
          <p:nvPr/>
        </p:nvSpPr>
        <p:spPr>
          <a:xfrm>
            <a:off x="7981492" y="4295648"/>
            <a:ext cx="3478682" cy="713232"/>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Code regression</a:t>
            </a:r>
          </a:p>
        </p:txBody>
      </p:sp>
      <p:sp>
        <p:nvSpPr>
          <p:cNvPr id="19" name="TextBox 18"/>
          <p:cNvSpPr txBox="1"/>
          <p:nvPr/>
        </p:nvSpPr>
        <p:spPr>
          <a:xfrm>
            <a:off x="731520" y="5228336"/>
            <a:ext cx="10728655" cy="722376"/>
          </a:xfrm>
          <a:prstGeom prst="rect">
            <a:avLst/>
          </a:prstGeom>
          <a:noFill/>
        </p:spPr>
        <p:txBody>
          <a:bodyPr wrap="square">
            <a:spAutoFit/>
          </a:bodyPr>
          <a:lstStyle/>
          <a:p>
            <a:pPr algn="l">
              <a:defRPr sz="1800" b="0" i="1">
                <a:solidFill>
                  <a:srgbClr val="647489"/>
                </a:solidFill>
                <a:latin typeface="Liberation Sans"/>
              </a:defRPr>
            </a:pPr>
            <a:r>
              <a:t>Large incidents are combinations of local faults, not an unbounded alphabet of new failure modes.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9"/>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0"/>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1"/>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2"/>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3"/>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4"/>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5"/>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9"/>
                            </p:tgtEl>
                            <p:attrNameLst>
                              <p:attrName>style.visibility</p:attrName>
                            </p:attrNameLst>
                          </p:cBhvr>
                          <p:to>
                            <p:strVal val="hidden"/>
                          </p:to>
                        </p:set>
                      </p:childTnLst>
                    </p:cTn>
                  </p:par>
                </p:childTnLst>
              </p:cTn>
            </p:par>
            <p:seq concurrent="1" nextAc="seek">
              <p:cTn id="32" dur="indefinite" nodeType="mainSeq">
                <p:childTnLst>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animEffect transition="in" filter="fade">
                                      <p:cBhvr>
                                        <p:cTn id="36" dur="500"/>
                                        <p:tgtEl>
                                          <p:spTgt spid="5"/>
                                        </p:tgtEl>
                                      </p:cBhvr>
                                    </p:animEffect>
                                    <p:set>
                                      <p:cBhvr>
                                        <p:cTn id="37" dur="1" fill="hold">
                                          <p:stCondLst>
                                            <p:cond delay="0"/>
                                          </p:stCondLst>
                                        </p:cTn>
                                        <p:tgtEl>
                                          <p:spTgt spid="5"/>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6"/>
                                        </p:tgtEl>
                                      </p:cBhvr>
                                    </p:animEffect>
                                    <p:set>
                                      <p:cBhvr>
                                        <p:cTn id="40" dur="1" fill="hold">
                                          <p:stCondLst>
                                            <p:cond delay="0"/>
                                          </p:stCondLst>
                                        </p:cTn>
                                        <p:tgtEl>
                                          <p:spTgt spid="6"/>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7"/>
                                        </p:tgtEl>
                                      </p:cBhvr>
                                    </p:animEffect>
                                    <p:set>
                                      <p:cBhvr>
                                        <p:cTn id="43" dur="1" fill="hold">
                                          <p:stCondLst>
                                            <p:cond delay="0"/>
                                          </p:stCondLst>
                                        </p:cTn>
                                        <p:tgtEl>
                                          <p:spTgt spid="7"/>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animEffect transition="in" filter="fade">
                                      <p:cBhvr>
                                        <p:cTn id="47" dur="500"/>
                                        <p:tgtEl>
                                          <p:spTgt spid="8"/>
                                        </p:tgtEl>
                                      </p:cBhvr>
                                    </p:animEffect>
                                    <p:set>
                                      <p:cBhvr>
                                        <p:cTn id="48" dur="1" fill="hold">
                                          <p:stCondLst>
                                            <p:cond delay="0"/>
                                          </p:stCondLst>
                                        </p:cTn>
                                        <p:tgtEl>
                                          <p:spTgt spid="8"/>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6"/>
                                        </p:tgtEl>
                                      </p:cBhvr>
                                    </p:animEffect>
                                    <p:set>
                                      <p:cBhvr>
                                        <p:cTn id="51" dur="1" fill="hold">
                                          <p:stCondLst>
                                            <p:cond delay="0"/>
                                          </p:stCondLst>
                                        </p:cTn>
                                        <p:tgtEl>
                                          <p:spTgt spid="6"/>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9"/>
                                        </p:tgtEl>
                                      </p:cBhvr>
                                    </p:animEffect>
                                    <p:set>
                                      <p:cBhvr>
                                        <p:cTn id="54" dur="1" fill="hold">
                                          <p:stCondLst>
                                            <p:cond delay="0"/>
                                          </p:stCondLst>
                                        </p:cTn>
                                        <p:tgtEl>
                                          <p:spTgt spid="9"/>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0"/>
                                        </p:tgtEl>
                                      </p:cBhvr>
                                    </p:animEffect>
                                    <p:set>
                                      <p:cBhvr>
                                        <p:cTn id="57" dur="1" fill="hold">
                                          <p:stCondLst>
                                            <p:cond delay="0"/>
                                          </p:stCondLst>
                                        </p:cTn>
                                        <p:tgtEl>
                                          <p:spTgt spid="10"/>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7"/>
                                        </p:tgtEl>
                                      </p:cBhvr>
                                    </p:animEffect>
                                    <p:set>
                                      <p:cBhvr>
                                        <p:cTn id="60" dur="1" fill="hold">
                                          <p:stCondLst>
                                            <p:cond delay="0"/>
                                          </p:stCondLst>
                                        </p:cTn>
                                        <p:tgtEl>
                                          <p:spTgt spid="7"/>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1"/>
                                        </p:tgtEl>
                                      </p:cBhvr>
                                    </p:animEffect>
                                    <p:set>
                                      <p:cBhvr>
                                        <p:cTn id="63" dur="1" fill="hold">
                                          <p:stCondLst>
                                            <p:cond delay="0"/>
                                          </p:stCondLst>
                                        </p:cTn>
                                        <p:tgtEl>
                                          <p:spTgt spid="11"/>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2"/>
                                        </p:tgtEl>
                                      </p:cBhvr>
                                    </p:animEffect>
                                    <p:set>
                                      <p:cBhvr>
                                        <p:cTn id="66" dur="1" fill="hold">
                                          <p:stCondLst>
                                            <p:cond delay="0"/>
                                          </p:stCondLst>
                                        </p:cTn>
                                        <p:tgtEl>
                                          <p:spTgt spid="12"/>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3"/>
                                        </p:tgtEl>
                                      </p:cBhvr>
                                    </p:animEffect>
                                    <p:set>
                                      <p:cBhvr>
                                        <p:cTn id="69" dur="1" fill="hold">
                                          <p:stCondLst>
                                            <p:cond delay="0"/>
                                          </p:stCondLst>
                                        </p:cTn>
                                        <p:tgtEl>
                                          <p:spTgt spid="13"/>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4"/>
                                        </p:tgtEl>
                                      </p:cBhvr>
                                    </p:animEffect>
                                    <p:set>
                                      <p:cBhvr>
                                        <p:cTn id="72" dur="1" fill="hold">
                                          <p:stCondLst>
                                            <p:cond delay="0"/>
                                          </p:stCondLst>
                                        </p:cTn>
                                        <p:tgtEl>
                                          <p:spTgt spid="14"/>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5"/>
                                        </p:tgtEl>
                                      </p:cBhvr>
                                    </p:animEffect>
                                    <p:set>
                                      <p:cBhvr>
                                        <p:cTn id="75" dur="1" fill="hold">
                                          <p:stCondLst>
                                            <p:cond delay="0"/>
                                          </p:stCondLst>
                                        </p:cTn>
                                        <p:tgtEl>
                                          <p:spTgt spid="15"/>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6"/>
                                        </p:tgtEl>
                                      </p:cBhvr>
                                    </p:animEffect>
                                    <p:set>
                                      <p:cBhvr>
                                        <p:cTn id="78" dur="1" fill="hold">
                                          <p:stCondLst>
                                            <p:cond delay="0"/>
                                          </p:stCondLst>
                                        </p:cTn>
                                        <p:tgtEl>
                                          <p:spTgt spid="16"/>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7"/>
                                        </p:tgtEl>
                                      </p:cBhvr>
                                    </p:animEffect>
                                    <p:set>
                                      <p:cBhvr>
                                        <p:cTn id="81" dur="1" fill="hold">
                                          <p:stCondLst>
                                            <p:cond delay="0"/>
                                          </p:stCondLst>
                                        </p:cTn>
                                        <p:tgtEl>
                                          <p:spTgt spid="17"/>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8"/>
                                        </p:tgtEl>
                                      </p:cBhvr>
                                    </p:animEffect>
                                    <p:set>
                                      <p:cBhvr>
                                        <p:cTn id="84" dur="1" fill="hold">
                                          <p:stCondLst>
                                            <p:cond delay="0"/>
                                          </p:stCondLst>
                                        </p:cTn>
                                        <p:tgtEl>
                                          <p:spTgt spid="18"/>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2: Simulatable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1480820" cy="91440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injection</a:t>
            </a:r>
          </a:p>
        </p:txBody>
      </p:sp>
      <p:cxnSp>
        <p:nvCxnSpPr>
          <p:cNvPr id="6" name="Connector 5"/>
          <p:cNvCxnSpPr/>
          <p:nvPr/>
        </p:nvCxnSpPr>
        <p:spPr>
          <a:xfrm>
            <a:off x="2212340" y="1828800"/>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687828" y="1371600"/>
            <a:ext cx="1849120" cy="91440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Dynamic workload</a:t>
            </a:r>
          </a:p>
        </p:txBody>
      </p:sp>
      <p:cxnSp>
        <p:nvCxnSpPr>
          <p:cNvPr id="8" name="Connector 7"/>
          <p:cNvCxnSpPr/>
          <p:nvPr/>
        </p:nvCxnSpPr>
        <p:spPr>
          <a:xfrm>
            <a:off x="4536948" y="1828800"/>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12436" y="1371600"/>
            <a:ext cx="1404620" cy="91440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Observability</a:t>
            </a:r>
          </a:p>
        </p:txBody>
      </p:sp>
      <p:cxnSp>
        <p:nvCxnSpPr>
          <p:cNvPr id="10" name="Connector 9"/>
          <p:cNvCxnSpPr/>
          <p:nvPr/>
        </p:nvCxnSpPr>
        <p:spPr>
          <a:xfrm>
            <a:off x="6417056" y="1828800"/>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892544" y="1371600"/>
            <a:ext cx="1595120" cy="91440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Validated cases</a:t>
            </a:r>
          </a:p>
        </p:txBody>
      </p:sp>
      <p:sp>
        <p:nvSpPr>
          <p:cNvPr id="12" name="Rectangle 11"/>
          <p:cNvSpPr/>
          <p:nvPr/>
        </p:nvSpPr>
        <p:spPr>
          <a:xfrm>
            <a:off x="731520" y="2542032"/>
            <a:ext cx="54864" cy="133807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542032"/>
            <a:ext cx="3274466" cy="425196"/>
          </a:xfrm>
          <a:prstGeom prst="rect">
            <a:avLst/>
          </a:prstGeom>
          <a:noFill/>
        </p:spPr>
        <p:txBody>
          <a:bodyPr wrap="square">
            <a:spAutoFit/>
          </a:bodyPr>
          <a:lstStyle/>
          <a:p>
            <a:pPr algn="l">
              <a:defRPr sz="1800" b="1" i="0">
                <a:solidFill>
                  <a:srgbClr val="8FAAC8"/>
                </a:solidFill>
                <a:latin typeface="Liberation Sans"/>
              </a:defRPr>
            </a:pPr>
            <a:r>
              <a:t>Replayable</a:t>
            </a:r>
          </a:p>
        </p:txBody>
      </p:sp>
      <p:sp>
        <p:nvSpPr>
          <p:cNvPr id="14" name="TextBox 13"/>
          <p:cNvSpPr txBox="1"/>
          <p:nvPr/>
        </p:nvSpPr>
        <p:spPr>
          <a:xfrm>
            <a:off x="923544" y="3058668"/>
            <a:ext cx="3274466" cy="821436"/>
          </a:xfrm>
          <a:prstGeom prst="rect">
            <a:avLst/>
          </a:prstGeom>
          <a:noFill/>
        </p:spPr>
        <p:txBody>
          <a:bodyPr wrap="square">
            <a:spAutoFit/>
          </a:bodyPr>
          <a:lstStyle/>
          <a:p>
            <a:pPr algn="l">
              <a:defRPr sz="1400" b="0" i="0">
                <a:solidFill>
                  <a:srgbClr val="223043"/>
                </a:solidFill>
                <a:latin typeface="Liberation Sans"/>
              </a:defRPr>
            </a:pPr>
            <a:r>
              <a:t>Known interventions make the incident generation process reproducible.</a:t>
            </a:r>
          </a:p>
        </p:txBody>
      </p:sp>
      <p:sp>
        <p:nvSpPr>
          <p:cNvPr id="15" name="Rectangle 14"/>
          <p:cNvSpPr/>
          <p:nvPr/>
        </p:nvSpPr>
        <p:spPr>
          <a:xfrm>
            <a:off x="4362602" y="2542032"/>
            <a:ext cx="54864" cy="133807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4626" y="2542032"/>
            <a:ext cx="3274466" cy="425196"/>
          </a:xfrm>
          <a:prstGeom prst="rect">
            <a:avLst/>
          </a:prstGeom>
          <a:noFill/>
        </p:spPr>
        <p:txBody>
          <a:bodyPr wrap="square">
            <a:spAutoFit/>
          </a:bodyPr>
          <a:lstStyle/>
          <a:p>
            <a:pPr algn="l">
              <a:defRPr sz="1800" b="1" i="0">
                <a:solidFill>
                  <a:srgbClr val="7FA195"/>
                </a:solidFill>
                <a:latin typeface="Liberation Sans"/>
              </a:defRPr>
            </a:pPr>
            <a:r>
              <a:t>Operationally relevant</a:t>
            </a:r>
          </a:p>
        </p:txBody>
      </p:sp>
      <p:sp>
        <p:nvSpPr>
          <p:cNvPr id="17" name="TextBox 16"/>
          <p:cNvSpPr txBox="1"/>
          <p:nvPr/>
        </p:nvSpPr>
        <p:spPr>
          <a:xfrm>
            <a:off x="4554626" y="3058668"/>
            <a:ext cx="3274466" cy="590296"/>
          </a:xfrm>
          <a:prstGeom prst="rect">
            <a:avLst/>
          </a:prstGeom>
          <a:noFill/>
        </p:spPr>
        <p:txBody>
          <a:bodyPr wrap="square">
            <a:spAutoFit/>
          </a:bodyPr>
          <a:lstStyle/>
          <a:p>
            <a:pPr algn="l">
              <a:defRPr sz="1400" b="0" i="0">
                <a:solidFill>
                  <a:srgbClr val="223043"/>
                </a:solidFill>
                <a:latin typeface="Liberation Sans"/>
              </a:defRPr>
            </a:pPr>
            <a:r>
              <a:t>Keep only failures that produce observable user-facing impact.</a:t>
            </a:r>
          </a:p>
        </p:txBody>
      </p:sp>
      <p:sp>
        <p:nvSpPr>
          <p:cNvPr id="18" name="Rectangle 17"/>
          <p:cNvSpPr/>
          <p:nvPr/>
        </p:nvSpPr>
        <p:spPr>
          <a:xfrm>
            <a:off x="7993684" y="2542032"/>
            <a:ext cx="54864" cy="133807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5708" y="2542032"/>
            <a:ext cx="3274466" cy="425196"/>
          </a:xfrm>
          <a:prstGeom prst="rect">
            <a:avLst/>
          </a:prstGeom>
          <a:noFill/>
        </p:spPr>
        <p:txBody>
          <a:bodyPr wrap="square">
            <a:spAutoFit/>
          </a:bodyPr>
          <a:lstStyle/>
          <a:p>
            <a:pPr algn="l">
              <a:defRPr sz="1800" b="1" i="0">
                <a:solidFill>
                  <a:srgbClr val="D69A68"/>
                </a:solidFill>
                <a:latin typeface="Liberation Sans"/>
              </a:defRPr>
            </a:pPr>
            <a:r>
              <a:t>Causal evidence</a:t>
            </a:r>
          </a:p>
        </p:txBody>
      </p:sp>
      <p:sp>
        <p:nvSpPr>
          <p:cNvPr id="20" name="TextBox 19"/>
          <p:cNvSpPr txBox="1"/>
          <p:nvPr/>
        </p:nvSpPr>
        <p:spPr>
          <a:xfrm>
            <a:off x="8185708" y="3058668"/>
            <a:ext cx="3274466" cy="821436"/>
          </a:xfrm>
          <a:prstGeom prst="rect">
            <a:avLst/>
          </a:prstGeom>
          <a:noFill/>
        </p:spPr>
        <p:txBody>
          <a:bodyPr wrap="square">
            <a:spAutoFit/>
          </a:bodyPr>
          <a:lstStyle/>
          <a:p>
            <a:pPr algn="l">
              <a:defRPr sz="1400" b="0" i="0">
                <a:solidFill>
                  <a:srgbClr val="223043"/>
                </a:solidFill>
                <a:latin typeface="Liberation Sans"/>
              </a:defRPr>
            </a:pPr>
            <a:r>
              <a:t>The intervention gives a concrete starting point for tracing propagation.</a:t>
            </a:r>
          </a:p>
        </p:txBody>
      </p:sp>
      <p:sp>
        <p:nvSpPr>
          <p:cNvPr id="21" name="TextBox 20"/>
          <p:cNvSpPr txBox="1"/>
          <p:nvPr/>
        </p:nvSpPr>
        <p:spPr>
          <a:xfrm>
            <a:off x="731520" y="4136136"/>
            <a:ext cx="10728655" cy="722376"/>
          </a:xfrm>
          <a:prstGeom prst="rect">
            <a:avLst/>
          </a:prstGeom>
          <a:noFill/>
        </p:spPr>
        <p:txBody>
          <a:bodyPr wrap="square">
            <a:spAutoFit/>
          </a:bodyPr>
          <a:lstStyle/>
          <a:p>
            <a:pPr algn="l">
              <a:defRPr sz="1800" b="0" i="1">
                <a:solidFill>
                  <a:srgbClr val="647489"/>
                </a:solidFill>
                <a:latin typeface="Liberation Sans"/>
              </a:defRPr>
            </a:pPr>
            <a:r>
              <a:t>Simulation turns RCA data collection from passive observation into controlled causal experimentation.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2"/>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4"/>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5"/>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3"/>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5"/>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8"/>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6"/>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3"/>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6"/>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9"/>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8"/>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4"/>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7"/>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20"/>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21"/>
                            </p:tgtEl>
                            <p:attrNameLst>
                              <p:attrName>style.visibility</p:attrName>
                            </p:attrNameLst>
                          </p:cBhvr>
                          <p:to>
                            <p:strVal val="hidden"/>
                          </p:to>
                        </p:set>
                      </p:childTnLst>
                    </p:cTn>
                  </p:par>
                </p:childTnLst>
              </p:cTn>
            </p:par>
            <p:seq concurrent="1" nextAc="seek">
              <p:cTn id="50" dur="indefinite" nodeType="mainSeq">
                <p:childTnLst>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animEffect transition="in" filter="fade">
                                      <p:cBhvr>
                                        <p:cTn id="54" dur="500"/>
                                        <p:tgtEl>
                                          <p:spTgt spid="5"/>
                                        </p:tgtEl>
                                      </p:cBhvr>
                                    </p:animEffect>
                                    <p:set>
                                      <p:cBhvr>
                                        <p:cTn id="55" dur="1" fill="hold">
                                          <p:stCondLst>
                                            <p:cond delay="0"/>
                                          </p:stCondLst>
                                        </p:cTn>
                                        <p:tgtEl>
                                          <p:spTgt spid="5"/>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6"/>
                                        </p:tgtEl>
                                      </p:cBhvr>
                                    </p:animEffect>
                                    <p:set>
                                      <p:cBhvr>
                                        <p:cTn id="58" dur="1" fill="hold">
                                          <p:stCondLst>
                                            <p:cond delay="0"/>
                                          </p:stCondLst>
                                        </p:cTn>
                                        <p:tgtEl>
                                          <p:spTgt spid="6"/>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8"/>
                                        </p:tgtEl>
                                      </p:cBhvr>
                                    </p:animEffect>
                                    <p:set>
                                      <p:cBhvr>
                                        <p:cTn id="64" dur="1" fill="hold">
                                          <p:stCondLst>
                                            <p:cond delay="0"/>
                                          </p:stCondLst>
                                        </p:cTn>
                                        <p:tgtEl>
                                          <p:spTgt spid="8"/>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9"/>
                                        </p:tgtEl>
                                      </p:cBhvr>
                                    </p:animEffect>
                                    <p:set>
                                      <p:cBhvr>
                                        <p:cTn id="67" dur="1" fill="hold">
                                          <p:stCondLst>
                                            <p:cond delay="0"/>
                                          </p:stCondLst>
                                        </p:cTn>
                                        <p:tgtEl>
                                          <p:spTgt spid="9"/>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0"/>
                                        </p:tgtEl>
                                      </p:cBhvr>
                                    </p:animEffect>
                                    <p:set>
                                      <p:cBhvr>
                                        <p:cTn id="70" dur="1" fill="hold">
                                          <p:stCondLst>
                                            <p:cond delay="0"/>
                                          </p:stCondLst>
                                        </p:cTn>
                                        <p:tgtEl>
                                          <p:spTgt spid="10"/>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11"/>
                                        </p:tgtEl>
                                      </p:cBhvr>
                                    </p:animEffect>
                                    <p:set>
                                      <p:cBhvr>
                                        <p:cTn id="73" dur="1" fill="hold">
                                          <p:stCondLst>
                                            <p:cond delay="0"/>
                                          </p:stCondLst>
                                        </p:cTn>
                                        <p:tgtEl>
                                          <p:spTgt spid="1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animEffect transition="in" filter="fade">
                                      <p:cBhvr>
                                        <p:cTn id="77" dur="500"/>
                                        <p:tgtEl>
                                          <p:spTgt spid="12"/>
                                        </p:tgtEl>
                                      </p:cBhvr>
                                    </p:animEffect>
                                    <p:set>
                                      <p:cBhvr>
                                        <p:cTn id="78" dur="1" fill="hold">
                                          <p:stCondLst>
                                            <p:cond delay="0"/>
                                          </p:stCondLst>
                                        </p:cTn>
                                        <p:tgtEl>
                                          <p:spTgt spid="12"/>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6"/>
                                        </p:tgtEl>
                                      </p:cBhvr>
                                    </p:animEffect>
                                    <p:set>
                                      <p:cBhvr>
                                        <p:cTn id="81" dur="1" fill="hold">
                                          <p:stCondLst>
                                            <p:cond delay="0"/>
                                          </p:stCondLst>
                                        </p:cTn>
                                        <p:tgtEl>
                                          <p:spTgt spid="6"/>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3"/>
                                        </p:tgtEl>
                                      </p:cBhvr>
                                    </p:animEffect>
                                    <p:set>
                                      <p:cBhvr>
                                        <p:cTn id="84" dur="1" fill="hold">
                                          <p:stCondLst>
                                            <p:cond delay="0"/>
                                          </p:stCondLst>
                                        </p:cTn>
                                        <p:tgtEl>
                                          <p:spTgt spid="13"/>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8"/>
                                        </p:tgtEl>
                                      </p:cBhvr>
                                    </p:animEffect>
                                    <p:set>
                                      <p:cBhvr>
                                        <p:cTn id="87" dur="1" fill="hold">
                                          <p:stCondLst>
                                            <p:cond delay="0"/>
                                          </p:stCondLst>
                                        </p:cTn>
                                        <p:tgtEl>
                                          <p:spTgt spid="8"/>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4"/>
                                        </p:tgtEl>
                                      </p:cBhvr>
                                    </p:animEffect>
                                    <p:set>
                                      <p:cBhvr>
                                        <p:cTn id="90" dur="1" fill="hold">
                                          <p:stCondLst>
                                            <p:cond delay="0"/>
                                          </p:stCondLst>
                                        </p:cTn>
                                        <p:tgtEl>
                                          <p:spTgt spid="14"/>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15"/>
                                        </p:tgtEl>
                                      </p:cBhvr>
                                    </p:animEffect>
                                    <p:set>
                                      <p:cBhvr>
                                        <p:cTn id="93" dur="1" fill="hold">
                                          <p:stCondLst>
                                            <p:cond delay="0"/>
                                          </p:stCondLst>
                                        </p:cTn>
                                        <p:tgtEl>
                                          <p:spTgt spid="15"/>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6"/>
                                        </p:tgtEl>
                                      </p:cBhvr>
                                    </p:animEffect>
                                    <p:set>
                                      <p:cBhvr>
                                        <p:cTn id="96" dur="1" fill="hold">
                                          <p:stCondLst>
                                            <p:cond delay="0"/>
                                          </p:stCondLst>
                                        </p:cTn>
                                        <p:tgtEl>
                                          <p:spTgt spid="6"/>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3"/>
                                        </p:tgtEl>
                                      </p:cBhvr>
                                    </p:animEffect>
                                    <p:set>
                                      <p:cBhvr>
                                        <p:cTn id="99" dur="1" fill="hold">
                                          <p:stCondLst>
                                            <p:cond delay="0"/>
                                          </p:stCondLst>
                                        </p:cTn>
                                        <p:tgtEl>
                                          <p:spTgt spid="13"/>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6"/>
                                        </p:tgtEl>
                                      </p:cBhvr>
                                    </p:animEffect>
                                    <p:set>
                                      <p:cBhvr>
                                        <p:cTn id="102" dur="1" fill="hold">
                                          <p:stCondLst>
                                            <p:cond delay="0"/>
                                          </p:stCondLst>
                                        </p:cTn>
                                        <p:tgtEl>
                                          <p:spTgt spid="16"/>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8"/>
                                        </p:tgtEl>
                                      </p:cBhvr>
                                    </p:animEffect>
                                    <p:set>
                                      <p:cBhvr>
                                        <p:cTn id="105" dur="1" fill="hold">
                                          <p:stCondLst>
                                            <p:cond delay="0"/>
                                          </p:stCondLst>
                                        </p:cTn>
                                        <p:tgtEl>
                                          <p:spTgt spid="8"/>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14"/>
                                        </p:tgtEl>
                                      </p:cBhvr>
                                    </p:animEffect>
                                    <p:set>
                                      <p:cBhvr>
                                        <p:cTn id="108" dur="1" fill="hold">
                                          <p:stCondLst>
                                            <p:cond delay="0"/>
                                          </p:stCondLst>
                                        </p:cTn>
                                        <p:tgtEl>
                                          <p:spTgt spid="14"/>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7"/>
                                        </p:tgtEl>
                                      </p:cBhvr>
                                    </p:animEffect>
                                    <p:set>
                                      <p:cBhvr>
                                        <p:cTn id="111" dur="1" fill="hold">
                                          <p:stCondLst>
                                            <p:cond delay="0"/>
                                          </p:stCondLst>
                                        </p:cTn>
                                        <p:tgtEl>
                                          <p:spTgt spid="17"/>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5"/>
                                        </p:tgtEl>
                                      </p:cBhvr>
                                    </p:animEffect>
                                    <p:set>
                                      <p:cBhvr>
                                        <p:cTn id="114" dur="1" fill="hold">
                                          <p:stCondLst>
                                            <p:cond delay="0"/>
                                          </p:stCondLst>
                                        </p:cTn>
                                        <p:tgtEl>
                                          <p:spTgt spid="15"/>
                                        </p:tgtEl>
                                        <p:attrNameLst>
                                          <p:attrName>style.visibility</p:attrName>
                                        </p:attrNameLst>
                                      </p:cBhvr>
                                      <p:to>
                                        <p:strVal val="visible"/>
                                      </p:to>
                                    </p:set>
                                  </p:childTnLst>
                                </p:cTn>
                              </p:par>
                              <p:par>
                                <p:cTn id="115" presetID="10" presetClass="entr" presetSubtype="0" fill="hold" grpId="0" nodeType="withEffect">
                                  <p:stCondLst>
                                    <p:cond delay="0"/>
                                  </p:stCondLst>
                                  <p:childTnLst>
                                    <p:animEffect transition="in" filter="fade">
                                      <p:cBhvr>
                                        <p:cTn id="116" dur="500"/>
                                        <p:tgtEl>
                                          <p:spTgt spid="18"/>
                                        </p:tgtEl>
                                      </p:cBhvr>
                                    </p:animEffect>
                                    <p:set>
                                      <p:cBhvr>
                                        <p:cTn id="117" dur="1" fill="hold">
                                          <p:stCondLst>
                                            <p:cond delay="0"/>
                                          </p:stCondLst>
                                        </p:cTn>
                                        <p:tgtEl>
                                          <p:spTgt spid="18"/>
                                        </p:tgtEl>
                                        <p:attrNameLst>
                                          <p:attrName>style.visibility</p:attrName>
                                        </p:attrNameLst>
                                      </p:cBhvr>
                                      <p:to>
                                        <p:strVal val="visible"/>
                                      </p:to>
                                    </p:set>
                                  </p:childTnLst>
                                </p:cTn>
                              </p:par>
                              <p:par>
                                <p:cTn id="118" presetID="10" presetClass="entr" presetSubtype="0" fill="hold" grpId="0" nodeType="withEffect">
                                  <p:stCondLst>
                                    <p:cond delay="0"/>
                                  </p:stCondLst>
                                  <p:childTnLst>
                                    <p:animEffect transition="in" filter="fade">
                                      <p:cBhvr>
                                        <p:cTn id="119" dur="500"/>
                                        <p:tgtEl>
                                          <p:spTgt spid="6"/>
                                        </p:tgtEl>
                                      </p:cBhvr>
                                    </p:animEffect>
                                    <p:set>
                                      <p:cBhvr>
                                        <p:cTn id="120" dur="1" fill="hold">
                                          <p:stCondLst>
                                            <p:cond delay="0"/>
                                          </p:stCondLst>
                                        </p:cTn>
                                        <p:tgtEl>
                                          <p:spTgt spid="6"/>
                                        </p:tgtEl>
                                        <p:attrNameLst>
                                          <p:attrName>style.visibility</p:attrName>
                                        </p:attrNameLst>
                                      </p:cBhvr>
                                      <p:to>
                                        <p:strVal val="visible"/>
                                      </p:to>
                                    </p:set>
                                  </p:childTnLst>
                                </p:cTn>
                              </p:par>
                              <p:par>
                                <p:cTn id="121" presetID="10" presetClass="entr" presetSubtype="0" fill="hold" grpId="0" nodeType="withEffect">
                                  <p:stCondLst>
                                    <p:cond delay="0"/>
                                  </p:stCondLst>
                                  <p:childTnLst>
                                    <p:animEffect transition="in" filter="fade">
                                      <p:cBhvr>
                                        <p:cTn id="122" dur="500"/>
                                        <p:tgtEl>
                                          <p:spTgt spid="13"/>
                                        </p:tgtEl>
                                      </p:cBhvr>
                                    </p:animEffect>
                                    <p:set>
                                      <p:cBhvr>
                                        <p:cTn id="123" dur="1" fill="hold">
                                          <p:stCondLst>
                                            <p:cond delay="0"/>
                                          </p:stCondLst>
                                        </p:cTn>
                                        <p:tgtEl>
                                          <p:spTgt spid="13"/>
                                        </p:tgtEl>
                                        <p:attrNameLst>
                                          <p:attrName>style.visibility</p:attrName>
                                        </p:attrNameLst>
                                      </p:cBhvr>
                                      <p:to>
                                        <p:strVal val="visible"/>
                                      </p:to>
                                    </p:set>
                                  </p:childTnLst>
                                </p:cTn>
                              </p:par>
                              <p:par>
                                <p:cTn id="124" presetID="10" presetClass="entr" presetSubtype="0" fill="hold" grpId="0" nodeType="withEffect">
                                  <p:stCondLst>
                                    <p:cond delay="0"/>
                                  </p:stCondLst>
                                  <p:childTnLst>
                                    <p:animEffect transition="in" filter="fade">
                                      <p:cBhvr>
                                        <p:cTn id="125" dur="500"/>
                                        <p:tgtEl>
                                          <p:spTgt spid="16"/>
                                        </p:tgtEl>
                                      </p:cBhvr>
                                    </p:animEffect>
                                    <p:set>
                                      <p:cBhvr>
                                        <p:cTn id="126" dur="1" fill="hold">
                                          <p:stCondLst>
                                            <p:cond delay="0"/>
                                          </p:stCondLst>
                                        </p:cTn>
                                        <p:tgtEl>
                                          <p:spTgt spid="16"/>
                                        </p:tgtEl>
                                        <p:attrNameLst>
                                          <p:attrName>style.visibility</p:attrName>
                                        </p:attrNameLst>
                                      </p:cBhvr>
                                      <p:to>
                                        <p:strVal val="visible"/>
                                      </p:to>
                                    </p:set>
                                  </p:childTnLst>
                                </p:cTn>
                              </p:par>
                              <p:par>
                                <p:cTn id="127" presetID="10" presetClass="entr" presetSubtype="0" fill="hold" grpId="0" nodeType="withEffect">
                                  <p:stCondLst>
                                    <p:cond delay="0"/>
                                  </p:stCondLst>
                                  <p:childTnLst>
                                    <p:animEffect transition="in" filter="fade">
                                      <p:cBhvr>
                                        <p:cTn id="128" dur="500"/>
                                        <p:tgtEl>
                                          <p:spTgt spid="19"/>
                                        </p:tgtEl>
                                      </p:cBhvr>
                                    </p:animEffect>
                                    <p:set>
                                      <p:cBhvr>
                                        <p:cTn id="129" dur="1" fill="hold">
                                          <p:stCondLst>
                                            <p:cond delay="0"/>
                                          </p:stCondLst>
                                        </p:cTn>
                                        <p:tgtEl>
                                          <p:spTgt spid="19"/>
                                        </p:tgtEl>
                                        <p:attrNameLst>
                                          <p:attrName>style.visibility</p:attrName>
                                        </p:attrNameLst>
                                      </p:cBhvr>
                                      <p:to>
                                        <p:strVal val="visible"/>
                                      </p:to>
                                    </p:set>
                                  </p:childTnLst>
                                </p:cTn>
                              </p:par>
                              <p:par>
                                <p:cTn id="130" presetID="10" presetClass="entr" presetSubtype="0" fill="hold" grpId="0" nodeType="withEffect">
                                  <p:stCondLst>
                                    <p:cond delay="0"/>
                                  </p:stCondLst>
                                  <p:childTnLst>
                                    <p:animEffect transition="in" filter="fade">
                                      <p:cBhvr>
                                        <p:cTn id="131" dur="500"/>
                                        <p:tgtEl>
                                          <p:spTgt spid="8"/>
                                        </p:tgtEl>
                                      </p:cBhvr>
                                    </p:animEffect>
                                    <p:set>
                                      <p:cBhvr>
                                        <p:cTn id="132" dur="1" fill="hold">
                                          <p:stCondLst>
                                            <p:cond delay="0"/>
                                          </p:stCondLst>
                                        </p:cTn>
                                        <p:tgtEl>
                                          <p:spTgt spid="8"/>
                                        </p:tgtEl>
                                        <p:attrNameLst>
                                          <p:attrName>style.visibility</p:attrName>
                                        </p:attrNameLst>
                                      </p:cBhvr>
                                      <p:to>
                                        <p:strVal val="visible"/>
                                      </p:to>
                                    </p:set>
                                  </p:childTnLst>
                                </p:cTn>
                              </p:par>
                              <p:par>
                                <p:cTn id="133" presetID="10" presetClass="entr" presetSubtype="0" fill="hold" grpId="0" nodeType="withEffect">
                                  <p:stCondLst>
                                    <p:cond delay="0"/>
                                  </p:stCondLst>
                                  <p:childTnLst>
                                    <p:animEffect transition="in" filter="fade">
                                      <p:cBhvr>
                                        <p:cTn id="134" dur="500"/>
                                        <p:tgtEl>
                                          <p:spTgt spid="14"/>
                                        </p:tgtEl>
                                      </p:cBhvr>
                                    </p:animEffect>
                                    <p:set>
                                      <p:cBhvr>
                                        <p:cTn id="135" dur="1" fill="hold">
                                          <p:stCondLst>
                                            <p:cond delay="0"/>
                                          </p:stCondLst>
                                        </p:cTn>
                                        <p:tgtEl>
                                          <p:spTgt spid="14"/>
                                        </p:tgtEl>
                                        <p:attrNameLst>
                                          <p:attrName>style.visibility</p:attrName>
                                        </p:attrNameLst>
                                      </p:cBhvr>
                                      <p:to>
                                        <p:strVal val="visible"/>
                                      </p:to>
                                    </p:set>
                                  </p:childTnLst>
                                </p:cTn>
                              </p:par>
                              <p:par>
                                <p:cTn id="136" presetID="10" presetClass="entr" presetSubtype="0" fill="hold" grpId="0" nodeType="withEffect">
                                  <p:stCondLst>
                                    <p:cond delay="0"/>
                                  </p:stCondLst>
                                  <p:childTnLst>
                                    <p:animEffect transition="in" filter="fade">
                                      <p:cBhvr>
                                        <p:cTn id="137" dur="500"/>
                                        <p:tgtEl>
                                          <p:spTgt spid="17"/>
                                        </p:tgtEl>
                                      </p:cBhvr>
                                    </p:animEffect>
                                    <p:set>
                                      <p:cBhvr>
                                        <p:cTn id="138" dur="1" fill="hold">
                                          <p:stCondLst>
                                            <p:cond delay="0"/>
                                          </p:stCondLst>
                                        </p:cTn>
                                        <p:tgtEl>
                                          <p:spTgt spid="17"/>
                                        </p:tgtEl>
                                        <p:attrNameLst>
                                          <p:attrName>style.visibility</p:attrName>
                                        </p:attrNameLst>
                                      </p:cBhvr>
                                      <p:to>
                                        <p:strVal val="visible"/>
                                      </p:to>
                                    </p:set>
                                  </p:childTnLst>
                                </p:cTn>
                              </p:par>
                              <p:par>
                                <p:cTn id="139" presetID="10" presetClass="entr" presetSubtype="0" fill="hold" grpId="0" nodeType="withEffect">
                                  <p:stCondLst>
                                    <p:cond delay="0"/>
                                  </p:stCondLst>
                                  <p:childTnLst>
                                    <p:animEffect transition="in" filter="fade">
                                      <p:cBhvr>
                                        <p:cTn id="140" dur="500"/>
                                        <p:tgtEl>
                                          <p:spTgt spid="20"/>
                                        </p:tgtEl>
                                      </p:cBhvr>
                                    </p:animEffect>
                                    <p:set>
                                      <p:cBhvr>
                                        <p:cTn id="141" dur="1" fill="hold">
                                          <p:stCondLst>
                                            <p:cond delay="0"/>
                                          </p:stCondLst>
                                        </p:cTn>
                                        <p:tgtEl>
                                          <p:spTgt spid="20"/>
                                        </p:tgtEl>
                                        <p:attrNameLst>
                                          <p:attrName>style.visibility</p:attrName>
                                        </p:attrNameLst>
                                      </p:cBhvr>
                                      <p:to>
                                        <p:strVal val="visible"/>
                                      </p:to>
                                    </p:set>
                                  </p:childTnLst>
                                </p:cTn>
                              </p:par>
                            </p:childTnLst>
                          </p:cTn>
                        </p:par>
                      </p:childTnLst>
                    </p:cTn>
                  </p:par>
                  <p:par>
                    <p:cTn id="142" fill="hold">
                      <p:stCondLst>
                        <p:cond delay="indefinite"/>
                      </p:stCondLst>
                      <p:childTnLst>
                        <p:par>
                          <p:cTn id="143" fill="hold">
                            <p:stCondLst>
                              <p:cond delay="0"/>
                            </p:stCondLst>
                            <p:childTnLst>
                              <p:par>
                                <p:cTn id="144" presetID="10" presetClass="entr" presetSubtype="0" fill="hold" grpId="0" nodeType="clickEffect">
                                  <p:stCondLst>
                                    <p:cond delay="0"/>
                                  </p:stCondLst>
                                  <p:childTnLst>
                                    <p:animEffect transition="in" filter="fade">
                                      <p:cBhvr>
                                        <p:cTn id="145" dur="500"/>
                                        <p:tgtEl>
                                          <p:spTgt spid="21"/>
                                        </p:tgtEl>
                                      </p:cBhvr>
                                    </p:animEffect>
                                    <p:set>
                                      <p:cBhvr>
                                        <p:cTn id="14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Premise 3: Verifiable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123952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Hypothesis</a:t>
            </a:r>
          </a:p>
        </p:txBody>
      </p:sp>
      <p:cxnSp>
        <p:nvCxnSpPr>
          <p:cNvPr id="6" name="Connector 5"/>
          <p:cNvCxnSpPr/>
          <p:nvPr/>
        </p:nvCxnSpPr>
        <p:spPr>
          <a:xfrm>
            <a:off x="1971040" y="1746504"/>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446528" y="1371600"/>
            <a:ext cx="75692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Verify</a:t>
            </a:r>
          </a:p>
        </p:txBody>
      </p:sp>
      <p:cxnSp>
        <p:nvCxnSpPr>
          <p:cNvPr id="8" name="Connector 7"/>
          <p:cNvCxnSpPr/>
          <p:nvPr/>
        </p:nvCxnSpPr>
        <p:spPr>
          <a:xfrm>
            <a:off x="3203447" y="1746504"/>
            <a:ext cx="475489"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678936" y="1371600"/>
            <a:ext cx="131572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Reward / fail</a:t>
            </a:r>
          </a:p>
        </p:txBody>
      </p:sp>
      <p:cxnSp>
        <p:nvCxnSpPr>
          <p:cNvPr id="10" name="Connector 9"/>
          <p:cNvCxnSpPr/>
          <p:nvPr/>
        </p:nvCxnSpPr>
        <p:spPr>
          <a:xfrm>
            <a:off x="4994656" y="1746504"/>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70144" y="1371600"/>
            <a:ext cx="883919"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Update</a:t>
            </a:r>
          </a:p>
        </p:txBody>
      </p:sp>
      <p:sp>
        <p:nvSpPr>
          <p:cNvPr id="12" name="Rectangle 11"/>
          <p:cNvSpPr/>
          <p:nvPr/>
        </p:nvSpPr>
        <p:spPr>
          <a:xfrm>
            <a:off x="731520" y="2414015"/>
            <a:ext cx="54864" cy="1051560"/>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414015"/>
            <a:ext cx="10536631" cy="425196"/>
          </a:xfrm>
          <a:prstGeom prst="rect">
            <a:avLst/>
          </a:prstGeom>
          <a:noFill/>
        </p:spPr>
        <p:txBody>
          <a:bodyPr wrap="square">
            <a:spAutoFit/>
          </a:bodyPr>
          <a:lstStyle/>
          <a:p>
            <a:pPr algn="l">
              <a:defRPr sz="1800" b="1" i="0">
                <a:solidFill>
                  <a:srgbClr val="7FA195"/>
                </a:solidFill>
                <a:latin typeface="Liberation Sans"/>
              </a:defRPr>
            </a:pPr>
            <a:r>
              <a:t>Ground truth anchor</a:t>
            </a:r>
          </a:p>
        </p:txBody>
      </p:sp>
      <p:sp>
        <p:nvSpPr>
          <p:cNvPr id="14" name="TextBox 13"/>
          <p:cNvSpPr txBox="1"/>
          <p:nvPr/>
        </p:nvSpPr>
        <p:spPr>
          <a:xfrm>
            <a:off x="923544" y="2930651"/>
            <a:ext cx="10536631" cy="359156"/>
          </a:xfrm>
          <a:prstGeom prst="rect">
            <a:avLst/>
          </a:prstGeom>
          <a:noFill/>
        </p:spPr>
        <p:txBody>
          <a:bodyPr wrap="square">
            <a:spAutoFit/>
          </a:bodyPr>
          <a:lstStyle/>
          <a:p>
            <a:pPr algn="l">
              <a:defRPr sz="1400" b="0" i="0">
                <a:solidFill>
                  <a:srgbClr val="223043"/>
                </a:solidFill>
                <a:latin typeface="Liberation Sans"/>
              </a:defRPr>
            </a:pPr>
            <a:r>
              <a:t>Verified propagation tells us whether the reasoning path is faithful, not just whether the final answer is lucky.</a:t>
            </a:r>
          </a:p>
        </p:txBody>
      </p:sp>
      <p:sp>
        <p:nvSpPr>
          <p:cNvPr id="15" name="TextBox 14"/>
          <p:cNvSpPr txBox="1"/>
          <p:nvPr/>
        </p:nvSpPr>
        <p:spPr>
          <a:xfrm>
            <a:off x="731520" y="3758183"/>
            <a:ext cx="10728655" cy="722376"/>
          </a:xfrm>
          <a:prstGeom prst="rect">
            <a:avLst/>
          </a:prstGeom>
          <a:noFill/>
        </p:spPr>
        <p:txBody>
          <a:bodyPr wrap="square">
            <a:spAutoFit/>
          </a:bodyPr>
          <a:lstStyle/>
          <a:p>
            <a:pPr algn="l">
              <a:defRPr sz="1800" b="0" i="1">
                <a:solidFill>
                  <a:srgbClr val="647489"/>
                </a:solidFill>
                <a:latin typeface="Liberation Sans"/>
              </a:defRPr>
            </a:pPr>
            <a:r>
              <a:t>Ground truth closes the learning loop: hypotheses are checked against the incident path, then revised.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2"/>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4"/>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5"/>
                            </p:tgtEl>
                            <p:attrNameLst>
                              <p:attrName>style.visibility</p:attrName>
                            </p:attrNameLst>
                          </p:cBhvr>
                          <p:to>
                            <p:strVal val="hidden"/>
                          </p:to>
                        </p:set>
                      </p:childTnLst>
                    </p:cTn>
                  </p:par>
                </p:childTnLst>
              </p:cTn>
            </p:par>
            <p:seq concurrent="1" nextAc="seek">
              <p:cTn id="16" dur="indefinite" nodeType="mainSeq">
                <p:childTnLst>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animEffect transition="in" filter="fade">
                                      <p:cBhvr>
                                        <p:cTn id="20" dur="500"/>
                                        <p:tgtEl>
                                          <p:spTgt spid="5"/>
                                        </p:tgtEl>
                                      </p:cBhvr>
                                    </p:animEffect>
                                    <p:set>
                                      <p:cBhvr>
                                        <p:cTn id="21" dur="1" fill="hold">
                                          <p:stCondLst>
                                            <p:cond delay="0"/>
                                          </p:stCondLst>
                                        </p:cTn>
                                        <p:tgtEl>
                                          <p:spTgt spid="5"/>
                                        </p:tgtEl>
                                        <p:attrNameLst>
                                          <p:attrName>style.visibility</p:attrName>
                                        </p:attrNameLst>
                                      </p:cBhvr>
                                      <p:to>
                                        <p:strVal val="visible"/>
                                      </p:to>
                                    </p:set>
                                  </p:childTnLst>
                                </p:cTn>
                              </p:par>
                              <p:par>
                                <p:cTn id="22" presetID="10" presetClass="entr" presetSubtype="0" fill="hold" grpId="0" nodeType="withEffect">
                                  <p:stCondLst>
                                    <p:cond delay="0"/>
                                  </p:stCondLst>
                                  <p:childTnLst>
                                    <p:animEffect transition="in" filter="fade">
                                      <p:cBhvr>
                                        <p:cTn id="23" dur="500"/>
                                        <p:tgtEl>
                                          <p:spTgt spid="6"/>
                                        </p:tgtEl>
                                      </p:cBhvr>
                                    </p:animEffect>
                                    <p:set>
                                      <p:cBhvr>
                                        <p:cTn id="24" dur="1" fill="hold">
                                          <p:stCondLst>
                                            <p:cond delay="0"/>
                                          </p:stCondLst>
                                        </p:cTn>
                                        <p:tgtEl>
                                          <p:spTgt spid="6"/>
                                        </p:tgtEl>
                                        <p:attrNameLst>
                                          <p:attrName>style.visibility</p:attrName>
                                        </p:attrNameLst>
                                      </p:cBhvr>
                                      <p:to>
                                        <p:strVal val="visible"/>
                                      </p:to>
                                    </p:set>
                                  </p:childTnLst>
                                </p:cTn>
                              </p:par>
                              <p:par>
                                <p:cTn id="25" presetID="10" presetClass="entr" presetSubtype="0" fill="hold" grpId="0" nodeType="withEffect">
                                  <p:stCondLst>
                                    <p:cond delay="0"/>
                                  </p:stCondLst>
                                  <p:childTnLst>
                                    <p:animEffect transition="in" filter="fade">
                                      <p:cBhvr>
                                        <p:cTn id="26" dur="500"/>
                                        <p:tgtEl>
                                          <p:spTgt spid="7"/>
                                        </p:tgtEl>
                                      </p:cBhvr>
                                    </p:animEffect>
                                    <p:set>
                                      <p:cBhvr>
                                        <p:cTn id="27" dur="1" fill="hold">
                                          <p:stCondLst>
                                            <p:cond delay="0"/>
                                          </p:stCondLst>
                                        </p:cTn>
                                        <p:tgtEl>
                                          <p:spTgt spid="7"/>
                                        </p:tgtEl>
                                        <p:attrNameLst>
                                          <p:attrName>style.visibility</p:attrName>
                                        </p:attrNameLst>
                                      </p:cBhvr>
                                      <p:to>
                                        <p:strVal val="visible"/>
                                      </p:to>
                                    </p:set>
                                  </p:childTnLst>
                                </p:cTn>
                              </p:par>
                              <p:par>
                                <p:cTn id="28" presetID="10" presetClass="entr" presetSubtype="0" fill="hold" grpId="0" nodeType="withEffect">
                                  <p:stCondLst>
                                    <p:cond delay="0"/>
                                  </p:stCondLst>
                                  <p:childTnLst>
                                    <p:animEffect transition="in" filter="fade">
                                      <p:cBhvr>
                                        <p:cTn id="29" dur="500"/>
                                        <p:tgtEl>
                                          <p:spTgt spid="8"/>
                                        </p:tgtEl>
                                      </p:cBhvr>
                                    </p:animEffect>
                                    <p:set>
                                      <p:cBhvr>
                                        <p:cTn id="30" dur="1" fill="hold">
                                          <p:stCondLst>
                                            <p:cond delay="0"/>
                                          </p:stCondLst>
                                        </p:cTn>
                                        <p:tgtEl>
                                          <p:spTgt spid="8"/>
                                        </p:tgtEl>
                                        <p:attrNameLst>
                                          <p:attrName>style.visibility</p:attrName>
                                        </p:attrNameLst>
                                      </p:cBhvr>
                                      <p:to>
                                        <p:strVal val="visible"/>
                                      </p:to>
                                    </p:set>
                                  </p:childTnLst>
                                </p:cTn>
                              </p:par>
                              <p:par>
                                <p:cTn id="31" presetID="10" presetClass="entr" presetSubtype="0" fill="hold" grpId="0" nodeType="withEffect">
                                  <p:stCondLst>
                                    <p:cond delay="0"/>
                                  </p:stCondLst>
                                  <p:childTnLst>
                                    <p:animEffect transition="in" filter="fade">
                                      <p:cBhvr>
                                        <p:cTn id="32" dur="500"/>
                                        <p:tgtEl>
                                          <p:spTgt spid="9"/>
                                        </p:tgtEl>
                                      </p:cBhvr>
                                    </p:animEffect>
                                    <p:set>
                                      <p:cBhvr>
                                        <p:cTn id="33" dur="1" fill="hold">
                                          <p:stCondLst>
                                            <p:cond delay="0"/>
                                          </p:stCondLst>
                                        </p:cTn>
                                        <p:tgtEl>
                                          <p:spTgt spid="9"/>
                                        </p:tgtEl>
                                        <p:attrNameLst>
                                          <p:attrName>style.visibility</p:attrName>
                                        </p:attrNameLst>
                                      </p:cBhvr>
                                      <p:to>
                                        <p:strVal val="visible"/>
                                      </p:to>
                                    </p:set>
                                  </p:childTnLst>
                                </p:cTn>
                              </p:par>
                              <p:par>
                                <p:cTn id="34" presetID="10" presetClass="entr" presetSubtype="0" fill="hold" grpId="0" nodeType="withEffect">
                                  <p:stCondLst>
                                    <p:cond delay="0"/>
                                  </p:stCondLst>
                                  <p:childTnLst>
                                    <p:animEffect transition="in" filter="fade">
                                      <p:cBhvr>
                                        <p:cTn id="35" dur="500"/>
                                        <p:tgtEl>
                                          <p:spTgt spid="10"/>
                                        </p:tgtEl>
                                      </p:cBhvr>
                                    </p:animEffect>
                                    <p:set>
                                      <p:cBhvr>
                                        <p:cTn id="36" dur="1" fill="hold">
                                          <p:stCondLst>
                                            <p:cond delay="0"/>
                                          </p:stCondLst>
                                        </p:cTn>
                                        <p:tgtEl>
                                          <p:spTgt spid="10"/>
                                        </p:tgtEl>
                                        <p:attrNameLst>
                                          <p:attrName>style.visibility</p:attrName>
                                        </p:attrNameLst>
                                      </p:cBhvr>
                                      <p:to>
                                        <p:strVal val="visible"/>
                                      </p:to>
                                    </p:set>
                                  </p:childTnLst>
                                </p:cTn>
                              </p:par>
                              <p:par>
                                <p:cTn id="37" presetID="10" presetClass="entr" presetSubtype="0" fill="hold" grpId="0" nodeType="withEffect">
                                  <p:stCondLst>
                                    <p:cond delay="0"/>
                                  </p:stCondLst>
                                  <p:childTnLst>
                                    <p:animEffect transition="in" filter="fade">
                                      <p:cBhvr>
                                        <p:cTn id="38" dur="500"/>
                                        <p:tgtEl>
                                          <p:spTgt spid="11"/>
                                        </p:tgtEl>
                                      </p:cBhvr>
                                    </p:animEffect>
                                    <p:set>
                                      <p:cBhvr>
                                        <p:cTn id="39" dur="1" fill="hold">
                                          <p:stCondLst>
                                            <p:cond delay="0"/>
                                          </p:stCondLst>
                                        </p:cTn>
                                        <p:tgtEl>
                                          <p:spTgt spid="1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animEffect transition="in" filter="fade">
                                      <p:cBhvr>
                                        <p:cTn id="43" dur="500"/>
                                        <p:tgtEl>
                                          <p:spTgt spid="12"/>
                                        </p:tgtEl>
                                      </p:cBhvr>
                                    </p:animEffect>
                                    <p:set>
                                      <p:cBhvr>
                                        <p:cTn id="44" dur="1" fill="hold">
                                          <p:stCondLst>
                                            <p:cond delay="0"/>
                                          </p:stCondLst>
                                        </p:cTn>
                                        <p:tgtEl>
                                          <p:spTgt spid="12"/>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6"/>
                                        </p:tgtEl>
                                      </p:cBhvr>
                                    </p:animEffect>
                                    <p:set>
                                      <p:cBhvr>
                                        <p:cTn id="47" dur="1" fill="hold">
                                          <p:stCondLst>
                                            <p:cond delay="0"/>
                                          </p:stCondLst>
                                        </p:cTn>
                                        <p:tgtEl>
                                          <p:spTgt spid="6"/>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13"/>
                                        </p:tgtEl>
                                      </p:cBhvr>
                                    </p:animEffect>
                                    <p:set>
                                      <p:cBhvr>
                                        <p:cTn id="50" dur="1" fill="hold">
                                          <p:stCondLst>
                                            <p:cond delay="0"/>
                                          </p:stCondLst>
                                        </p:cTn>
                                        <p:tgtEl>
                                          <p:spTgt spid="13"/>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8"/>
                                        </p:tgtEl>
                                      </p:cBhvr>
                                    </p:animEffect>
                                    <p:set>
                                      <p:cBhvr>
                                        <p:cTn id="53" dur="1" fill="hold">
                                          <p:stCondLst>
                                            <p:cond delay="0"/>
                                          </p:stCondLst>
                                        </p:cTn>
                                        <p:tgtEl>
                                          <p:spTgt spid="8"/>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14"/>
                                        </p:tgtEl>
                                      </p:cBhvr>
                                    </p:animEffect>
                                    <p:set>
                                      <p:cBhvr>
                                        <p:cTn id="56" dur="1" fill="hold">
                                          <p:stCondLst>
                                            <p:cond delay="0"/>
                                          </p:stCondLst>
                                        </p:cTn>
                                        <p:tgtEl>
                                          <p:spTgt spid="1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animEffect transition="in" filter="fade">
                                      <p:cBhvr>
                                        <p:cTn id="60" dur="500"/>
                                        <p:tgtEl>
                                          <p:spTgt spid="15"/>
                                        </p:tgtEl>
                                      </p:cBhvr>
                                    </p:animEffect>
                                    <p:set>
                                      <p:cBhvr>
                                        <p:cTn id="61"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Problem with RCA</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Rounded Rectangle 4"/>
          <p:cNvSpPr/>
          <p:nvPr/>
        </p:nvSpPr>
        <p:spPr>
          <a:xfrm>
            <a:off x="731520" y="1371600"/>
            <a:ext cx="502920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Old taxonomy</a:t>
            </a:r>
          </a:p>
        </p:txBody>
      </p:sp>
      <p:sp>
        <p:nvSpPr>
          <p:cNvPr id="6" name="Rounded Rectangle 5"/>
          <p:cNvSpPr/>
          <p:nvPr/>
        </p:nvSpPr>
        <p:spPr>
          <a:xfrm>
            <a:off x="731520" y="1895347"/>
            <a:ext cx="5029200" cy="786384"/>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Metrics / logs / traces</a:t>
            </a:r>
          </a:p>
        </p:txBody>
      </p:sp>
      <p:sp>
        <p:nvSpPr>
          <p:cNvPr id="7" name="TextBox 6"/>
          <p:cNvSpPr txBox="1"/>
          <p:nvPr/>
        </p:nvSpPr>
        <p:spPr>
          <a:xfrm>
            <a:off x="731520" y="2828036"/>
            <a:ext cx="5029200" cy="722376"/>
          </a:xfrm>
          <a:prstGeom prst="rect">
            <a:avLst/>
          </a:prstGeom>
          <a:noFill/>
        </p:spPr>
        <p:txBody>
          <a:bodyPr wrap="square">
            <a:spAutoFit/>
          </a:bodyPr>
          <a:lstStyle/>
          <a:p>
            <a:pPr algn="l">
              <a:defRPr sz="1800" b="0" i="0">
                <a:solidFill>
                  <a:srgbClr val="223043"/>
                </a:solidFill>
                <a:latin typeface="Liberation Sans"/>
              </a:defRPr>
            </a:pPr>
            <a:r>
              <a:t>Groups papers by input modality, even when their operational goals differ.</a:t>
            </a:r>
          </a:p>
        </p:txBody>
      </p:sp>
      <p:sp>
        <p:nvSpPr>
          <p:cNvPr id="8" name="TextBox 7"/>
          <p:cNvSpPr txBox="1"/>
          <p:nvPr/>
        </p:nvSpPr>
        <p:spPr>
          <a:xfrm>
            <a:off x="731520" y="3696715"/>
            <a:ext cx="5029200" cy="590296"/>
          </a:xfrm>
          <a:prstGeom prst="rect">
            <a:avLst/>
          </a:prstGeom>
          <a:noFill/>
        </p:spPr>
        <p:txBody>
          <a:bodyPr wrap="square">
            <a:spAutoFit/>
          </a:bodyPr>
          <a:lstStyle/>
          <a:p>
            <a:pPr algn="l">
              <a:defRPr sz="1400" b="0" i="0">
                <a:solidFill>
                  <a:srgbClr val="647489"/>
                </a:solidFill>
                <a:latin typeface="Liberation Sans"/>
              </a:defRPr>
            </a:pPr>
            <a:r>
              <a:t>This obscures progress because the same data can support very different RCA objectives.</a:t>
            </a:r>
          </a:p>
        </p:txBody>
      </p:sp>
      <p:sp>
        <p:nvSpPr>
          <p:cNvPr id="9" name="Rounded Rectangle 8"/>
          <p:cNvSpPr/>
          <p:nvPr/>
        </p:nvSpPr>
        <p:spPr>
          <a:xfrm>
            <a:off x="6126480" y="1371600"/>
            <a:ext cx="502920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Goal-driven taxonomy</a:t>
            </a:r>
          </a:p>
        </p:txBody>
      </p:sp>
      <p:sp>
        <p:nvSpPr>
          <p:cNvPr id="10" name="Rounded Rectangle 9"/>
          <p:cNvSpPr/>
          <p:nvPr/>
        </p:nvSpPr>
        <p:spPr>
          <a:xfrm>
            <a:off x="6126480" y="1895347"/>
            <a:ext cx="79502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Triage</a:t>
            </a:r>
          </a:p>
        </p:txBody>
      </p:sp>
      <p:cxnSp>
        <p:nvCxnSpPr>
          <p:cNvPr id="11" name="Connector 10"/>
          <p:cNvCxnSpPr/>
          <p:nvPr/>
        </p:nvCxnSpPr>
        <p:spPr>
          <a:xfrm>
            <a:off x="6921500" y="2270252"/>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96988" y="1895347"/>
            <a:ext cx="111252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Mitigation</a:t>
            </a:r>
          </a:p>
        </p:txBody>
      </p:sp>
      <p:cxnSp>
        <p:nvCxnSpPr>
          <p:cNvPr id="13" name="Connector 12"/>
          <p:cNvCxnSpPr/>
          <p:nvPr/>
        </p:nvCxnSpPr>
        <p:spPr>
          <a:xfrm>
            <a:off x="8509508" y="2270252"/>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984996" y="1895347"/>
            <a:ext cx="118872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Resolution</a:t>
            </a:r>
          </a:p>
        </p:txBody>
      </p:sp>
      <p:sp>
        <p:nvSpPr>
          <p:cNvPr id="15" name="Rectangle 14"/>
          <p:cNvSpPr/>
          <p:nvPr/>
        </p:nvSpPr>
        <p:spPr>
          <a:xfrm>
            <a:off x="6126480" y="2791460"/>
            <a:ext cx="54864"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2791460"/>
            <a:ext cx="4837176" cy="425196"/>
          </a:xfrm>
          <a:prstGeom prst="rect">
            <a:avLst/>
          </a:prstGeom>
          <a:noFill/>
        </p:spPr>
        <p:txBody>
          <a:bodyPr wrap="square">
            <a:spAutoFit/>
          </a:bodyPr>
          <a:lstStyle/>
          <a:p>
            <a:pPr algn="l">
              <a:defRPr sz="1800" b="1" i="0">
                <a:solidFill>
                  <a:srgbClr val="7FA195"/>
                </a:solidFill>
                <a:latin typeface="Liberation Sans"/>
              </a:defRPr>
            </a:pPr>
            <a:r>
              <a:t>Why it fits practice</a:t>
            </a:r>
          </a:p>
        </p:txBody>
      </p:sp>
      <p:sp>
        <p:nvSpPr>
          <p:cNvPr id="17" name="TextBox 16"/>
          <p:cNvSpPr txBox="1"/>
          <p:nvPr/>
        </p:nvSpPr>
        <p:spPr>
          <a:xfrm>
            <a:off x="6318504" y="3308096"/>
            <a:ext cx="4837176" cy="590296"/>
          </a:xfrm>
          <a:prstGeom prst="rect">
            <a:avLst/>
          </a:prstGeom>
          <a:noFill/>
        </p:spPr>
        <p:txBody>
          <a:bodyPr wrap="square">
            <a:spAutoFit/>
          </a:bodyPr>
          <a:lstStyle/>
          <a:p>
            <a:pPr algn="l">
              <a:defRPr sz="1400" b="0" i="0">
                <a:solidFill>
                  <a:srgbClr val="223043"/>
                </a:solidFill>
                <a:latin typeface="Liberation Sans"/>
              </a:defRPr>
            </a:pPr>
            <a:r>
              <a:t>Incident management cares about speed, actionability, interpretability, and granularity, not only data modality.</a:t>
            </a:r>
          </a:p>
        </p:txBody>
      </p:sp>
      <p:sp>
        <p:nvSpPr>
          <p:cNvPr id="18" name="TextBox 17"/>
          <p:cNvSpPr txBox="1"/>
          <p:nvPr/>
        </p:nvSpPr>
        <p:spPr>
          <a:xfrm>
            <a:off x="731520" y="4543044"/>
            <a:ext cx="10728655" cy="722376"/>
          </a:xfrm>
          <a:prstGeom prst="rect">
            <a:avLst/>
          </a:prstGeom>
          <a:noFill/>
        </p:spPr>
        <p:txBody>
          <a:bodyPr wrap="square">
            <a:spAutoFit/>
          </a:bodyPr>
          <a:lstStyle/>
          <a:p>
            <a:pPr algn="l">
              <a:defRPr sz="1800" b="0" i="1">
                <a:solidFill>
                  <a:srgbClr val="647489"/>
                </a:solidFill>
                <a:latin typeface="Liberation Sans"/>
              </a:defRPr>
            </a:pPr>
            <a:r>
              <a:t>Survey lens: organize RCA by the job it needs to do in incident management, not only by the telemetry it consumes.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1"/>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8"/>
                            </p:tgtEl>
                            <p:attrNameLst>
                              <p:attrName>style.visibility</p:attrName>
                            </p:attrNameLst>
                          </p:cBhvr>
                          <p:to>
                            <p:strVal val="hidden"/>
                          </p:to>
                        </p:set>
                      </p:childTnLst>
                    </p:cTn>
                  </p:par>
                </p:childTnLst>
              </p:cTn>
            </p:par>
            <p:seq concurrent="1" nextAc="seek">
              <p:cTn id="30" dur="indefinite" nodeType="mainSeq">
                <p:childTnLst>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5"/>
                                        </p:tgtEl>
                                      </p:cBhvr>
                                    </p:animEffect>
                                    <p:set>
                                      <p:cBhvr>
                                        <p:cTn id="35" dur="1" fill="hold">
                                          <p:stCondLst>
                                            <p:cond delay="0"/>
                                          </p:stCondLst>
                                        </p:cTn>
                                        <p:tgtEl>
                                          <p:spTgt spid="5"/>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6"/>
                                        </p:tgtEl>
                                      </p:cBhvr>
                                    </p:animEffect>
                                    <p:set>
                                      <p:cBhvr>
                                        <p:cTn id="38" dur="1" fill="hold">
                                          <p:stCondLst>
                                            <p:cond delay="0"/>
                                          </p:stCondLst>
                                        </p:cTn>
                                        <p:tgtEl>
                                          <p:spTgt spid="6"/>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7"/>
                                        </p:tgtEl>
                                      </p:cBhvr>
                                    </p:animEffect>
                                    <p:set>
                                      <p:cBhvr>
                                        <p:cTn id="41" dur="1" fill="hold">
                                          <p:stCondLst>
                                            <p:cond delay="0"/>
                                          </p:stCondLst>
                                        </p:cTn>
                                        <p:tgtEl>
                                          <p:spTgt spid="7"/>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8"/>
                                        </p:tgtEl>
                                      </p:cBhvr>
                                    </p:animEffect>
                                    <p:set>
                                      <p:cBhvr>
                                        <p:cTn id="44" dur="1" fill="hold">
                                          <p:stCondLst>
                                            <p:cond delay="0"/>
                                          </p:stCondLst>
                                        </p:cTn>
                                        <p:tgtEl>
                                          <p:spTgt spid="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animEffect transition="in" filter="fade">
                                      <p:cBhvr>
                                        <p:cTn id="48" dur="500"/>
                                        <p:tgtEl>
                                          <p:spTgt spid="9"/>
                                        </p:tgtEl>
                                      </p:cBhvr>
                                    </p:animEffect>
                                    <p:set>
                                      <p:cBhvr>
                                        <p:cTn id="49" dur="1" fill="hold">
                                          <p:stCondLst>
                                            <p:cond delay="0"/>
                                          </p:stCondLst>
                                        </p:cTn>
                                        <p:tgtEl>
                                          <p:spTgt spid="9"/>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0"/>
                                        </p:tgtEl>
                                      </p:cBhvr>
                                    </p:animEffect>
                                    <p:set>
                                      <p:cBhvr>
                                        <p:cTn id="52" dur="1" fill="hold">
                                          <p:stCondLst>
                                            <p:cond delay="0"/>
                                          </p:stCondLst>
                                        </p:cTn>
                                        <p:tgtEl>
                                          <p:spTgt spid="10"/>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1"/>
                                        </p:tgtEl>
                                      </p:cBhvr>
                                    </p:animEffect>
                                    <p:set>
                                      <p:cBhvr>
                                        <p:cTn id="55" dur="1" fill="hold">
                                          <p:stCondLst>
                                            <p:cond delay="0"/>
                                          </p:stCondLst>
                                        </p:cTn>
                                        <p:tgtEl>
                                          <p:spTgt spid="11"/>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2"/>
                                        </p:tgtEl>
                                      </p:cBhvr>
                                    </p:animEffect>
                                    <p:set>
                                      <p:cBhvr>
                                        <p:cTn id="58" dur="1" fill="hold">
                                          <p:stCondLst>
                                            <p:cond delay="0"/>
                                          </p:stCondLst>
                                        </p:cTn>
                                        <p:tgtEl>
                                          <p:spTgt spid="12"/>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3"/>
                                        </p:tgtEl>
                                      </p:cBhvr>
                                    </p:animEffect>
                                    <p:set>
                                      <p:cBhvr>
                                        <p:cTn id="61" dur="1" fill="hold">
                                          <p:stCondLst>
                                            <p:cond delay="0"/>
                                          </p:stCondLst>
                                        </p:cTn>
                                        <p:tgtEl>
                                          <p:spTgt spid="13"/>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4"/>
                                        </p:tgtEl>
                                      </p:cBhvr>
                                    </p:animEffect>
                                    <p:set>
                                      <p:cBhvr>
                                        <p:cTn id="64" dur="1" fill="hold">
                                          <p:stCondLst>
                                            <p:cond delay="0"/>
                                          </p:stCondLst>
                                        </p:cTn>
                                        <p:tgtEl>
                                          <p:spTgt spid="14"/>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10"/>
                                        </p:tgtEl>
                                      </p:cBhvr>
                                    </p:animEffect>
                                    <p:set>
                                      <p:cBhvr>
                                        <p:cTn id="67" dur="1" fill="hold">
                                          <p:stCondLst>
                                            <p:cond delay="0"/>
                                          </p:stCondLst>
                                        </p:cTn>
                                        <p:tgtEl>
                                          <p:spTgt spid="10"/>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5"/>
                                        </p:tgtEl>
                                      </p:cBhvr>
                                    </p:animEffect>
                                    <p:set>
                                      <p:cBhvr>
                                        <p:cTn id="70" dur="1" fill="hold">
                                          <p:stCondLst>
                                            <p:cond delay="0"/>
                                          </p:stCondLst>
                                        </p:cTn>
                                        <p:tgtEl>
                                          <p:spTgt spid="15"/>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11"/>
                                        </p:tgtEl>
                                      </p:cBhvr>
                                    </p:animEffect>
                                    <p:set>
                                      <p:cBhvr>
                                        <p:cTn id="73" dur="1" fill="hold">
                                          <p:stCondLst>
                                            <p:cond delay="0"/>
                                          </p:stCondLst>
                                        </p:cTn>
                                        <p:tgtEl>
                                          <p:spTgt spid="11"/>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6"/>
                                        </p:tgtEl>
                                      </p:cBhvr>
                                    </p:animEffect>
                                    <p:set>
                                      <p:cBhvr>
                                        <p:cTn id="76" dur="1" fill="hold">
                                          <p:stCondLst>
                                            <p:cond delay="0"/>
                                          </p:stCondLst>
                                        </p:cTn>
                                        <p:tgtEl>
                                          <p:spTgt spid="16"/>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3"/>
                                        </p:tgtEl>
                                      </p:cBhvr>
                                    </p:animEffect>
                                    <p:set>
                                      <p:cBhvr>
                                        <p:cTn id="79" dur="1" fill="hold">
                                          <p:stCondLst>
                                            <p:cond delay="0"/>
                                          </p:stCondLst>
                                        </p:cTn>
                                        <p:tgtEl>
                                          <p:spTgt spid="13"/>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17"/>
                                        </p:tgtEl>
                                      </p:cBhvr>
                                    </p:animEffect>
                                    <p:set>
                                      <p:cBhvr>
                                        <p:cTn id="82" dur="1" fill="hold">
                                          <p:stCondLst>
                                            <p:cond delay="0"/>
                                          </p:stCondLst>
                                        </p:cTn>
                                        <p:tgtEl>
                                          <p:spTgt spid="17"/>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animEffect transition="in" filter="fade">
                                      <p:cBhvr>
                                        <p:cTn id="86" dur="500"/>
                                        <p:tgtEl>
                                          <p:spTgt spid="18"/>
                                        </p:tgtEl>
                                      </p:cBhvr>
                                    </p:animEffect>
                                    <p:set>
                                      <p:cBhvr>
                                        <p:cTn id="8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Effectiveness-Data-Cost Triangle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Oval 4"/>
          <p:cNvSpPr/>
          <p:nvPr/>
        </p:nvSpPr>
        <p:spPr>
          <a:xfrm>
            <a:off x="3845842" y="1371600"/>
            <a:ext cx="1315154" cy="1315154"/>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Effectiveness</a:t>
            </a:r>
          </a:p>
        </p:txBody>
      </p:sp>
      <p:sp>
        <p:nvSpPr>
          <p:cNvPr id="6" name="Oval 5"/>
          <p:cNvSpPr/>
          <p:nvPr/>
        </p:nvSpPr>
        <p:spPr>
          <a:xfrm>
            <a:off x="899412" y="2869634"/>
            <a:ext cx="1172975" cy="1172975"/>
          </a:xfrm>
          <a:prstGeom prst="ellipse">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Data</a:t>
            </a:r>
          </a:p>
        </p:txBody>
      </p:sp>
      <p:sp>
        <p:nvSpPr>
          <p:cNvPr id="7" name="Oval 6"/>
          <p:cNvSpPr/>
          <p:nvPr/>
        </p:nvSpPr>
        <p:spPr>
          <a:xfrm>
            <a:off x="3322572" y="2869634"/>
            <a:ext cx="1172975" cy="1172975"/>
          </a:xfrm>
          <a:prstGeom prst="ellipse">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Cost</a:t>
            </a:r>
          </a:p>
        </p:txBody>
      </p:sp>
      <p:sp>
        <p:nvSpPr>
          <p:cNvPr id="8" name="Rectangle 7"/>
          <p:cNvSpPr/>
          <p:nvPr/>
        </p:nvSpPr>
        <p:spPr>
          <a:xfrm>
            <a:off x="731520" y="4225490"/>
            <a:ext cx="54864" cy="873893"/>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4225490"/>
            <a:ext cx="3262274" cy="327620"/>
          </a:xfrm>
          <a:prstGeom prst="rect">
            <a:avLst/>
          </a:prstGeom>
          <a:noFill/>
        </p:spPr>
        <p:txBody>
          <a:bodyPr wrap="square">
            <a:spAutoFit/>
          </a:bodyPr>
          <a:lstStyle/>
          <a:p>
            <a:pPr algn="l">
              <a:defRPr sz="1800" b="1" i="0">
                <a:solidFill>
                  <a:srgbClr val="5C82AD"/>
                </a:solidFill>
                <a:latin typeface="Liberation Sans"/>
              </a:defRPr>
            </a:pPr>
            <a:r>
              <a:t>Effectiveness</a:t>
            </a:r>
          </a:p>
        </p:txBody>
      </p:sp>
      <p:sp>
        <p:nvSpPr>
          <p:cNvPr id="10" name="TextBox 9"/>
          <p:cNvSpPr txBox="1"/>
          <p:nvPr/>
        </p:nvSpPr>
        <p:spPr>
          <a:xfrm>
            <a:off x="923544" y="4644551"/>
            <a:ext cx="3262274" cy="454833"/>
          </a:xfrm>
          <a:prstGeom prst="rect">
            <a:avLst/>
          </a:prstGeom>
          <a:noFill/>
        </p:spPr>
        <p:txBody>
          <a:bodyPr wrap="square">
            <a:spAutoFit/>
          </a:bodyPr>
          <a:lstStyle/>
          <a:p>
            <a:pPr algn="l">
              <a:defRPr sz="1400" b="0" i="0">
                <a:solidFill>
                  <a:srgbClr val="223043"/>
                </a:solidFill>
                <a:latin typeface="Liberation Sans"/>
              </a:defRPr>
            </a:pPr>
            <a:r>
              <a:t>Higher diagnosis quality and richer causal coverage.</a:t>
            </a:r>
          </a:p>
        </p:txBody>
      </p:sp>
      <p:sp>
        <p:nvSpPr>
          <p:cNvPr id="11" name="Rectangle 10"/>
          <p:cNvSpPr/>
          <p:nvPr/>
        </p:nvSpPr>
        <p:spPr>
          <a:xfrm>
            <a:off x="4368698" y="4225490"/>
            <a:ext cx="54864" cy="873893"/>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0722" y="4225490"/>
            <a:ext cx="3262274" cy="327620"/>
          </a:xfrm>
          <a:prstGeom prst="rect">
            <a:avLst/>
          </a:prstGeom>
          <a:noFill/>
        </p:spPr>
        <p:txBody>
          <a:bodyPr wrap="square">
            <a:spAutoFit/>
          </a:bodyPr>
          <a:lstStyle/>
          <a:p>
            <a:pPr algn="l">
              <a:defRPr sz="1800" b="1" i="0">
                <a:solidFill>
                  <a:srgbClr val="8FAAC8"/>
                </a:solidFill>
                <a:latin typeface="Liberation Sans"/>
              </a:defRPr>
            </a:pPr>
            <a:r>
              <a:t>Data</a:t>
            </a:r>
          </a:p>
        </p:txBody>
      </p:sp>
      <p:sp>
        <p:nvSpPr>
          <p:cNvPr id="13" name="TextBox 12"/>
          <p:cNvSpPr txBox="1"/>
          <p:nvPr/>
        </p:nvSpPr>
        <p:spPr>
          <a:xfrm>
            <a:off x="4560722" y="4644551"/>
            <a:ext cx="3262274" cy="454833"/>
          </a:xfrm>
          <a:prstGeom prst="rect">
            <a:avLst/>
          </a:prstGeom>
          <a:noFill/>
        </p:spPr>
        <p:txBody>
          <a:bodyPr wrap="square">
            <a:spAutoFit/>
          </a:bodyPr>
          <a:lstStyle/>
          <a:p>
            <a:pPr algn="l">
              <a:defRPr sz="1400" b="0" i="0">
                <a:solidFill>
                  <a:srgbClr val="223043"/>
                </a:solidFill>
                <a:latin typeface="Liberation Sans"/>
              </a:defRPr>
            </a:pPr>
            <a:r>
              <a:t>More telemetry, more modalities, deeper observability.</a:t>
            </a:r>
          </a:p>
        </p:txBody>
      </p:sp>
      <p:sp>
        <p:nvSpPr>
          <p:cNvPr id="14" name="Rectangle 13"/>
          <p:cNvSpPr/>
          <p:nvPr/>
        </p:nvSpPr>
        <p:spPr>
          <a:xfrm>
            <a:off x="8005876" y="4225490"/>
            <a:ext cx="54864" cy="873893"/>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7900" y="4225490"/>
            <a:ext cx="3262274" cy="327620"/>
          </a:xfrm>
          <a:prstGeom prst="rect">
            <a:avLst/>
          </a:prstGeom>
          <a:noFill/>
        </p:spPr>
        <p:txBody>
          <a:bodyPr wrap="square">
            <a:spAutoFit/>
          </a:bodyPr>
          <a:lstStyle/>
          <a:p>
            <a:pPr algn="l">
              <a:defRPr sz="1800" b="1" i="0">
                <a:solidFill>
                  <a:srgbClr val="D8A86A"/>
                </a:solidFill>
                <a:latin typeface="Liberation Sans"/>
              </a:defRPr>
            </a:pPr>
            <a:r>
              <a:t>Cost</a:t>
            </a:r>
          </a:p>
        </p:txBody>
      </p:sp>
      <p:sp>
        <p:nvSpPr>
          <p:cNvPr id="16" name="TextBox 15"/>
          <p:cNvSpPr txBox="1"/>
          <p:nvPr/>
        </p:nvSpPr>
        <p:spPr>
          <a:xfrm>
            <a:off x="8197900" y="4644551"/>
            <a:ext cx="3262274" cy="454833"/>
          </a:xfrm>
          <a:prstGeom prst="rect">
            <a:avLst/>
          </a:prstGeom>
          <a:noFill/>
        </p:spPr>
        <p:txBody>
          <a:bodyPr wrap="square">
            <a:spAutoFit/>
          </a:bodyPr>
          <a:lstStyle/>
          <a:p>
            <a:pPr algn="l">
              <a:defRPr sz="1400" b="0" i="0">
                <a:solidFill>
                  <a:srgbClr val="223043"/>
                </a:solidFill>
                <a:latin typeface="Liberation Sans"/>
              </a:defRPr>
            </a:pPr>
            <a:r>
              <a:t>Ingestion, storage, and compute all rise with scope and granularity.</a:t>
            </a:r>
          </a:p>
        </p:txBody>
      </p:sp>
      <p:sp>
        <p:nvSpPr>
          <p:cNvPr id="17" name="TextBox 16"/>
          <p:cNvSpPr txBox="1"/>
          <p:nvPr/>
        </p:nvSpPr>
        <p:spPr>
          <a:xfrm>
            <a:off x="731520" y="5282264"/>
            <a:ext cx="10728655" cy="335681"/>
          </a:xfrm>
          <a:prstGeom prst="rect">
            <a:avLst/>
          </a:prstGeom>
          <a:noFill/>
        </p:spPr>
        <p:txBody>
          <a:bodyPr wrap="square">
            <a:spAutoFit/>
          </a:bodyPr>
          <a:lstStyle/>
          <a:p>
            <a:pPr algn="l">
              <a:defRPr sz="1800" b="0" i="1">
                <a:solidFill>
                  <a:srgbClr val="647489"/>
                </a:solidFill>
                <a:latin typeface="Liberation Sans"/>
              </a:defRPr>
            </a:pPr>
            <a:r>
              <a:t>Higher effectiveness usually demands richer data, and richer data raises system cost.</a:t>
            </a:r>
          </a:p>
        </p:txBody>
      </p:sp>
      <p:sp>
        <p:nvSpPr>
          <p:cNvPr id="18" name="Rectangle 17"/>
          <p:cNvSpPr/>
          <p:nvPr/>
        </p:nvSpPr>
        <p:spPr>
          <a:xfrm>
            <a:off x="731520" y="5800825"/>
            <a:ext cx="54864" cy="691414"/>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800825"/>
            <a:ext cx="10536631" cy="325245"/>
          </a:xfrm>
          <a:prstGeom prst="rect">
            <a:avLst/>
          </a:prstGeom>
          <a:noFill/>
        </p:spPr>
        <p:txBody>
          <a:bodyPr wrap="square">
            <a:spAutoFit/>
          </a:bodyPr>
          <a:lstStyle/>
          <a:p>
            <a:pPr algn="l">
              <a:defRPr sz="1800" b="1" i="0">
                <a:solidFill>
                  <a:srgbClr val="D8A86A"/>
                </a:solidFill>
                <a:latin typeface="Liberation Sans"/>
              </a:defRPr>
            </a:pPr>
            <a:r>
              <a:t>Trade-off</a:t>
            </a:r>
          </a:p>
        </p:txBody>
      </p:sp>
      <p:sp>
        <p:nvSpPr>
          <p:cNvPr id="20" name="TextBox 19"/>
          <p:cNvSpPr txBox="1"/>
          <p:nvPr/>
        </p:nvSpPr>
        <p:spPr>
          <a:xfrm>
            <a:off x="923544" y="6217510"/>
            <a:ext cx="10536631" cy="274729"/>
          </a:xfrm>
          <a:prstGeom prst="rect">
            <a:avLst/>
          </a:prstGeom>
          <a:noFill/>
        </p:spPr>
        <p:txBody>
          <a:bodyPr wrap="square">
            <a:spAutoFit/>
          </a:bodyPr>
          <a:lstStyle/>
          <a:p>
            <a:pPr algn="l">
              <a:defRPr sz="1400" b="0" i="0">
                <a:solidFill>
                  <a:srgbClr val="223043"/>
                </a:solidFill>
                <a:latin typeface="Liberation Sans"/>
              </a:defRPr>
            </a:pPr>
            <a:r>
              <a:t>Richer observation can improve RCA effectiveness, but it inevitably raises data and compute costs.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0"/>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1"/>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9"/>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2"/>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3"/>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7"/>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8"/>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11"/>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4"/>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8"/>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9"/>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12"/>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15"/>
                            </p:tgtEl>
                            <p:attrNameLst>
                              <p:attrName>style.visibility</p:attrName>
                            </p:attrNameLst>
                          </p:cBhvr>
                          <p:to>
                            <p:strVal val="hidden"/>
                          </p:to>
                        </p:set>
                      </p:childTnLst>
                    </p:cTn>
                  </p:par>
                  <p:par>
                    <p:cTn id="60" fill="hold">
                      <p:stCondLst>
                        <p:cond delay="0"/>
                      </p:stCondLst>
                      <p:childTnLst>
                        <p:set>
                          <p:cBhvr>
                            <p:cTn id="61" dur="1" fill="hold">
                              <p:stCondLst>
                                <p:cond delay="0"/>
                              </p:stCondLst>
                            </p:cTn>
                            <p:tgtEl>
                              <p:spTgt spid="19"/>
                            </p:tgtEl>
                            <p:attrNameLst>
                              <p:attrName>style.visibility</p:attrName>
                            </p:attrNameLst>
                          </p:cBhvr>
                          <p:to>
                            <p:strVal val="hidden"/>
                          </p:to>
                        </p:set>
                      </p:childTnLst>
                    </p:cTn>
                  </p:par>
                  <p:par>
                    <p:cTn id="62" fill="hold">
                      <p:stCondLst>
                        <p:cond delay="0"/>
                      </p:stCondLst>
                      <p:childTnLst>
                        <p:set>
                          <p:cBhvr>
                            <p:cTn id="63" dur="1" fill="hold">
                              <p:stCondLst>
                                <p:cond delay="0"/>
                              </p:stCondLst>
                            </p:cTn>
                            <p:tgtEl>
                              <p:spTgt spid="10"/>
                            </p:tgtEl>
                            <p:attrNameLst>
                              <p:attrName>style.visibility</p:attrName>
                            </p:attrNameLst>
                          </p:cBhvr>
                          <p:to>
                            <p:strVal val="hidden"/>
                          </p:to>
                        </p:set>
                      </p:childTnLst>
                    </p:cTn>
                  </p:par>
                  <p:par>
                    <p:cTn id="64" fill="hold">
                      <p:stCondLst>
                        <p:cond delay="0"/>
                      </p:stCondLst>
                      <p:childTnLst>
                        <p:set>
                          <p:cBhvr>
                            <p:cTn id="65" dur="1" fill="hold">
                              <p:stCondLst>
                                <p:cond delay="0"/>
                              </p:stCondLst>
                            </p:cTn>
                            <p:tgtEl>
                              <p:spTgt spid="13"/>
                            </p:tgtEl>
                            <p:attrNameLst>
                              <p:attrName>style.visibility</p:attrName>
                            </p:attrNameLst>
                          </p:cBhvr>
                          <p:to>
                            <p:strVal val="hidden"/>
                          </p:to>
                        </p:set>
                      </p:childTnLst>
                    </p:cTn>
                  </p:par>
                  <p:par>
                    <p:cTn id="66" fill="hold">
                      <p:stCondLst>
                        <p:cond delay="0"/>
                      </p:stCondLst>
                      <p:childTnLst>
                        <p:set>
                          <p:cBhvr>
                            <p:cTn id="67" dur="1" fill="hold">
                              <p:stCondLst>
                                <p:cond delay="0"/>
                              </p:stCondLst>
                            </p:cTn>
                            <p:tgtEl>
                              <p:spTgt spid="16"/>
                            </p:tgtEl>
                            <p:attrNameLst>
                              <p:attrName>style.visibility</p:attrName>
                            </p:attrNameLst>
                          </p:cBhvr>
                          <p:to>
                            <p:strVal val="hidden"/>
                          </p:to>
                        </p:set>
                      </p:childTnLst>
                    </p:cTn>
                  </p:par>
                  <p:par>
                    <p:cTn id="68" fill="hold">
                      <p:stCondLst>
                        <p:cond delay="0"/>
                      </p:stCondLst>
                      <p:childTnLst>
                        <p:set>
                          <p:cBhvr>
                            <p:cTn id="69" dur="1" fill="hold">
                              <p:stCondLst>
                                <p:cond delay="0"/>
                              </p:stCondLst>
                            </p:cTn>
                            <p:tgtEl>
                              <p:spTgt spid="20"/>
                            </p:tgtEl>
                            <p:attrNameLst>
                              <p:attrName>style.visibility</p:attrName>
                            </p:attrNameLst>
                          </p:cBhvr>
                          <p:to>
                            <p:strVal val="hidden"/>
                          </p:to>
                        </p:set>
                      </p:childTnLst>
                    </p:cTn>
                  </p:par>
                </p:childTnLst>
              </p:cTn>
            </p:par>
            <p:seq concurrent="1" nextAc="seek">
              <p:cTn id="70" dur="indefinite" nodeType="mainSeq">
                <p:childTnLst>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animEffect transition="in" filter="fade">
                                      <p:cBhvr>
                                        <p:cTn id="74" dur="500"/>
                                        <p:tgtEl>
                                          <p:spTgt spid="5"/>
                                        </p:tgtEl>
                                      </p:cBhvr>
                                    </p:animEffect>
                                    <p:set>
                                      <p:cBhvr>
                                        <p:cTn id="75" dur="1" fill="hold">
                                          <p:stCondLst>
                                            <p:cond delay="0"/>
                                          </p:stCondLst>
                                        </p:cTn>
                                        <p:tgtEl>
                                          <p:spTgt spid="5"/>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6"/>
                                        </p:tgtEl>
                                      </p:cBhvr>
                                    </p:animEffect>
                                    <p:set>
                                      <p:cBhvr>
                                        <p:cTn id="80" dur="1" fill="hold">
                                          <p:stCondLst>
                                            <p:cond delay="0"/>
                                          </p:stCondLst>
                                        </p:cTn>
                                        <p:tgtEl>
                                          <p:spTgt spid="6"/>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7"/>
                                        </p:tgtEl>
                                      </p:cBhvr>
                                    </p:animEffect>
                                    <p:set>
                                      <p:cBhvr>
                                        <p:cTn id="83" dur="1" fill="hold">
                                          <p:stCondLst>
                                            <p:cond delay="0"/>
                                          </p:stCondLst>
                                        </p:cTn>
                                        <p:tgtEl>
                                          <p:spTgt spid="7"/>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8"/>
                                        </p:tgtEl>
                                      </p:cBhvr>
                                    </p:animEffect>
                                    <p:set>
                                      <p:cBhvr>
                                        <p:cTn id="86" dur="1" fill="hold">
                                          <p:stCondLst>
                                            <p:cond delay="0"/>
                                          </p:stCondLst>
                                        </p:cTn>
                                        <p:tgtEl>
                                          <p:spTgt spid="8"/>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9"/>
                                        </p:tgtEl>
                                      </p:cBhvr>
                                    </p:animEffect>
                                    <p:set>
                                      <p:cBhvr>
                                        <p:cTn id="89" dur="1" fill="hold">
                                          <p:stCondLst>
                                            <p:cond delay="0"/>
                                          </p:stCondLst>
                                        </p:cTn>
                                        <p:tgtEl>
                                          <p:spTgt spid="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0"/>
                                        </p:tgtEl>
                                      </p:cBhvr>
                                    </p:animEffect>
                                    <p:set>
                                      <p:cBhvr>
                                        <p:cTn id="92" dur="1" fill="hold">
                                          <p:stCondLst>
                                            <p:cond delay="0"/>
                                          </p:stCondLst>
                                        </p:cTn>
                                        <p:tgtEl>
                                          <p:spTgt spid="10"/>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8"/>
                                        </p:tgtEl>
                                      </p:cBhvr>
                                    </p:animEffect>
                                    <p:set>
                                      <p:cBhvr>
                                        <p:cTn id="95" dur="1" fill="hold">
                                          <p:stCondLst>
                                            <p:cond delay="0"/>
                                          </p:stCondLst>
                                        </p:cTn>
                                        <p:tgtEl>
                                          <p:spTgt spid="8"/>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11"/>
                                        </p:tgtEl>
                                      </p:cBhvr>
                                    </p:animEffect>
                                    <p:set>
                                      <p:cBhvr>
                                        <p:cTn id="98" dur="1" fill="hold">
                                          <p:stCondLst>
                                            <p:cond delay="0"/>
                                          </p:stCondLst>
                                        </p:cTn>
                                        <p:tgtEl>
                                          <p:spTgt spid="11"/>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9"/>
                                        </p:tgtEl>
                                      </p:cBhvr>
                                    </p:animEffect>
                                    <p:set>
                                      <p:cBhvr>
                                        <p:cTn id="101" dur="1" fill="hold">
                                          <p:stCondLst>
                                            <p:cond delay="0"/>
                                          </p:stCondLst>
                                        </p:cTn>
                                        <p:tgtEl>
                                          <p:spTgt spid="9"/>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2"/>
                                        </p:tgtEl>
                                      </p:cBhvr>
                                    </p:animEffect>
                                    <p:set>
                                      <p:cBhvr>
                                        <p:cTn id="104" dur="1" fill="hold">
                                          <p:stCondLst>
                                            <p:cond delay="0"/>
                                          </p:stCondLst>
                                        </p:cTn>
                                        <p:tgtEl>
                                          <p:spTgt spid="12"/>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0"/>
                                        </p:tgtEl>
                                      </p:cBhvr>
                                    </p:animEffect>
                                    <p:set>
                                      <p:cBhvr>
                                        <p:cTn id="107" dur="1" fill="hold">
                                          <p:stCondLst>
                                            <p:cond delay="0"/>
                                          </p:stCondLst>
                                        </p:cTn>
                                        <p:tgtEl>
                                          <p:spTgt spid="10"/>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3"/>
                                        </p:tgtEl>
                                      </p:cBhvr>
                                    </p:animEffect>
                                    <p:set>
                                      <p:cBhvr>
                                        <p:cTn id="110" dur="1" fill="hold">
                                          <p:stCondLst>
                                            <p:cond delay="0"/>
                                          </p:stCondLst>
                                        </p:cTn>
                                        <p:tgtEl>
                                          <p:spTgt spid="13"/>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8"/>
                                        </p:tgtEl>
                                      </p:cBhvr>
                                    </p:animEffect>
                                    <p:set>
                                      <p:cBhvr>
                                        <p:cTn id="113" dur="1" fill="hold">
                                          <p:stCondLst>
                                            <p:cond delay="0"/>
                                          </p:stCondLst>
                                        </p:cTn>
                                        <p:tgtEl>
                                          <p:spTgt spid="8"/>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1"/>
                                        </p:tgtEl>
                                      </p:cBhvr>
                                    </p:animEffect>
                                    <p:set>
                                      <p:cBhvr>
                                        <p:cTn id="116" dur="1" fill="hold">
                                          <p:stCondLst>
                                            <p:cond delay="0"/>
                                          </p:stCondLst>
                                        </p:cTn>
                                        <p:tgtEl>
                                          <p:spTgt spid="11"/>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4"/>
                                        </p:tgtEl>
                                      </p:cBhvr>
                                    </p:animEffect>
                                    <p:set>
                                      <p:cBhvr>
                                        <p:cTn id="119" dur="1" fill="hold">
                                          <p:stCondLst>
                                            <p:cond delay="0"/>
                                          </p:stCondLst>
                                        </p:cTn>
                                        <p:tgtEl>
                                          <p:spTgt spid="14"/>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9"/>
                                        </p:tgtEl>
                                      </p:cBhvr>
                                    </p:animEffect>
                                    <p:set>
                                      <p:cBhvr>
                                        <p:cTn id="122" dur="1" fill="hold">
                                          <p:stCondLst>
                                            <p:cond delay="0"/>
                                          </p:stCondLst>
                                        </p:cTn>
                                        <p:tgtEl>
                                          <p:spTgt spid="9"/>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12"/>
                                        </p:tgtEl>
                                      </p:cBhvr>
                                    </p:animEffect>
                                    <p:set>
                                      <p:cBhvr>
                                        <p:cTn id="125" dur="1" fill="hold">
                                          <p:stCondLst>
                                            <p:cond delay="0"/>
                                          </p:stCondLst>
                                        </p:cTn>
                                        <p:tgtEl>
                                          <p:spTgt spid="12"/>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15"/>
                                        </p:tgtEl>
                                      </p:cBhvr>
                                    </p:animEffect>
                                    <p:set>
                                      <p:cBhvr>
                                        <p:cTn id="128" dur="1" fill="hold">
                                          <p:stCondLst>
                                            <p:cond delay="0"/>
                                          </p:stCondLst>
                                        </p:cTn>
                                        <p:tgtEl>
                                          <p:spTgt spid="15"/>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0"/>
                                        </p:tgtEl>
                                      </p:cBhvr>
                                    </p:animEffect>
                                    <p:set>
                                      <p:cBhvr>
                                        <p:cTn id="131" dur="1" fill="hold">
                                          <p:stCondLst>
                                            <p:cond delay="0"/>
                                          </p:stCondLst>
                                        </p:cTn>
                                        <p:tgtEl>
                                          <p:spTgt spid="10"/>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3"/>
                                        </p:tgtEl>
                                      </p:cBhvr>
                                    </p:animEffect>
                                    <p:set>
                                      <p:cBhvr>
                                        <p:cTn id="134" dur="1" fill="hold">
                                          <p:stCondLst>
                                            <p:cond delay="0"/>
                                          </p:stCondLst>
                                        </p:cTn>
                                        <p:tgtEl>
                                          <p:spTgt spid="13"/>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6"/>
                                        </p:tgtEl>
                                      </p:cBhvr>
                                    </p:animEffect>
                                    <p:set>
                                      <p:cBhvr>
                                        <p:cTn id="137" dur="1" fill="hold">
                                          <p:stCondLst>
                                            <p:cond delay="0"/>
                                          </p:stCondLst>
                                        </p:cTn>
                                        <p:tgtEl>
                                          <p:spTgt spid="16"/>
                                        </p:tgtEl>
                                        <p:attrNameLst>
                                          <p:attrName>style.visibility</p:attrName>
                                        </p:attrNameLst>
                                      </p:cBhvr>
                                      <p:to>
                                        <p:strVal val="visible"/>
                                      </p:to>
                                    </p:set>
                                  </p:childTnLst>
                                </p:cTn>
                              </p:par>
                            </p:childTnLst>
                          </p:cTn>
                        </p:par>
                      </p:childTnLst>
                    </p:cTn>
                  </p:par>
                  <p:par>
                    <p:cTn id="138" fill="hold">
                      <p:stCondLst>
                        <p:cond delay="indefinite"/>
                      </p:stCondLst>
                      <p:childTnLst>
                        <p:par>
                          <p:cTn id="139" fill="hold">
                            <p:stCondLst>
                              <p:cond delay="0"/>
                            </p:stCondLst>
                            <p:childTnLst>
                              <p:par>
                                <p:cTn id="140" presetID="10" presetClass="entr" presetSubtype="0" fill="hold" grpId="0" nodeType="clickEffect">
                                  <p:stCondLst>
                                    <p:cond delay="0"/>
                                  </p:stCondLst>
                                  <p:childTnLst>
                                    <p:animEffect transition="in" filter="fade">
                                      <p:cBhvr>
                                        <p:cTn id="141" dur="500"/>
                                        <p:tgtEl>
                                          <p:spTgt spid="17"/>
                                        </p:tgtEl>
                                      </p:cBhvr>
                                    </p:animEffect>
                                    <p:set>
                                      <p:cBhvr>
                                        <p:cTn id="142" dur="1" fill="hold">
                                          <p:stCondLst>
                                            <p:cond delay="0"/>
                                          </p:stCondLst>
                                        </p:cTn>
                                        <p:tgtEl>
                                          <p:spTgt spid="17"/>
                                        </p:tgtEl>
                                        <p:attrNameLst>
                                          <p:attrName>style.visibility</p:attrName>
                                        </p:attrNameLst>
                                      </p:cBhvr>
                                      <p:to>
                                        <p:strVal val="visible"/>
                                      </p:to>
                                    </p:set>
                                  </p:childTnLst>
                                </p:cTn>
                              </p:par>
                              <p:par>
                                <p:cTn id="143" presetID="10" presetClass="entr" presetSubtype="0" fill="hold" grpId="0" nodeType="withEffect">
                                  <p:stCondLst>
                                    <p:cond delay="0"/>
                                  </p:stCondLst>
                                  <p:childTnLst>
                                    <p:animEffect transition="in" filter="fade">
                                      <p:cBhvr>
                                        <p:cTn id="144" dur="500"/>
                                        <p:tgtEl>
                                          <p:spTgt spid="8"/>
                                        </p:tgtEl>
                                      </p:cBhvr>
                                    </p:animEffect>
                                    <p:set>
                                      <p:cBhvr>
                                        <p:cTn id="145" dur="1" fill="hold">
                                          <p:stCondLst>
                                            <p:cond delay="0"/>
                                          </p:stCondLst>
                                        </p:cTn>
                                        <p:tgtEl>
                                          <p:spTgt spid="8"/>
                                        </p:tgtEl>
                                        <p:attrNameLst>
                                          <p:attrName>style.visibility</p:attrName>
                                        </p:attrNameLst>
                                      </p:cBhvr>
                                      <p:to>
                                        <p:strVal val="visible"/>
                                      </p:to>
                                    </p:set>
                                  </p:childTnLst>
                                </p:cTn>
                              </p:par>
                              <p:par>
                                <p:cTn id="146" presetID="10" presetClass="entr" presetSubtype="0" fill="hold" grpId="0" nodeType="withEffect">
                                  <p:stCondLst>
                                    <p:cond delay="0"/>
                                  </p:stCondLst>
                                  <p:childTnLst>
                                    <p:animEffect transition="in" filter="fade">
                                      <p:cBhvr>
                                        <p:cTn id="147" dur="500"/>
                                        <p:tgtEl>
                                          <p:spTgt spid="11"/>
                                        </p:tgtEl>
                                      </p:cBhvr>
                                    </p:animEffect>
                                    <p:set>
                                      <p:cBhvr>
                                        <p:cTn id="148" dur="1" fill="hold">
                                          <p:stCondLst>
                                            <p:cond delay="0"/>
                                          </p:stCondLst>
                                        </p:cTn>
                                        <p:tgtEl>
                                          <p:spTgt spid="11"/>
                                        </p:tgtEl>
                                        <p:attrNameLst>
                                          <p:attrName>style.visibility</p:attrName>
                                        </p:attrNameLst>
                                      </p:cBhvr>
                                      <p:to>
                                        <p:strVal val="visible"/>
                                      </p:to>
                                    </p:set>
                                  </p:childTnLst>
                                </p:cTn>
                              </p:par>
                              <p:par>
                                <p:cTn id="149" presetID="10" presetClass="entr" presetSubtype="0" fill="hold" grpId="0" nodeType="withEffect">
                                  <p:stCondLst>
                                    <p:cond delay="0"/>
                                  </p:stCondLst>
                                  <p:childTnLst>
                                    <p:animEffect transition="in" filter="fade">
                                      <p:cBhvr>
                                        <p:cTn id="150" dur="500"/>
                                        <p:tgtEl>
                                          <p:spTgt spid="14"/>
                                        </p:tgtEl>
                                      </p:cBhvr>
                                    </p:animEffect>
                                    <p:set>
                                      <p:cBhvr>
                                        <p:cTn id="151" dur="1" fill="hold">
                                          <p:stCondLst>
                                            <p:cond delay="0"/>
                                          </p:stCondLst>
                                        </p:cTn>
                                        <p:tgtEl>
                                          <p:spTgt spid="14"/>
                                        </p:tgtEl>
                                        <p:attrNameLst>
                                          <p:attrName>style.visibility</p:attrName>
                                        </p:attrNameLst>
                                      </p:cBhvr>
                                      <p:to>
                                        <p:strVal val="visible"/>
                                      </p:to>
                                    </p:set>
                                  </p:childTnLst>
                                </p:cTn>
                              </p:par>
                              <p:par>
                                <p:cTn id="152" presetID="10" presetClass="entr" presetSubtype="0" fill="hold" grpId="0" nodeType="withEffect">
                                  <p:stCondLst>
                                    <p:cond delay="0"/>
                                  </p:stCondLst>
                                  <p:childTnLst>
                                    <p:animEffect transition="in" filter="fade">
                                      <p:cBhvr>
                                        <p:cTn id="153" dur="500"/>
                                        <p:tgtEl>
                                          <p:spTgt spid="18"/>
                                        </p:tgtEl>
                                      </p:cBhvr>
                                    </p:animEffect>
                                    <p:set>
                                      <p:cBhvr>
                                        <p:cTn id="154" dur="1" fill="hold">
                                          <p:stCondLst>
                                            <p:cond delay="0"/>
                                          </p:stCondLst>
                                        </p:cTn>
                                        <p:tgtEl>
                                          <p:spTgt spid="18"/>
                                        </p:tgtEl>
                                        <p:attrNameLst>
                                          <p:attrName>style.visibility</p:attrName>
                                        </p:attrNameLst>
                                      </p:cBhvr>
                                      <p:to>
                                        <p:strVal val="visible"/>
                                      </p:to>
                                    </p:set>
                                  </p:childTnLst>
                                </p:cTn>
                              </p:par>
                              <p:par>
                                <p:cTn id="155" presetID="10" presetClass="entr" presetSubtype="0" fill="hold" grpId="0" nodeType="withEffect">
                                  <p:stCondLst>
                                    <p:cond delay="0"/>
                                  </p:stCondLst>
                                  <p:childTnLst>
                                    <p:animEffect transition="in" filter="fade">
                                      <p:cBhvr>
                                        <p:cTn id="156" dur="500"/>
                                        <p:tgtEl>
                                          <p:spTgt spid="9"/>
                                        </p:tgtEl>
                                      </p:cBhvr>
                                    </p:animEffect>
                                    <p:set>
                                      <p:cBhvr>
                                        <p:cTn id="157" dur="1" fill="hold">
                                          <p:stCondLst>
                                            <p:cond delay="0"/>
                                          </p:stCondLst>
                                        </p:cTn>
                                        <p:tgtEl>
                                          <p:spTgt spid="9"/>
                                        </p:tgtEl>
                                        <p:attrNameLst>
                                          <p:attrName>style.visibility</p:attrName>
                                        </p:attrNameLst>
                                      </p:cBhvr>
                                      <p:to>
                                        <p:strVal val="visible"/>
                                      </p:to>
                                    </p:set>
                                  </p:childTnLst>
                                </p:cTn>
                              </p:par>
                              <p:par>
                                <p:cTn id="158" presetID="10" presetClass="entr" presetSubtype="0" fill="hold" grpId="0" nodeType="withEffect">
                                  <p:stCondLst>
                                    <p:cond delay="0"/>
                                  </p:stCondLst>
                                  <p:childTnLst>
                                    <p:animEffect transition="in" filter="fade">
                                      <p:cBhvr>
                                        <p:cTn id="159" dur="500"/>
                                        <p:tgtEl>
                                          <p:spTgt spid="12"/>
                                        </p:tgtEl>
                                      </p:cBhvr>
                                    </p:animEffect>
                                    <p:set>
                                      <p:cBhvr>
                                        <p:cTn id="160" dur="1" fill="hold">
                                          <p:stCondLst>
                                            <p:cond delay="0"/>
                                          </p:stCondLst>
                                        </p:cTn>
                                        <p:tgtEl>
                                          <p:spTgt spid="12"/>
                                        </p:tgtEl>
                                        <p:attrNameLst>
                                          <p:attrName>style.visibility</p:attrName>
                                        </p:attrNameLst>
                                      </p:cBhvr>
                                      <p:to>
                                        <p:strVal val="visible"/>
                                      </p:to>
                                    </p:set>
                                  </p:childTnLst>
                                </p:cTn>
                              </p:par>
                              <p:par>
                                <p:cTn id="161" presetID="10" presetClass="entr" presetSubtype="0" fill="hold" grpId="0" nodeType="withEffect">
                                  <p:stCondLst>
                                    <p:cond delay="0"/>
                                  </p:stCondLst>
                                  <p:childTnLst>
                                    <p:animEffect transition="in" filter="fade">
                                      <p:cBhvr>
                                        <p:cTn id="162" dur="500"/>
                                        <p:tgtEl>
                                          <p:spTgt spid="15"/>
                                        </p:tgtEl>
                                      </p:cBhvr>
                                    </p:animEffect>
                                    <p:set>
                                      <p:cBhvr>
                                        <p:cTn id="163" dur="1" fill="hold">
                                          <p:stCondLst>
                                            <p:cond delay="0"/>
                                          </p:stCondLst>
                                        </p:cTn>
                                        <p:tgtEl>
                                          <p:spTgt spid="15"/>
                                        </p:tgtEl>
                                        <p:attrNameLst>
                                          <p:attrName>style.visibility</p:attrName>
                                        </p:attrNameLst>
                                      </p:cBhvr>
                                      <p:to>
                                        <p:strVal val="visible"/>
                                      </p:to>
                                    </p:set>
                                  </p:childTnLst>
                                </p:cTn>
                              </p:par>
                              <p:par>
                                <p:cTn id="164" presetID="10" presetClass="entr" presetSubtype="0" fill="hold" grpId="0" nodeType="withEffect">
                                  <p:stCondLst>
                                    <p:cond delay="0"/>
                                  </p:stCondLst>
                                  <p:childTnLst>
                                    <p:animEffect transition="in" filter="fade">
                                      <p:cBhvr>
                                        <p:cTn id="165" dur="500"/>
                                        <p:tgtEl>
                                          <p:spTgt spid="19"/>
                                        </p:tgtEl>
                                      </p:cBhvr>
                                    </p:animEffect>
                                    <p:set>
                                      <p:cBhvr>
                                        <p:cTn id="166" dur="1" fill="hold">
                                          <p:stCondLst>
                                            <p:cond delay="0"/>
                                          </p:stCondLst>
                                        </p:cTn>
                                        <p:tgtEl>
                                          <p:spTgt spid="19"/>
                                        </p:tgtEl>
                                        <p:attrNameLst>
                                          <p:attrName>style.visibility</p:attrName>
                                        </p:attrNameLst>
                                      </p:cBhvr>
                                      <p:to>
                                        <p:strVal val="visible"/>
                                      </p:to>
                                    </p:set>
                                  </p:childTnLst>
                                </p:cTn>
                              </p:par>
                              <p:par>
                                <p:cTn id="167" presetID="10" presetClass="entr" presetSubtype="0" fill="hold" grpId="0" nodeType="withEffect">
                                  <p:stCondLst>
                                    <p:cond delay="0"/>
                                  </p:stCondLst>
                                  <p:childTnLst>
                                    <p:animEffect transition="in" filter="fade">
                                      <p:cBhvr>
                                        <p:cTn id="168" dur="500"/>
                                        <p:tgtEl>
                                          <p:spTgt spid="10"/>
                                        </p:tgtEl>
                                      </p:cBhvr>
                                    </p:animEffect>
                                    <p:set>
                                      <p:cBhvr>
                                        <p:cTn id="169" dur="1" fill="hold">
                                          <p:stCondLst>
                                            <p:cond delay="0"/>
                                          </p:stCondLst>
                                        </p:cTn>
                                        <p:tgtEl>
                                          <p:spTgt spid="10"/>
                                        </p:tgtEl>
                                        <p:attrNameLst>
                                          <p:attrName>style.visibility</p:attrName>
                                        </p:attrNameLst>
                                      </p:cBhvr>
                                      <p:to>
                                        <p:strVal val="visible"/>
                                      </p:to>
                                    </p:set>
                                  </p:childTnLst>
                                </p:cTn>
                              </p:par>
                              <p:par>
                                <p:cTn id="170" presetID="10" presetClass="entr" presetSubtype="0" fill="hold" grpId="0" nodeType="withEffect">
                                  <p:stCondLst>
                                    <p:cond delay="0"/>
                                  </p:stCondLst>
                                  <p:childTnLst>
                                    <p:animEffect transition="in" filter="fade">
                                      <p:cBhvr>
                                        <p:cTn id="171" dur="500"/>
                                        <p:tgtEl>
                                          <p:spTgt spid="13"/>
                                        </p:tgtEl>
                                      </p:cBhvr>
                                    </p:animEffect>
                                    <p:set>
                                      <p:cBhvr>
                                        <p:cTn id="172" dur="1" fill="hold">
                                          <p:stCondLst>
                                            <p:cond delay="0"/>
                                          </p:stCondLst>
                                        </p:cTn>
                                        <p:tgtEl>
                                          <p:spTgt spid="13"/>
                                        </p:tgtEl>
                                        <p:attrNameLst>
                                          <p:attrName>style.visibility</p:attrName>
                                        </p:attrNameLst>
                                      </p:cBhvr>
                                      <p:to>
                                        <p:strVal val="visible"/>
                                      </p:to>
                                    </p:set>
                                  </p:childTnLst>
                                </p:cTn>
                              </p:par>
                              <p:par>
                                <p:cTn id="173" presetID="10" presetClass="entr" presetSubtype="0" fill="hold" grpId="0" nodeType="withEffect">
                                  <p:stCondLst>
                                    <p:cond delay="0"/>
                                  </p:stCondLst>
                                  <p:childTnLst>
                                    <p:animEffect transition="in" filter="fade">
                                      <p:cBhvr>
                                        <p:cTn id="174" dur="500"/>
                                        <p:tgtEl>
                                          <p:spTgt spid="16"/>
                                        </p:tgtEl>
                                      </p:cBhvr>
                                    </p:animEffect>
                                    <p:set>
                                      <p:cBhvr>
                                        <p:cTn id="175" dur="1" fill="hold">
                                          <p:stCondLst>
                                            <p:cond delay="0"/>
                                          </p:stCondLst>
                                        </p:cTn>
                                        <p:tgtEl>
                                          <p:spTgt spid="16"/>
                                        </p:tgtEl>
                                        <p:attrNameLst>
                                          <p:attrName>style.visibility</p:attrName>
                                        </p:attrNameLst>
                                      </p:cBhvr>
                                      <p:to>
                                        <p:strVal val="visible"/>
                                      </p:to>
                                    </p:set>
                                  </p:childTnLst>
                                </p:cTn>
                              </p:par>
                              <p:par>
                                <p:cTn id="176" presetID="10" presetClass="entr" presetSubtype="0" fill="hold" grpId="0" nodeType="withEffect">
                                  <p:stCondLst>
                                    <p:cond delay="0"/>
                                  </p:stCondLst>
                                  <p:childTnLst>
                                    <p:animEffect transition="in" filter="fade">
                                      <p:cBhvr>
                                        <p:cTn id="177" dur="500"/>
                                        <p:tgtEl>
                                          <p:spTgt spid="20"/>
                                        </p:tgtEl>
                                      </p:cBhvr>
                                    </p:animEffect>
                                    <p:set>
                                      <p:cBhvr>
                                        <p:cTn id="17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Ideal RCA Formalization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Goal-driven RCA survey</a:t>
            </a:r>
          </a:p>
        </p:txBody>
      </p:sp>
      <p:sp>
        <p:nvSpPr>
          <p:cNvPr id="5" name="TextBox 4"/>
          <p:cNvSpPr txBox="1"/>
          <p:nvPr/>
        </p:nvSpPr>
        <p:spPr>
          <a:xfrm>
            <a:off x="731520" y="1371600"/>
            <a:ext cx="10728655" cy="623316"/>
          </a:xfrm>
          <a:prstGeom prst="rect">
            <a:avLst/>
          </a:prstGeom>
          <a:noFill/>
        </p:spPr>
        <p:txBody>
          <a:bodyPr wrap="square">
            <a:spAutoFit/>
          </a:bodyPr>
          <a:lstStyle/>
          <a:p>
            <a:pPr algn="ctr">
              <a:defRPr sz="3000" b="1" i="0">
                <a:solidFill>
                  <a:srgbClr val="5C82AD"/>
                </a:solidFill>
                <a:latin typeface="Liberation Sans"/>
              </a:defRPr>
            </a:pPr>
            <a:r>
              <a:t>F: O -&gt; G</a:t>
            </a:r>
          </a:p>
        </p:txBody>
      </p:sp>
      <p:sp>
        <p:nvSpPr>
          <p:cNvPr id="6" name="Rounded Rectangle 5"/>
          <p:cNvSpPr/>
          <p:nvPr/>
        </p:nvSpPr>
        <p:spPr>
          <a:xfrm>
            <a:off x="731520" y="2250948"/>
            <a:ext cx="1315720"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Observation</a:t>
            </a:r>
          </a:p>
        </p:txBody>
      </p:sp>
      <p:cxnSp>
        <p:nvCxnSpPr>
          <p:cNvPr id="7" name="Connector 6"/>
          <p:cNvCxnSpPr/>
          <p:nvPr/>
        </p:nvCxnSpPr>
        <p:spPr>
          <a:xfrm>
            <a:off x="2047240" y="2625852"/>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22728" y="2250948"/>
            <a:ext cx="106172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Inference</a:t>
            </a:r>
          </a:p>
        </p:txBody>
      </p:sp>
      <p:cxnSp>
        <p:nvCxnSpPr>
          <p:cNvPr id="9" name="Connector 8"/>
          <p:cNvCxnSpPr/>
          <p:nvPr/>
        </p:nvCxnSpPr>
        <p:spPr>
          <a:xfrm>
            <a:off x="3584448" y="2625852"/>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059936" y="2250948"/>
            <a:ext cx="184912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Propagation graph</a:t>
            </a:r>
          </a:p>
        </p:txBody>
      </p:sp>
      <p:sp>
        <p:nvSpPr>
          <p:cNvPr id="11" name="Rectangle 10"/>
          <p:cNvSpPr/>
          <p:nvPr/>
        </p:nvSpPr>
        <p:spPr>
          <a:xfrm>
            <a:off x="731520" y="3256788"/>
            <a:ext cx="54864" cy="110693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256788"/>
            <a:ext cx="5044287" cy="425196"/>
          </a:xfrm>
          <a:prstGeom prst="rect">
            <a:avLst/>
          </a:prstGeom>
          <a:noFill/>
        </p:spPr>
        <p:txBody>
          <a:bodyPr wrap="square">
            <a:spAutoFit/>
          </a:bodyPr>
          <a:lstStyle/>
          <a:p>
            <a:pPr algn="l">
              <a:defRPr sz="1800" b="1" i="0">
                <a:solidFill>
                  <a:srgbClr val="8FAAC8"/>
                </a:solidFill>
                <a:latin typeface="Liberation Sans"/>
              </a:defRPr>
            </a:pPr>
            <a:r>
              <a:t>O: observation data</a:t>
            </a:r>
          </a:p>
        </p:txBody>
      </p:sp>
      <p:sp>
        <p:nvSpPr>
          <p:cNvPr id="13" name="TextBox 12"/>
          <p:cNvSpPr txBox="1"/>
          <p:nvPr/>
        </p:nvSpPr>
        <p:spPr>
          <a:xfrm>
            <a:off x="923544" y="3773424"/>
            <a:ext cx="5044287" cy="590296"/>
          </a:xfrm>
          <a:prstGeom prst="rect">
            <a:avLst/>
          </a:prstGeom>
          <a:noFill/>
        </p:spPr>
        <p:txBody>
          <a:bodyPr wrap="square">
            <a:spAutoFit/>
          </a:bodyPr>
          <a:lstStyle/>
          <a:p>
            <a:pPr algn="l">
              <a:defRPr sz="1400" b="0" i="0">
                <a:solidFill>
                  <a:srgbClr val="223043"/>
                </a:solidFill>
                <a:latin typeface="Liberation Sans"/>
              </a:defRPr>
            </a:pPr>
            <a:r>
              <a:t>Logs, metrics, traces, events, and supplementary context from the system.</a:t>
            </a:r>
          </a:p>
        </p:txBody>
      </p:sp>
      <p:sp>
        <p:nvSpPr>
          <p:cNvPr id="14" name="Rectangle 13"/>
          <p:cNvSpPr/>
          <p:nvPr/>
        </p:nvSpPr>
        <p:spPr>
          <a:xfrm>
            <a:off x="6223863" y="3256788"/>
            <a:ext cx="54864"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5887" y="3256788"/>
            <a:ext cx="5044287" cy="425196"/>
          </a:xfrm>
          <a:prstGeom prst="rect">
            <a:avLst/>
          </a:prstGeom>
          <a:noFill/>
        </p:spPr>
        <p:txBody>
          <a:bodyPr wrap="square">
            <a:spAutoFit/>
          </a:bodyPr>
          <a:lstStyle/>
          <a:p>
            <a:pPr algn="l">
              <a:defRPr sz="1800" b="1" i="0">
                <a:solidFill>
                  <a:srgbClr val="7FA195"/>
                </a:solidFill>
                <a:latin typeface="Liberation Sans"/>
              </a:defRPr>
            </a:pPr>
            <a:r>
              <a:t>G: incident propagation graph</a:t>
            </a:r>
          </a:p>
        </p:txBody>
      </p:sp>
      <p:sp>
        <p:nvSpPr>
          <p:cNvPr id="16" name="TextBox 15"/>
          <p:cNvSpPr txBox="1"/>
          <p:nvPr/>
        </p:nvSpPr>
        <p:spPr>
          <a:xfrm>
            <a:off x="6415887" y="3773424"/>
            <a:ext cx="5044287" cy="590296"/>
          </a:xfrm>
          <a:prstGeom prst="rect">
            <a:avLst/>
          </a:prstGeom>
          <a:noFill/>
        </p:spPr>
        <p:txBody>
          <a:bodyPr wrap="square">
            <a:spAutoFit/>
          </a:bodyPr>
          <a:lstStyle/>
          <a:p>
            <a:pPr algn="l">
              <a:defRPr sz="1400" b="0" i="0">
                <a:solidFill>
                  <a:srgbClr val="223043"/>
                </a:solidFill>
                <a:latin typeface="Liberation Sans"/>
              </a:defRPr>
            </a:pPr>
            <a:r>
              <a:t>Root causes, triggers, symptoms, and the causal edges that connect them.</a:t>
            </a:r>
          </a:p>
        </p:txBody>
      </p:sp>
      <p:sp>
        <p:nvSpPr>
          <p:cNvPr id="17" name="TextBox 16"/>
          <p:cNvSpPr txBox="1"/>
          <p:nvPr/>
        </p:nvSpPr>
        <p:spPr>
          <a:xfrm>
            <a:off x="731520" y="4619752"/>
            <a:ext cx="10728655" cy="722376"/>
          </a:xfrm>
          <a:prstGeom prst="rect">
            <a:avLst/>
          </a:prstGeom>
          <a:noFill/>
        </p:spPr>
        <p:txBody>
          <a:bodyPr wrap="square">
            <a:spAutoFit/>
          </a:bodyPr>
          <a:lstStyle/>
          <a:p>
            <a:pPr algn="l">
              <a:defRPr sz="1800" b="0" i="1">
                <a:solidFill>
                  <a:srgbClr val="647489"/>
                </a:solidFill>
                <a:latin typeface="Liberation Sans"/>
              </a:defRPr>
            </a:pPr>
            <a:r>
              <a:t>Ideal RCA is graph-building: the output is not only a root-cause node, but the propagation graph that explains why it is correct.</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1"/>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7"/>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2"/>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9"/>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3"/>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7"/>
                            </p:tgtEl>
                            <p:attrNameLst>
                              <p:attrName>style.visibility</p:attrName>
                            </p:attrNameLst>
                          </p:cBhvr>
                          <p:to>
                            <p:strVal val="hidden"/>
                          </p:to>
                        </p:set>
                      </p:childTnLst>
                    </p:cTn>
                  </p:par>
                </p:childTnLst>
              </p:cTn>
            </p:par>
            <p:seq concurrent="1" nextAc="seek">
              <p:cTn id="46" dur="indefinite" nodeType="mainSeq">
                <p:childTnLst>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5"/>
                                        </p:tgtEl>
                                      </p:cBhvr>
                                    </p:animEffect>
                                    <p:set>
                                      <p:cBhvr>
                                        <p:cTn id="51" dur="1" fill="hold">
                                          <p:stCondLst>
                                            <p:cond delay="0"/>
                                          </p:stCondLst>
                                        </p:cTn>
                                        <p:tgtEl>
                                          <p:spTgt spid="5"/>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animEffect transition="in" filter="fade">
                                      <p:cBhvr>
                                        <p:cTn id="55" dur="500"/>
                                        <p:tgtEl>
                                          <p:spTgt spid="6"/>
                                        </p:tgtEl>
                                      </p:cBhvr>
                                    </p:animEffect>
                                    <p:set>
                                      <p:cBhvr>
                                        <p:cTn id="56" dur="1" fill="hold">
                                          <p:stCondLst>
                                            <p:cond delay="0"/>
                                          </p:stCondLst>
                                        </p:cTn>
                                        <p:tgtEl>
                                          <p:spTgt spid="6"/>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7"/>
                                        </p:tgtEl>
                                      </p:cBhvr>
                                    </p:animEffect>
                                    <p:set>
                                      <p:cBhvr>
                                        <p:cTn id="59" dur="1" fill="hold">
                                          <p:stCondLst>
                                            <p:cond delay="0"/>
                                          </p:stCondLst>
                                        </p:cTn>
                                        <p:tgtEl>
                                          <p:spTgt spid="7"/>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8"/>
                                        </p:tgtEl>
                                      </p:cBhvr>
                                    </p:animEffect>
                                    <p:set>
                                      <p:cBhvr>
                                        <p:cTn id="62" dur="1" fill="hold">
                                          <p:stCondLst>
                                            <p:cond delay="0"/>
                                          </p:stCondLst>
                                        </p:cTn>
                                        <p:tgtEl>
                                          <p:spTgt spid="8"/>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9"/>
                                        </p:tgtEl>
                                      </p:cBhvr>
                                    </p:animEffect>
                                    <p:set>
                                      <p:cBhvr>
                                        <p:cTn id="65" dur="1" fill="hold">
                                          <p:stCondLst>
                                            <p:cond delay="0"/>
                                          </p:stCondLst>
                                        </p:cTn>
                                        <p:tgtEl>
                                          <p:spTgt spid="9"/>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0"/>
                                        </p:tgtEl>
                                      </p:cBhvr>
                                    </p:animEffect>
                                    <p:set>
                                      <p:cBhvr>
                                        <p:cTn id="68" dur="1" fill="hold">
                                          <p:stCondLst>
                                            <p:cond delay="0"/>
                                          </p:stCondLst>
                                        </p:cTn>
                                        <p:tgtEl>
                                          <p:spTgt spid="10"/>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6"/>
                                        </p:tgtEl>
                                      </p:cBhvr>
                                    </p:animEffect>
                                    <p:set>
                                      <p:cBhvr>
                                        <p:cTn id="71" dur="1" fill="hold">
                                          <p:stCondLst>
                                            <p:cond delay="0"/>
                                          </p:stCondLst>
                                        </p:cTn>
                                        <p:tgtEl>
                                          <p:spTgt spid="6"/>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1"/>
                                        </p:tgtEl>
                                      </p:cBhvr>
                                    </p:animEffect>
                                    <p:set>
                                      <p:cBhvr>
                                        <p:cTn id="74" dur="1" fill="hold">
                                          <p:stCondLst>
                                            <p:cond delay="0"/>
                                          </p:stCondLst>
                                        </p:cTn>
                                        <p:tgtEl>
                                          <p:spTgt spid="11"/>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7"/>
                                        </p:tgtEl>
                                      </p:cBhvr>
                                    </p:animEffect>
                                    <p:set>
                                      <p:cBhvr>
                                        <p:cTn id="77" dur="1" fill="hold">
                                          <p:stCondLst>
                                            <p:cond delay="0"/>
                                          </p:stCondLst>
                                        </p:cTn>
                                        <p:tgtEl>
                                          <p:spTgt spid="7"/>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2"/>
                                        </p:tgtEl>
                                      </p:cBhvr>
                                    </p:animEffect>
                                    <p:set>
                                      <p:cBhvr>
                                        <p:cTn id="80" dur="1" fill="hold">
                                          <p:stCondLst>
                                            <p:cond delay="0"/>
                                          </p:stCondLst>
                                        </p:cTn>
                                        <p:tgtEl>
                                          <p:spTgt spid="12"/>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9"/>
                                        </p:tgtEl>
                                      </p:cBhvr>
                                    </p:animEffect>
                                    <p:set>
                                      <p:cBhvr>
                                        <p:cTn id="83" dur="1" fill="hold">
                                          <p:stCondLst>
                                            <p:cond delay="0"/>
                                          </p:stCondLst>
                                        </p:cTn>
                                        <p:tgtEl>
                                          <p:spTgt spid="9"/>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3"/>
                                        </p:tgtEl>
                                      </p:cBhvr>
                                    </p:animEffect>
                                    <p:set>
                                      <p:cBhvr>
                                        <p:cTn id="86" dur="1" fill="hold">
                                          <p:stCondLst>
                                            <p:cond delay="0"/>
                                          </p:stCondLst>
                                        </p:cTn>
                                        <p:tgtEl>
                                          <p:spTgt spid="13"/>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6"/>
                                        </p:tgtEl>
                                      </p:cBhvr>
                                    </p:animEffect>
                                    <p:set>
                                      <p:cBhvr>
                                        <p:cTn id="89" dur="1" fill="hold">
                                          <p:stCondLst>
                                            <p:cond delay="0"/>
                                          </p:stCondLst>
                                        </p:cTn>
                                        <p:tgtEl>
                                          <p:spTgt spid="6"/>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1"/>
                                        </p:tgtEl>
                                      </p:cBhvr>
                                    </p:animEffect>
                                    <p:set>
                                      <p:cBhvr>
                                        <p:cTn id="92" dur="1" fill="hold">
                                          <p:stCondLst>
                                            <p:cond delay="0"/>
                                          </p:stCondLst>
                                        </p:cTn>
                                        <p:tgtEl>
                                          <p:spTgt spid="11"/>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14"/>
                                        </p:tgtEl>
                                      </p:cBhvr>
                                    </p:animEffect>
                                    <p:set>
                                      <p:cBhvr>
                                        <p:cTn id="95" dur="1" fill="hold">
                                          <p:stCondLst>
                                            <p:cond delay="0"/>
                                          </p:stCondLst>
                                        </p:cTn>
                                        <p:tgtEl>
                                          <p:spTgt spid="14"/>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7"/>
                                        </p:tgtEl>
                                      </p:cBhvr>
                                    </p:animEffect>
                                    <p:set>
                                      <p:cBhvr>
                                        <p:cTn id="98" dur="1" fill="hold">
                                          <p:stCondLst>
                                            <p:cond delay="0"/>
                                          </p:stCondLst>
                                        </p:cTn>
                                        <p:tgtEl>
                                          <p:spTgt spid="7"/>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2"/>
                                        </p:tgtEl>
                                      </p:cBhvr>
                                    </p:animEffect>
                                    <p:set>
                                      <p:cBhvr>
                                        <p:cTn id="101" dur="1" fill="hold">
                                          <p:stCondLst>
                                            <p:cond delay="0"/>
                                          </p:stCondLst>
                                        </p:cTn>
                                        <p:tgtEl>
                                          <p:spTgt spid="12"/>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15"/>
                                        </p:tgtEl>
                                      </p:cBhvr>
                                    </p:animEffect>
                                    <p:set>
                                      <p:cBhvr>
                                        <p:cTn id="104" dur="1" fill="hold">
                                          <p:stCondLst>
                                            <p:cond delay="0"/>
                                          </p:stCondLst>
                                        </p:cTn>
                                        <p:tgtEl>
                                          <p:spTgt spid="15"/>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9"/>
                                        </p:tgtEl>
                                      </p:cBhvr>
                                    </p:animEffect>
                                    <p:set>
                                      <p:cBhvr>
                                        <p:cTn id="107" dur="1" fill="hold">
                                          <p:stCondLst>
                                            <p:cond delay="0"/>
                                          </p:stCondLst>
                                        </p:cTn>
                                        <p:tgtEl>
                                          <p:spTgt spid="9"/>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3"/>
                                        </p:tgtEl>
                                      </p:cBhvr>
                                    </p:animEffect>
                                    <p:set>
                                      <p:cBhvr>
                                        <p:cTn id="110" dur="1" fill="hold">
                                          <p:stCondLst>
                                            <p:cond delay="0"/>
                                          </p:stCondLst>
                                        </p:cTn>
                                        <p:tgtEl>
                                          <p:spTgt spid="13"/>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16"/>
                                        </p:tgtEl>
                                      </p:cBhvr>
                                    </p:animEffec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animEffect transition="in" filter="fade">
                                      <p:cBhvr>
                                        <p:cTn id="117" dur="500"/>
                                        <p:tgtEl>
                                          <p:spTgt spid="17"/>
                                        </p:tgtEl>
                                      </p:cBhvr>
                                    </p:animEffect>
                                    <p:set>
                                      <p:cBhvr>
                                        <p:cTn id="1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Benchmark Crisis</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731520" y="1371600"/>
            <a:ext cx="502920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Simple baseline</a:t>
            </a:r>
          </a:p>
        </p:txBody>
      </p:sp>
      <p:sp>
        <p:nvSpPr>
          <p:cNvPr id="6" name="Rounded Rectangle 5"/>
          <p:cNvSpPr/>
          <p:nvPr/>
        </p:nvSpPr>
        <p:spPr>
          <a:xfrm>
            <a:off x="731520" y="1895347"/>
            <a:ext cx="5029200" cy="10058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Alerts + thresholds</a:t>
            </a:r>
            <a:br/>
            <a:r>
              <a:t>rule-based ranking</a:t>
            </a:r>
          </a:p>
        </p:txBody>
      </p:sp>
      <p:sp>
        <p:nvSpPr>
          <p:cNvPr id="7" name="TextBox 6"/>
          <p:cNvSpPr txBox="1"/>
          <p:nvPr/>
        </p:nvSpPr>
        <p:spPr>
          <a:xfrm>
            <a:off x="731520" y="3047491"/>
            <a:ext cx="5029200" cy="722376"/>
          </a:xfrm>
          <a:prstGeom prst="rect">
            <a:avLst/>
          </a:prstGeom>
          <a:noFill/>
        </p:spPr>
        <p:txBody>
          <a:bodyPr wrap="square">
            <a:spAutoFit/>
          </a:bodyPr>
          <a:lstStyle/>
          <a:p>
            <a:pPr algn="l">
              <a:defRPr sz="1800" b="0" i="0">
                <a:solidFill>
                  <a:srgbClr val="223043"/>
                </a:solidFill>
                <a:latin typeface="Liberation Sans"/>
              </a:defRPr>
            </a:pPr>
            <a:r>
              <a:t>Can match or beat sophisticated models on several public RCA benchmarks.</a:t>
            </a:r>
          </a:p>
        </p:txBody>
      </p:sp>
      <p:sp>
        <p:nvSpPr>
          <p:cNvPr id="8" name="Rounded Rectangle 7"/>
          <p:cNvSpPr/>
          <p:nvPr/>
        </p:nvSpPr>
        <p:spPr>
          <a:xfrm>
            <a:off x="6126480" y="1371600"/>
            <a:ext cx="502920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Published SOTA</a:t>
            </a:r>
          </a:p>
        </p:txBody>
      </p:sp>
      <p:sp>
        <p:nvSpPr>
          <p:cNvPr id="9" name="Rounded Rectangle 8"/>
          <p:cNvSpPr/>
          <p:nvPr/>
        </p:nvSpPr>
        <p:spPr>
          <a:xfrm>
            <a:off x="6126480" y="1895347"/>
            <a:ext cx="5029200" cy="10058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Graph models</a:t>
            </a:r>
            <a:br/>
            <a:r>
              <a:t>multi-modal reasoning</a:t>
            </a:r>
            <a:br/>
            <a:r>
              <a:t>causal inference</a:t>
            </a:r>
          </a:p>
        </p:txBody>
      </p:sp>
      <p:sp>
        <p:nvSpPr>
          <p:cNvPr id="10" name="TextBox 9"/>
          <p:cNvSpPr txBox="1"/>
          <p:nvPr/>
        </p:nvSpPr>
        <p:spPr>
          <a:xfrm>
            <a:off x="6126480" y="3047491"/>
            <a:ext cx="5029200" cy="1019556"/>
          </a:xfrm>
          <a:prstGeom prst="rect">
            <a:avLst/>
          </a:prstGeom>
          <a:noFill/>
        </p:spPr>
        <p:txBody>
          <a:bodyPr wrap="square">
            <a:spAutoFit/>
          </a:bodyPr>
          <a:lstStyle/>
          <a:p>
            <a:pPr algn="l">
              <a:defRPr sz="1800" b="0" i="0">
                <a:solidFill>
                  <a:srgbClr val="223043"/>
                </a:solidFill>
                <a:latin typeface="Liberation Sans"/>
              </a:defRPr>
            </a:pPr>
            <a:r>
              <a:t>Looks strong on paper, but the benchmark may be testing easy correlations instead of hard causality.</a:t>
            </a:r>
          </a:p>
        </p:txBody>
      </p:sp>
      <p:sp>
        <p:nvSpPr>
          <p:cNvPr id="11" name="Rectangle 10"/>
          <p:cNvSpPr/>
          <p:nvPr/>
        </p:nvSpPr>
        <p:spPr>
          <a:xfrm>
            <a:off x="731520" y="4323080"/>
            <a:ext cx="54864"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4323080"/>
            <a:ext cx="10536631" cy="425196"/>
          </a:xfrm>
          <a:prstGeom prst="rect">
            <a:avLst/>
          </a:prstGeom>
          <a:noFill/>
        </p:spPr>
        <p:txBody>
          <a:bodyPr wrap="square">
            <a:spAutoFit/>
          </a:bodyPr>
          <a:lstStyle/>
          <a:p>
            <a:pPr algn="l">
              <a:defRPr sz="1800" b="1" i="0">
                <a:solidFill>
                  <a:srgbClr val="C98A78"/>
                </a:solidFill>
                <a:latin typeface="Liberation Sans"/>
              </a:defRPr>
            </a:pPr>
            <a:r>
              <a:t>Benchmark crisis</a:t>
            </a:r>
          </a:p>
        </p:txBody>
      </p:sp>
      <p:sp>
        <p:nvSpPr>
          <p:cNvPr id="13" name="TextBox 12"/>
          <p:cNvSpPr txBox="1"/>
          <p:nvPr/>
        </p:nvSpPr>
        <p:spPr>
          <a:xfrm>
            <a:off x="923544" y="4839716"/>
            <a:ext cx="10536631" cy="359156"/>
          </a:xfrm>
          <a:prstGeom prst="rect">
            <a:avLst/>
          </a:prstGeom>
          <a:noFill/>
        </p:spPr>
        <p:txBody>
          <a:bodyPr wrap="square">
            <a:spAutoFit/>
          </a:bodyPr>
          <a:lstStyle/>
          <a:p>
            <a:pPr algn="l">
              <a:defRPr sz="1400" b="0" i="0">
                <a:solidFill>
                  <a:srgbClr val="223043"/>
                </a:solidFill>
                <a:latin typeface="Liberation Sans"/>
              </a:defRPr>
            </a:pPr>
            <a:r>
              <a:t>If a simple baseline rivals SOTA, the benchmark is oversimplifying real RCA difficulty.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childTnLst>
              </p:cTn>
            </p:par>
            <p:seq concurrent="1" nextAc="seek">
              <p:cTn id="16" dur="indefinite" nodeType="mainSeq">
                <p:childTnLst>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animEffect transition="in" filter="fade">
                                      <p:cBhvr>
                                        <p:cTn id="20" dur="500"/>
                                        <p:tgtEl>
                                          <p:spTgt spid="5"/>
                                        </p:tgtEl>
                                      </p:cBhvr>
                                    </p:animEffect>
                                    <p:set>
                                      <p:cBhvr>
                                        <p:cTn id="21" dur="1" fill="hold">
                                          <p:stCondLst>
                                            <p:cond delay="0"/>
                                          </p:stCondLst>
                                        </p:cTn>
                                        <p:tgtEl>
                                          <p:spTgt spid="5"/>
                                        </p:tgtEl>
                                        <p:attrNameLst>
                                          <p:attrName>style.visibility</p:attrName>
                                        </p:attrNameLst>
                                      </p:cBhvr>
                                      <p:to>
                                        <p:strVal val="visible"/>
                                      </p:to>
                                    </p:set>
                                  </p:childTnLst>
                                </p:cTn>
                              </p:par>
                              <p:par>
                                <p:cTn id="22" presetID="10" presetClass="entr" presetSubtype="0" fill="hold" grpId="0" nodeType="withEffect">
                                  <p:stCondLst>
                                    <p:cond delay="0"/>
                                  </p:stCondLst>
                                  <p:childTnLst>
                                    <p:animEffect transition="in" filter="fade">
                                      <p:cBhvr>
                                        <p:cTn id="23" dur="500"/>
                                        <p:tgtEl>
                                          <p:spTgt spid="6"/>
                                        </p:tgtEl>
                                      </p:cBhvr>
                                    </p:animEffect>
                                    <p:set>
                                      <p:cBhvr>
                                        <p:cTn id="24" dur="1" fill="hold">
                                          <p:stCondLst>
                                            <p:cond delay="0"/>
                                          </p:stCondLst>
                                        </p:cTn>
                                        <p:tgtEl>
                                          <p:spTgt spid="6"/>
                                        </p:tgtEl>
                                        <p:attrNameLst>
                                          <p:attrName>style.visibility</p:attrName>
                                        </p:attrNameLst>
                                      </p:cBhvr>
                                      <p:to>
                                        <p:strVal val="visible"/>
                                      </p:to>
                                    </p:set>
                                  </p:childTnLst>
                                </p:cTn>
                              </p:par>
                              <p:par>
                                <p:cTn id="25" presetID="10" presetClass="entr" presetSubtype="0" fill="hold" grpId="0" nodeType="withEffect">
                                  <p:stCondLst>
                                    <p:cond delay="0"/>
                                  </p:stCondLst>
                                  <p:childTnLst>
                                    <p:animEffect transition="in" filter="fade">
                                      <p:cBhvr>
                                        <p:cTn id="26" dur="500"/>
                                        <p:tgtEl>
                                          <p:spTgt spid="7"/>
                                        </p:tgtEl>
                                      </p:cBhvr>
                                    </p:animEffec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11"/>
                                        </p:tgtEl>
                                      </p:cBhvr>
                                    </p:animEffect>
                                    <p:set>
                                      <p:cBhvr>
                                        <p:cTn id="43" dur="1" fill="hold">
                                          <p:stCondLst>
                                            <p:cond delay="0"/>
                                          </p:stCondLst>
                                        </p:cTn>
                                        <p:tgtEl>
                                          <p:spTgt spid="11"/>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2"/>
                                        </p:tgtEl>
                                      </p:cBhvr>
                                    </p:animEffect>
                                    <p:set>
                                      <p:cBhvr>
                                        <p:cTn id="46" dur="1" fill="hold">
                                          <p:stCondLst>
                                            <p:cond delay="0"/>
                                          </p:stCondLst>
                                        </p:cTn>
                                        <p:tgtEl>
                                          <p:spTgt spid="12"/>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3"/>
                                        </p:tgtEl>
                                      </p:cBhvr>
                                    </p:animEffect>
                                    <p:set>
                                      <p:cBhvr>
                                        <p:cTn id="4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Why Existing Benchmarks Fail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731520" y="1371600"/>
            <a:ext cx="10728655"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Public benchmarks are oversimplified</a:t>
            </a:r>
          </a:p>
        </p:txBody>
      </p:sp>
      <p:sp>
        <p:nvSpPr>
          <p:cNvPr id="6" name="Rectangle 5"/>
          <p:cNvSpPr/>
          <p:nvPr/>
        </p:nvSpPr>
        <p:spPr>
          <a:xfrm>
            <a:off x="731520" y="1986788"/>
            <a:ext cx="54864" cy="133807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1986788"/>
            <a:ext cx="3262274" cy="425196"/>
          </a:xfrm>
          <a:prstGeom prst="rect">
            <a:avLst/>
          </a:prstGeom>
          <a:noFill/>
        </p:spPr>
        <p:txBody>
          <a:bodyPr wrap="square">
            <a:spAutoFit/>
          </a:bodyPr>
          <a:lstStyle/>
          <a:p>
            <a:pPr algn="l">
              <a:defRPr sz="1800" b="1" i="0">
                <a:solidFill>
                  <a:srgbClr val="C98A78"/>
                </a:solidFill>
                <a:latin typeface="Liberation Sans"/>
              </a:defRPr>
            </a:pPr>
            <a:r>
              <a:t>Fault injection strategies</a:t>
            </a:r>
          </a:p>
        </p:txBody>
      </p:sp>
      <p:sp>
        <p:nvSpPr>
          <p:cNvPr id="8" name="TextBox 7"/>
          <p:cNvSpPr txBox="1"/>
          <p:nvPr/>
        </p:nvSpPr>
        <p:spPr>
          <a:xfrm>
            <a:off x="923544" y="2503424"/>
            <a:ext cx="3262274" cy="821436"/>
          </a:xfrm>
          <a:prstGeom prst="rect">
            <a:avLst/>
          </a:prstGeom>
          <a:noFill/>
        </p:spPr>
        <p:txBody>
          <a:bodyPr wrap="square">
            <a:spAutoFit/>
          </a:bodyPr>
          <a:lstStyle/>
          <a:p>
            <a:pPr algn="l">
              <a:defRPr sz="1400" b="0" i="0">
                <a:solidFill>
                  <a:srgbClr val="223043"/>
                </a:solidFill>
                <a:latin typeface="Liberation Sans"/>
              </a:defRPr>
            </a:pPr>
            <a:r>
              <a:t>Too few faults, too localized, and too easy to detect through direct symptom prominence.</a:t>
            </a:r>
          </a:p>
        </p:txBody>
      </p:sp>
      <p:sp>
        <p:nvSpPr>
          <p:cNvPr id="9" name="Rectangle 8"/>
          <p:cNvSpPr/>
          <p:nvPr/>
        </p:nvSpPr>
        <p:spPr>
          <a:xfrm>
            <a:off x="4368698" y="1986788"/>
            <a:ext cx="54864" cy="1338072"/>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0722" y="1986788"/>
            <a:ext cx="3262274" cy="425196"/>
          </a:xfrm>
          <a:prstGeom prst="rect">
            <a:avLst/>
          </a:prstGeom>
          <a:noFill/>
        </p:spPr>
        <p:txBody>
          <a:bodyPr wrap="square">
            <a:spAutoFit/>
          </a:bodyPr>
          <a:lstStyle/>
          <a:p>
            <a:pPr algn="l">
              <a:defRPr sz="1800" b="1" i="0">
                <a:solidFill>
                  <a:srgbClr val="D8A86A"/>
                </a:solidFill>
                <a:latin typeface="Liberation Sans"/>
              </a:defRPr>
            </a:pPr>
            <a:r>
              <a:t>Call graph structures</a:t>
            </a:r>
          </a:p>
        </p:txBody>
      </p:sp>
      <p:sp>
        <p:nvSpPr>
          <p:cNvPr id="11" name="TextBox 10"/>
          <p:cNvSpPr txBox="1"/>
          <p:nvPr/>
        </p:nvSpPr>
        <p:spPr>
          <a:xfrm>
            <a:off x="4560722" y="2503424"/>
            <a:ext cx="3262274" cy="821436"/>
          </a:xfrm>
          <a:prstGeom prst="rect">
            <a:avLst/>
          </a:prstGeom>
          <a:noFill/>
        </p:spPr>
        <p:txBody>
          <a:bodyPr wrap="square">
            <a:spAutoFit/>
          </a:bodyPr>
          <a:lstStyle/>
          <a:p>
            <a:pPr algn="l">
              <a:defRPr sz="1400" b="0" i="0">
                <a:solidFill>
                  <a:srgbClr val="223043"/>
                </a:solidFill>
                <a:latin typeface="Liberation Sans"/>
              </a:defRPr>
            </a:pPr>
            <a:r>
              <a:t>Shallow request paths and limited service coverage shrink the search space.</a:t>
            </a:r>
          </a:p>
        </p:txBody>
      </p:sp>
      <p:sp>
        <p:nvSpPr>
          <p:cNvPr id="12" name="Rectangle 11"/>
          <p:cNvSpPr/>
          <p:nvPr/>
        </p:nvSpPr>
        <p:spPr>
          <a:xfrm>
            <a:off x="8005876" y="1986788"/>
            <a:ext cx="54864" cy="133807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7900" y="1986788"/>
            <a:ext cx="3262274" cy="425196"/>
          </a:xfrm>
          <a:prstGeom prst="rect">
            <a:avLst/>
          </a:prstGeom>
          <a:noFill/>
        </p:spPr>
        <p:txBody>
          <a:bodyPr wrap="square">
            <a:spAutoFit/>
          </a:bodyPr>
          <a:lstStyle/>
          <a:p>
            <a:pPr algn="l">
              <a:defRPr sz="1800" b="1" i="0">
                <a:solidFill>
                  <a:srgbClr val="8FAAC8"/>
                </a:solidFill>
                <a:latin typeface="Liberation Sans"/>
              </a:defRPr>
            </a:pPr>
            <a:r>
              <a:t>Telemetry signal patterns</a:t>
            </a:r>
          </a:p>
        </p:txBody>
      </p:sp>
      <p:sp>
        <p:nvSpPr>
          <p:cNvPr id="14" name="TextBox 13"/>
          <p:cNvSpPr txBox="1"/>
          <p:nvPr/>
        </p:nvSpPr>
        <p:spPr>
          <a:xfrm>
            <a:off x="8197900" y="2503424"/>
            <a:ext cx="3262274" cy="821436"/>
          </a:xfrm>
          <a:prstGeom prst="rect">
            <a:avLst/>
          </a:prstGeom>
          <a:noFill/>
        </p:spPr>
        <p:txBody>
          <a:bodyPr wrap="square">
            <a:spAutoFit/>
          </a:bodyPr>
          <a:lstStyle/>
          <a:p>
            <a:pPr algn="l">
              <a:defRPr sz="1400" b="0" i="0">
                <a:solidFill>
                  <a:srgbClr val="223043"/>
                </a:solidFill>
                <a:latin typeface="Liberation Sans"/>
              </a:defRPr>
            </a:pPr>
            <a:r>
              <a:t>Signals are clean and obvious instead of partial, noisy, and operationally messy.</a:t>
            </a:r>
          </a:p>
        </p:txBody>
      </p:sp>
      <p:sp>
        <p:nvSpPr>
          <p:cNvPr id="15" name="TextBox 14"/>
          <p:cNvSpPr txBox="1"/>
          <p:nvPr/>
        </p:nvSpPr>
        <p:spPr>
          <a:xfrm>
            <a:off x="731520" y="3562604"/>
            <a:ext cx="10728655" cy="722376"/>
          </a:xfrm>
          <a:prstGeom prst="rect">
            <a:avLst/>
          </a:prstGeom>
          <a:noFill/>
        </p:spPr>
        <p:txBody>
          <a:bodyPr wrap="square">
            <a:spAutoFit/>
          </a:bodyPr>
          <a:lstStyle/>
          <a:p>
            <a:pPr algn="l">
              <a:defRPr sz="1800" b="0" i="1">
                <a:solidFill>
                  <a:srgbClr val="647489"/>
                </a:solidFill>
                <a:latin typeface="Liberation Sans"/>
              </a:defRPr>
            </a:pPr>
            <a:r>
              <a:t>When fault symptoms are obvious and structure is shallow, correlation can masquerade as causality.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0"/>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1"/>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0"/>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3"/>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1"/>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4"/>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5"/>
                            </p:tgtEl>
                            <p:attrNameLst>
                              <p:attrName>style.visibility</p:attrName>
                            </p:attrNameLst>
                          </p:cBhvr>
                          <p:to>
                            <p:strVal val="hidden"/>
                          </p:to>
                        </p:set>
                      </p:childTnLst>
                    </p:cTn>
                  </p:par>
                </p:childTnLst>
              </p:cTn>
            </p:par>
            <p:seq concurrent="1" nextAc="seek">
              <p:cTn id="36" dur="indefinite" nodeType="mainSeq">
                <p:childTnLst>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animEffect transition="in" filter="fade">
                                      <p:cBhvr>
                                        <p:cTn id="40" dur="500"/>
                                        <p:tgtEl>
                                          <p:spTgt spid="5"/>
                                        </p:tgtEl>
                                      </p:cBhvr>
                                    </p:animEffect>
                                    <p:set>
                                      <p:cBhvr>
                                        <p:cTn id="41" dur="1" fill="hold">
                                          <p:stCondLst>
                                            <p:cond delay="0"/>
                                          </p:stCondLst>
                                        </p:cTn>
                                        <p:tgtEl>
                                          <p:spTgt spid="5"/>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6"/>
                                        </p:tgtEl>
                                      </p:cBhvr>
                                    </p:animEffect>
                                    <p:set>
                                      <p:cBhvr>
                                        <p:cTn id="44" dur="1" fill="hold">
                                          <p:stCondLst>
                                            <p:cond delay="0"/>
                                          </p:stCondLst>
                                        </p:cTn>
                                        <p:tgtEl>
                                          <p:spTgt spid="6"/>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7"/>
                                        </p:tgtEl>
                                      </p:cBhvr>
                                    </p:animEffect>
                                    <p:set>
                                      <p:cBhvr>
                                        <p:cTn id="47" dur="1" fill="hold">
                                          <p:stCondLst>
                                            <p:cond delay="0"/>
                                          </p:stCondLst>
                                        </p:cTn>
                                        <p:tgtEl>
                                          <p:spTgt spid="7"/>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8"/>
                                        </p:tgtEl>
                                      </p:cBhvr>
                                    </p:animEffect>
                                    <p:set>
                                      <p:cBhvr>
                                        <p:cTn id="50" dur="1" fill="hold">
                                          <p:stCondLst>
                                            <p:cond delay="0"/>
                                          </p:stCondLst>
                                        </p:cTn>
                                        <p:tgtEl>
                                          <p:spTgt spid="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9"/>
                                        </p:tgtEl>
                                      </p:cBhvr>
                                    </p:animEffect>
                                    <p:set>
                                      <p:cBhvr>
                                        <p:cTn id="58" dur="1" fill="hold">
                                          <p:stCondLst>
                                            <p:cond delay="0"/>
                                          </p:stCondLst>
                                        </p:cTn>
                                        <p:tgtEl>
                                          <p:spTgt spid="9"/>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0"/>
                                        </p:tgtEl>
                                      </p:cBhvr>
                                    </p:animEffect>
                                    <p:set>
                                      <p:cBhvr>
                                        <p:cTn id="64" dur="1" fill="hold">
                                          <p:stCondLst>
                                            <p:cond delay="0"/>
                                          </p:stCondLst>
                                        </p:cTn>
                                        <p:tgtEl>
                                          <p:spTgt spid="10"/>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8"/>
                                        </p:tgtEl>
                                      </p:cBhvr>
                                    </p:animEffect>
                                    <p:set>
                                      <p:cBhvr>
                                        <p:cTn id="67" dur="1" fill="hold">
                                          <p:stCondLst>
                                            <p:cond delay="0"/>
                                          </p:stCondLst>
                                        </p:cTn>
                                        <p:tgtEl>
                                          <p:spTgt spid="8"/>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1"/>
                                        </p:tgtEl>
                                      </p:cBhvr>
                                    </p:animEffect>
                                    <p:set>
                                      <p:cBhvr>
                                        <p:cTn id="70" dur="1" fill="hold">
                                          <p:stCondLst>
                                            <p:cond delay="0"/>
                                          </p:stCondLst>
                                        </p:cTn>
                                        <p:tgtEl>
                                          <p:spTgt spid="1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animEffect transition="in" filter="fade">
                                      <p:cBhvr>
                                        <p:cTn id="74" dur="500"/>
                                        <p:tgtEl>
                                          <p:spTgt spid="6"/>
                                        </p:tgtEl>
                                      </p:cBhvr>
                                    </p:animEffect>
                                    <p:set>
                                      <p:cBhvr>
                                        <p:cTn id="75" dur="1" fill="hold">
                                          <p:stCondLst>
                                            <p:cond delay="0"/>
                                          </p:stCondLst>
                                        </p:cTn>
                                        <p:tgtEl>
                                          <p:spTgt spid="6"/>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9"/>
                                        </p:tgtEl>
                                      </p:cBhvr>
                                    </p:animEffect>
                                    <p:set>
                                      <p:cBhvr>
                                        <p:cTn id="78" dur="1" fill="hold">
                                          <p:stCondLst>
                                            <p:cond delay="0"/>
                                          </p:stCondLst>
                                        </p:cTn>
                                        <p:tgtEl>
                                          <p:spTgt spid="9"/>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2"/>
                                        </p:tgtEl>
                                      </p:cBhvr>
                                    </p:animEffect>
                                    <p:set>
                                      <p:cBhvr>
                                        <p:cTn id="81" dur="1" fill="hold">
                                          <p:stCondLst>
                                            <p:cond delay="0"/>
                                          </p:stCondLst>
                                        </p:cTn>
                                        <p:tgtEl>
                                          <p:spTgt spid="12"/>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7"/>
                                        </p:tgtEl>
                                      </p:cBhvr>
                                    </p:animEffect>
                                    <p:set>
                                      <p:cBhvr>
                                        <p:cTn id="84" dur="1" fill="hold">
                                          <p:stCondLst>
                                            <p:cond delay="0"/>
                                          </p:stCondLst>
                                        </p:cTn>
                                        <p:tgtEl>
                                          <p:spTgt spid="7"/>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0"/>
                                        </p:tgtEl>
                                      </p:cBhvr>
                                    </p:animEffect>
                                    <p:set>
                                      <p:cBhvr>
                                        <p:cTn id="87" dur="1" fill="hold">
                                          <p:stCondLst>
                                            <p:cond delay="0"/>
                                          </p:stCondLst>
                                        </p:cTn>
                                        <p:tgtEl>
                                          <p:spTgt spid="10"/>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3"/>
                                        </p:tgtEl>
                                      </p:cBhvr>
                                    </p:animEffect>
                                    <p:set>
                                      <p:cBhvr>
                                        <p:cTn id="90" dur="1" fill="hold">
                                          <p:stCondLst>
                                            <p:cond delay="0"/>
                                          </p:stCondLst>
                                        </p:cTn>
                                        <p:tgtEl>
                                          <p:spTgt spid="13"/>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8"/>
                                        </p:tgtEl>
                                      </p:cBhvr>
                                    </p:animEffect>
                                    <p:set>
                                      <p:cBhvr>
                                        <p:cTn id="93" dur="1" fill="hold">
                                          <p:stCondLst>
                                            <p:cond delay="0"/>
                                          </p:stCondLst>
                                        </p:cTn>
                                        <p:tgtEl>
                                          <p:spTgt spid="8"/>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1"/>
                                        </p:tgtEl>
                                      </p:cBhvr>
                                    </p:animEffect>
                                    <p:set>
                                      <p:cBhvr>
                                        <p:cTn id="96" dur="1" fill="hold">
                                          <p:stCondLst>
                                            <p:cond delay="0"/>
                                          </p:stCondLst>
                                        </p:cTn>
                                        <p:tgtEl>
                                          <p:spTgt spid="11"/>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4"/>
                                        </p:tgtEl>
                                      </p:cBhvr>
                                    </p:animEffect>
                                    <p:set>
                                      <p:cBhvr>
                                        <p:cTn id="99" dur="1" fill="hold">
                                          <p:stCondLst>
                                            <p:cond delay="0"/>
                                          </p:stCondLst>
                                        </p:cTn>
                                        <p:tgtEl>
                                          <p:spTgt spid="14"/>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5"/>
                                        </p:tgtEl>
                                      </p:cBhvr>
                                    </p:animEffect>
                                    <p:set>
                                      <p:cBhvr>
                                        <p:cTn id="10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Our Solution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FSE RCA benchmark study</a:t>
            </a:r>
          </a:p>
        </p:txBody>
      </p:sp>
      <p:sp>
        <p:nvSpPr>
          <p:cNvPr id="5" name="Rounded Rectangle 4"/>
          <p:cNvSpPr/>
          <p:nvPr/>
        </p:nvSpPr>
        <p:spPr>
          <a:xfrm>
            <a:off x="731520" y="1371600"/>
            <a:ext cx="1595120" cy="96012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9,152 injections</a:t>
            </a:r>
          </a:p>
        </p:txBody>
      </p:sp>
      <p:cxnSp>
        <p:nvCxnSpPr>
          <p:cNvPr id="6" name="Connector 5"/>
          <p:cNvCxnSpPr/>
          <p:nvPr/>
        </p:nvCxnSpPr>
        <p:spPr>
          <a:xfrm>
            <a:off x="2326640" y="1851660"/>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02128" y="1371600"/>
            <a:ext cx="2090419" cy="96012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1,430 validated cases</a:t>
            </a:r>
          </a:p>
        </p:txBody>
      </p:sp>
      <p:cxnSp>
        <p:nvCxnSpPr>
          <p:cNvPr id="8" name="Connector 7"/>
          <p:cNvCxnSpPr/>
          <p:nvPr/>
        </p:nvCxnSpPr>
        <p:spPr>
          <a:xfrm>
            <a:off x="4892548" y="1851660"/>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368036" y="1371600"/>
            <a:ext cx="1417320" cy="96012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25 fault types</a:t>
            </a:r>
          </a:p>
        </p:txBody>
      </p:sp>
      <p:sp>
        <p:nvSpPr>
          <p:cNvPr id="10" name="Rounded Rectangle 9"/>
          <p:cNvSpPr/>
          <p:nvPr/>
        </p:nvSpPr>
        <p:spPr>
          <a:xfrm>
            <a:off x="731520" y="2624328"/>
            <a:ext cx="3356762"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Average Top@1</a:t>
            </a:r>
          </a:p>
        </p:txBody>
      </p:sp>
      <p:sp>
        <p:nvSpPr>
          <p:cNvPr id="11" name="TextBox 10"/>
          <p:cNvSpPr txBox="1"/>
          <p:nvPr/>
        </p:nvSpPr>
        <p:spPr>
          <a:xfrm>
            <a:off x="731520" y="3093212"/>
            <a:ext cx="3356762" cy="458216"/>
          </a:xfrm>
          <a:prstGeom prst="rect">
            <a:avLst/>
          </a:prstGeom>
          <a:noFill/>
        </p:spPr>
        <p:txBody>
          <a:bodyPr wrap="square">
            <a:spAutoFit/>
          </a:bodyPr>
          <a:lstStyle/>
          <a:p>
            <a:pPr algn="l">
              <a:defRPr sz="2000" b="1" i="0">
                <a:solidFill>
                  <a:srgbClr val="223043"/>
                </a:solidFill>
                <a:latin typeface="Liberation Sans"/>
              </a:defRPr>
            </a:pPr>
            <a:r>
              <a:t>0.21</a:t>
            </a:r>
          </a:p>
        </p:txBody>
      </p:sp>
      <p:sp>
        <p:nvSpPr>
          <p:cNvPr id="12" name="Rounded Rectangle 11"/>
          <p:cNvSpPr/>
          <p:nvPr/>
        </p:nvSpPr>
        <p:spPr>
          <a:xfrm>
            <a:off x="4417466" y="2624328"/>
            <a:ext cx="3356762"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Best model</a:t>
            </a:r>
          </a:p>
        </p:txBody>
      </p:sp>
      <p:sp>
        <p:nvSpPr>
          <p:cNvPr id="13" name="TextBox 12"/>
          <p:cNvSpPr txBox="1"/>
          <p:nvPr/>
        </p:nvSpPr>
        <p:spPr>
          <a:xfrm>
            <a:off x="4417466" y="3093212"/>
            <a:ext cx="3356762" cy="458216"/>
          </a:xfrm>
          <a:prstGeom prst="rect">
            <a:avLst/>
          </a:prstGeom>
          <a:noFill/>
        </p:spPr>
        <p:txBody>
          <a:bodyPr wrap="square">
            <a:spAutoFit/>
          </a:bodyPr>
          <a:lstStyle/>
          <a:p>
            <a:pPr algn="l">
              <a:defRPr sz="2000" b="1" i="0">
                <a:solidFill>
                  <a:srgbClr val="223043"/>
                </a:solidFill>
                <a:latin typeface="Liberation Sans"/>
              </a:defRPr>
            </a:pPr>
            <a:r>
              <a:t>0.37</a:t>
            </a:r>
          </a:p>
        </p:txBody>
      </p:sp>
      <p:sp>
        <p:nvSpPr>
          <p:cNvPr id="14" name="Rectangle 13"/>
          <p:cNvSpPr/>
          <p:nvPr/>
        </p:nvSpPr>
        <p:spPr>
          <a:xfrm>
            <a:off x="8103412" y="2624328"/>
            <a:ext cx="54864" cy="133807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5436" y="2624328"/>
            <a:ext cx="3164738" cy="425196"/>
          </a:xfrm>
          <a:prstGeom prst="rect">
            <a:avLst/>
          </a:prstGeom>
          <a:noFill/>
        </p:spPr>
        <p:txBody>
          <a:bodyPr wrap="square">
            <a:spAutoFit/>
          </a:bodyPr>
          <a:lstStyle/>
          <a:p>
            <a:pPr algn="l">
              <a:defRPr sz="1800" b="1" i="0">
                <a:solidFill>
                  <a:srgbClr val="5C82AD"/>
                </a:solidFill>
                <a:latin typeface="Liberation Sans"/>
              </a:defRPr>
            </a:pPr>
            <a:r>
              <a:t>What changed</a:t>
            </a:r>
          </a:p>
        </p:txBody>
      </p:sp>
      <p:sp>
        <p:nvSpPr>
          <p:cNvPr id="16" name="TextBox 15"/>
          <p:cNvSpPr txBox="1"/>
          <p:nvPr/>
        </p:nvSpPr>
        <p:spPr>
          <a:xfrm>
            <a:off x="8295436" y="3140964"/>
            <a:ext cx="3164738" cy="821436"/>
          </a:xfrm>
          <a:prstGeom prst="rect">
            <a:avLst/>
          </a:prstGeom>
          <a:noFill/>
        </p:spPr>
        <p:txBody>
          <a:bodyPr wrap="square">
            <a:spAutoFit/>
          </a:bodyPr>
          <a:lstStyle/>
          <a:p>
            <a:pPr algn="l">
              <a:defRPr sz="1400" b="0" i="0">
                <a:solidFill>
                  <a:srgbClr val="223043"/>
                </a:solidFill>
                <a:latin typeface="Liberation Sans"/>
              </a:defRPr>
            </a:pPr>
            <a:r>
              <a:t>A harder benchmark preserves complex propagation and exposes a real performance collapse.</a:t>
            </a:r>
          </a:p>
        </p:txBody>
      </p:sp>
      <p:sp>
        <p:nvSpPr>
          <p:cNvPr id="17" name="TextBox 16"/>
          <p:cNvSpPr txBox="1"/>
          <p:nvPr/>
        </p:nvSpPr>
        <p:spPr>
          <a:xfrm>
            <a:off x="731520" y="4255008"/>
            <a:ext cx="10728655" cy="722376"/>
          </a:xfrm>
          <a:prstGeom prst="rect">
            <a:avLst/>
          </a:prstGeom>
          <a:noFill/>
        </p:spPr>
        <p:txBody>
          <a:bodyPr wrap="square">
            <a:spAutoFit/>
          </a:bodyPr>
          <a:lstStyle/>
          <a:p>
            <a:pPr algn="l">
              <a:defRPr sz="1800" b="0" i="1">
                <a:solidFill>
                  <a:srgbClr val="647489"/>
                </a:solidFill>
                <a:latin typeface="Liberation Sans"/>
              </a:defRPr>
            </a:pPr>
            <a:r>
              <a:t>Our solution is not only more data. It is validated, propagation-aware data that reveals how fragile current RCA systems still are.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0"/>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2"/>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7"/>
                            </p:tgtEl>
                            <p:attrNameLst>
                              <p:attrName>style.visibility</p:attrName>
                            </p:attrNameLst>
                          </p:cBhvr>
                          <p:to>
                            <p:strVal val="hidden"/>
                          </p:to>
                        </p:set>
                      </p:childTnLst>
                    </p:cTn>
                  </p:par>
                </p:childTnLst>
              </p:cTn>
            </p:par>
            <p:seq concurrent="1" nextAc="seek">
              <p:cTn id="26" dur="indefinite" nodeType="mainSeq">
                <p:childTnLst>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5"/>
                                        </p:tgtEl>
                                      </p:cBhvr>
                                    </p:animEffect>
                                    <p:set>
                                      <p:cBhvr>
                                        <p:cTn id="31" dur="1" fill="hold">
                                          <p:stCondLst>
                                            <p:cond delay="0"/>
                                          </p:stCondLst>
                                        </p:cTn>
                                        <p:tgtEl>
                                          <p:spTgt spid="5"/>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6"/>
                                        </p:tgtEl>
                                      </p:cBhvr>
                                    </p:animEffect>
                                    <p:set>
                                      <p:cBhvr>
                                        <p:cTn id="34" dur="1" fill="hold">
                                          <p:stCondLst>
                                            <p:cond delay="0"/>
                                          </p:stCondLst>
                                        </p:cTn>
                                        <p:tgtEl>
                                          <p:spTgt spid="6"/>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7"/>
                                        </p:tgtEl>
                                      </p:cBhvr>
                                    </p:animEffect>
                                    <p:set>
                                      <p:cBhvr>
                                        <p:cTn id="37" dur="1" fill="hold">
                                          <p:stCondLst>
                                            <p:cond delay="0"/>
                                          </p:stCondLst>
                                        </p:cTn>
                                        <p:tgtEl>
                                          <p:spTgt spid="7"/>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8"/>
                                        </p:tgtEl>
                                      </p:cBhvr>
                                    </p:animEffect>
                                    <p:set>
                                      <p:cBhvr>
                                        <p:cTn id="40" dur="1" fill="hold">
                                          <p:stCondLst>
                                            <p:cond delay="0"/>
                                          </p:stCondLst>
                                        </p:cTn>
                                        <p:tgtEl>
                                          <p:spTgt spid="8"/>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9"/>
                                        </p:tgtEl>
                                      </p:cBhvr>
                                    </p:animEffect>
                                    <p:set>
                                      <p:cBhvr>
                                        <p:cTn id="43" dur="1" fill="hold">
                                          <p:stCondLst>
                                            <p:cond delay="0"/>
                                          </p:stCondLst>
                                        </p:cTn>
                                        <p:tgtEl>
                                          <p:spTgt spid="9"/>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animEffect transition="in" filter="fade">
                                      <p:cBhvr>
                                        <p:cTn id="47" dur="500"/>
                                        <p:tgtEl>
                                          <p:spTgt spid="10"/>
                                        </p:tgtEl>
                                      </p:cBhvr>
                                    </p:animEffect>
                                    <p:set>
                                      <p:cBhvr>
                                        <p:cTn id="48" dur="1" fill="hold">
                                          <p:stCondLst>
                                            <p:cond delay="0"/>
                                          </p:stCondLst>
                                        </p:cTn>
                                        <p:tgtEl>
                                          <p:spTgt spid="10"/>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11"/>
                                        </p:tgtEl>
                                      </p:cBhvr>
                                    </p:animEffect>
                                    <p:set>
                                      <p:cBhvr>
                                        <p:cTn id="51" dur="1" fill="hold">
                                          <p:stCondLst>
                                            <p:cond delay="0"/>
                                          </p:stCondLst>
                                        </p:cTn>
                                        <p:tgtEl>
                                          <p:spTgt spid="11"/>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2"/>
                                        </p:tgtEl>
                                      </p:cBhvr>
                                    </p:animEffect>
                                    <p:set>
                                      <p:cBhvr>
                                        <p:cTn id="54" dur="1" fill="hold">
                                          <p:stCondLst>
                                            <p:cond delay="0"/>
                                          </p:stCondLst>
                                        </p:cTn>
                                        <p:tgtEl>
                                          <p:spTgt spid="12"/>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3"/>
                                        </p:tgtEl>
                                      </p:cBhvr>
                                    </p:animEffect>
                                    <p:set>
                                      <p:cBhvr>
                                        <p:cTn id="57" dur="1" fill="hold">
                                          <p:stCondLst>
                                            <p:cond delay="0"/>
                                          </p:stCondLst>
                                        </p:cTn>
                                        <p:tgtEl>
                                          <p:spTgt spid="13"/>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5"/>
                                        </p:tgtEl>
                                      </p:cBhvr>
                                    </p:animEffect>
                                    <p:set>
                                      <p:cBhvr>
                                        <p:cTn id="60" dur="1" fill="hold">
                                          <p:stCondLst>
                                            <p:cond delay="0"/>
                                          </p:stCondLst>
                                        </p:cTn>
                                        <p:tgtEl>
                                          <p:spTgt spid="5"/>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4"/>
                                        </p:tgtEl>
                                      </p:cBhvr>
                                    </p:animEffect>
                                    <p:set>
                                      <p:cBhvr>
                                        <p:cTn id="63" dur="1" fill="hold">
                                          <p:stCondLst>
                                            <p:cond delay="0"/>
                                          </p:stCondLst>
                                        </p:cTn>
                                        <p:tgtEl>
                                          <p:spTgt spid="14"/>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6"/>
                                        </p:tgtEl>
                                      </p:cBhvr>
                                    </p:animEffect>
                                    <p:set>
                                      <p:cBhvr>
                                        <p:cTn id="75" dur="1" fill="hold">
                                          <p:stCondLst>
                                            <p:cond delay="0"/>
                                          </p:stCondLst>
                                        </p:cTn>
                                        <p:tgtEl>
                                          <p:spTgt spid="16"/>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7"/>
                                        </p:tgtEl>
                                      </p:cBhvr>
                                    </p:animEffect>
                                    <p:set>
                                      <p:cBhvr>
                                        <p:cTn id="8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The Process Gap</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498348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Outcome correctness</a:t>
            </a:r>
          </a:p>
        </p:txBody>
      </p:sp>
      <p:sp>
        <p:nvSpPr>
          <p:cNvPr id="6" name="Rounded Rectangle 5"/>
          <p:cNvSpPr/>
          <p:nvPr/>
        </p:nvSpPr>
        <p:spPr>
          <a:xfrm>
            <a:off x="731520" y="1913636"/>
            <a:ext cx="498348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Pass@1</a:t>
            </a:r>
          </a:p>
        </p:txBody>
      </p:sp>
      <p:sp>
        <p:nvSpPr>
          <p:cNvPr id="7" name="TextBox 6"/>
          <p:cNvSpPr txBox="1"/>
          <p:nvPr/>
        </p:nvSpPr>
        <p:spPr>
          <a:xfrm>
            <a:off x="731520" y="2382520"/>
            <a:ext cx="4983480" cy="458216"/>
          </a:xfrm>
          <a:prstGeom prst="rect">
            <a:avLst/>
          </a:prstGeom>
          <a:noFill/>
        </p:spPr>
        <p:txBody>
          <a:bodyPr wrap="square">
            <a:spAutoFit/>
          </a:bodyPr>
          <a:lstStyle/>
          <a:p>
            <a:pPr algn="l">
              <a:defRPr sz="2000" b="1" i="0">
                <a:solidFill>
                  <a:srgbClr val="223043"/>
                </a:solidFill>
                <a:latin typeface="Liberation Sans"/>
              </a:defRPr>
            </a:pPr>
            <a:r>
              <a:t>0.76</a:t>
            </a:r>
          </a:p>
        </p:txBody>
      </p:sp>
      <p:sp>
        <p:nvSpPr>
          <p:cNvPr id="8" name="Rectangle 7"/>
          <p:cNvSpPr/>
          <p:nvPr/>
        </p:nvSpPr>
        <p:spPr>
          <a:xfrm>
            <a:off x="731520" y="3005328"/>
            <a:ext cx="54864" cy="110693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3005328"/>
            <a:ext cx="4791456" cy="425196"/>
          </a:xfrm>
          <a:prstGeom prst="rect">
            <a:avLst/>
          </a:prstGeom>
          <a:noFill/>
        </p:spPr>
        <p:txBody>
          <a:bodyPr wrap="square">
            <a:spAutoFit/>
          </a:bodyPr>
          <a:lstStyle/>
          <a:p>
            <a:pPr algn="l">
              <a:defRPr sz="1800" b="1" i="0">
                <a:solidFill>
                  <a:srgbClr val="8FAAC8"/>
                </a:solidFill>
                <a:latin typeface="Liberation Sans"/>
              </a:defRPr>
            </a:pPr>
            <a:r>
              <a:t>What it means</a:t>
            </a:r>
          </a:p>
        </p:txBody>
      </p:sp>
      <p:sp>
        <p:nvSpPr>
          <p:cNvPr id="10" name="TextBox 9"/>
          <p:cNvSpPr txBox="1"/>
          <p:nvPr/>
        </p:nvSpPr>
        <p:spPr>
          <a:xfrm>
            <a:off x="923544" y="3521964"/>
            <a:ext cx="4791456" cy="590296"/>
          </a:xfrm>
          <a:prstGeom prst="rect">
            <a:avLst/>
          </a:prstGeom>
          <a:noFill/>
        </p:spPr>
        <p:txBody>
          <a:bodyPr wrap="square">
            <a:spAutoFit/>
          </a:bodyPr>
          <a:lstStyle/>
          <a:p>
            <a:pPr algn="l">
              <a:defRPr sz="1400" b="0" i="0">
                <a:solidFill>
                  <a:srgbClr val="223043"/>
                </a:solidFill>
                <a:latin typeface="Liberation Sans"/>
              </a:defRPr>
            </a:pPr>
            <a:r>
              <a:t>The best model often names the right root cause when judged only by the final answer.</a:t>
            </a:r>
          </a:p>
        </p:txBody>
      </p:sp>
      <p:sp>
        <p:nvSpPr>
          <p:cNvPr id="11" name="Rounded Rectangle 10"/>
          <p:cNvSpPr/>
          <p:nvPr/>
        </p:nvSpPr>
        <p:spPr>
          <a:xfrm>
            <a:off x="6080760" y="1371600"/>
            <a:ext cx="4983480"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Process correctness</a:t>
            </a:r>
          </a:p>
        </p:txBody>
      </p:sp>
      <p:sp>
        <p:nvSpPr>
          <p:cNvPr id="12" name="Rounded Rectangle 11"/>
          <p:cNvSpPr/>
          <p:nvPr/>
        </p:nvSpPr>
        <p:spPr>
          <a:xfrm>
            <a:off x="6080760" y="1913636"/>
            <a:ext cx="4983480" cy="377444"/>
          </a:xfrm>
          <a:prstGeom prst="roundRect">
            <a:avLst/>
          </a:prstGeom>
          <a:solidFill>
            <a:srgbClr val="D8A86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Path Reachability</a:t>
            </a:r>
          </a:p>
        </p:txBody>
      </p:sp>
      <p:sp>
        <p:nvSpPr>
          <p:cNvPr id="13" name="TextBox 12"/>
          <p:cNvSpPr txBox="1"/>
          <p:nvPr/>
        </p:nvSpPr>
        <p:spPr>
          <a:xfrm>
            <a:off x="6080760" y="2382520"/>
            <a:ext cx="4983480" cy="458216"/>
          </a:xfrm>
          <a:prstGeom prst="rect">
            <a:avLst/>
          </a:prstGeom>
          <a:noFill/>
        </p:spPr>
        <p:txBody>
          <a:bodyPr wrap="square">
            <a:spAutoFit/>
          </a:bodyPr>
          <a:lstStyle/>
          <a:p>
            <a:pPr algn="l">
              <a:defRPr sz="2000" b="1" i="0">
                <a:solidFill>
                  <a:srgbClr val="223043"/>
                </a:solidFill>
                <a:latin typeface="Liberation Sans"/>
              </a:defRPr>
            </a:pPr>
            <a:r>
              <a:t>0.63</a:t>
            </a:r>
          </a:p>
        </p:txBody>
      </p:sp>
      <p:sp>
        <p:nvSpPr>
          <p:cNvPr id="14" name="Rectangle 13"/>
          <p:cNvSpPr/>
          <p:nvPr/>
        </p:nvSpPr>
        <p:spPr>
          <a:xfrm>
            <a:off x="6080760" y="3005328"/>
            <a:ext cx="54864" cy="1106932"/>
          </a:xfrm>
          <a:prstGeom prst="rect">
            <a:avLst/>
          </a:prstGeom>
          <a:solidFill>
            <a:srgbClr val="D8A86A"/>
          </a:solidFill>
          <a:ln w="12700">
            <a:solidFill>
              <a:srgbClr val="D8A8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4" y="3005328"/>
            <a:ext cx="4791456" cy="425196"/>
          </a:xfrm>
          <a:prstGeom prst="rect">
            <a:avLst/>
          </a:prstGeom>
          <a:noFill/>
        </p:spPr>
        <p:txBody>
          <a:bodyPr wrap="square">
            <a:spAutoFit/>
          </a:bodyPr>
          <a:lstStyle/>
          <a:p>
            <a:pPr algn="l">
              <a:defRPr sz="1800" b="1" i="0">
                <a:solidFill>
                  <a:srgbClr val="D8A86A"/>
                </a:solidFill>
                <a:latin typeface="Liberation Sans"/>
              </a:defRPr>
            </a:pPr>
            <a:r>
              <a:t>What it means</a:t>
            </a:r>
          </a:p>
        </p:txBody>
      </p:sp>
      <p:sp>
        <p:nvSpPr>
          <p:cNvPr id="16" name="TextBox 15"/>
          <p:cNvSpPr txBox="1"/>
          <p:nvPr/>
        </p:nvSpPr>
        <p:spPr>
          <a:xfrm>
            <a:off x="6272784" y="3521964"/>
            <a:ext cx="4791456" cy="590296"/>
          </a:xfrm>
          <a:prstGeom prst="rect">
            <a:avLst/>
          </a:prstGeom>
          <a:noFill/>
        </p:spPr>
        <p:txBody>
          <a:bodyPr wrap="square">
            <a:spAutoFit/>
          </a:bodyPr>
          <a:lstStyle/>
          <a:p>
            <a:pPr algn="l">
              <a:defRPr sz="1400" b="0" i="0">
                <a:solidFill>
                  <a:srgbClr val="223043"/>
                </a:solidFill>
                <a:latin typeface="Liberation Sans"/>
              </a:defRPr>
            </a:pPr>
            <a:r>
              <a:t>A sizable slice of those correct answers still cannot trace a valid path from cause to symptom.</a:t>
            </a:r>
          </a:p>
        </p:txBody>
      </p:sp>
      <p:sp>
        <p:nvSpPr>
          <p:cNvPr id="17" name="Rectangle 16"/>
          <p:cNvSpPr/>
          <p:nvPr/>
        </p:nvSpPr>
        <p:spPr>
          <a:xfrm>
            <a:off x="731520" y="4368292"/>
            <a:ext cx="54864" cy="87579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4368292"/>
            <a:ext cx="10536631" cy="425196"/>
          </a:xfrm>
          <a:prstGeom prst="rect">
            <a:avLst/>
          </a:prstGeom>
          <a:noFill/>
        </p:spPr>
        <p:txBody>
          <a:bodyPr wrap="square">
            <a:spAutoFit/>
          </a:bodyPr>
          <a:lstStyle/>
          <a:p>
            <a:pPr algn="l">
              <a:defRPr sz="1800" b="1" i="0">
                <a:solidFill>
                  <a:srgbClr val="C98A78"/>
                </a:solidFill>
                <a:latin typeface="Liberation Sans"/>
              </a:defRPr>
            </a:pPr>
            <a:r>
              <a:t>Process-level reasoning gap</a:t>
            </a:r>
          </a:p>
        </p:txBody>
      </p:sp>
      <p:sp>
        <p:nvSpPr>
          <p:cNvPr id="19" name="TextBox 18"/>
          <p:cNvSpPr txBox="1"/>
          <p:nvPr/>
        </p:nvSpPr>
        <p:spPr>
          <a:xfrm>
            <a:off x="923544" y="4884928"/>
            <a:ext cx="10536631" cy="359156"/>
          </a:xfrm>
          <a:prstGeom prst="rect">
            <a:avLst/>
          </a:prstGeom>
          <a:noFill/>
        </p:spPr>
        <p:txBody>
          <a:bodyPr wrap="square">
            <a:spAutoFit/>
          </a:bodyPr>
          <a:lstStyle/>
          <a:p>
            <a:pPr algn="l">
              <a:defRPr sz="1400" b="0" i="0">
                <a:solidFill>
                  <a:srgbClr val="223043"/>
                </a:solidFill>
                <a:latin typeface="Liberation Sans"/>
              </a:defRPr>
            </a:pPr>
            <a:r>
              <a:t>0.76 Pass@1 versus 0.63 Path Reachability exposes the core failure mode: correct outcome, broken process.</a:t>
            </a:r>
          </a:p>
        </p:txBody>
      </p:sp>
      <p:sp>
        <p:nvSpPr>
          <p:cNvPr id="20" name="TextBox 19"/>
          <p:cNvSpPr txBox="1"/>
          <p:nvPr/>
        </p:nvSpPr>
        <p:spPr>
          <a:xfrm>
            <a:off x="731520" y="5500116"/>
            <a:ext cx="10728655" cy="722376"/>
          </a:xfrm>
          <a:prstGeom prst="rect">
            <a:avLst/>
          </a:prstGeom>
          <a:noFill/>
        </p:spPr>
        <p:txBody>
          <a:bodyPr wrap="square">
            <a:spAutoFit/>
          </a:bodyPr>
          <a:lstStyle/>
          <a:p>
            <a:pPr algn="l">
              <a:defRPr sz="1800" b="0" i="1">
                <a:solidFill>
                  <a:srgbClr val="647489"/>
                </a:solidFill>
                <a:latin typeface="Liberation Sans"/>
              </a:defRPr>
            </a:pPr>
            <a:r>
              <a:t>Outcome correctness flatters the agent. Process correctness tells us whether the diagnosis can be trusted.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4"/>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9"/>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0"/>
                            </p:tgtEl>
                            <p:attrNameLst>
                              <p:attrName>style.visibility</p:attrName>
                            </p:attrNameLst>
                          </p:cBhvr>
                          <p:to>
                            <p:strVal val="hidden"/>
                          </p:to>
                        </p:set>
                      </p:childTnLst>
                    </p:cTn>
                  </p:par>
                </p:childTnLst>
              </p:cTn>
            </p:par>
            <p:seq concurrent="1" nextAc="seek">
              <p:cTn id="30" dur="indefinite" nodeType="mainSeq">
                <p:childTnLst>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5"/>
                                        </p:tgtEl>
                                      </p:cBhvr>
                                    </p:animEffect>
                                    <p:set>
                                      <p:cBhvr>
                                        <p:cTn id="35" dur="1" fill="hold">
                                          <p:stCondLst>
                                            <p:cond delay="0"/>
                                          </p:stCondLst>
                                        </p:cTn>
                                        <p:tgtEl>
                                          <p:spTgt spid="5"/>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6"/>
                                        </p:tgtEl>
                                      </p:cBhvr>
                                    </p:animEffect>
                                    <p:set>
                                      <p:cBhvr>
                                        <p:cTn id="38" dur="1" fill="hold">
                                          <p:stCondLst>
                                            <p:cond delay="0"/>
                                          </p:stCondLst>
                                        </p:cTn>
                                        <p:tgtEl>
                                          <p:spTgt spid="6"/>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7"/>
                                        </p:tgtEl>
                                      </p:cBhvr>
                                    </p:animEffect>
                                    <p:set>
                                      <p:cBhvr>
                                        <p:cTn id="41" dur="1" fill="hold">
                                          <p:stCondLst>
                                            <p:cond delay="0"/>
                                          </p:stCondLst>
                                        </p:cTn>
                                        <p:tgtEl>
                                          <p:spTgt spid="7"/>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8"/>
                                        </p:tgtEl>
                                      </p:cBhvr>
                                    </p:animEffect>
                                    <p:set>
                                      <p:cBhvr>
                                        <p:cTn id="44" dur="1" fill="hold">
                                          <p:stCondLst>
                                            <p:cond delay="0"/>
                                          </p:stCondLst>
                                        </p:cTn>
                                        <p:tgtEl>
                                          <p:spTgt spid="8"/>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9"/>
                                        </p:tgtEl>
                                      </p:cBhvr>
                                    </p:animEffect>
                                    <p:set>
                                      <p:cBhvr>
                                        <p:cTn id="47" dur="1" fill="hold">
                                          <p:stCondLst>
                                            <p:cond delay="0"/>
                                          </p:stCondLst>
                                        </p:cTn>
                                        <p:tgtEl>
                                          <p:spTgt spid="9"/>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10"/>
                                        </p:tgtEl>
                                      </p:cBhvr>
                                    </p:animEffect>
                                    <p:set>
                                      <p:cBhvr>
                                        <p:cTn id="50" dur="1" fill="hold">
                                          <p:stCondLst>
                                            <p:cond delay="0"/>
                                          </p:stCondLst>
                                        </p:cTn>
                                        <p:tgtEl>
                                          <p:spTgt spid="1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animEffect transition="in" filter="fade">
                                      <p:cBhvr>
                                        <p:cTn id="54" dur="500"/>
                                        <p:tgtEl>
                                          <p:spTgt spid="11"/>
                                        </p:tgtEl>
                                      </p:cBhvr>
                                    </p:animEffect>
                                    <p:set>
                                      <p:cBhvr>
                                        <p:cTn id="55" dur="1" fill="hold">
                                          <p:stCondLst>
                                            <p:cond delay="0"/>
                                          </p:stCondLst>
                                        </p:cTn>
                                        <p:tgtEl>
                                          <p:spTgt spid="11"/>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2"/>
                                        </p:tgtEl>
                                      </p:cBhvr>
                                    </p:animEffect>
                                    <p:set>
                                      <p:cBhvr>
                                        <p:cTn id="58" dur="1" fill="hold">
                                          <p:stCondLst>
                                            <p:cond delay="0"/>
                                          </p:stCondLst>
                                        </p:cTn>
                                        <p:tgtEl>
                                          <p:spTgt spid="12"/>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3"/>
                                        </p:tgtEl>
                                      </p:cBhvr>
                                    </p:animEffect>
                                    <p:set>
                                      <p:cBhvr>
                                        <p:cTn id="61" dur="1" fill="hold">
                                          <p:stCondLst>
                                            <p:cond delay="0"/>
                                          </p:stCondLst>
                                        </p:cTn>
                                        <p:tgtEl>
                                          <p:spTgt spid="13"/>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4"/>
                                        </p:tgtEl>
                                      </p:cBhvr>
                                    </p:animEffect>
                                    <p:set>
                                      <p:cBhvr>
                                        <p:cTn id="64" dur="1" fill="hold">
                                          <p:stCondLst>
                                            <p:cond delay="0"/>
                                          </p:stCondLst>
                                        </p:cTn>
                                        <p:tgtEl>
                                          <p:spTgt spid="14"/>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15"/>
                                        </p:tgtEl>
                                      </p:cBhvr>
                                    </p:animEffect>
                                    <p:set>
                                      <p:cBhvr>
                                        <p:cTn id="67" dur="1" fill="hold">
                                          <p:stCondLst>
                                            <p:cond delay="0"/>
                                          </p:stCondLst>
                                        </p:cTn>
                                        <p:tgtEl>
                                          <p:spTgt spid="15"/>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6"/>
                                        </p:tgtEl>
                                      </p:cBhvr>
                                    </p:animEffect>
                                    <p:set>
                                      <p:cBhvr>
                                        <p:cTn id="70" dur="1" fill="hold">
                                          <p:stCondLst>
                                            <p:cond delay="0"/>
                                          </p:stCondLst>
                                        </p:cTn>
                                        <p:tgtEl>
                                          <p:spTgt spid="16"/>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animEffect transition="in" filter="fade">
                                      <p:cBhvr>
                                        <p:cTn id="74" dur="500"/>
                                        <p:tgtEl>
                                          <p:spTgt spid="14"/>
                                        </p:tgtEl>
                                      </p:cBhvr>
                                    </p:animEffect>
                                    <p:set>
                                      <p:cBhvr>
                                        <p:cTn id="75" dur="1" fill="hold">
                                          <p:stCondLst>
                                            <p:cond delay="0"/>
                                          </p:stCondLst>
                                        </p:cTn>
                                        <p:tgtEl>
                                          <p:spTgt spid="14"/>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7"/>
                                        </p:tgtEl>
                                      </p:cBhvr>
                                    </p:animEffect>
                                    <p:set>
                                      <p:cBhvr>
                                        <p:cTn id="78" dur="1" fill="hold">
                                          <p:stCondLst>
                                            <p:cond delay="0"/>
                                          </p:stCondLst>
                                        </p:cTn>
                                        <p:tgtEl>
                                          <p:spTgt spid="17"/>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5"/>
                                        </p:tgtEl>
                                      </p:cBhvr>
                                    </p:animEffect>
                                    <p:set>
                                      <p:cBhvr>
                                        <p:cTn id="81" dur="1" fill="hold">
                                          <p:stCondLst>
                                            <p:cond delay="0"/>
                                          </p:stCondLst>
                                        </p:cTn>
                                        <p:tgtEl>
                                          <p:spTgt spid="15"/>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8"/>
                                        </p:tgtEl>
                                      </p:cBhvr>
                                    </p:animEffect>
                                    <p:set>
                                      <p:cBhvr>
                                        <p:cTn id="84" dur="1" fill="hold">
                                          <p:stCondLst>
                                            <p:cond delay="0"/>
                                          </p:stCondLst>
                                        </p:cTn>
                                        <p:tgtEl>
                                          <p:spTgt spid="18"/>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6"/>
                                        </p:tgtEl>
                                      </p:cBhvr>
                                    </p:animEffect>
                                    <p:set>
                                      <p:cBhvr>
                                        <p:cTn id="87" dur="1" fill="hold">
                                          <p:stCondLst>
                                            <p:cond delay="0"/>
                                          </p:stCondLst>
                                        </p:cTn>
                                        <p:tgtEl>
                                          <p:spTgt spid="16"/>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9"/>
                                        </p:tgtEl>
                                      </p:cBhvr>
                                    </p:animEffect>
                                    <p:set>
                                      <p:cBhvr>
                                        <p:cTn id="90" dur="1" fill="hold">
                                          <p:stCondLst>
                                            <p:cond delay="0"/>
                                          </p:stCondLst>
                                        </p:cTn>
                                        <p:tgtEl>
                                          <p:spTgt spid="19"/>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20"/>
                                        </p:tgtEl>
                                      </p:cBhvr>
                                    </p:animEffect>
                                    <p:set>
                                      <p:cBhvr>
                                        <p:cTn id="93"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FORGE: Forward Verification</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4892040" cy="377444"/>
          </a:xfrm>
          <a:prstGeom prst="roundRect">
            <a:avLst/>
          </a:prstGeom>
          <a:solidFill>
            <a:srgbClr val="C98A7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Backward diagnosis</a:t>
            </a:r>
          </a:p>
        </p:txBody>
      </p:sp>
      <p:sp>
        <p:nvSpPr>
          <p:cNvPr id="6" name="Rounded Rectangle 5"/>
          <p:cNvSpPr/>
          <p:nvPr/>
        </p:nvSpPr>
        <p:spPr>
          <a:xfrm>
            <a:off x="731520" y="1913636"/>
            <a:ext cx="1051549"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Symptoms</a:t>
            </a:r>
          </a:p>
        </p:txBody>
      </p:sp>
      <p:cxnSp>
        <p:nvCxnSpPr>
          <p:cNvPr id="7" name="Connector 6"/>
          <p:cNvCxnSpPr/>
          <p:nvPr/>
        </p:nvCxnSpPr>
        <p:spPr>
          <a:xfrm>
            <a:off x="1783069"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258557" y="1913636"/>
            <a:ext cx="1444757" cy="749808"/>
          </a:xfrm>
          <a:prstGeom prst="roundRect">
            <a:avLst/>
          </a:prstGeom>
          <a:solidFill>
            <a:srgbClr val="C98A7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Unknown cause</a:t>
            </a:r>
          </a:p>
        </p:txBody>
      </p:sp>
      <p:cxnSp>
        <p:nvCxnSpPr>
          <p:cNvPr id="9" name="Connector 8"/>
          <p:cNvCxnSpPr/>
          <p:nvPr/>
        </p:nvCxnSpPr>
        <p:spPr>
          <a:xfrm>
            <a:off x="3703314"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178802" y="1913636"/>
            <a:ext cx="1444757" cy="749808"/>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Ill-posed search</a:t>
            </a:r>
          </a:p>
        </p:txBody>
      </p:sp>
      <p:sp>
        <p:nvSpPr>
          <p:cNvPr id="11" name="Rectangle 10"/>
          <p:cNvSpPr/>
          <p:nvPr/>
        </p:nvSpPr>
        <p:spPr>
          <a:xfrm>
            <a:off x="731520" y="2828036"/>
            <a:ext cx="54864" cy="1106932"/>
          </a:xfrm>
          <a:prstGeom prst="rect">
            <a:avLst/>
          </a:prstGeom>
          <a:solidFill>
            <a:srgbClr val="C98A78"/>
          </a:solidFill>
          <a:ln w="12700">
            <a:solidFill>
              <a:srgbClr val="C98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828036"/>
            <a:ext cx="4700016" cy="425196"/>
          </a:xfrm>
          <a:prstGeom prst="rect">
            <a:avLst/>
          </a:prstGeom>
          <a:noFill/>
        </p:spPr>
        <p:txBody>
          <a:bodyPr wrap="square">
            <a:spAutoFit/>
          </a:bodyPr>
          <a:lstStyle/>
          <a:p>
            <a:pPr algn="l">
              <a:defRPr sz="1800" b="1" i="0">
                <a:solidFill>
                  <a:srgbClr val="C98A78"/>
                </a:solidFill>
                <a:latin typeface="Liberation Sans"/>
              </a:defRPr>
            </a:pPr>
            <a:r>
              <a:t>Why it is hard</a:t>
            </a:r>
          </a:p>
        </p:txBody>
      </p:sp>
      <p:sp>
        <p:nvSpPr>
          <p:cNvPr id="13" name="TextBox 12"/>
          <p:cNvSpPr txBox="1"/>
          <p:nvPr/>
        </p:nvSpPr>
        <p:spPr>
          <a:xfrm>
            <a:off x="923544" y="3344672"/>
            <a:ext cx="4700016" cy="590296"/>
          </a:xfrm>
          <a:prstGeom prst="rect">
            <a:avLst/>
          </a:prstGeom>
          <a:noFill/>
        </p:spPr>
        <p:txBody>
          <a:bodyPr wrap="square">
            <a:spAutoFit/>
          </a:bodyPr>
          <a:lstStyle/>
          <a:p>
            <a:pPr algn="l">
              <a:defRPr sz="1400" b="0" i="0">
                <a:solidFill>
                  <a:srgbClr val="223043"/>
                </a:solidFill>
                <a:latin typeface="Liberation Sans"/>
              </a:defRPr>
            </a:pPr>
            <a:r>
              <a:t>The RCA agent must infer an unseen cause from partial telemetry, confounders, and noisy symptoms.</a:t>
            </a:r>
          </a:p>
        </p:txBody>
      </p:sp>
      <p:sp>
        <p:nvSpPr>
          <p:cNvPr id="14" name="Rounded Rectangle 13"/>
          <p:cNvSpPr/>
          <p:nvPr/>
        </p:nvSpPr>
        <p:spPr>
          <a:xfrm>
            <a:off x="5989320" y="1371600"/>
            <a:ext cx="489204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Forward verification</a:t>
            </a:r>
          </a:p>
        </p:txBody>
      </p:sp>
      <p:sp>
        <p:nvSpPr>
          <p:cNvPr id="15" name="Rounded Rectangle 14"/>
          <p:cNvSpPr/>
          <p:nvPr/>
        </p:nvSpPr>
        <p:spPr>
          <a:xfrm>
            <a:off x="5989320" y="1913636"/>
            <a:ext cx="1442913"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Known intervention</a:t>
            </a:r>
          </a:p>
        </p:txBody>
      </p:sp>
      <p:cxnSp>
        <p:nvCxnSpPr>
          <p:cNvPr id="16" name="Connector 15"/>
          <p:cNvCxnSpPr/>
          <p:nvPr/>
        </p:nvCxnSpPr>
        <p:spPr>
          <a:xfrm>
            <a:off x="7432233"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907721" y="1913636"/>
            <a:ext cx="1499646"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Expected signatures</a:t>
            </a:r>
          </a:p>
        </p:txBody>
      </p:sp>
      <p:cxnSp>
        <p:nvCxnSpPr>
          <p:cNvPr id="18" name="Connector 17"/>
          <p:cNvCxnSpPr/>
          <p:nvPr/>
        </p:nvCxnSpPr>
        <p:spPr>
          <a:xfrm>
            <a:off x="9407368" y="2288540"/>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82856" y="1913636"/>
            <a:ext cx="998503"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Verified path</a:t>
            </a:r>
          </a:p>
        </p:txBody>
      </p:sp>
      <p:sp>
        <p:nvSpPr>
          <p:cNvPr id="20" name="Rectangle 19"/>
          <p:cNvSpPr/>
          <p:nvPr/>
        </p:nvSpPr>
        <p:spPr>
          <a:xfrm>
            <a:off x="5989320" y="2828036"/>
            <a:ext cx="54864" cy="110693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1344" y="2828036"/>
            <a:ext cx="4700016" cy="425196"/>
          </a:xfrm>
          <a:prstGeom prst="rect">
            <a:avLst/>
          </a:prstGeom>
          <a:noFill/>
        </p:spPr>
        <p:txBody>
          <a:bodyPr wrap="square">
            <a:spAutoFit/>
          </a:bodyPr>
          <a:lstStyle/>
          <a:p>
            <a:pPr algn="l">
              <a:defRPr sz="1800" b="1" i="0">
                <a:solidFill>
                  <a:srgbClr val="7FA195"/>
                </a:solidFill>
                <a:latin typeface="Liberation Sans"/>
              </a:defRPr>
            </a:pPr>
            <a:r>
              <a:t>Why FORGE works</a:t>
            </a:r>
          </a:p>
        </p:txBody>
      </p:sp>
      <p:sp>
        <p:nvSpPr>
          <p:cNvPr id="22" name="TextBox 21"/>
          <p:cNvSpPr txBox="1"/>
          <p:nvPr/>
        </p:nvSpPr>
        <p:spPr>
          <a:xfrm>
            <a:off x="6181344" y="3344672"/>
            <a:ext cx="4700016" cy="590296"/>
          </a:xfrm>
          <a:prstGeom prst="rect">
            <a:avLst/>
          </a:prstGeom>
          <a:noFill/>
        </p:spPr>
        <p:txBody>
          <a:bodyPr wrap="square">
            <a:spAutoFit/>
          </a:bodyPr>
          <a:lstStyle/>
          <a:p>
            <a:pPr algn="l">
              <a:defRPr sz="1400" b="0" i="0">
                <a:solidFill>
                  <a:srgbClr val="223043"/>
                </a:solidFill>
                <a:latin typeface="Liberation Sans"/>
              </a:defRPr>
            </a:pPr>
            <a:r>
              <a:t>Knowing the intervention turns diagnosis into a well-posed verification task from cause to effect.</a:t>
            </a:r>
          </a:p>
        </p:txBody>
      </p:sp>
      <p:sp>
        <p:nvSpPr>
          <p:cNvPr id="23" name="TextBox 22"/>
          <p:cNvSpPr txBox="1"/>
          <p:nvPr/>
        </p:nvSpPr>
        <p:spPr>
          <a:xfrm>
            <a:off x="731520" y="4190999"/>
            <a:ext cx="10728655" cy="722376"/>
          </a:xfrm>
          <a:prstGeom prst="rect">
            <a:avLst/>
          </a:prstGeom>
          <a:noFill/>
        </p:spPr>
        <p:txBody>
          <a:bodyPr wrap="square">
            <a:spAutoFit/>
          </a:bodyPr>
          <a:lstStyle/>
          <a:p>
            <a:pPr algn="l">
              <a:defRPr sz="1800" b="0" i="1">
                <a:solidFill>
                  <a:srgbClr val="647489"/>
                </a:solidFill>
                <a:latin typeface="Liberation Sans"/>
              </a:defRPr>
            </a:pPr>
            <a:r>
              <a:t>FORGE exploits the asymmetry: backward diagnosis is ill-posed, but forward verification is tractable when the intervention is known.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2"/>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8"/>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6"/>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1"/>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7"/>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2"/>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6"/>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21"/>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3"/>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8"/>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22"/>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3"/>
                            </p:tgtEl>
                            <p:attrNameLst>
                              <p:attrName>style.visibility</p:attrName>
                            </p:attrNameLst>
                          </p:cBhvr>
                          <p:to>
                            <p:strVal val="hidden"/>
                          </p:to>
                        </p:set>
                      </p:childTnLst>
                    </p:cTn>
                  </p:par>
                </p:childTnLst>
              </p:cTn>
            </p:par>
            <p:seq concurrent="1" nextAc="seek">
              <p:cTn id="58" dur="indefinite" nodeType="mainSeq">
                <p:childTnLst>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animEffect transition="in" filter="fade">
                                      <p:cBhvr>
                                        <p:cTn id="62" dur="500"/>
                                        <p:tgtEl>
                                          <p:spTgt spid="5"/>
                                        </p:tgtEl>
                                      </p:cBhvr>
                                    </p:animEffect>
                                    <p:set>
                                      <p:cBhvr>
                                        <p:cTn id="63" dur="1" fill="hold">
                                          <p:stCondLst>
                                            <p:cond delay="0"/>
                                          </p:stCondLst>
                                        </p:cTn>
                                        <p:tgtEl>
                                          <p:spTgt spid="5"/>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7"/>
                                        </p:tgtEl>
                                      </p:cBhvr>
                                    </p:animEffect>
                                    <p:set>
                                      <p:cBhvr>
                                        <p:cTn id="69" dur="1" fill="hold">
                                          <p:stCondLst>
                                            <p:cond delay="0"/>
                                          </p:stCondLst>
                                        </p:cTn>
                                        <p:tgtEl>
                                          <p:spTgt spid="7"/>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9"/>
                                        </p:tgtEl>
                                      </p:cBhvr>
                                    </p:animEffect>
                                    <p:set>
                                      <p:cBhvr>
                                        <p:cTn id="75" dur="1" fill="hold">
                                          <p:stCondLst>
                                            <p:cond delay="0"/>
                                          </p:stCondLst>
                                        </p:cTn>
                                        <p:tgtEl>
                                          <p:spTgt spid="9"/>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0"/>
                                        </p:tgtEl>
                                      </p:cBhvr>
                                    </p:animEffect>
                                    <p:set>
                                      <p:cBhvr>
                                        <p:cTn id="78" dur="1" fill="hold">
                                          <p:stCondLst>
                                            <p:cond delay="0"/>
                                          </p:stCondLst>
                                        </p:cTn>
                                        <p:tgtEl>
                                          <p:spTgt spid="10"/>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6"/>
                                        </p:tgtEl>
                                      </p:cBhvr>
                                    </p:animEffect>
                                    <p:set>
                                      <p:cBhvr>
                                        <p:cTn id="81" dur="1" fill="hold">
                                          <p:stCondLst>
                                            <p:cond delay="0"/>
                                          </p:stCondLst>
                                        </p:cTn>
                                        <p:tgtEl>
                                          <p:spTgt spid="6"/>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1"/>
                                        </p:tgtEl>
                                      </p:cBhvr>
                                    </p:animEffect>
                                    <p:set>
                                      <p:cBhvr>
                                        <p:cTn id="84" dur="1" fill="hold">
                                          <p:stCondLst>
                                            <p:cond delay="0"/>
                                          </p:stCondLst>
                                        </p:cTn>
                                        <p:tgtEl>
                                          <p:spTgt spid="11"/>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7"/>
                                        </p:tgtEl>
                                      </p:cBhvr>
                                    </p:animEffect>
                                    <p:set>
                                      <p:cBhvr>
                                        <p:cTn id="87" dur="1" fill="hold">
                                          <p:stCondLst>
                                            <p:cond delay="0"/>
                                          </p:stCondLst>
                                        </p:cTn>
                                        <p:tgtEl>
                                          <p:spTgt spid="7"/>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2"/>
                                        </p:tgtEl>
                                      </p:cBhvr>
                                    </p:animEffect>
                                    <p:set>
                                      <p:cBhvr>
                                        <p:cTn id="90" dur="1" fill="hold">
                                          <p:stCondLst>
                                            <p:cond delay="0"/>
                                          </p:stCondLst>
                                        </p:cTn>
                                        <p:tgtEl>
                                          <p:spTgt spid="12"/>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9"/>
                                        </p:tgtEl>
                                      </p:cBhvr>
                                    </p:animEffect>
                                    <p:set>
                                      <p:cBhvr>
                                        <p:cTn id="93" dur="1" fill="hold">
                                          <p:stCondLst>
                                            <p:cond delay="0"/>
                                          </p:stCondLst>
                                        </p:cTn>
                                        <p:tgtEl>
                                          <p:spTgt spid="9"/>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3"/>
                                        </p:tgtEl>
                                      </p:cBhvr>
                                    </p:animEffect>
                                    <p:set>
                                      <p:cBhvr>
                                        <p:cTn id="96" dur="1" fill="hold">
                                          <p:stCondLst>
                                            <p:cond delay="0"/>
                                          </p:stCondLst>
                                        </p:cTn>
                                        <p:tgtEl>
                                          <p:spTgt spid="13"/>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14"/>
                                        </p:tgtEl>
                                      </p:cBhvr>
                                    </p:animEffect>
                                    <p:set>
                                      <p:cBhvr>
                                        <p:cTn id="101" dur="1" fill="hold">
                                          <p:stCondLst>
                                            <p:cond delay="0"/>
                                          </p:stCondLst>
                                        </p:cTn>
                                        <p:tgtEl>
                                          <p:spTgt spid="14"/>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1"/>
                                        </p:tgtEl>
                                      </p:cBhvr>
                                    </p:animEffect>
                                    <p:set>
                                      <p:cBhvr>
                                        <p:cTn id="107" dur="1" fill="hold">
                                          <p:stCondLst>
                                            <p:cond delay="0"/>
                                          </p:stCondLst>
                                        </p:cTn>
                                        <p:tgtEl>
                                          <p:spTgt spid="11"/>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5"/>
                                        </p:tgtEl>
                                      </p:cBhvr>
                                    </p:animEffect>
                                    <p:set>
                                      <p:cBhvr>
                                        <p:cTn id="110" dur="1" fill="hold">
                                          <p:stCondLst>
                                            <p:cond delay="0"/>
                                          </p:stCondLst>
                                        </p:cTn>
                                        <p:tgtEl>
                                          <p:spTgt spid="15"/>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7"/>
                                        </p:tgtEl>
                                      </p:cBhvr>
                                    </p:animEffect>
                                    <p:set>
                                      <p:cBhvr>
                                        <p:cTn id="113" dur="1" fill="hold">
                                          <p:stCondLst>
                                            <p:cond delay="0"/>
                                          </p:stCondLst>
                                        </p:cTn>
                                        <p:tgtEl>
                                          <p:spTgt spid="7"/>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2"/>
                                        </p:tgtEl>
                                      </p:cBhvr>
                                    </p:animEffect>
                                    <p:set>
                                      <p:cBhvr>
                                        <p:cTn id="116" dur="1" fill="hold">
                                          <p:stCondLst>
                                            <p:cond delay="0"/>
                                          </p:stCondLst>
                                        </p:cTn>
                                        <p:tgtEl>
                                          <p:spTgt spid="12"/>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6"/>
                                        </p:tgtEl>
                                      </p:cBhvr>
                                    </p:animEffect>
                                    <p:set>
                                      <p:cBhvr>
                                        <p:cTn id="119" dur="1" fill="hold">
                                          <p:stCondLst>
                                            <p:cond delay="0"/>
                                          </p:stCondLst>
                                        </p:cTn>
                                        <p:tgtEl>
                                          <p:spTgt spid="16"/>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8"/>
                                        </p:tgtEl>
                                      </p:cBhvr>
                                    </p:animEffect>
                                    <p:set>
                                      <p:cBhvr>
                                        <p:cTn id="122" dur="1" fill="hold">
                                          <p:stCondLst>
                                            <p:cond delay="0"/>
                                          </p:stCondLst>
                                        </p:cTn>
                                        <p:tgtEl>
                                          <p:spTgt spid="8"/>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17"/>
                                        </p:tgtEl>
                                      </p:cBhvr>
                                    </p:animEffect>
                                    <p:set>
                                      <p:cBhvr>
                                        <p:cTn id="125" dur="1" fill="hold">
                                          <p:stCondLst>
                                            <p:cond delay="0"/>
                                          </p:stCondLst>
                                        </p:cTn>
                                        <p:tgtEl>
                                          <p:spTgt spid="17"/>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9"/>
                                        </p:tgtEl>
                                      </p:cBhvr>
                                    </p:animEffect>
                                    <p:set>
                                      <p:cBhvr>
                                        <p:cTn id="128" dur="1" fill="hold">
                                          <p:stCondLst>
                                            <p:cond delay="0"/>
                                          </p:stCondLst>
                                        </p:cTn>
                                        <p:tgtEl>
                                          <p:spTgt spid="9"/>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3"/>
                                        </p:tgtEl>
                                      </p:cBhvr>
                                    </p:animEffect>
                                    <p:set>
                                      <p:cBhvr>
                                        <p:cTn id="131" dur="1" fill="hold">
                                          <p:stCondLst>
                                            <p:cond delay="0"/>
                                          </p:stCondLst>
                                        </p:cTn>
                                        <p:tgtEl>
                                          <p:spTgt spid="13"/>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8"/>
                                        </p:tgtEl>
                                      </p:cBhvr>
                                    </p:animEffect>
                                    <p:set>
                                      <p:cBhvr>
                                        <p:cTn id="134" dur="1" fill="hold">
                                          <p:stCondLst>
                                            <p:cond delay="0"/>
                                          </p:stCondLst>
                                        </p:cTn>
                                        <p:tgtEl>
                                          <p:spTgt spid="18"/>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0"/>
                                        </p:tgtEl>
                                      </p:cBhvr>
                                    </p:animEffect>
                                    <p:set>
                                      <p:cBhvr>
                                        <p:cTn id="137" dur="1" fill="hold">
                                          <p:stCondLst>
                                            <p:cond delay="0"/>
                                          </p:stCondLst>
                                        </p:cTn>
                                        <p:tgtEl>
                                          <p:spTgt spid="10"/>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19"/>
                                        </p:tgtEl>
                                      </p:cBhvr>
                                    </p:animEffect>
                                    <p:set>
                                      <p:cBhvr>
                                        <p:cTn id="140" dur="1" fill="hold">
                                          <p:stCondLst>
                                            <p:cond delay="0"/>
                                          </p:stCondLst>
                                        </p:cTn>
                                        <p:tgtEl>
                                          <p:spTgt spid="19"/>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6"/>
                                        </p:tgtEl>
                                      </p:cBhvr>
                                    </p:animEffect>
                                    <p:set>
                                      <p:cBhvr>
                                        <p:cTn id="143" dur="1" fill="hold">
                                          <p:stCondLst>
                                            <p:cond delay="0"/>
                                          </p:stCondLst>
                                        </p:cTn>
                                        <p:tgtEl>
                                          <p:spTgt spid="6"/>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11"/>
                                        </p:tgtEl>
                                      </p:cBhvr>
                                    </p:animEffect>
                                    <p:set>
                                      <p:cBhvr>
                                        <p:cTn id="146" dur="1" fill="hold">
                                          <p:stCondLst>
                                            <p:cond delay="0"/>
                                          </p:stCondLst>
                                        </p:cTn>
                                        <p:tgtEl>
                                          <p:spTgt spid="11"/>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15"/>
                                        </p:tgtEl>
                                      </p:cBhvr>
                                    </p:animEffect>
                                    <p:set>
                                      <p:cBhvr>
                                        <p:cTn id="149" dur="1" fill="hold">
                                          <p:stCondLst>
                                            <p:cond delay="0"/>
                                          </p:stCondLst>
                                        </p:cTn>
                                        <p:tgtEl>
                                          <p:spTgt spid="15"/>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20"/>
                                        </p:tgtEl>
                                      </p:cBhvr>
                                    </p:animEffect>
                                    <p:set>
                                      <p:cBhvr>
                                        <p:cTn id="152" dur="1" fill="hold">
                                          <p:stCondLst>
                                            <p:cond delay="0"/>
                                          </p:stCondLst>
                                        </p:cTn>
                                        <p:tgtEl>
                                          <p:spTgt spid="20"/>
                                        </p:tgtEl>
                                        <p:attrNameLst>
                                          <p:attrName>style.visibility</p:attrName>
                                        </p:attrNameLst>
                                      </p:cBhvr>
                                      <p:to>
                                        <p:strVal val="visible"/>
                                      </p:to>
                                    </p:set>
                                  </p:childTnLst>
                                </p:cTn>
                              </p:par>
                              <p:par>
                                <p:cTn id="153" presetID="10" presetClass="entr" presetSubtype="0" fill="hold" grpId="0" nodeType="withEffect">
                                  <p:stCondLst>
                                    <p:cond delay="0"/>
                                  </p:stCondLst>
                                  <p:childTnLst>
                                    <p:animEffect transition="in" filter="fade">
                                      <p:cBhvr>
                                        <p:cTn id="154" dur="500"/>
                                        <p:tgtEl>
                                          <p:spTgt spid="7"/>
                                        </p:tgtEl>
                                      </p:cBhvr>
                                    </p:animEffect>
                                    <p:set>
                                      <p:cBhvr>
                                        <p:cTn id="155" dur="1" fill="hold">
                                          <p:stCondLst>
                                            <p:cond delay="0"/>
                                          </p:stCondLst>
                                        </p:cTn>
                                        <p:tgtEl>
                                          <p:spTgt spid="7"/>
                                        </p:tgtEl>
                                        <p:attrNameLst>
                                          <p:attrName>style.visibility</p:attrName>
                                        </p:attrNameLst>
                                      </p:cBhvr>
                                      <p:to>
                                        <p:strVal val="visible"/>
                                      </p:to>
                                    </p:set>
                                  </p:childTnLst>
                                </p:cTn>
                              </p:par>
                              <p:par>
                                <p:cTn id="156" presetID="10" presetClass="entr" presetSubtype="0" fill="hold" grpId="0" nodeType="withEffect">
                                  <p:stCondLst>
                                    <p:cond delay="0"/>
                                  </p:stCondLst>
                                  <p:childTnLst>
                                    <p:animEffect transition="in" filter="fade">
                                      <p:cBhvr>
                                        <p:cTn id="157" dur="500"/>
                                        <p:tgtEl>
                                          <p:spTgt spid="12"/>
                                        </p:tgtEl>
                                      </p:cBhvr>
                                    </p:animEffect>
                                    <p:set>
                                      <p:cBhvr>
                                        <p:cTn id="158" dur="1" fill="hold">
                                          <p:stCondLst>
                                            <p:cond delay="0"/>
                                          </p:stCondLst>
                                        </p:cTn>
                                        <p:tgtEl>
                                          <p:spTgt spid="12"/>
                                        </p:tgtEl>
                                        <p:attrNameLst>
                                          <p:attrName>style.visibility</p:attrName>
                                        </p:attrNameLst>
                                      </p:cBhvr>
                                      <p:to>
                                        <p:strVal val="visible"/>
                                      </p:to>
                                    </p:set>
                                  </p:childTnLst>
                                </p:cTn>
                              </p:par>
                              <p:par>
                                <p:cTn id="159" presetID="10" presetClass="entr" presetSubtype="0" fill="hold" grpId="0" nodeType="withEffect">
                                  <p:stCondLst>
                                    <p:cond delay="0"/>
                                  </p:stCondLst>
                                  <p:childTnLst>
                                    <p:animEffect transition="in" filter="fade">
                                      <p:cBhvr>
                                        <p:cTn id="160" dur="500"/>
                                        <p:tgtEl>
                                          <p:spTgt spid="16"/>
                                        </p:tgtEl>
                                      </p:cBhvr>
                                    </p:animEffect>
                                    <p:set>
                                      <p:cBhvr>
                                        <p:cTn id="161" dur="1" fill="hold">
                                          <p:stCondLst>
                                            <p:cond delay="0"/>
                                          </p:stCondLst>
                                        </p:cTn>
                                        <p:tgtEl>
                                          <p:spTgt spid="16"/>
                                        </p:tgtEl>
                                        <p:attrNameLst>
                                          <p:attrName>style.visibility</p:attrName>
                                        </p:attrNameLst>
                                      </p:cBhvr>
                                      <p:to>
                                        <p:strVal val="visible"/>
                                      </p:to>
                                    </p:set>
                                  </p:childTnLst>
                                </p:cTn>
                              </p:par>
                              <p:par>
                                <p:cTn id="162" presetID="10" presetClass="entr" presetSubtype="0" fill="hold" grpId="0" nodeType="withEffect">
                                  <p:stCondLst>
                                    <p:cond delay="0"/>
                                  </p:stCondLst>
                                  <p:childTnLst>
                                    <p:animEffect transition="in" filter="fade">
                                      <p:cBhvr>
                                        <p:cTn id="163" dur="500"/>
                                        <p:tgtEl>
                                          <p:spTgt spid="21"/>
                                        </p:tgtEl>
                                      </p:cBhvr>
                                    </p:animEffect>
                                    <p:set>
                                      <p:cBhvr>
                                        <p:cTn id="164" dur="1" fill="hold">
                                          <p:stCondLst>
                                            <p:cond delay="0"/>
                                          </p:stCondLst>
                                        </p:cTn>
                                        <p:tgtEl>
                                          <p:spTgt spid="21"/>
                                        </p:tgtEl>
                                        <p:attrNameLst>
                                          <p:attrName>style.visibility</p:attrName>
                                        </p:attrNameLst>
                                      </p:cBhvr>
                                      <p:to>
                                        <p:strVal val="visible"/>
                                      </p:to>
                                    </p:set>
                                  </p:childTnLst>
                                </p:cTn>
                              </p:par>
                              <p:par>
                                <p:cTn id="165" presetID="10" presetClass="entr" presetSubtype="0" fill="hold" grpId="0" nodeType="withEffect">
                                  <p:stCondLst>
                                    <p:cond delay="0"/>
                                  </p:stCondLst>
                                  <p:childTnLst>
                                    <p:animEffect transition="in" filter="fade">
                                      <p:cBhvr>
                                        <p:cTn id="166" dur="500"/>
                                        <p:tgtEl>
                                          <p:spTgt spid="9"/>
                                        </p:tgtEl>
                                      </p:cBhvr>
                                    </p:animEffect>
                                    <p:set>
                                      <p:cBhvr>
                                        <p:cTn id="167" dur="1" fill="hold">
                                          <p:stCondLst>
                                            <p:cond delay="0"/>
                                          </p:stCondLst>
                                        </p:cTn>
                                        <p:tgtEl>
                                          <p:spTgt spid="9"/>
                                        </p:tgtEl>
                                        <p:attrNameLst>
                                          <p:attrName>style.visibility</p:attrName>
                                        </p:attrNameLst>
                                      </p:cBhvr>
                                      <p:to>
                                        <p:strVal val="visible"/>
                                      </p:to>
                                    </p:set>
                                  </p:childTnLst>
                                </p:cTn>
                              </p:par>
                              <p:par>
                                <p:cTn id="168" presetID="10" presetClass="entr" presetSubtype="0" fill="hold" grpId="0" nodeType="withEffect">
                                  <p:stCondLst>
                                    <p:cond delay="0"/>
                                  </p:stCondLst>
                                  <p:childTnLst>
                                    <p:animEffect transition="in" filter="fade">
                                      <p:cBhvr>
                                        <p:cTn id="169" dur="500"/>
                                        <p:tgtEl>
                                          <p:spTgt spid="13"/>
                                        </p:tgtEl>
                                      </p:cBhvr>
                                    </p:animEffect>
                                    <p:set>
                                      <p:cBhvr>
                                        <p:cTn id="170" dur="1" fill="hold">
                                          <p:stCondLst>
                                            <p:cond delay="0"/>
                                          </p:stCondLst>
                                        </p:cTn>
                                        <p:tgtEl>
                                          <p:spTgt spid="13"/>
                                        </p:tgtEl>
                                        <p:attrNameLst>
                                          <p:attrName>style.visibility</p:attrName>
                                        </p:attrNameLst>
                                      </p:cBhvr>
                                      <p:to>
                                        <p:strVal val="visible"/>
                                      </p:to>
                                    </p:set>
                                  </p:childTnLst>
                                </p:cTn>
                              </p:par>
                              <p:par>
                                <p:cTn id="171" presetID="10" presetClass="entr" presetSubtype="0" fill="hold" grpId="0" nodeType="withEffect">
                                  <p:stCondLst>
                                    <p:cond delay="0"/>
                                  </p:stCondLst>
                                  <p:childTnLst>
                                    <p:animEffect transition="in" filter="fade">
                                      <p:cBhvr>
                                        <p:cTn id="172" dur="500"/>
                                        <p:tgtEl>
                                          <p:spTgt spid="18"/>
                                        </p:tgtEl>
                                      </p:cBhvr>
                                    </p:animEffect>
                                    <p:set>
                                      <p:cBhvr>
                                        <p:cTn id="173" dur="1" fill="hold">
                                          <p:stCondLst>
                                            <p:cond delay="0"/>
                                          </p:stCondLst>
                                        </p:cTn>
                                        <p:tgtEl>
                                          <p:spTgt spid="18"/>
                                        </p:tgtEl>
                                        <p:attrNameLst>
                                          <p:attrName>style.visibility</p:attrName>
                                        </p:attrNameLst>
                                      </p:cBhvr>
                                      <p:to>
                                        <p:strVal val="visible"/>
                                      </p:to>
                                    </p:set>
                                  </p:childTnLst>
                                </p:cTn>
                              </p:par>
                              <p:par>
                                <p:cTn id="174" presetID="10" presetClass="entr" presetSubtype="0" fill="hold" grpId="0" nodeType="withEffect">
                                  <p:stCondLst>
                                    <p:cond delay="0"/>
                                  </p:stCondLst>
                                  <p:childTnLst>
                                    <p:animEffect transition="in" filter="fade">
                                      <p:cBhvr>
                                        <p:cTn id="175" dur="500"/>
                                        <p:tgtEl>
                                          <p:spTgt spid="22"/>
                                        </p:tgtEl>
                                      </p:cBhvr>
                                    </p:animEffect>
                                    <p:set>
                                      <p:cBhvr>
                                        <p:cTn id="176" dur="1" fill="hold">
                                          <p:stCondLst>
                                            <p:cond delay="0"/>
                                          </p:stCondLst>
                                        </p:cTn>
                                        <p:tgtEl>
                                          <p:spTgt spid="22"/>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animEffect transition="in" filter="fade">
                                      <p:cBhvr>
                                        <p:cTn id="180" dur="500"/>
                                        <p:tgtEl>
                                          <p:spTgt spid="23"/>
                                        </p:tgtEl>
                                      </p:cBhvr>
                                    </p:animEffect>
                                    <p:set>
                                      <p:cBhvr>
                                        <p:cTn id="181"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OpenRCA 2.0</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OpenRCA 2.0 / FORGE</a:t>
            </a:r>
          </a:p>
        </p:txBody>
      </p:sp>
      <p:sp>
        <p:nvSpPr>
          <p:cNvPr id="5" name="Rounded Rectangle 4"/>
          <p:cNvSpPr/>
          <p:nvPr/>
        </p:nvSpPr>
        <p:spPr>
          <a:xfrm>
            <a:off x="731520" y="1371600"/>
            <a:ext cx="340553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Benchmark</a:t>
            </a:r>
          </a:p>
        </p:txBody>
      </p:sp>
      <p:sp>
        <p:nvSpPr>
          <p:cNvPr id="6" name="TextBox 5"/>
          <p:cNvSpPr txBox="1"/>
          <p:nvPr/>
        </p:nvSpPr>
        <p:spPr>
          <a:xfrm>
            <a:off x="731520" y="1840484"/>
            <a:ext cx="3405530" cy="458216"/>
          </a:xfrm>
          <a:prstGeom prst="rect">
            <a:avLst/>
          </a:prstGeom>
          <a:noFill/>
        </p:spPr>
        <p:txBody>
          <a:bodyPr wrap="square">
            <a:spAutoFit/>
          </a:bodyPr>
          <a:lstStyle/>
          <a:p>
            <a:pPr algn="l">
              <a:defRPr sz="2000" b="1" i="0">
                <a:solidFill>
                  <a:srgbClr val="223043"/>
                </a:solidFill>
                <a:latin typeface="Liberation Sans"/>
              </a:defRPr>
            </a:pPr>
            <a:r>
              <a:t>500 instances</a:t>
            </a:r>
          </a:p>
        </p:txBody>
      </p:sp>
      <p:sp>
        <p:nvSpPr>
          <p:cNvPr id="7" name="Rounded Rectangle 6"/>
          <p:cNvSpPr/>
          <p:nvPr/>
        </p:nvSpPr>
        <p:spPr>
          <a:xfrm>
            <a:off x="4393082" y="1371600"/>
            <a:ext cx="3405530"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Labels</a:t>
            </a:r>
          </a:p>
        </p:txBody>
      </p:sp>
      <p:sp>
        <p:nvSpPr>
          <p:cNvPr id="8" name="TextBox 7"/>
          <p:cNvSpPr txBox="1"/>
          <p:nvPr/>
        </p:nvSpPr>
        <p:spPr>
          <a:xfrm>
            <a:off x="4393082" y="1840484"/>
            <a:ext cx="3405530" cy="788416"/>
          </a:xfrm>
          <a:prstGeom prst="rect">
            <a:avLst/>
          </a:prstGeom>
          <a:noFill/>
        </p:spPr>
        <p:txBody>
          <a:bodyPr wrap="square">
            <a:spAutoFit/>
          </a:bodyPr>
          <a:lstStyle/>
          <a:p>
            <a:pPr algn="l">
              <a:defRPr sz="2000" b="1" i="0">
                <a:solidFill>
                  <a:srgbClr val="223043"/>
                </a:solidFill>
                <a:latin typeface="Liberation Sans"/>
              </a:defRPr>
            </a:pPr>
            <a:r>
              <a:t>step-wise causal annotations</a:t>
            </a:r>
          </a:p>
        </p:txBody>
      </p:sp>
      <p:sp>
        <p:nvSpPr>
          <p:cNvPr id="9" name="Rounded Rectangle 8"/>
          <p:cNvSpPr/>
          <p:nvPr/>
        </p:nvSpPr>
        <p:spPr>
          <a:xfrm>
            <a:off x="8054644" y="1371600"/>
            <a:ext cx="3405530"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Supervision</a:t>
            </a:r>
          </a:p>
        </p:txBody>
      </p:sp>
      <p:sp>
        <p:nvSpPr>
          <p:cNvPr id="10" name="TextBox 9"/>
          <p:cNvSpPr txBox="1"/>
          <p:nvPr/>
        </p:nvSpPr>
        <p:spPr>
          <a:xfrm>
            <a:off x="8054644" y="1840484"/>
            <a:ext cx="3405530" cy="458216"/>
          </a:xfrm>
          <a:prstGeom prst="rect">
            <a:avLst/>
          </a:prstGeom>
          <a:noFill/>
        </p:spPr>
        <p:txBody>
          <a:bodyPr wrap="square">
            <a:spAutoFit/>
          </a:bodyPr>
          <a:lstStyle/>
          <a:p>
            <a:pPr algn="l">
              <a:defRPr sz="2000" b="1" i="0">
                <a:solidFill>
                  <a:srgbClr val="223043"/>
                </a:solidFill>
                <a:latin typeface="Liberation Sans"/>
              </a:defRPr>
            </a:pPr>
            <a:r>
              <a:t>process supervision</a:t>
            </a:r>
          </a:p>
        </p:txBody>
      </p:sp>
      <p:sp>
        <p:nvSpPr>
          <p:cNvPr id="11" name="Rounded Rectangle 10"/>
          <p:cNvSpPr/>
          <p:nvPr/>
        </p:nvSpPr>
        <p:spPr>
          <a:xfrm>
            <a:off x="731520" y="2884932"/>
            <a:ext cx="193802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Known intervention</a:t>
            </a:r>
          </a:p>
        </p:txBody>
      </p:sp>
      <p:cxnSp>
        <p:nvCxnSpPr>
          <p:cNvPr id="12" name="Connector 11"/>
          <p:cNvCxnSpPr/>
          <p:nvPr/>
        </p:nvCxnSpPr>
        <p:spPr>
          <a:xfrm>
            <a:off x="2669540" y="3259836"/>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145028" y="2884932"/>
            <a:ext cx="1988819"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Verified propagation</a:t>
            </a:r>
          </a:p>
        </p:txBody>
      </p:sp>
      <p:cxnSp>
        <p:nvCxnSpPr>
          <p:cNvPr id="14" name="Connector 13"/>
          <p:cNvCxnSpPr/>
          <p:nvPr/>
        </p:nvCxnSpPr>
        <p:spPr>
          <a:xfrm>
            <a:off x="5133848" y="3259836"/>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609336" y="2884932"/>
            <a:ext cx="131572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Agent graph</a:t>
            </a:r>
          </a:p>
        </p:txBody>
      </p:sp>
      <p:cxnSp>
        <p:nvCxnSpPr>
          <p:cNvPr id="16" name="Connector 15"/>
          <p:cNvCxnSpPr/>
          <p:nvPr/>
        </p:nvCxnSpPr>
        <p:spPr>
          <a:xfrm>
            <a:off x="6925056" y="3259836"/>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0544" y="2884932"/>
            <a:ext cx="1645920" cy="749808"/>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Process metrics</a:t>
            </a:r>
          </a:p>
        </p:txBody>
      </p:sp>
      <p:sp>
        <p:nvSpPr>
          <p:cNvPr id="18" name="Rectangle 17"/>
          <p:cNvSpPr/>
          <p:nvPr/>
        </p:nvSpPr>
        <p:spPr>
          <a:xfrm>
            <a:off x="731520" y="3890772"/>
            <a:ext cx="54864" cy="110693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3890772"/>
            <a:ext cx="10536631" cy="425196"/>
          </a:xfrm>
          <a:prstGeom prst="rect">
            <a:avLst/>
          </a:prstGeom>
          <a:noFill/>
        </p:spPr>
        <p:txBody>
          <a:bodyPr wrap="square">
            <a:spAutoFit/>
          </a:bodyPr>
          <a:lstStyle/>
          <a:p>
            <a:pPr algn="l">
              <a:defRPr sz="1800" b="1" i="0">
                <a:solidFill>
                  <a:srgbClr val="5C82AD"/>
                </a:solidFill>
                <a:latin typeface="Liberation Sans"/>
              </a:defRPr>
            </a:pPr>
            <a:r>
              <a:t>Benchmark identity</a:t>
            </a:r>
          </a:p>
        </p:txBody>
      </p:sp>
      <p:sp>
        <p:nvSpPr>
          <p:cNvPr id="20" name="TextBox 19"/>
          <p:cNvSpPr txBox="1"/>
          <p:nvPr/>
        </p:nvSpPr>
        <p:spPr>
          <a:xfrm>
            <a:off x="923544" y="4407408"/>
            <a:ext cx="10536631" cy="590296"/>
          </a:xfrm>
          <a:prstGeom prst="rect">
            <a:avLst/>
          </a:prstGeom>
          <a:noFill/>
        </p:spPr>
        <p:txBody>
          <a:bodyPr wrap="square">
            <a:spAutoFit/>
          </a:bodyPr>
          <a:lstStyle/>
          <a:p>
            <a:pPr algn="l">
              <a:defRPr sz="1400" b="0" i="0">
                <a:solidFill>
                  <a:srgbClr val="223043"/>
                </a:solidFill>
                <a:latin typeface="Liberation Sans"/>
              </a:defRPr>
            </a:pPr>
            <a:r>
              <a:t>OpenRCA 2.0 is not just a harder label dataset. It is a process benchmark with step-wise supervision that scores how the diagnosis is constructed.</a:t>
            </a:r>
          </a:p>
        </p:txBody>
      </p:sp>
      <p:sp>
        <p:nvSpPr>
          <p:cNvPr id="21" name="TextBox 20"/>
          <p:cNvSpPr txBox="1"/>
          <p:nvPr/>
        </p:nvSpPr>
        <p:spPr>
          <a:xfrm>
            <a:off x="731520" y="5253736"/>
            <a:ext cx="10728655" cy="425196"/>
          </a:xfrm>
          <a:prstGeom prst="rect">
            <a:avLst/>
          </a:prstGeom>
          <a:noFill/>
        </p:spPr>
        <p:txBody>
          <a:bodyPr wrap="square">
            <a:spAutoFit/>
          </a:bodyPr>
          <a:lstStyle/>
          <a:p>
            <a:pPr algn="l">
              <a:defRPr sz="1800" b="0" i="1">
                <a:solidFill>
                  <a:srgbClr val="647489"/>
                </a:solidFill>
                <a:latin typeface="Liberation Sans"/>
              </a:defRPr>
            </a:pPr>
            <a:r>
              <a:t>OpenRCA 2.0 gives us a benchmark where benchmark quality and training signal finally align.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7"/>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2"/>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9"/>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1"/>
                            </p:tgtEl>
                            <p:attrNameLst>
                              <p:attrName>style.visibility</p:attrName>
                            </p:attrNameLst>
                          </p:cBhvr>
                          <p:to>
                            <p:strVal val="hidden"/>
                          </p:to>
                        </p:set>
                      </p:childTnLst>
                    </p:cTn>
                  </p:par>
                </p:childTnLst>
              </p:cTn>
            </p:par>
            <p:seq concurrent="1" nextAc="seek">
              <p:cTn id="32" dur="indefinite" nodeType="mainSeq">
                <p:childTnLst>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animEffect transition="in" filter="fade">
                                      <p:cBhvr>
                                        <p:cTn id="36" dur="500"/>
                                        <p:tgtEl>
                                          <p:spTgt spid="5"/>
                                        </p:tgtEl>
                                      </p:cBhvr>
                                    </p:animEffect>
                                    <p:set>
                                      <p:cBhvr>
                                        <p:cTn id="37" dur="1" fill="hold">
                                          <p:stCondLst>
                                            <p:cond delay="0"/>
                                          </p:stCondLst>
                                        </p:cTn>
                                        <p:tgtEl>
                                          <p:spTgt spid="5"/>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6"/>
                                        </p:tgtEl>
                                      </p:cBhvr>
                                    </p:animEffect>
                                    <p:set>
                                      <p:cBhvr>
                                        <p:cTn id="40" dur="1" fill="hold">
                                          <p:stCondLst>
                                            <p:cond delay="0"/>
                                          </p:stCondLst>
                                        </p:cTn>
                                        <p:tgtEl>
                                          <p:spTgt spid="6"/>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7"/>
                                        </p:tgtEl>
                                      </p:cBhvr>
                                    </p:animEffect>
                                    <p:set>
                                      <p:cBhvr>
                                        <p:cTn id="43" dur="1" fill="hold">
                                          <p:stCondLst>
                                            <p:cond delay="0"/>
                                          </p:stCondLst>
                                        </p:cTn>
                                        <p:tgtEl>
                                          <p:spTgt spid="7"/>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8"/>
                                        </p:tgtEl>
                                      </p:cBhvr>
                                    </p:animEffect>
                                    <p:set>
                                      <p:cBhvr>
                                        <p:cTn id="46" dur="1" fill="hold">
                                          <p:stCondLst>
                                            <p:cond delay="0"/>
                                          </p:stCondLst>
                                        </p:cTn>
                                        <p:tgtEl>
                                          <p:spTgt spid="8"/>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9"/>
                                        </p:tgtEl>
                                      </p:cBhvr>
                                    </p:animEffect>
                                    <p:set>
                                      <p:cBhvr>
                                        <p:cTn id="49" dur="1" fill="hold">
                                          <p:stCondLst>
                                            <p:cond delay="0"/>
                                          </p:stCondLst>
                                        </p:cTn>
                                        <p:tgtEl>
                                          <p:spTgt spid="9"/>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0"/>
                                        </p:tgtEl>
                                      </p:cBhvr>
                                    </p:animEffect>
                                    <p:set>
                                      <p:cBhvr>
                                        <p:cTn id="52" dur="1" fill="hold">
                                          <p:stCondLst>
                                            <p:cond delay="0"/>
                                          </p:stCondLst>
                                        </p:cTn>
                                        <p:tgtEl>
                                          <p:spTgt spid="1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animEffect transition="in" filter="fade">
                                      <p:cBhvr>
                                        <p:cTn id="56" dur="500"/>
                                        <p:tgtEl>
                                          <p:spTgt spid="11"/>
                                        </p:tgtEl>
                                      </p:cBhvr>
                                    </p:animEffect>
                                    <p:set>
                                      <p:cBhvr>
                                        <p:cTn id="57" dur="1" fill="hold">
                                          <p:stCondLst>
                                            <p:cond delay="0"/>
                                          </p:stCondLst>
                                        </p:cTn>
                                        <p:tgtEl>
                                          <p:spTgt spid="11"/>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2"/>
                                        </p:tgtEl>
                                      </p:cBhvr>
                                    </p:animEffect>
                                    <p:set>
                                      <p:cBhvr>
                                        <p:cTn id="60" dur="1" fill="hold">
                                          <p:stCondLst>
                                            <p:cond delay="0"/>
                                          </p:stCondLst>
                                        </p:cTn>
                                        <p:tgtEl>
                                          <p:spTgt spid="12"/>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3"/>
                                        </p:tgtEl>
                                      </p:cBhvr>
                                    </p:animEffect>
                                    <p:set>
                                      <p:cBhvr>
                                        <p:cTn id="63" dur="1" fill="hold">
                                          <p:stCondLst>
                                            <p:cond delay="0"/>
                                          </p:stCondLst>
                                        </p:cTn>
                                        <p:tgtEl>
                                          <p:spTgt spid="13"/>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6"/>
                                        </p:tgtEl>
                                      </p:cBhvr>
                                    </p:animEffect>
                                    <p:set>
                                      <p:cBhvr>
                                        <p:cTn id="72" dur="1" fill="hold">
                                          <p:stCondLst>
                                            <p:cond delay="0"/>
                                          </p:stCondLst>
                                        </p:cTn>
                                        <p:tgtEl>
                                          <p:spTgt spid="1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7"/>
                                        </p:tgtEl>
                                      </p:cBhvr>
                                    </p:animEffect>
                                    <p:set>
                                      <p:cBhvr>
                                        <p:cTn id="75" dur="1" fill="hold">
                                          <p:stCondLst>
                                            <p:cond delay="0"/>
                                          </p:stCondLst>
                                        </p:cTn>
                                        <p:tgtEl>
                                          <p:spTgt spid="17"/>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1"/>
                                        </p:tgtEl>
                                      </p:cBhvr>
                                    </p:animEffect>
                                    <p:set>
                                      <p:cBhvr>
                                        <p:cTn id="80" dur="1" fill="hold">
                                          <p:stCondLst>
                                            <p:cond delay="0"/>
                                          </p:stCondLst>
                                        </p:cTn>
                                        <p:tgtEl>
                                          <p:spTgt spid="11"/>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8"/>
                                        </p:tgtEl>
                                      </p:cBhvr>
                                    </p:animEffect>
                                    <p:set>
                                      <p:cBhvr>
                                        <p:cTn id="83" dur="1" fill="hold">
                                          <p:stCondLst>
                                            <p:cond delay="0"/>
                                          </p:stCondLst>
                                        </p:cTn>
                                        <p:tgtEl>
                                          <p:spTgt spid="18"/>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2"/>
                                        </p:tgtEl>
                                      </p:cBhvr>
                                    </p:animEffect>
                                    <p:set>
                                      <p:cBhvr>
                                        <p:cTn id="86" dur="1" fill="hold">
                                          <p:stCondLst>
                                            <p:cond delay="0"/>
                                          </p:stCondLst>
                                        </p:cTn>
                                        <p:tgtEl>
                                          <p:spTgt spid="12"/>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4"/>
                                        </p:tgtEl>
                                      </p:cBhvr>
                                    </p:animEffect>
                                    <p:set>
                                      <p:cBhvr>
                                        <p:cTn id="92" dur="1" fill="hold">
                                          <p:stCondLst>
                                            <p:cond delay="0"/>
                                          </p:stCondLst>
                                        </p:cTn>
                                        <p:tgtEl>
                                          <p:spTgt spid="14"/>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0"/>
                                        </p:tgtEl>
                                      </p:cBhvr>
                                    </p:animEffect>
                                    <p:set>
                                      <p:cBhvr>
                                        <p:cTn id="95" dur="1" fill="hold">
                                          <p:stCondLst>
                                            <p:cond delay="0"/>
                                          </p:stCondLst>
                                        </p:cTn>
                                        <p:tgtEl>
                                          <p:spTgt spid="20"/>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21"/>
                                        </p:tgtEl>
                                      </p:cBhvr>
                                    </p:animEffect>
                                    <p:set>
                                      <p:cBhvr>
                                        <p:cTn id="9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Triangle: Multi-Agent Triage</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4A3B6"/>
                </a:solidFill>
                <a:latin typeface="Liberation Sans"/>
              </a:defRPr>
            </a:pPr>
            <a:r>
              <a:t>TRIANGLE paper</a:t>
            </a:r>
          </a:p>
        </p:txBody>
      </p:sp>
      <p:sp>
        <p:nvSpPr>
          <p:cNvPr id="5" name="Rounded Rectangle 4"/>
          <p:cNvSpPr/>
          <p:nvPr/>
        </p:nvSpPr>
        <p:spPr>
          <a:xfrm>
            <a:off x="731520" y="1371600"/>
            <a:ext cx="10728655"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Adjacent evidence</a:t>
            </a:r>
          </a:p>
        </p:txBody>
      </p:sp>
      <p:sp>
        <p:nvSpPr>
          <p:cNvPr id="6" name="Rounded Rectangle 5"/>
          <p:cNvSpPr/>
          <p:nvPr/>
        </p:nvSpPr>
        <p:spPr>
          <a:xfrm>
            <a:off x="731520" y="1968500"/>
            <a:ext cx="1569720" cy="100584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Analyzer Agent</a:t>
            </a:r>
          </a:p>
        </p:txBody>
      </p:sp>
      <p:cxnSp>
        <p:nvCxnSpPr>
          <p:cNvPr id="7" name="Connector 6"/>
          <p:cNvCxnSpPr/>
          <p:nvPr/>
        </p:nvCxnSpPr>
        <p:spPr>
          <a:xfrm>
            <a:off x="2301240" y="2471419"/>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76728" y="1968500"/>
            <a:ext cx="1480820" cy="100584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Decider Agent</a:t>
            </a:r>
          </a:p>
        </p:txBody>
      </p:sp>
      <p:cxnSp>
        <p:nvCxnSpPr>
          <p:cNvPr id="9" name="Connector 8"/>
          <p:cNvCxnSpPr/>
          <p:nvPr/>
        </p:nvCxnSpPr>
        <p:spPr>
          <a:xfrm>
            <a:off x="4257548" y="2471419"/>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733036" y="1968500"/>
            <a:ext cx="1772920" cy="100584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assignment</a:t>
            </a:r>
          </a:p>
        </p:txBody>
      </p:sp>
      <p:cxnSp>
        <p:nvCxnSpPr>
          <p:cNvPr id="11" name="Connector 10"/>
          <p:cNvCxnSpPr/>
          <p:nvPr/>
        </p:nvCxnSpPr>
        <p:spPr>
          <a:xfrm>
            <a:off x="6505956" y="2471419"/>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81444" y="1968500"/>
            <a:ext cx="2052320" cy="100584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Manager Agent</a:t>
            </a:r>
          </a:p>
        </p:txBody>
      </p:sp>
      <p:sp>
        <p:nvSpPr>
          <p:cNvPr id="13" name="Rectangle 12"/>
          <p:cNvSpPr/>
          <p:nvPr/>
        </p:nvSpPr>
        <p:spPr>
          <a:xfrm>
            <a:off x="731520" y="3193796"/>
            <a:ext cx="54864" cy="133807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3193796"/>
            <a:ext cx="3237890" cy="425196"/>
          </a:xfrm>
          <a:prstGeom prst="rect">
            <a:avLst/>
          </a:prstGeom>
          <a:noFill/>
        </p:spPr>
        <p:txBody>
          <a:bodyPr wrap="square">
            <a:spAutoFit/>
          </a:bodyPr>
          <a:lstStyle/>
          <a:p>
            <a:pPr algn="l">
              <a:defRPr sz="1800" b="1" i="0">
                <a:solidFill>
                  <a:srgbClr val="8FAAC8"/>
                </a:solidFill>
                <a:latin typeface="Liberation Sans"/>
              </a:defRPr>
            </a:pPr>
            <a:r>
              <a:t>Analyzer Agent</a:t>
            </a:r>
          </a:p>
        </p:txBody>
      </p:sp>
      <p:sp>
        <p:nvSpPr>
          <p:cNvPr id="15" name="TextBox 14"/>
          <p:cNvSpPr txBox="1"/>
          <p:nvPr/>
        </p:nvSpPr>
        <p:spPr>
          <a:xfrm>
            <a:off x="923544" y="3710432"/>
            <a:ext cx="3237890" cy="821436"/>
          </a:xfrm>
          <a:prstGeom prst="rect">
            <a:avLst/>
          </a:prstGeom>
          <a:noFill/>
        </p:spPr>
        <p:txBody>
          <a:bodyPr wrap="square">
            <a:spAutoFit/>
          </a:bodyPr>
          <a:lstStyle/>
          <a:p>
            <a:pPr algn="l">
              <a:defRPr sz="1400" b="0" i="0">
                <a:solidFill>
                  <a:srgbClr val="223043"/>
                </a:solidFill>
                <a:latin typeface="Liberation Sans"/>
              </a:defRPr>
            </a:pPr>
            <a:r>
              <a:t>Semantically distills noisy incident text into the core location, symptom, and capability signals.</a:t>
            </a:r>
          </a:p>
        </p:txBody>
      </p:sp>
      <p:sp>
        <p:nvSpPr>
          <p:cNvPr id="16" name="Rectangle 15"/>
          <p:cNvSpPr/>
          <p:nvPr/>
        </p:nvSpPr>
        <p:spPr>
          <a:xfrm>
            <a:off x="4380890" y="3193796"/>
            <a:ext cx="54864" cy="133807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914" y="3193796"/>
            <a:ext cx="3237890" cy="425196"/>
          </a:xfrm>
          <a:prstGeom prst="rect">
            <a:avLst/>
          </a:prstGeom>
          <a:noFill/>
        </p:spPr>
        <p:txBody>
          <a:bodyPr wrap="square">
            <a:spAutoFit/>
          </a:bodyPr>
          <a:lstStyle/>
          <a:p>
            <a:pPr algn="l">
              <a:defRPr sz="1800" b="1" i="0">
                <a:solidFill>
                  <a:srgbClr val="D69A68"/>
                </a:solidFill>
                <a:latin typeface="Liberation Sans"/>
              </a:defRPr>
            </a:pPr>
            <a:r>
              <a:t>Decider Agent</a:t>
            </a:r>
          </a:p>
        </p:txBody>
      </p:sp>
      <p:sp>
        <p:nvSpPr>
          <p:cNvPr id="18" name="TextBox 17"/>
          <p:cNvSpPr txBox="1"/>
          <p:nvPr/>
        </p:nvSpPr>
        <p:spPr>
          <a:xfrm>
            <a:off x="4572914" y="3710432"/>
            <a:ext cx="3237890" cy="821436"/>
          </a:xfrm>
          <a:prstGeom prst="rect">
            <a:avLst/>
          </a:prstGeom>
          <a:noFill/>
        </p:spPr>
        <p:txBody>
          <a:bodyPr wrap="square">
            <a:spAutoFit/>
          </a:bodyPr>
          <a:lstStyle/>
          <a:p>
            <a:pPr algn="l">
              <a:defRPr sz="1400" b="0" i="0">
                <a:solidFill>
                  <a:srgbClr val="223043"/>
                </a:solidFill>
                <a:latin typeface="Liberation Sans"/>
              </a:defRPr>
            </a:pPr>
            <a:r>
              <a:t>Ranks candidate teams and orchestrates the negotiation over who should own the incident.</a:t>
            </a:r>
          </a:p>
        </p:txBody>
      </p:sp>
      <p:sp>
        <p:nvSpPr>
          <p:cNvPr id="19" name="Rectangle 18"/>
          <p:cNvSpPr/>
          <p:nvPr/>
        </p:nvSpPr>
        <p:spPr>
          <a:xfrm>
            <a:off x="8030260" y="3193796"/>
            <a:ext cx="54864" cy="133807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2284" y="3193796"/>
            <a:ext cx="3237890" cy="425196"/>
          </a:xfrm>
          <a:prstGeom prst="rect">
            <a:avLst/>
          </a:prstGeom>
          <a:noFill/>
        </p:spPr>
        <p:txBody>
          <a:bodyPr wrap="square">
            <a:spAutoFit/>
          </a:bodyPr>
          <a:lstStyle/>
          <a:p>
            <a:pPr algn="l">
              <a:defRPr sz="1800" b="1" i="0">
                <a:solidFill>
                  <a:srgbClr val="7FA195"/>
                </a:solidFill>
                <a:latin typeface="Liberation Sans"/>
              </a:defRPr>
            </a:pPr>
            <a:r>
              <a:t>Team Manager Agent</a:t>
            </a:r>
          </a:p>
        </p:txBody>
      </p:sp>
      <p:sp>
        <p:nvSpPr>
          <p:cNvPr id="21" name="TextBox 20"/>
          <p:cNvSpPr txBox="1"/>
          <p:nvPr/>
        </p:nvSpPr>
        <p:spPr>
          <a:xfrm>
            <a:off x="8222284" y="3710432"/>
            <a:ext cx="3237890" cy="821436"/>
          </a:xfrm>
          <a:prstGeom prst="rect">
            <a:avLst/>
          </a:prstGeom>
          <a:noFill/>
        </p:spPr>
        <p:txBody>
          <a:bodyPr wrap="square">
            <a:spAutoFit/>
          </a:bodyPr>
          <a:lstStyle/>
          <a:p>
            <a:pPr algn="l">
              <a:defRPr sz="1400" b="0" i="0">
                <a:solidFill>
                  <a:srgbClr val="223043"/>
                </a:solidFill>
                <a:latin typeface="Liberation Sans"/>
              </a:defRPr>
            </a:pPr>
            <a:r>
              <a:t>Contributes team-specific knowledge, retrieves context, and votes during collaboration.</a:t>
            </a:r>
          </a:p>
        </p:txBody>
      </p:sp>
      <p:sp>
        <p:nvSpPr>
          <p:cNvPr id="22" name="Rounded Rectangle 21"/>
          <p:cNvSpPr/>
          <p:nvPr/>
        </p:nvSpPr>
        <p:spPr>
          <a:xfrm>
            <a:off x="731520" y="4751324"/>
            <a:ext cx="3381146" cy="377444"/>
          </a:xfrm>
          <a:prstGeom prst="roundRect">
            <a:avLst/>
          </a:prstGeom>
          <a:solidFill>
            <a:srgbClr val="7FA19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Triage accuracy</a:t>
            </a:r>
          </a:p>
        </p:txBody>
      </p:sp>
      <p:sp>
        <p:nvSpPr>
          <p:cNvPr id="23" name="TextBox 22"/>
          <p:cNvSpPr txBox="1"/>
          <p:nvPr/>
        </p:nvSpPr>
        <p:spPr>
          <a:xfrm>
            <a:off x="731520" y="5220208"/>
            <a:ext cx="3381146" cy="458216"/>
          </a:xfrm>
          <a:prstGeom prst="rect">
            <a:avLst/>
          </a:prstGeom>
          <a:noFill/>
        </p:spPr>
        <p:txBody>
          <a:bodyPr wrap="square">
            <a:spAutoFit/>
          </a:bodyPr>
          <a:lstStyle/>
          <a:p>
            <a:pPr algn="l">
              <a:defRPr sz="2000" b="1" i="0">
                <a:solidFill>
                  <a:srgbClr val="223043"/>
                </a:solidFill>
                <a:latin typeface="Liberation Sans"/>
              </a:defRPr>
            </a:pPr>
            <a:r>
              <a:t>97%</a:t>
            </a:r>
          </a:p>
        </p:txBody>
      </p:sp>
      <p:sp>
        <p:nvSpPr>
          <p:cNvPr id="24" name="Rounded Rectangle 23"/>
          <p:cNvSpPr/>
          <p:nvPr/>
        </p:nvSpPr>
        <p:spPr>
          <a:xfrm>
            <a:off x="4405274" y="4751324"/>
            <a:ext cx="3381146"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TTE reduction</a:t>
            </a:r>
          </a:p>
        </p:txBody>
      </p:sp>
      <p:sp>
        <p:nvSpPr>
          <p:cNvPr id="25" name="TextBox 24"/>
          <p:cNvSpPr txBox="1"/>
          <p:nvPr/>
        </p:nvSpPr>
        <p:spPr>
          <a:xfrm>
            <a:off x="4405274" y="5220208"/>
            <a:ext cx="3381146" cy="458216"/>
          </a:xfrm>
          <a:prstGeom prst="rect">
            <a:avLst/>
          </a:prstGeom>
          <a:noFill/>
        </p:spPr>
        <p:txBody>
          <a:bodyPr wrap="square">
            <a:spAutoFit/>
          </a:bodyPr>
          <a:lstStyle/>
          <a:p>
            <a:pPr algn="l">
              <a:defRPr sz="2000" b="1" i="0">
                <a:solidFill>
                  <a:srgbClr val="223043"/>
                </a:solidFill>
                <a:latin typeface="Liberation Sans"/>
              </a:defRPr>
            </a:pPr>
            <a:r>
              <a:t>91%</a:t>
            </a:r>
          </a:p>
        </p:txBody>
      </p:sp>
      <p:sp>
        <p:nvSpPr>
          <p:cNvPr id="26" name="Rectangle 25"/>
          <p:cNvSpPr/>
          <p:nvPr/>
        </p:nvSpPr>
        <p:spPr>
          <a:xfrm>
            <a:off x="8079028" y="4751324"/>
            <a:ext cx="54864" cy="156921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1052" y="4751324"/>
            <a:ext cx="3189122" cy="425196"/>
          </a:xfrm>
          <a:prstGeom prst="rect">
            <a:avLst/>
          </a:prstGeom>
          <a:noFill/>
        </p:spPr>
        <p:txBody>
          <a:bodyPr wrap="square">
            <a:spAutoFit/>
          </a:bodyPr>
          <a:lstStyle/>
          <a:p>
            <a:pPr algn="l">
              <a:defRPr sz="1800" b="1" i="0">
                <a:solidFill>
                  <a:srgbClr val="5C82AD"/>
                </a:solidFill>
                <a:latin typeface="Liberation Sans"/>
              </a:defRPr>
            </a:pPr>
            <a:r>
              <a:t>Operational lesson</a:t>
            </a:r>
          </a:p>
        </p:txBody>
      </p:sp>
      <p:sp>
        <p:nvSpPr>
          <p:cNvPr id="28" name="TextBox 27"/>
          <p:cNvSpPr txBox="1"/>
          <p:nvPr/>
        </p:nvSpPr>
        <p:spPr>
          <a:xfrm>
            <a:off x="8271052" y="5267960"/>
            <a:ext cx="3189122" cy="1052576"/>
          </a:xfrm>
          <a:prstGeom prst="rect">
            <a:avLst/>
          </a:prstGeom>
          <a:noFill/>
        </p:spPr>
        <p:txBody>
          <a:bodyPr wrap="square">
            <a:spAutoFit/>
          </a:bodyPr>
          <a:lstStyle/>
          <a:p>
            <a:pPr algn="l">
              <a:defRPr sz="1400" b="0" i="0">
                <a:solidFill>
                  <a:srgbClr val="223043"/>
                </a:solidFill>
                <a:latin typeface="Liberation Sans"/>
              </a:defRPr>
            </a:pPr>
            <a:r>
              <a:t>Role separation plus negotiation can outperform a single monolithic prompt on high-stakes routing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3"/>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9"/>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5"/>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3"/>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6"/>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3"/>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6"/>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9"/>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7"/>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4"/>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17"/>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20"/>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9"/>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5"/>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8"/>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1"/>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22"/>
                            </p:tgtEl>
                            <p:attrNameLst>
                              <p:attrName>style.visibility</p:attrName>
                            </p:attrNameLst>
                          </p:cBhvr>
                          <p:to>
                            <p:strVal val="hidden"/>
                          </p:to>
                        </p:set>
                      </p:childTnLst>
                    </p:cTn>
                  </p:par>
                  <p:par>
                    <p:cTn id="60" fill="hold">
                      <p:stCondLst>
                        <p:cond delay="0"/>
                      </p:stCondLst>
                      <p:childTnLst>
                        <p:set>
                          <p:cBhvr>
                            <p:cTn id="61" dur="1" fill="hold">
                              <p:stCondLst>
                                <p:cond delay="0"/>
                              </p:stCondLst>
                            </p:cTn>
                            <p:tgtEl>
                              <p:spTgt spid="23"/>
                            </p:tgtEl>
                            <p:attrNameLst>
                              <p:attrName>style.visibility</p:attrName>
                            </p:attrNameLst>
                          </p:cBhvr>
                          <p:to>
                            <p:strVal val="hidden"/>
                          </p:to>
                        </p:set>
                      </p:childTnLst>
                    </p:cTn>
                  </p:par>
                  <p:par>
                    <p:cTn id="62" fill="hold">
                      <p:stCondLst>
                        <p:cond delay="0"/>
                      </p:stCondLst>
                      <p:childTnLst>
                        <p:set>
                          <p:cBhvr>
                            <p:cTn id="63" dur="1" fill="hold">
                              <p:stCondLst>
                                <p:cond delay="0"/>
                              </p:stCondLst>
                            </p:cTn>
                            <p:tgtEl>
                              <p:spTgt spid="24"/>
                            </p:tgtEl>
                            <p:attrNameLst>
                              <p:attrName>style.visibility</p:attrName>
                            </p:attrNameLst>
                          </p:cBhvr>
                          <p:to>
                            <p:strVal val="hidden"/>
                          </p:to>
                        </p:set>
                      </p:childTnLst>
                    </p:cTn>
                  </p:par>
                  <p:par>
                    <p:cTn id="64" fill="hold">
                      <p:stCondLst>
                        <p:cond delay="0"/>
                      </p:stCondLst>
                      <p:childTnLst>
                        <p:set>
                          <p:cBhvr>
                            <p:cTn id="65" dur="1" fill="hold">
                              <p:stCondLst>
                                <p:cond delay="0"/>
                              </p:stCondLst>
                            </p:cTn>
                            <p:tgtEl>
                              <p:spTgt spid="25"/>
                            </p:tgtEl>
                            <p:attrNameLst>
                              <p:attrName>style.visibility</p:attrName>
                            </p:attrNameLst>
                          </p:cBhvr>
                          <p:to>
                            <p:strVal val="hidden"/>
                          </p:to>
                        </p:set>
                      </p:childTnLst>
                    </p:cTn>
                  </p:par>
                  <p:par>
                    <p:cTn id="66" fill="hold">
                      <p:stCondLst>
                        <p:cond delay="0"/>
                      </p:stCondLst>
                      <p:childTnLst>
                        <p:set>
                          <p:cBhvr>
                            <p:cTn id="67" dur="1" fill="hold">
                              <p:stCondLst>
                                <p:cond delay="0"/>
                              </p:stCondLst>
                            </p:cTn>
                            <p:tgtEl>
                              <p:spTgt spid="6"/>
                            </p:tgtEl>
                            <p:attrNameLst>
                              <p:attrName>style.visibility</p:attrName>
                            </p:attrNameLst>
                          </p:cBhvr>
                          <p:to>
                            <p:strVal val="hidden"/>
                          </p:to>
                        </p:set>
                      </p:childTnLst>
                    </p:cTn>
                  </p:par>
                  <p:par>
                    <p:cTn id="68" fill="hold">
                      <p:stCondLst>
                        <p:cond delay="0"/>
                      </p:stCondLst>
                      <p:childTnLst>
                        <p:set>
                          <p:cBhvr>
                            <p:cTn id="69" dur="1" fill="hold">
                              <p:stCondLst>
                                <p:cond delay="0"/>
                              </p:stCondLst>
                            </p:cTn>
                            <p:tgtEl>
                              <p:spTgt spid="13"/>
                            </p:tgtEl>
                            <p:attrNameLst>
                              <p:attrName>style.visibility</p:attrName>
                            </p:attrNameLst>
                          </p:cBhvr>
                          <p:to>
                            <p:strVal val="hidden"/>
                          </p:to>
                        </p:set>
                      </p:childTnLst>
                    </p:cTn>
                  </p:par>
                  <p:par>
                    <p:cTn id="70" fill="hold">
                      <p:stCondLst>
                        <p:cond delay="0"/>
                      </p:stCondLst>
                      <p:childTnLst>
                        <p:set>
                          <p:cBhvr>
                            <p:cTn id="71" dur="1" fill="hold">
                              <p:stCondLst>
                                <p:cond delay="0"/>
                              </p:stCondLst>
                            </p:cTn>
                            <p:tgtEl>
                              <p:spTgt spid="16"/>
                            </p:tgtEl>
                            <p:attrNameLst>
                              <p:attrName>style.visibility</p:attrName>
                            </p:attrNameLst>
                          </p:cBhvr>
                          <p:to>
                            <p:strVal val="hidden"/>
                          </p:to>
                        </p:set>
                      </p:childTnLst>
                    </p:cTn>
                  </p:par>
                  <p:par>
                    <p:cTn id="72" fill="hold">
                      <p:stCondLst>
                        <p:cond delay="0"/>
                      </p:stCondLst>
                      <p:childTnLst>
                        <p:set>
                          <p:cBhvr>
                            <p:cTn id="73" dur="1" fill="hold">
                              <p:stCondLst>
                                <p:cond delay="0"/>
                              </p:stCondLst>
                            </p:cTn>
                            <p:tgtEl>
                              <p:spTgt spid="19"/>
                            </p:tgtEl>
                            <p:attrNameLst>
                              <p:attrName>style.visibility</p:attrName>
                            </p:attrNameLst>
                          </p:cBhvr>
                          <p:to>
                            <p:strVal val="hidden"/>
                          </p:to>
                        </p:set>
                      </p:childTnLst>
                    </p:cTn>
                  </p:par>
                  <p:par>
                    <p:cTn id="74" fill="hold">
                      <p:stCondLst>
                        <p:cond delay="0"/>
                      </p:stCondLst>
                      <p:childTnLst>
                        <p:set>
                          <p:cBhvr>
                            <p:cTn id="75" dur="1" fill="hold">
                              <p:stCondLst>
                                <p:cond delay="0"/>
                              </p:stCondLst>
                            </p:cTn>
                            <p:tgtEl>
                              <p:spTgt spid="26"/>
                            </p:tgtEl>
                            <p:attrNameLst>
                              <p:attrName>style.visibility</p:attrName>
                            </p:attrNameLst>
                          </p:cBhvr>
                          <p:to>
                            <p:strVal val="hidden"/>
                          </p:to>
                        </p:set>
                      </p:childTnLst>
                    </p:cTn>
                  </p:par>
                  <p:par>
                    <p:cTn id="76" fill="hold">
                      <p:stCondLst>
                        <p:cond delay="0"/>
                      </p:stCondLst>
                      <p:childTnLst>
                        <p:set>
                          <p:cBhvr>
                            <p:cTn id="77" dur="1" fill="hold">
                              <p:stCondLst>
                                <p:cond delay="0"/>
                              </p:stCondLst>
                            </p:cTn>
                            <p:tgtEl>
                              <p:spTgt spid="7"/>
                            </p:tgtEl>
                            <p:attrNameLst>
                              <p:attrName>style.visibility</p:attrName>
                            </p:attrNameLst>
                          </p:cBhvr>
                          <p:to>
                            <p:strVal val="hidden"/>
                          </p:to>
                        </p:set>
                      </p:childTnLst>
                    </p:cTn>
                  </p:par>
                  <p:par>
                    <p:cTn id="78" fill="hold">
                      <p:stCondLst>
                        <p:cond delay="0"/>
                      </p:stCondLst>
                      <p:childTnLst>
                        <p:set>
                          <p:cBhvr>
                            <p:cTn id="79" dur="1" fill="hold">
                              <p:stCondLst>
                                <p:cond delay="0"/>
                              </p:stCondLst>
                            </p:cTn>
                            <p:tgtEl>
                              <p:spTgt spid="14"/>
                            </p:tgtEl>
                            <p:attrNameLst>
                              <p:attrName>style.visibility</p:attrName>
                            </p:attrNameLst>
                          </p:cBhvr>
                          <p:to>
                            <p:strVal val="hidden"/>
                          </p:to>
                        </p:set>
                      </p:childTnLst>
                    </p:cTn>
                  </p:par>
                  <p:par>
                    <p:cTn id="80" fill="hold">
                      <p:stCondLst>
                        <p:cond delay="0"/>
                      </p:stCondLst>
                      <p:childTnLst>
                        <p:set>
                          <p:cBhvr>
                            <p:cTn id="81" dur="1" fill="hold">
                              <p:stCondLst>
                                <p:cond delay="0"/>
                              </p:stCondLst>
                            </p:cTn>
                            <p:tgtEl>
                              <p:spTgt spid="17"/>
                            </p:tgtEl>
                            <p:attrNameLst>
                              <p:attrName>style.visibility</p:attrName>
                            </p:attrNameLst>
                          </p:cBhvr>
                          <p:to>
                            <p:strVal val="hidden"/>
                          </p:to>
                        </p:set>
                      </p:childTnLst>
                    </p:cTn>
                  </p:par>
                  <p:par>
                    <p:cTn id="82" fill="hold">
                      <p:stCondLst>
                        <p:cond delay="0"/>
                      </p:stCondLst>
                      <p:childTnLst>
                        <p:set>
                          <p:cBhvr>
                            <p:cTn id="83" dur="1" fill="hold">
                              <p:stCondLst>
                                <p:cond delay="0"/>
                              </p:stCondLst>
                            </p:cTn>
                            <p:tgtEl>
                              <p:spTgt spid="20"/>
                            </p:tgtEl>
                            <p:attrNameLst>
                              <p:attrName>style.visibility</p:attrName>
                            </p:attrNameLst>
                          </p:cBhvr>
                          <p:to>
                            <p:strVal val="hidden"/>
                          </p:to>
                        </p:set>
                      </p:childTnLst>
                    </p:cTn>
                  </p:par>
                  <p:par>
                    <p:cTn id="84" fill="hold">
                      <p:stCondLst>
                        <p:cond delay="0"/>
                      </p:stCondLst>
                      <p:childTnLst>
                        <p:set>
                          <p:cBhvr>
                            <p:cTn id="85" dur="1" fill="hold">
                              <p:stCondLst>
                                <p:cond delay="0"/>
                              </p:stCondLst>
                            </p:cTn>
                            <p:tgtEl>
                              <p:spTgt spid="27"/>
                            </p:tgtEl>
                            <p:attrNameLst>
                              <p:attrName>style.visibility</p:attrName>
                            </p:attrNameLst>
                          </p:cBhvr>
                          <p:to>
                            <p:strVal val="hidden"/>
                          </p:to>
                        </p:set>
                      </p:childTnLst>
                    </p:cTn>
                  </p:par>
                  <p:par>
                    <p:cTn id="86" fill="hold">
                      <p:stCondLst>
                        <p:cond delay="0"/>
                      </p:stCondLst>
                      <p:childTnLst>
                        <p:set>
                          <p:cBhvr>
                            <p:cTn id="87" dur="1" fill="hold">
                              <p:stCondLst>
                                <p:cond delay="0"/>
                              </p:stCondLst>
                            </p:cTn>
                            <p:tgtEl>
                              <p:spTgt spid="9"/>
                            </p:tgtEl>
                            <p:attrNameLst>
                              <p:attrName>style.visibility</p:attrName>
                            </p:attrNameLst>
                          </p:cBhvr>
                          <p:to>
                            <p:strVal val="hidden"/>
                          </p:to>
                        </p:set>
                      </p:childTnLst>
                    </p:cTn>
                  </p:par>
                  <p:par>
                    <p:cTn id="88" fill="hold">
                      <p:stCondLst>
                        <p:cond delay="0"/>
                      </p:stCondLst>
                      <p:childTnLst>
                        <p:set>
                          <p:cBhvr>
                            <p:cTn id="89" dur="1" fill="hold">
                              <p:stCondLst>
                                <p:cond delay="0"/>
                              </p:stCondLst>
                            </p:cTn>
                            <p:tgtEl>
                              <p:spTgt spid="15"/>
                            </p:tgtEl>
                            <p:attrNameLst>
                              <p:attrName>style.visibility</p:attrName>
                            </p:attrNameLst>
                          </p:cBhvr>
                          <p:to>
                            <p:strVal val="hidden"/>
                          </p:to>
                        </p:set>
                      </p:childTnLst>
                    </p:cTn>
                  </p:par>
                  <p:par>
                    <p:cTn id="90" fill="hold">
                      <p:stCondLst>
                        <p:cond delay="0"/>
                      </p:stCondLst>
                      <p:childTnLst>
                        <p:set>
                          <p:cBhvr>
                            <p:cTn id="91" dur="1" fill="hold">
                              <p:stCondLst>
                                <p:cond delay="0"/>
                              </p:stCondLst>
                            </p:cTn>
                            <p:tgtEl>
                              <p:spTgt spid="18"/>
                            </p:tgtEl>
                            <p:attrNameLst>
                              <p:attrName>style.visibility</p:attrName>
                            </p:attrNameLst>
                          </p:cBhvr>
                          <p:to>
                            <p:strVal val="hidden"/>
                          </p:to>
                        </p:set>
                      </p:childTnLst>
                    </p:cTn>
                  </p:par>
                  <p:par>
                    <p:cTn id="92" fill="hold">
                      <p:stCondLst>
                        <p:cond delay="0"/>
                      </p:stCondLst>
                      <p:childTnLst>
                        <p:set>
                          <p:cBhvr>
                            <p:cTn id="93" dur="1" fill="hold">
                              <p:stCondLst>
                                <p:cond delay="0"/>
                              </p:stCondLst>
                            </p:cTn>
                            <p:tgtEl>
                              <p:spTgt spid="21"/>
                            </p:tgtEl>
                            <p:attrNameLst>
                              <p:attrName>style.visibility</p:attrName>
                            </p:attrNameLst>
                          </p:cBhvr>
                          <p:to>
                            <p:strVal val="hidden"/>
                          </p:to>
                        </p:set>
                      </p:childTnLst>
                    </p:cTn>
                  </p:par>
                  <p:par>
                    <p:cTn id="94" fill="hold">
                      <p:stCondLst>
                        <p:cond delay="0"/>
                      </p:stCondLst>
                      <p:childTnLst>
                        <p:set>
                          <p:cBhvr>
                            <p:cTn id="95" dur="1" fill="hold">
                              <p:stCondLst>
                                <p:cond delay="0"/>
                              </p:stCondLst>
                            </p:cTn>
                            <p:tgtEl>
                              <p:spTgt spid="28"/>
                            </p:tgtEl>
                            <p:attrNameLst>
                              <p:attrName>style.visibility</p:attrName>
                            </p:attrNameLst>
                          </p:cBhvr>
                          <p:to>
                            <p:strVal val="hidden"/>
                          </p:to>
                        </p:set>
                      </p:childTnLst>
                    </p:cTn>
                  </p:par>
                </p:childTnLst>
              </p:cTn>
            </p:par>
            <p:seq concurrent="1" nextAc="seek">
              <p:cTn id="96" dur="indefinite" nodeType="mainSeq">
                <p:childTnLst>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5"/>
                                        </p:tgtEl>
                                      </p:cBhvr>
                                    </p:animEffect>
                                    <p:set>
                                      <p:cBhvr>
                                        <p:cTn id="101" dur="1" fill="hold">
                                          <p:stCondLst>
                                            <p:cond delay="0"/>
                                          </p:stCondLst>
                                        </p:cTn>
                                        <p:tgtEl>
                                          <p:spTgt spid="5"/>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7"/>
                                        </p:tgtEl>
                                      </p:cBhvr>
                                    </p:animEffect>
                                    <p:set>
                                      <p:cBhvr>
                                        <p:cTn id="107" dur="1" fill="hold">
                                          <p:stCondLst>
                                            <p:cond delay="0"/>
                                          </p:stCondLst>
                                        </p:cTn>
                                        <p:tgtEl>
                                          <p:spTgt spid="7"/>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8"/>
                                        </p:tgtEl>
                                      </p:cBhvr>
                                    </p:animEffect>
                                    <p:set>
                                      <p:cBhvr>
                                        <p:cTn id="110" dur="1" fill="hold">
                                          <p:stCondLst>
                                            <p:cond delay="0"/>
                                          </p:stCondLst>
                                        </p:cTn>
                                        <p:tgtEl>
                                          <p:spTgt spid="8"/>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9"/>
                                        </p:tgtEl>
                                      </p:cBhvr>
                                    </p:animEffect>
                                    <p:set>
                                      <p:cBhvr>
                                        <p:cTn id="113" dur="1" fill="hold">
                                          <p:stCondLst>
                                            <p:cond delay="0"/>
                                          </p:stCondLst>
                                        </p:cTn>
                                        <p:tgtEl>
                                          <p:spTgt spid="9"/>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0"/>
                                        </p:tgtEl>
                                      </p:cBhvr>
                                    </p:animEffect>
                                    <p:set>
                                      <p:cBhvr>
                                        <p:cTn id="116" dur="1" fill="hold">
                                          <p:stCondLst>
                                            <p:cond delay="0"/>
                                          </p:stCondLst>
                                        </p:cTn>
                                        <p:tgtEl>
                                          <p:spTgt spid="10"/>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1"/>
                                        </p:tgtEl>
                                      </p:cBhvr>
                                    </p:animEffect>
                                    <p:set>
                                      <p:cBhvr>
                                        <p:cTn id="119" dur="1" fill="hold">
                                          <p:stCondLst>
                                            <p:cond delay="0"/>
                                          </p:stCondLst>
                                        </p:cTn>
                                        <p:tgtEl>
                                          <p:spTgt spid="11"/>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12"/>
                                        </p:tgtEl>
                                      </p:cBhvr>
                                    </p:animEffect>
                                    <p:set>
                                      <p:cBhvr>
                                        <p:cTn id="122" dur="1" fill="hold">
                                          <p:stCondLst>
                                            <p:cond delay="0"/>
                                          </p:stCondLst>
                                        </p:cTn>
                                        <p:tgtEl>
                                          <p:spTgt spid="1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grpId="0" nodeType="clickEffect">
                                  <p:stCondLst>
                                    <p:cond delay="0"/>
                                  </p:stCondLst>
                                  <p:childTnLst>
                                    <p:animEffect transition="in" filter="fade">
                                      <p:cBhvr>
                                        <p:cTn id="126" dur="500"/>
                                        <p:tgtEl>
                                          <p:spTgt spid="6"/>
                                        </p:tgtEl>
                                      </p:cBhvr>
                                    </p:animEffect>
                                    <p:set>
                                      <p:cBhvr>
                                        <p:cTn id="127" dur="1" fill="hold">
                                          <p:stCondLst>
                                            <p:cond delay="0"/>
                                          </p:stCondLst>
                                        </p:cTn>
                                        <p:tgtEl>
                                          <p:spTgt spid="6"/>
                                        </p:tgtEl>
                                        <p:attrNameLst>
                                          <p:attrName>style.visibility</p:attrName>
                                        </p:attrNameLst>
                                      </p:cBhvr>
                                      <p:to>
                                        <p:strVal val="visible"/>
                                      </p:to>
                                    </p:set>
                                  </p:childTnLst>
                                </p:cTn>
                              </p:par>
                              <p:par>
                                <p:cTn id="128" presetID="10" presetClass="entr" presetSubtype="0" fill="hold" grpId="0" nodeType="withEffect">
                                  <p:stCondLst>
                                    <p:cond delay="0"/>
                                  </p:stCondLst>
                                  <p:childTnLst>
                                    <p:animEffect transition="in" filter="fade">
                                      <p:cBhvr>
                                        <p:cTn id="129" dur="500"/>
                                        <p:tgtEl>
                                          <p:spTgt spid="13"/>
                                        </p:tgtEl>
                                      </p:cBhvr>
                                    </p:animEffect>
                                    <p:set>
                                      <p:cBhvr>
                                        <p:cTn id="130" dur="1" fill="hold">
                                          <p:stCondLst>
                                            <p:cond delay="0"/>
                                          </p:stCondLst>
                                        </p:cTn>
                                        <p:tgtEl>
                                          <p:spTgt spid="13"/>
                                        </p:tgtEl>
                                        <p:attrNameLst>
                                          <p:attrName>style.visibility</p:attrName>
                                        </p:attrNameLst>
                                      </p:cBhvr>
                                      <p:to>
                                        <p:strVal val="visible"/>
                                      </p:to>
                                    </p:set>
                                  </p:childTnLst>
                                </p:cTn>
                              </p:par>
                              <p:par>
                                <p:cTn id="131" presetID="10" presetClass="entr" presetSubtype="0" fill="hold" grpId="0" nodeType="withEffect">
                                  <p:stCondLst>
                                    <p:cond delay="0"/>
                                  </p:stCondLst>
                                  <p:childTnLst>
                                    <p:animEffect transition="in" filter="fade">
                                      <p:cBhvr>
                                        <p:cTn id="132" dur="500"/>
                                        <p:tgtEl>
                                          <p:spTgt spid="7"/>
                                        </p:tgtEl>
                                      </p:cBhvr>
                                    </p:animEffect>
                                    <p:set>
                                      <p:cBhvr>
                                        <p:cTn id="133" dur="1" fill="hold">
                                          <p:stCondLst>
                                            <p:cond delay="0"/>
                                          </p:stCondLst>
                                        </p:cTn>
                                        <p:tgtEl>
                                          <p:spTgt spid="7"/>
                                        </p:tgtEl>
                                        <p:attrNameLst>
                                          <p:attrName>style.visibility</p:attrName>
                                        </p:attrNameLst>
                                      </p:cBhvr>
                                      <p:to>
                                        <p:strVal val="visible"/>
                                      </p:to>
                                    </p:set>
                                  </p:childTnLst>
                                </p:cTn>
                              </p:par>
                              <p:par>
                                <p:cTn id="134" presetID="10" presetClass="entr" presetSubtype="0" fill="hold" grpId="0" nodeType="withEffect">
                                  <p:stCondLst>
                                    <p:cond delay="0"/>
                                  </p:stCondLst>
                                  <p:childTnLst>
                                    <p:animEffect transition="in" filter="fade">
                                      <p:cBhvr>
                                        <p:cTn id="135" dur="500"/>
                                        <p:tgtEl>
                                          <p:spTgt spid="14"/>
                                        </p:tgtEl>
                                      </p:cBhvr>
                                    </p:animEffect>
                                    <p:set>
                                      <p:cBhvr>
                                        <p:cTn id="136" dur="1" fill="hold">
                                          <p:stCondLst>
                                            <p:cond delay="0"/>
                                          </p:stCondLst>
                                        </p:cTn>
                                        <p:tgtEl>
                                          <p:spTgt spid="14"/>
                                        </p:tgtEl>
                                        <p:attrNameLst>
                                          <p:attrName>style.visibility</p:attrName>
                                        </p:attrNameLst>
                                      </p:cBhvr>
                                      <p:to>
                                        <p:strVal val="visible"/>
                                      </p:to>
                                    </p:set>
                                  </p:childTnLst>
                                </p:cTn>
                              </p:par>
                              <p:par>
                                <p:cTn id="137" presetID="10" presetClass="entr" presetSubtype="0" fill="hold" grpId="0" nodeType="withEffect">
                                  <p:stCondLst>
                                    <p:cond delay="0"/>
                                  </p:stCondLst>
                                  <p:childTnLst>
                                    <p:animEffect transition="in" filter="fade">
                                      <p:cBhvr>
                                        <p:cTn id="138" dur="500"/>
                                        <p:tgtEl>
                                          <p:spTgt spid="9"/>
                                        </p:tgtEl>
                                      </p:cBhvr>
                                    </p:animEffect>
                                    <p:set>
                                      <p:cBhvr>
                                        <p:cTn id="139" dur="1" fill="hold">
                                          <p:stCondLst>
                                            <p:cond delay="0"/>
                                          </p:stCondLst>
                                        </p:cTn>
                                        <p:tgtEl>
                                          <p:spTgt spid="9"/>
                                        </p:tgtEl>
                                        <p:attrNameLst>
                                          <p:attrName>style.visibility</p:attrName>
                                        </p:attrNameLst>
                                      </p:cBhvr>
                                      <p:to>
                                        <p:strVal val="visible"/>
                                      </p:to>
                                    </p:set>
                                  </p:childTnLst>
                                </p:cTn>
                              </p:par>
                              <p:par>
                                <p:cTn id="140" presetID="10" presetClass="entr" presetSubtype="0" fill="hold" grpId="0" nodeType="withEffect">
                                  <p:stCondLst>
                                    <p:cond delay="0"/>
                                  </p:stCondLst>
                                  <p:childTnLst>
                                    <p:animEffect transition="in" filter="fade">
                                      <p:cBhvr>
                                        <p:cTn id="141" dur="500"/>
                                        <p:tgtEl>
                                          <p:spTgt spid="15"/>
                                        </p:tgtEl>
                                      </p:cBhvr>
                                    </p:animEffect>
                                    <p:set>
                                      <p:cBhvr>
                                        <p:cTn id="142" dur="1" fill="hold">
                                          <p:stCondLst>
                                            <p:cond delay="0"/>
                                          </p:stCondLst>
                                        </p:cTn>
                                        <p:tgtEl>
                                          <p:spTgt spid="15"/>
                                        </p:tgtEl>
                                        <p:attrNameLst>
                                          <p:attrName>style.visibility</p:attrName>
                                        </p:attrNameLst>
                                      </p:cBhvr>
                                      <p:to>
                                        <p:strVal val="visible"/>
                                      </p:to>
                                    </p:set>
                                  </p:childTnLst>
                                </p:cTn>
                              </p:par>
                              <p:par>
                                <p:cTn id="143" presetID="10" presetClass="entr" presetSubtype="0" fill="hold" grpId="0" nodeType="withEffect">
                                  <p:stCondLst>
                                    <p:cond delay="0"/>
                                  </p:stCondLst>
                                  <p:childTnLst>
                                    <p:animEffect transition="in" filter="fade">
                                      <p:cBhvr>
                                        <p:cTn id="144" dur="500"/>
                                        <p:tgtEl>
                                          <p:spTgt spid="6"/>
                                        </p:tgtEl>
                                      </p:cBhvr>
                                    </p:animEffect>
                                    <p:set>
                                      <p:cBhvr>
                                        <p:cTn id="145" dur="1" fill="hold">
                                          <p:stCondLst>
                                            <p:cond delay="0"/>
                                          </p:stCondLst>
                                        </p:cTn>
                                        <p:tgtEl>
                                          <p:spTgt spid="6"/>
                                        </p:tgtEl>
                                        <p:attrNameLst>
                                          <p:attrName>style.visibility</p:attrName>
                                        </p:attrNameLst>
                                      </p:cBhvr>
                                      <p:to>
                                        <p:strVal val="visible"/>
                                      </p:to>
                                    </p:set>
                                  </p:childTnLst>
                                </p:cTn>
                              </p:par>
                              <p:par>
                                <p:cTn id="146" presetID="10" presetClass="entr" presetSubtype="0" fill="hold" grpId="0" nodeType="withEffect">
                                  <p:stCondLst>
                                    <p:cond delay="0"/>
                                  </p:stCondLst>
                                  <p:childTnLst>
                                    <p:animEffect transition="in" filter="fade">
                                      <p:cBhvr>
                                        <p:cTn id="147" dur="500"/>
                                        <p:tgtEl>
                                          <p:spTgt spid="13"/>
                                        </p:tgtEl>
                                      </p:cBhvr>
                                    </p:animEffect>
                                    <p:set>
                                      <p:cBhvr>
                                        <p:cTn id="148" dur="1" fill="hold">
                                          <p:stCondLst>
                                            <p:cond delay="0"/>
                                          </p:stCondLst>
                                        </p:cTn>
                                        <p:tgtEl>
                                          <p:spTgt spid="13"/>
                                        </p:tgtEl>
                                        <p:attrNameLst>
                                          <p:attrName>style.visibility</p:attrName>
                                        </p:attrNameLst>
                                      </p:cBhvr>
                                      <p:to>
                                        <p:strVal val="visible"/>
                                      </p:to>
                                    </p:set>
                                  </p:childTnLst>
                                </p:cTn>
                              </p:par>
                              <p:par>
                                <p:cTn id="149" presetID="10" presetClass="entr" presetSubtype="0" fill="hold" grpId="0" nodeType="withEffect">
                                  <p:stCondLst>
                                    <p:cond delay="0"/>
                                  </p:stCondLst>
                                  <p:childTnLst>
                                    <p:animEffect transition="in" filter="fade">
                                      <p:cBhvr>
                                        <p:cTn id="150" dur="500"/>
                                        <p:tgtEl>
                                          <p:spTgt spid="16"/>
                                        </p:tgtEl>
                                      </p:cBhvr>
                                    </p:animEffect>
                                    <p:set>
                                      <p:cBhvr>
                                        <p:cTn id="151" dur="1" fill="hold">
                                          <p:stCondLst>
                                            <p:cond delay="0"/>
                                          </p:stCondLst>
                                        </p:cTn>
                                        <p:tgtEl>
                                          <p:spTgt spid="16"/>
                                        </p:tgtEl>
                                        <p:attrNameLst>
                                          <p:attrName>style.visibility</p:attrName>
                                        </p:attrNameLst>
                                      </p:cBhvr>
                                      <p:to>
                                        <p:strVal val="visible"/>
                                      </p:to>
                                    </p:set>
                                  </p:childTnLst>
                                </p:cTn>
                              </p:par>
                              <p:par>
                                <p:cTn id="152" presetID="10" presetClass="entr" presetSubtype="0" fill="hold" grpId="0" nodeType="withEffect">
                                  <p:stCondLst>
                                    <p:cond delay="0"/>
                                  </p:stCondLst>
                                  <p:childTnLst>
                                    <p:animEffect transition="in" filter="fade">
                                      <p:cBhvr>
                                        <p:cTn id="153" dur="500"/>
                                        <p:tgtEl>
                                          <p:spTgt spid="7"/>
                                        </p:tgtEl>
                                      </p:cBhvr>
                                    </p:animEffect>
                                    <p:set>
                                      <p:cBhvr>
                                        <p:cTn id="154" dur="1" fill="hold">
                                          <p:stCondLst>
                                            <p:cond delay="0"/>
                                          </p:stCondLst>
                                        </p:cTn>
                                        <p:tgtEl>
                                          <p:spTgt spid="7"/>
                                        </p:tgtEl>
                                        <p:attrNameLst>
                                          <p:attrName>style.visibility</p:attrName>
                                        </p:attrNameLst>
                                      </p:cBhvr>
                                      <p:to>
                                        <p:strVal val="visible"/>
                                      </p:to>
                                    </p:set>
                                  </p:childTnLst>
                                </p:cTn>
                              </p:par>
                              <p:par>
                                <p:cTn id="155" presetID="10" presetClass="entr" presetSubtype="0" fill="hold" grpId="0" nodeType="withEffect">
                                  <p:stCondLst>
                                    <p:cond delay="0"/>
                                  </p:stCondLst>
                                  <p:childTnLst>
                                    <p:animEffect transition="in" filter="fade">
                                      <p:cBhvr>
                                        <p:cTn id="156" dur="500"/>
                                        <p:tgtEl>
                                          <p:spTgt spid="14"/>
                                        </p:tgtEl>
                                      </p:cBhvr>
                                    </p:animEffect>
                                    <p:set>
                                      <p:cBhvr>
                                        <p:cTn id="157" dur="1" fill="hold">
                                          <p:stCondLst>
                                            <p:cond delay="0"/>
                                          </p:stCondLst>
                                        </p:cTn>
                                        <p:tgtEl>
                                          <p:spTgt spid="14"/>
                                        </p:tgtEl>
                                        <p:attrNameLst>
                                          <p:attrName>style.visibility</p:attrName>
                                        </p:attrNameLst>
                                      </p:cBhvr>
                                      <p:to>
                                        <p:strVal val="visible"/>
                                      </p:to>
                                    </p:set>
                                  </p:childTnLst>
                                </p:cTn>
                              </p:par>
                              <p:par>
                                <p:cTn id="158" presetID="10" presetClass="entr" presetSubtype="0" fill="hold" grpId="0" nodeType="withEffect">
                                  <p:stCondLst>
                                    <p:cond delay="0"/>
                                  </p:stCondLst>
                                  <p:childTnLst>
                                    <p:animEffect transition="in" filter="fade">
                                      <p:cBhvr>
                                        <p:cTn id="159" dur="500"/>
                                        <p:tgtEl>
                                          <p:spTgt spid="17"/>
                                        </p:tgtEl>
                                      </p:cBhvr>
                                    </p:animEffect>
                                    <p:set>
                                      <p:cBhvr>
                                        <p:cTn id="160" dur="1" fill="hold">
                                          <p:stCondLst>
                                            <p:cond delay="0"/>
                                          </p:stCondLst>
                                        </p:cTn>
                                        <p:tgtEl>
                                          <p:spTgt spid="17"/>
                                        </p:tgtEl>
                                        <p:attrNameLst>
                                          <p:attrName>style.visibility</p:attrName>
                                        </p:attrNameLst>
                                      </p:cBhvr>
                                      <p:to>
                                        <p:strVal val="visible"/>
                                      </p:to>
                                    </p:set>
                                  </p:childTnLst>
                                </p:cTn>
                              </p:par>
                              <p:par>
                                <p:cTn id="161" presetID="10" presetClass="entr" presetSubtype="0" fill="hold" grpId="0" nodeType="withEffect">
                                  <p:stCondLst>
                                    <p:cond delay="0"/>
                                  </p:stCondLst>
                                  <p:childTnLst>
                                    <p:animEffect transition="in" filter="fade">
                                      <p:cBhvr>
                                        <p:cTn id="162" dur="500"/>
                                        <p:tgtEl>
                                          <p:spTgt spid="9"/>
                                        </p:tgtEl>
                                      </p:cBhvr>
                                    </p:animEffect>
                                    <p:set>
                                      <p:cBhvr>
                                        <p:cTn id="163" dur="1" fill="hold">
                                          <p:stCondLst>
                                            <p:cond delay="0"/>
                                          </p:stCondLst>
                                        </p:cTn>
                                        <p:tgtEl>
                                          <p:spTgt spid="9"/>
                                        </p:tgtEl>
                                        <p:attrNameLst>
                                          <p:attrName>style.visibility</p:attrName>
                                        </p:attrNameLst>
                                      </p:cBhvr>
                                      <p:to>
                                        <p:strVal val="visible"/>
                                      </p:to>
                                    </p:set>
                                  </p:childTnLst>
                                </p:cTn>
                              </p:par>
                              <p:par>
                                <p:cTn id="164" presetID="10" presetClass="entr" presetSubtype="0" fill="hold" grpId="0" nodeType="withEffect">
                                  <p:stCondLst>
                                    <p:cond delay="0"/>
                                  </p:stCondLst>
                                  <p:childTnLst>
                                    <p:animEffect transition="in" filter="fade">
                                      <p:cBhvr>
                                        <p:cTn id="165" dur="500"/>
                                        <p:tgtEl>
                                          <p:spTgt spid="15"/>
                                        </p:tgtEl>
                                      </p:cBhvr>
                                    </p:animEffect>
                                    <p:set>
                                      <p:cBhvr>
                                        <p:cTn id="166" dur="1" fill="hold">
                                          <p:stCondLst>
                                            <p:cond delay="0"/>
                                          </p:stCondLst>
                                        </p:cTn>
                                        <p:tgtEl>
                                          <p:spTgt spid="15"/>
                                        </p:tgtEl>
                                        <p:attrNameLst>
                                          <p:attrName>style.visibility</p:attrName>
                                        </p:attrNameLst>
                                      </p:cBhvr>
                                      <p:to>
                                        <p:strVal val="visible"/>
                                      </p:to>
                                    </p:set>
                                  </p:childTnLst>
                                </p:cTn>
                              </p:par>
                              <p:par>
                                <p:cTn id="167" presetID="10" presetClass="entr" presetSubtype="0" fill="hold" grpId="0" nodeType="withEffect">
                                  <p:stCondLst>
                                    <p:cond delay="0"/>
                                  </p:stCondLst>
                                  <p:childTnLst>
                                    <p:animEffect transition="in" filter="fade">
                                      <p:cBhvr>
                                        <p:cTn id="168" dur="500"/>
                                        <p:tgtEl>
                                          <p:spTgt spid="18"/>
                                        </p:tgtEl>
                                      </p:cBhvr>
                                    </p:animEffect>
                                    <p:set>
                                      <p:cBhvr>
                                        <p:cTn id="169" dur="1" fill="hold">
                                          <p:stCondLst>
                                            <p:cond delay="0"/>
                                          </p:stCondLst>
                                        </p:cTn>
                                        <p:tgtEl>
                                          <p:spTgt spid="18"/>
                                        </p:tgtEl>
                                        <p:attrNameLst>
                                          <p:attrName>style.visibility</p:attrName>
                                        </p:attrNameLst>
                                      </p:cBhvr>
                                      <p:to>
                                        <p:strVal val="visible"/>
                                      </p:to>
                                    </p:set>
                                  </p:childTnLst>
                                </p:cTn>
                              </p:par>
                              <p:par>
                                <p:cTn id="170" presetID="10" presetClass="entr" presetSubtype="0" fill="hold" grpId="0" nodeType="withEffect">
                                  <p:stCondLst>
                                    <p:cond delay="0"/>
                                  </p:stCondLst>
                                  <p:childTnLst>
                                    <p:animEffect transition="in" filter="fade">
                                      <p:cBhvr>
                                        <p:cTn id="171" dur="500"/>
                                        <p:tgtEl>
                                          <p:spTgt spid="6"/>
                                        </p:tgtEl>
                                      </p:cBhvr>
                                    </p:animEffect>
                                    <p:set>
                                      <p:cBhvr>
                                        <p:cTn id="172" dur="1" fill="hold">
                                          <p:stCondLst>
                                            <p:cond delay="0"/>
                                          </p:stCondLst>
                                        </p:cTn>
                                        <p:tgtEl>
                                          <p:spTgt spid="6"/>
                                        </p:tgtEl>
                                        <p:attrNameLst>
                                          <p:attrName>style.visibility</p:attrName>
                                        </p:attrNameLst>
                                      </p:cBhvr>
                                      <p:to>
                                        <p:strVal val="visible"/>
                                      </p:to>
                                    </p:set>
                                  </p:childTnLst>
                                </p:cTn>
                              </p:par>
                              <p:par>
                                <p:cTn id="173" presetID="10" presetClass="entr" presetSubtype="0" fill="hold" grpId="0" nodeType="withEffect">
                                  <p:stCondLst>
                                    <p:cond delay="0"/>
                                  </p:stCondLst>
                                  <p:childTnLst>
                                    <p:animEffect transition="in" filter="fade">
                                      <p:cBhvr>
                                        <p:cTn id="174" dur="500"/>
                                        <p:tgtEl>
                                          <p:spTgt spid="13"/>
                                        </p:tgtEl>
                                      </p:cBhvr>
                                    </p:animEffect>
                                    <p:set>
                                      <p:cBhvr>
                                        <p:cTn id="175" dur="1" fill="hold">
                                          <p:stCondLst>
                                            <p:cond delay="0"/>
                                          </p:stCondLst>
                                        </p:cTn>
                                        <p:tgtEl>
                                          <p:spTgt spid="13"/>
                                        </p:tgtEl>
                                        <p:attrNameLst>
                                          <p:attrName>style.visibility</p:attrName>
                                        </p:attrNameLst>
                                      </p:cBhvr>
                                      <p:to>
                                        <p:strVal val="visible"/>
                                      </p:to>
                                    </p:set>
                                  </p:childTnLst>
                                </p:cTn>
                              </p:par>
                              <p:par>
                                <p:cTn id="176" presetID="10" presetClass="entr" presetSubtype="0" fill="hold" grpId="0" nodeType="withEffect">
                                  <p:stCondLst>
                                    <p:cond delay="0"/>
                                  </p:stCondLst>
                                  <p:childTnLst>
                                    <p:animEffect transition="in" filter="fade">
                                      <p:cBhvr>
                                        <p:cTn id="177" dur="500"/>
                                        <p:tgtEl>
                                          <p:spTgt spid="16"/>
                                        </p:tgtEl>
                                      </p:cBhvr>
                                    </p:animEffect>
                                    <p:set>
                                      <p:cBhvr>
                                        <p:cTn id="178" dur="1" fill="hold">
                                          <p:stCondLst>
                                            <p:cond delay="0"/>
                                          </p:stCondLst>
                                        </p:cTn>
                                        <p:tgtEl>
                                          <p:spTgt spid="16"/>
                                        </p:tgtEl>
                                        <p:attrNameLst>
                                          <p:attrName>style.visibility</p:attrName>
                                        </p:attrNameLst>
                                      </p:cBhvr>
                                      <p:to>
                                        <p:strVal val="visible"/>
                                      </p:to>
                                    </p:set>
                                  </p:childTnLst>
                                </p:cTn>
                              </p:par>
                              <p:par>
                                <p:cTn id="179" presetID="10" presetClass="entr" presetSubtype="0" fill="hold" grpId="0" nodeType="withEffect">
                                  <p:stCondLst>
                                    <p:cond delay="0"/>
                                  </p:stCondLst>
                                  <p:childTnLst>
                                    <p:animEffect transition="in" filter="fade">
                                      <p:cBhvr>
                                        <p:cTn id="180" dur="500"/>
                                        <p:tgtEl>
                                          <p:spTgt spid="19"/>
                                        </p:tgtEl>
                                      </p:cBhvr>
                                    </p:animEffect>
                                    <p:set>
                                      <p:cBhvr>
                                        <p:cTn id="181" dur="1" fill="hold">
                                          <p:stCondLst>
                                            <p:cond delay="0"/>
                                          </p:stCondLst>
                                        </p:cTn>
                                        <p:tgtEl>
                                          <p:spTgt spid="19"/>
                                        </p:tgtEl>
                                        <p:attrNameLst>
                                          <p:attrName>style.visibility</p:attrName>
                                        </p:attrNameLst>
                                      </p:cBhvr>
                                      <p:to>
                                        <p:strVal val="visible"/>
                                      </p:to>
                                    </p:set>
                                  </p:childTnLst>
                                </p:cTn>
                              </p:par>
                              <p:par>
                                <p:cTn id="182" presetID="10" presetClass="entr" presetSubtype="0" fill="hold" grpId="0" nodeType="withEffect">
                                  <p:stCondLst>
                                    <p:cond delay="0"/>
                                  </p:stCondLst>
                                  <p:childTnLst>
                                    <p:animEffect transition="in" filter="fade">
                                      <p:cBhvr>
                                        <p:cTn id="183" dur="500"/>
                                        <p:tgtEl>
                                          <p:spTgt spid="7"/>
                                        </p:tgtEl>
                                      </p:cBhvr>
                                    </p:animEffect>
                                    <p:set>
                                      <p:cBhvr>
                                        <p:cTn id="184" dur="1" fill="hold">
                                          <p:stCondLst>
                                            <p:cond delay="0"/>
                                          </p:stCondLst>
                                        </p:cTn>
                                        <p:tgtEl>
                                          <p:spTgt spid="7"/>
                                        </p:tgtEl>
                                        <p:attrNameLst>
                                          <p:attrName>style.visibility</p:attrName>
                                        </p:attrNameLst>
                                      </p:cBhvr>
                                      <p:to>
                                        <p:strVal val="visible"/>
                                      </p:to>
                                    </p:set>
                                  </p:childTnLst>
                                </p:cTn>
                              </p:par>
                              <p:par>
                                <p:cTn id="185" presetID="10" presetClass="entr" presetSubtype="0" fill="hold" grpId="0" nodeType="withEffect">
                                  <p:stCondLst>
                                    <p:cond delay="0"/>
                                  </p:stCondLst>
                                  <p:childTnLst>
                                    <p:animEffect transition="in" filter="fade">
                                      <p:cBhvr>
                                        <p:cTn id="186" dur="500"/>
                                        <p:tgtEl>
                                          <p:spTgt spid="14"/>
                                        </p:tgtEl>
                                      </p:cBhvr>
                                    </p:animEffect>
                                    <p:set>
                                      <p:cBhvr>
                                        <p:cTn id="187" dur="1" fill="hold">
                                          <p:stCondLst>
                                            <p:cond delay="0"/>
                                          </p:stCondLst>
                                        </p:cTn>
                                        <p:tgtEl>
                                          <p:spTgt spid="14"/>
                                        </p:tgtEl>
                                        <p:attrNameLst>
                                          <p:attrName>style.visibility</p:attrName>
                                        </p:attrNameLst>
                                      </p:cBhvr>
                                      <p:to>
                                        <p:strVal val="visible"/>
                                      </p:to>
                                    </p:set>
                                  </p:childTnLst>
                                </p:cTn>
                              </p:par>
                              <p:par>
                                <p:cTn id="188" presetID="10" presetClass="entr" presetSubtype="0" fill="hold" grpId="0" nodeType="withEffect">
                                  <p:stCondLst>
                                    <p:cond delay="0"/>
                                  </p:stCondLst>
                                  <p:childTnLst>
                                    <p:animEffect transition="in" filter="fade">
                                      <p:cBhvr>
                                        <p:cTn id="189" dur="500"/>
                                        <p:tgtEl>
                                          <p:spTgt spid="17"/>
                                        </p:tgtEl>
                                      </p:cBhvr>
                                    </p:animEffect>
                                    <p:set>
                                      <p:cBhvr>
                                        <p:cTn id="190" dur="1" fill="hold">
                                          <p:stCondLst>
                                            <p:cond delay="0"/>
                                          </p:stCondLst>
                                        </p:cTn>
                                        <p:tgtEl>
                                          <p:spTgt spid="17"/>
                                        </p:tgtEl>
                                        <p:attrNameLst>
                                          <p:attrName>style.visibility</p:attrName>
                                        </p:attrNameLst>
                                      </p:cBhvr>
                                      <p:to>
                                        <p:strVal val="visible"/>
                                      </p:to>
                                    </p:set>
                                  </p:childTnLst>
                                </p:cTn>
                              </p:par>
                              <p:par>
                                <p:cTn id="191" presetID="10" presetClass="entr" presetSubtype="0" fill="hold" grpId="0" nodeType="withEffect">
                                  <p:stCondLst>
                                    <p:cond delay="0"/>
                                  </p:stCondLst>
                                  <p:childTnLst>
                                    <p:animEffect transition="in" filter="fade">
                                      <p:cBhvr>
                                        <p:cTn id="192" dur="500"/>
                                        <p:tgtEl>
                                          <p:spTgt spid="20"/>
                                        </p:tgtEl>
                                      </p:cBhvr>
                                    </p:animEffect>
                                    <p:set>
                                      <p:cBhvr>
                                        <p:cTn id="193" dur="1" fill="hold">
                                          <p:stCondLst>
                                            <p:cond delay="0"/>
                                          </p:stCondLst>
                                        </p:cTn>
                                        <p:tgtEl>
                                          <p:spTgt spid="20"/>
                                        </p:tgtEl>
                                        <p:attrNameLst>
                                          <p:attrName>style.visibility</p:attrName>
                                        </p:attrNameLst>
                                      </p:cBhvr>
                                      <p:to>
                                        <p:strVal val="visible"/>
                                      </p:to>
                                    </p:set>
                                  </p:childTnLst>
                                </p:cTn>
                              </p:par>
                              <p:par>
                                <p:cTn id="194" presetID="10" presetClass="entr" presetSubtype="0" fill="hold" grpId="0" nodeType="withEffect">
                                  <p:stCondLst>
                                    <p:cond delay="0"/>
                                  </p:stCondLst>
                                  <p:childTnLst>
                                    <p:animEffect transition="in" filter="fade">
                                      <p:cBhvr>
                                        <p:cTn id="195" dur="500"/>
                                        <p:tgtEl>
                                          <p:spTgt spid="9"/>
                                        </p:tgtEl>
                                      </p:cBhvr>
                                    </p:animEffect>
                                    <p:set>
                                      <p:cBhvr>
                                        <p:cTn id="196" dur="1" fill="hold">
                                          <p:stCondLst>
                                            <p:cond delay="0"/>
                                          </p:stCondLst>
                                        </p:cTn>
                                        <p:tgtEl>
                                          <p:spTgt spid="9"/>
                                        </p:tgtEl>
                                        <p:attrNameLst>
                                          <p:attrName>style.visibility</p:attrName>
                                        </p:attrNameLst>
                                      </p:cBhvr>
                                      <p:to>
                                        <p:strVal val="visible"/>
                                      </p:to>
                                    </p:set>
                                  </p:childTnLst>
                                </p:cTn>
                              </p:par>
                              <p:par>
                                <p:cTn id="197" presetID="10" presetClass="entr" presetSubtype="0" fill="hold" grpId="0" nodeType="withEffect">
                                  <p:stCondLst>
                                    <p:cond delay="0"/>
                                  </p:stCondLst>
                                  <p:childTnLst>
                                    <p:animEffect transition="in" filter="fade">
                                      <p:cBhvr>
                                        <p:cTn id="198" dur="500"/>
                                        <p:tgtEl>
                                          <p:spTgt spid="15"/>
                                        </p:tgtEl>
                                      </p:cBhvr>
                                    </p:animEffect>
                                    <p:set>
                                      <p:cBhvr>
                                        <p:cTn id="199" dur="1" fill="hold">
                                          <p:stCondLst>
                                            <p:cond delay="0"/>
                                          </p:stCondLst>
                                        </p:cTn>
                                        <p:tgtEl>
                                          <p:spTgt spid="15"/>
                                        </p:tgtEl>
                                        <p:attrNameLst>
                                          <p:attrName>style.visibility</p:attrName>
                                        </p:attrNameLst>
                                      </p:cBhvr>
                                      <p:to>
                                        <p:strVal val="visible"/>
                                      </p:to>
                                    </p:set>
                                  </p:childTnLst>
                                </p:cTn>
                              </p:par>
                              <p:par>
                                <p:cTn id="200" presetID="10" presetClass="entr" presetSubtype="0" fill="hold" grpId="0" nodeType="withEffect">
                                  <p:stCondLst>
                                    <p:cond delay="0"/>
                                  </p:stCondLst>
                                  <p:childTnLst>
                                    <p:animEffect transition="in" filter="fade">
                                      <p:cBhvr>
                                        <p:cTn id="201" dur="500"/>
                                        <p:tgtEl>
                                          <p:spTgt spid="18"/>
                                        </p:tgtEl>
                                      </p:cBhvr>
                                    </p:animEffect>
                                    <p:set>
                                      <p:cBhvr>
                                        <p:cTn id="202" dur="1" fill="hold">
                                          <p:stCondLst>
                                            <p:cond delay="0"/>
                                          </p:stCondLst>
                                        </p:cTn>
                                        <p:tgtEl>
                                          <p:spTgt spid="18"/>
                                        </p:tgtEl>
                                        <p:attrNameLst>
                                          <p:attrName>style.visibility</p:attrName>
                                        </p:attrNameLst>
                                      </p:cBhvr>
                                      <p:to>
                                        <p:strVal val="visible"/>
                                      </p:to>
                                    </p:set>
                                  </p:childTnLst>
                                </p:cTn>
                              </p:par>
                              <p:par>
                                <p:cTn id="203" presetID="10" presetClass="entr" presetSubtype="0" fill="hold" grpId="0" nodeType="withEffect">
                                  <p:stCondLst>
                                    <p:cond delay="0"/>
                                  </p:stCondLst>
                                  <p:childTnLst>
                                    <p:animEffect transition="in" filter="fade">
                                      <p:cBhvr>
                                        <p:cTn id="204" dur="500"/>
                                        <p:tgtEl>
                                          <p:spTgt spid="21"/>
                                        </p:tgtEl>
                                      </p:cBhvr>
                                    </p:animEffect>
                                    <p:set>
                                      <p:cBhvr>
                                        <p:cTn id="205" dur="1" fill="hold">
                                          <p:stCondLst>
                                            <p:cond delay="0"/>
                                          </p:stCondLst>
                                        </p:cTn>
                                        <p:tgtEl>
                                          <p:spTgt spid="21"/>
                                        </p:tgtEl>
                                        <p:attrNameLst>
                                          <p:attrName>style.visibility</p:attrName>
                                        </p:attrNameLst>
                                      </p:cBhvr>
                                      <p:to>
                                        <p:strVal val="visible"/>
                                      </p:to>
                                    </p:set>
                                  </p:childTnLst>
                                </p:cTn>
                              </p:par>
                            </p:childTnLst>
                          </p:cTn>
                        </p:par>
                      </p:childTnLst>
                    </p:cTn>
                  </p:par>
                  <p:par>
                    <p:cTn id="206" fill="hold">
                      <p:stCondLst>
                        <p:cond delay="indefinite"/>
                      </p:stCondLst>
                      <p:childTnLst>
                        <p:par>
                          <p:cTn id="207" fill="hold">
                            <p:stCondLst>
                              <p:cond delay="0"/>
                            </p:stCondLst>
                            <p:childTnLst>
                              <p:par>
                                <p:cTn id="208" presetID="10" presetClass="entr" presetSubtype="0" fill="hold" grpId="0" nodeType="clickEffect">
                                  <p:stCondLst>
                                    <p:cond delay="0"/>
                                  </p:stCondLst>
                                  <p:childTnLst>
                                    <p:animEffect transition="in" filter="fade">
                                      <p:cBhvr>
                                        <p:cTn id="209" dur="500"/>
                                        <p:tgtEl>
                                          <p:spTgt spid="22"/>
                                        </p:tgtEl>
                                      </p:cBhvr>
                                    </p:animEffect>
                                    <p:set>
                                      <p:cBhvr>
                                        <p:cTn id="210" dur="1" fill="hold">
                                          <p:stCondLst>
                                            <p:cond delay="0"/>
                                          </p:stCondLst>
                                        </p:cTn>
                                        <p:tgtEl>
                                          <p:spTgt spid="22"/>
                                        </p:tgtEl>
                                        <p:attrNameLst>
                                          <p:attrName>style.visibility</p:attrName>
                                        </p:attrNameLst>
                                      </p:cBhvr>
                                      <p:to>
                                        <p:strVal val="visible"/>
                                      </p:to>
                                    </p:set>
                                  </p:childTnLst>
                                </p:cTn>
                              </p:par>
                              <p:par>
                                <p:cTn id="211" presetID="10" presetClass="entr" presetSubtype="0" fill="hold" grpId="0" nodeType="withEffect">
                                  <p:stCondLst>
                                    <p:cond delay="0"/>
                                  </p:stCondLst>
                                  <p:childTnLst>
                                    <p:animEffect transition="in" filter="fade">
                                      <p:cBhvr>
                                        <p:cTn id="212" dur="500"/>
                                        <p:tgtEl>
                                          <p:spTgt spid="23"/>
                                        </p:tgtEl>
                                      </p:cBhvr>
                                    </p:animEffect>
                                    <p:set>
                                      <p:cBhvr>
                                        <p:cTn id="213" dur="1" fill="hold">
                                          <p:stCondLst>
                                            <p:cond delay="0"/>
                                          </p:stCondLst>
                                        </p:cTn>
                                        <p:tgtEl>
                                          <p:spTgt spid="23"/>
                                        </p:tgtEl>
                                        <p:attrNameLst>
                                          <p:attrName>style.visibility</p:attrName>
                                        </p:attrNameLst>
                                      </p:cBhvr>
                                      <p:to>
                                        <p:strVal val="visible"/>
                                      </p:to>
                                    </p:set>
                                  </p:childTnLst>
                                </p:cTn>
                              </p:par>
                              <p:par>
                                <p:cTn id="214" presetID="10" presetClass="entr" presetSubtype="0" fill="hold" grpId="0" nodeType="withEffect">
                                  <p:stCondLst>
                                    <p:cond delay="0"/>
                                  </p:stCondLst>
                                  <p:childTnLst>
                                    <p:animEffect transition="in" filter="fade">
                                      <p:cBhvr>
                                        <p:cTn id="215" dur="500"/>
                                        <p:tgtEl>
                                          <p:spTgt spid="24"/>
                                        </p:tgtEl>
                                      </p:cBhvr>
                                    </p:animEffect>
                                    <p:set>
                                      <p:cBhvr>
                                        <p:cTn id="216" dur="1" fill="hold">
                                          <p:stCondLst>
                                            <p:cond delay="0"/>
                                          </p:stCondLst>
                                        </p:cTn>
                                        <p:tgtEl>
                                          <p:spTgt spid="24"/>
                                        </p:tgtEl>
                                        <p:attrNameLst>
                                          <p:attrName>style.visibility</p:attrName>
                                        </p:attrNameLst>
                                      </p:cBhvr>
                                      <p:to>
                                        <p:strVal val="visible"/>
                                      </p:to>
                                    </p:set>
                                  </p:childTnLst>
                                </p:cTn>
                              </p:par>
                              <p:par>
                                <p:cTn id="217" presetID="10" presetClass="entr" presetSubtype="0" fill="hold" grpId="0" nodeType="withEffect">
                                  <p:stCondLst>
                                    <p:cond delay="0"/>
                                  </p:stCondLst>
                                  <p:childTnLst>
                                    <p:animEffect transition="in" filter="fade">
                                      <p:cBhvr>
                                        <p:cTn id="218" dur="500"/>
                                        <p:tgtEl>
                                          <p:spTgt spid="25"/>
                                        </p:tgtEl>
                                      </p:cBhvr>
                                    </p:animEffect>
                                    <p:set>
                                      <p:cBhvr>
                                        <p:cTn id="219" dur="1" fill="hold">
                                          <p:stCondLst>
                                            <p:cond delay="0"/>
                                          </p:stCondLst>
                                        </p:cTn>
                                        <p:tgtEl>
                                          <p:spTgt spid="25"/>
                                        </p:tgtEl>
                                        <p:attrNameLst>
                                          <p:attrName>style.visibility</p:attrName>
                                        </p:attrNameLst>
                                      </p:cBhvr>
                                      <p:to>
                                        <p:strVal val="visible"/>
                                      </p:to>
                                    </p:set>
                                  </p:childTnLst>
                                </p:cTn>
                              </p:par>
                              <p:par>
                                <p:cTn id="220" presetID="10" presetClass="entr" presetSubtype="0" fill="hold" grpId="0" nodeType="withEffect">
                                  <p:stCondLst>
                                    <p:cond delay="0"/>
                                  </p:stCondLst>
                                  <p:childTnLst>
                                    <p:animEffect transition="in" filter="fade">
                                      <p:cBhvr>
                                        <p:cTn id="221" dur="500"/>
                                        <p:tgtEl>
                                          <p:spTgt spid="6"/>
                                        </p:tgtEl>
                                      </p:cBhvr>
                                    </p:animEffect>
                                    <p:set>
                                      <p:cBhvr>
                                        <p:cTn id="222" dur="1" fill="hold">
                                          <p:stCondLst>
                                            <p:cond delay="0"/>
                                          </p:stCondLst>
                                        </p:cTn>
                                        <p:tgtEl>
                                          <p:spTgt spid="6"/>
                                        </p:tgtEl>
                                        <p:attrNameLst>
                                          <p:attrName>style.visibility</p:attrName>
                                        </p:attrNameLst>
                                      </p:cBhvr>
                                      <p:to>
                                        <p:strVal val="visible"/>
                                      </p:to>
                                    </p:set>
                                  </p:childTnLst>
                                </p:cTn>
                              </p:par>
                              <p:par>
                                <p:cTn id="223" presetID="10" presetClass="entr" presetSubtype="0" fill="hold" grpId="0" nodeType="withEffect">
                                  <p:stCondLst>
                                    <p:cond delay="0"/>
                                  </p:stCondLst>
                                  <p:childTnLst>
                                    <p:animEffect transition="in" filter="fade">
                                      <p:cBhvr>
                                        <p:cTn id="224" dur="500"/>
                                        <p:tgtEl>
                                          <p:spTgt spid="13"/>
                                        </p:tgtEl>
                                      </p:cBhvr>
                                    </p:animEffect>
                                    <p:set>
                                      <p:cBhvr>
                                        <p:cTn id="225" dur="1" fill="hold">
                                          <p:stCondLst>
                                            <p:cond delay="0"/>
                                          </p:stCondLst>
                                        </p:cTn>
                                        <p:tgtEl>
                                          <p:spTgt spid="13"/>
                                        </p:tgtEl>
                                        <p:attrNameLst>
                                          <p:attrName>style.visibility</p:attrName>
                                        </p:attrNameLst>
                                      </p:cBhvr>
                                      <p:to>
                                        <p:strVal val="visible"/>
                                      </p:to>
                                    </p:set>
                                  </p:childTnLst>
                                </p:cTn>
                              </p:par>
                              <p:par>
                                <p:cTn id="226" presetID="10" presetClass="entr" presetSubtype="0" fill="hold" grpId="0" nodeType="withEffect">
                                  <p:stCondLst>
                                    <p:cond delay="0"/>
                                  </p:stCondLst>
                                  <p:childTnLst>
                                    <p:animEffect transition="in" filter="fade">
                                      <p:cBhvr>
                                        <p:cTn id="227" dur="500"/>
                                        <p:tgtEl>
                                          <p:spTgt spid="16"/>
                                        </p:tgtEl>
                                      </p:cBhvr>
                                    </p:animEffect>
                                    <p:set>
                                      <p:cBhvr>
                                        <p:cTn id="228" dur="1" fill="hold">
                                          <p:stCondLst>
                                            <p:cond delay="0"/>
                                          </p:stCondLst>
                                        </p:cTn>
                                        <p:tgtEl>
                                          <p:spTgt spid="16"/>
                                        </p:tgtEl>
                                        <p:attrNameLst>
                                          <p:attrName>style.visibility</p:attrName>
                                        </p:attrNameLst>
                                      </p:cBhvr>
                                      <p:to>
                                        <p:strVal val="visible"/>
                                      </p:to>
                                    </p:set>
                                  </p:childTnLst>
                                </p:cTn>
                              </p:par>
                              <p:par>
                                <p:cTn id="229" presetID="10" presetClass="entr" presetSubtype="0" fill="hold" grpId="0" nodeType="withEffect">
                                  <p:stCondLst>
                                    <p:cond delay="0"/>
                                  </p:stCondLst>
                                  <p:childTnLst>
                                    <p:animEffect transition="in" filter="fade">
                                      <p:cBhvr>
                                        <p:cTn id="230" dur="500"/>
                                        <p:tgtEl>
                                          <p:spTgt spid="19"/>
                                        </p:tgtEl>
                                      </p:cBhvr>
                                    </p:animEffect>
                                    <p:set>
                                      <p:cBhvr>
                                        <p:cTn id="231" dur="1" fill="hold">
                                          <p:stCondLst>
                                            <p:cond delay="0"/>
                                          </p:stCondLst>
                                        </p:cTn>
                                        <p:tgtEl>
                                          <p:spTgt spid="19"/>
                                        </p:tgtEl>
                                        <p:attrNameLst>
                                          <p:attrName>style.visibility</p:attrName>
                                        </p:attrNameLst>
                                      </p:cBhvr>
                                      <p:to>
                                        <p:strVal val="visible"/>
                                      </p:to>
                                    </p:set>
                                  </p:childTnLst>
                                </p:cTn>
                              </p:par>
                              <p:par>
                                <p:cTn id="232" presetID="10" presetClass="entr" presetSubtype="0" fill="hold" grpId="0" nodeType="withEffect">
                                  <p:stCondLst>
                                    <p:cond delay="0"/>
                                  </p:stCondLst>
                                  <p:childTnLst>
                                    <p:animEffect transition="in" filter="fade">
                                      <p:cBhvr>
                                        <p:cTn id="233" dur="500"/>
                                        <p:tgtEl>
                                          <p:spTgt spid="26"/>
                                        </p:tgtEl>
                                      </p:cBhvr>
                                    </p:animEffect>
                                    <p:set>
                                      <p:cBhvr>
                                        <p:cTn id="234" dur="1" fill="hold">
                                          <p:stCondLst>
                                            <p:cond delay="0"/>
                                          </p:stCondLst>
                                        </p:cTn>
                                        <p:tgtEl>
                                          <p:spTgt spid="26"/>
                                        </p:tgtEl>
                                        <p:attrNameLst>
                                          <p:attrName>style.visibility</p:attrName>
                                        </p:attrNameLst>
                                      </p:cBhvr>
                                      <p:to>
                                        <p:strVal val="visible"/>
                                      </p:to>
                                    </p:set>
                                  </p:childTnLst>
                                </p:cTn>
                              </p:par>
                              <p:par>
                                <p:cTn id="235" presetID="10" presetClass="entr" presetSubtype="0" fill="hold" grpId="0" nodeType="withEffect">
                                  <p:stCondLst>
                                    <p:cond delay="0"/>
                                  </p:stCondLst>
                                  <p:childTnLst>
                                    <p:animEffect transition="in" filter="fade">
                                      <p:cBhvr>
                                        <p:cTn id="236" dur="500"/>
                                        <p:tgtEl>
                                          <p:spTgt spid="7"/>
                                        </p:tgtEl>
                                      </p:cBhvr>
                                    </p:animEffect>
                                    <p:set>
                                      <p:cBhvr>
                                        <p:cTn id="237" dur="1" fill="hold">
                                          <p:stCondLst>
                                            <p:cond delay="0"/>
                                          </p:stCondLst>
                                        </p:cTn>
                                        <p:tgtEl>
                                          <p:spTgt spid="7"/>
                                        </p:tgtEl>
                                        <p:attrNameLst>
                                          <p:attrName>style.visibility</p:attrName>
                                        </p:attrNameLst>
                                      </p:cBhvr>
                                      <p:to>
                                        <p:strVal val="visible"/>
                                      </p:to>
                                    </p:set>
                                  </p:childTnLst>
                                </p:cTn>
                              </p:par>
                              <p:par>
                                <p:cTn id="238" presetID="10" presetClass="entr" presetSubtype="0" fill="hold" grpId="0" nodeType="withEffect">
                                  <p:stCondLst>
                                    <p:cond delay="0"/>
                                  </p:stCondLst>
                                  <p:childTnLst>
                                    <p:animEffect transition="in" filter="fade">
                                      <p:cBhvr>
                                        <p:cTn id="239" dur="500"/>
                                        <p:tgtEl>
                                          <p:spTgt spid="14"/>
                                        </p:tgtEl>
                                      </p:cBhvr>
                                    </p:animEffect>
                                    <p:set>
                                      <p:cBhvr>
                                        <p:cTn id="240" dur="1" fill="hold">
                                          <p:stCondLst>
                                            <p:cond delay="0"/>
                                          </p:stCondLst>
                                        </p:cTn>
                                        <p:tgtEl>
                                          <p:spTgt spid="14"/>
                                        </p:tgtEl>
                                        <p:attrNameLst>
                                          <p:attrName>style.visibility</p:attrName>
                                        </p:attrNameLst>
                                      </p:cBhvr>
                                      <p:to>
                                        <p:strVal val="visible"/>
                                      </p:to>
                                    </p:set>
                                  </p:childTnLst>
                                </p:cTn>
                              </p:par>
                              <p:par>
                                <p:cTn id="241" presetID="10" presetClass="entr" presetSubtype="0" fill="hold" grpId="0" nodeType="withEffect">
                                  <p:stCondLst>
                                    <p:cond delay="0"/>
                                  </p:stCondLst>
                                  <p:childTnLst>
                                    <p:animEffect transition="in" filter="fade">
                                      <p:cBhvr>
                                        <p:cTn id="242" dur="500"/>
                                        <p:tgtEl>
                                          <p:spTgt spid="17"/>
                                        </p:tgtEl>
                                      </p:cBhvr>
                                    </p:animEffect>
                                    <p:set>
                                      <p:cBhvr>
                                        <p:cTn id="243" dur="1" fill="hold">
                                          <p:stCondLst>
                                            <p:cond delay="0"/>
                                          </p:stCondLst>
                                        </p:cTn>
                                        <p:tgtEl>
                                          <p:spTgt spid="17"/>
                                        </p:tgtEl>
                                        <p:attrNameLst>
                                          <p:attrName>style.visibility</p:attrName>
                                        </p:attrNameLst>
                                      </p:cBhvr>
                                      <p:to>
                                        <p:strVal val="visible"/>
                                      </p:to>
                                    </p:set>
                                  </p:childTnLst>
                                </p:cTn>
                              </p:par>
                              <p:par>
                                <p:cTn id="244" presetID="10" presetClass="entr" presetSubtype="0" fill="hold" grpId="0" nodeType="withEffect">
                                  <p:stCondLst>
                                    <p:cond delay="0"/>
                                  </p:stCondLst>
                                  <p:childTnLst>
                                    <p:animEffect transition="in" filter="fade">
                                      <p:cBhvr>
                                        <p:cTn id="245" dur="500"/>
                                        <p:tgtEl>
                                          <p:spTgt spid="20"/>
                                        </p:tgtEl>
                                      </p:cBhvr>
                                    </p:animEffect>
                                    <p:set>
                                      <p:cBhvr>
                                        <p:cTn id="246" dur="1" fill="hold">
                                          <p:stCondLst>
                                            <p:cond delay="0"/>
                                          </p:stCondLst>
                                        </p:cTn>
                                        <p:tgtEl>
                                          <p:spTgt spid="20"/>
                                        </p:tgtEl>
                                        <p:attrNameLst>
                                          <p:attrName>style.visibility</p:attrName>
                                        </p:attrNameLst>
                                      </p:cBhvr>
                                      <p:to>
                                        <p:strVal val="visible"/>
                                      </p:to>
                                    </p:set>
                                  </p:childTnLst>
                                </p:cTn>
                              </p:par>
                              <p:par>
                                <p:cTn id="247" presetID="10" presetClass="entr" presetSubtype="0" fill="hold" grpId="0" nodeType="withEffect">
                                  <p:stCondLst>
                                    <p:cond delay="0"/>
                                  </p:stCondLst>
                                  <p:childTnLst>
                                    <p:animEffect transition="in" filter="fade">
                                      <p:cBhvr>
                                        <p:cTn id="248" dur="500"/>
                                        <p:tgtEl>
                                          <p:spTgt spid="27"/>
                                        </p:tgtEl>
                                      </p:cBhvr>
                                    </p:animEffect>
                                    <p:set>
                                      <p:cBhvr>
                                        <p:cTn id="249" dur="1" fill="hold">
                                          <p:stCondLst>
                                            <p:cond delay="0"/>
                                          </p:stCondLst>
                                        </p:cTn>
                                        <p:tgtEl>
                                          <p:spTgt spid="27"/>
                                        </p:tgtEl>
                                        <p:attrNameLst>
                                          <p:attrName>style.visibility</p:attrName>
                                        </p:attrNameLst>
                                      </p:cBhvr>
                                      <p:to>
                                        <p:strVal val="visible"/>
                                      </p:to>
                                    </p:set>
                                  </p:childTnLst>
                                </p:cTn>
                              </p:par>
                              <p:par>
                                <p:cTn id="250" presetID="10" presetClass="entr" presetSubtype="0" fill="hold" grpId="0" nodeType="withEffect">
                                  <p:stCondLst>
                                    <p:cond delay="0"/>
                                  </p:stCondLst>
                                  <p:childTnLst>
                                    <p:animEffect transition="in" filter="fade">
                                      <p:cBhvr>
                                        <p:cTn id="251" dur="500"/>
                                        <p:tgtEl>
                                          <p:spTgt spid="9"/>
                                        </p:tgtEl>
                                      </p:cBhvr>
                                    </p:animEffect>
                                    <p:set>
                                      <p:cBhvr>
                                        <p:cTn id="252" dur="1" fill="hold">
                                          <p:stCondLst>
                                            <p:cond delay="0"/>
                                          </p:stCondLst>
                                        </p:cTn>
                                        <p:tgtEl>
                                          <p:spTgt spid="9"/>
                                        </p:tgtEl>
                                        <p:attrNameLst>
                                          <p:attrName>style.visibility</p:attrName>
                                        </p:attrNameLst>
                                      </p:cBhvr>
                                      <p:to>
                                        <p:strVal val="visible"/>
                                      </p:to>
                                    </p:set>
                                  </p:childTnLst>
                                </p:cTn>
                              </p:par>
                              <p:par>
                                <p:cTn id="253" presetID="10" presetClass="entr" presetSubtype="0" fill="hold" grpId="0" nodeType="withEffect">
                                  <p:stCondLst>
                                    <p:cond delay="0"/>
                                  </p:stCondLst>
                                  <p:childTnLst>
                                    <p:animEffect transition="in" filter="fade">
                                      <p:cBhvr>
                                        <p:cTn id="254" dur="500"/>
                                        <p:tgtEl>
                                          <p:spTgt spid="15"/>
                                        </p:tgtEl>
                                      </p:cBhvr>
                                    </p:animEffect>
                                    <p:set>
                                      <p:cBhvr>
                                        <p:cTn id="255" dur="1" fill="hold">
                                          <p:stCondLst>
                                            <p:cond delay="0"/>
                                          </p:stCondLst>
                                        </p:cTn>
                                        <p:tgtEl>
                                          <p:spTgt spid="15"/>
                                        </p:tgtEl>
                                        <p:attrNameLst>
                                          <p:attrName>style.visibility</p:attrName>
                                        </p:attrNameLst>
                                      </p:cBhvr>
                                      <p:to>
                                        <p:strVal val="visible"/>
                                      </p:to>
                                    </p:set>
                                  </p:childTnLst>
                                </p:cTn>
                              </p:par>
                              <p:par>
                                <p:cTn id="256" presetID="10" presetClass="entr" presetSubtype="0" fill="hold" grpId="0" nodeType="withEffect">
                                  <p:stCondLst>
                                    <p:cond delay="0"/>
                                  </p:stCondLst>
                                  <p:childTnLst>
                                    <p:animEffect transition="in" filter="fade">
                                      <p:cBhvr>
                                        <p:cTn id="257" dur="500"/>
                                        <p:tgtEl>
                                          <p:spTgt spid="18"/>
                                        </p:tgtEl>
                                      </p:cBhvr>
                                    </p:animEffect>
                                    <p:set>
                                      <p:cBhvr>
                                        <p:cTn id="258" dur="1" fill="hold">
                                          <p:stCondLst>
                                            <p:cond delay="0"/>
                                          </p:stCondLst>
                                        </p:cTn>
                                        <p:tgtEl>
                                          <p:spTgt spid="18"/>
                                        </p:tgtEl>
                                        <p:attrNameLst>
                                          <p:attrName>style.visibility</p:attrName>
                                        </p:attrNameLst>
                                      </p:cBhvr>
                                      <p:to>
                                        <p:strVal val="visible"/>
                                      </p:to>
                                    </p:set>
                                  </p:childTnLst>
                                </p:cTn>
                              </p:par>
                              <p:par>
                                <p:cTn id="259" presetID="10" presetClass="entr" presetSubtype="0" fill="hold" grpId="0" nodeType="withEffect">
                                  <p:stCondLst>
                                    <p:cond delay="0"/>
                                  </p:stCondLst>
                                  <p:childTnLst>
                                    <p:animEffect transition="in" filter="fade">
                                      <p:cBhvr>
                                        <p:cTn id="260" dur="500"/>
                                        <p:tgtEl>
                                          <p:spTgt spid="21"/>
                                        </p:tgtEl>
                                      </p:cBhvr>
                                    </p:animEffect>
                                    <p:set>
                                      <p:cBhvr>
                                        <p:cTn id="261" dur="1" fill="hold">
                                          <p:stCondLst>
                                            <p:cond delay="0"/>
                                          </p:stCondLst>
                                        </p:cTn>
                                        <p:tgtEl>
                                          <p:spTgt spid="21"/>
                                        </p:tgtEl>
                                        <p:attrNameLst>
                                          <p:attrName>style.visibility</p:attrName>
                                        </p:attrNameLst>
                                      </p:cBhvr>
                                      <p:to>
                                        <p:strVal val="visible"/>
                                      </p:to>
                                    </p:set>
                                  </p:childTnLst>
                                </p:cTn>
                              </p:par>
                              <p:par>
                                <p:cTn id="262" presetID="10" presetClass="entr" presetSubtype="0" fill="hold" grpId="0" nodeType="withEffect">
                                  <p:stCondLst>
                                    <p:cond delay="0"/>
                                  </p:stCondLst>
                                  <p:childTnLst>
                                    <p:animEffect transition="in" filter="fade">
                                      <p:cBhvr>
                                        <p:cTn id="263" dur="500"/>
                                        <p:tgtEl>
                                          <p:spTgt spid="28"/>
                                        </p:tgtEl>
                                      </p:cBhvr>
                                    </p:animEffect>
                                    <p:set>
                                      <p:cBhvr>
                                        <p:cTn id="26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1: Train the Agent</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0728655" cy="377444"/>
          </a:xfrm>
          <a:prstGeom prst="roundRect">
            <a:avLst/>
          </a:prstGeom>
          <a:solidFill>
            <a:srgbClr val="D69A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Roadmap part 1</a:t>
            </a:r>
          </a:p>
        </p:txBody>
      </p:sp>
      <p:sp>
        <p:nvSpPr>
          <p:cNvPr id="5" name="Rounded Rectangle 4"/>
          <p:cNvSpPr/>
          <p:nvPr/>
        </p:nvSpPr>
        <p:spPr>
          <a:xfrm>
            <a:off x="731520" y="2041652"/>
            <a:ext cx="118872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Simulation</a:t>
            </a:r>
          </a:p>
        </p:txBody>
      </p:sp>
      <p:cxnSp>
        <p:nvCxnSpPr>
          <p:cNvPr id="6" name="Connector 5"/>
          <p:cNvCxnSpPr/>
          <p:nvPr/>
        </p:nvCxnSpPr>
        <p:spPr>
          <a:xfrm>
            <a:off x="1920240" y="2416556"/>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395728" y="2041652"/>
            <a:ext cx="123952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Hypothesis</a:t>
            </a:r>
          </a:p>
        </p:txBody>
      </p:sp>
      <p:cxnSp>
        <p:nvCxnSpPr>
          <p:cNvPr id="8" name="Connector 7"/>
          <p:cNvCxnSpPr/>
          <p:nvPr/>
        </p:nvCxnSpPr>
        <p:spPr>
          <a:xfrm>
            <a:off x="3635248" y="2416556"/>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110736" y="2041652"/>
            <a:ext cx="756920" cy="749808"/>
          </a:xfrm>
          <a:prstGeom prst="roundRect">
            <a:avLst/>
          </a:prstGeom>
          <a:solidFill>
            <a:srgbClr val="7FA195"/>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Verify</a:t>
            </a:r>
          </a:p>
        </p:txBody>
      </p:sp>
      <p:cxnSp>
        <p:nvCxnSpPr>
          <p:cNvPr id="10" name="Connector 9"/>
          <p:cNvCxnSpPr/>
          <p:nvPr/>
        </p:nvCxnSpPr>
        <p:spPr>
          <a:xfrm>
            <a:off x="4867656" y="2416556"/>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43144" y="2041652"/>
            <a:ext cx="922020" cy="749808"/>
          </a:xfrm>
          <a:prstGeom prst="roundRect">
            <a:avLst/>
          </a:prstGeom>
          <a:solidFill>
            <a:srgbClr val="D8A86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Reward</a:t>
            </a:r>
          </a:p>
        </p:txBody>
      </p:sp>
      <p:sp>
        <p:nvSpPr>
          <p:cNvPr id="12" name="Rectangle 11"/>
          <p:cNvSpPr/>
          <p:nvPr/>
        </p:nvSpPr>
        <p:spPr>
          <a:xfrm>
            <a:off x="731520" y="3084067"/>
            <a:ext cx="54864" cy="110693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084067"/>
            <a:ext cx="10536631" cy="425196"/>
          </a:xfrm>
          <a:prstGeom prst="rect">
            <a:avLst/>
          </a:prstGeom>
          <a:noFill/>
        </p:spPr>
        <p:txBody>
          <a:bodyPr wrap="square">
            <a:spAutoFit/>
          </a:bodyPr>
          <a:lstStyle/>
          <a:p>
            <a:pPr algn="l">
              <a:defRPr sz="1800" b="1" i="0">
                <a:solidFill>
                  <a:srgbClr val="5C82AD"/>
                </a:solidFill>
                <a:latin typeface="Liberation Sans"/>
              </a:defRPr>
            </a:pPr>
            <a:r>
              <a:t>Train on closed loops</a:t>
            </a:r>
          </a:p>
        </p:txBody>
      </p:sp>
      <p:sp>
        <p:nvSpPr>
          <p:cNvPr id="14" name="TextBox 13"/>
          <p:cNvSpPr txBox="1"/>
          <p:nvPr/>
        </p:nvSpPr>
        <p:spPr>
          <a:xfrm>
            <a:off x="923544" y="3600703"/>
            <a:ext cx="10536631" cy="590296"/>
          </a:xfrm>
          <a:prstGeom prst="rect">
            <a:avLst/>
          </a:prstGeom>
          <a:noFill/>
        </p:spPr>
        <p:txBody>
          <a:bodyPr wrap="square">
            <a:spAutoFit/>
          </a:bodyPr>
          <a:lstStyle/>
          <a:p>
            <a:pPr algn="l">
              <a:defRPr sz="1400" b="0" i="0">
                <a:solidFill>
                  <a:srgbClr val="223043"/>
                </a:solidFill>
                <a:latin typeface="Liberation Sans"/>
              </a:defRPr>
            </a:pPr>
            <a:r>
              <a:t>Start with interventions and telemetry so the agent repeatedly proposes a hypothesis, checks it, and gets feedback on the full loop.</a:t>
            </a:r>
          </a:p>
        </p:txBody>
      </p:sp>
      <p:sp>
        <p:nvSpPr>
          <p:cNvPr id="15" name="TextBox 14"/>
          <p:cNvSpPr txBox="1"/>
          <p:nvPr/>
        </p:nvSpPr>
        <p:spPr>
          <a:xfrm>
            <a:off x="731520" y="4483608"/>
            <a:ext cx="10728655" cy="722376"/>
          </a:xfrm>
          <a:prstGeom prst="rect">
            <a:avLst/>
          </a:prstGeom>
          <a:noFill/>
        </p:spPr>
        <p:txBody>
          <a:bodyPr wrap="square">
            <a:spAutoFit/>
          </a:bodyPr>
          <a:lstStyle/>
          <a:p>
            <a:pPr algn="l">
              <a:defRPr sz="1800" b="0" i="1">
                <a:solidFill>
                  <a:srgbClr val="647489"/>
                </a:solidFill>
                <a:latin typeface="Liberation Sans"/>
              </a:defRPr>
            </a:pPr>
            <a:r>
              <a:t>The first milestone is an agent that learns from repeated simulation to verification cycles, not from answer labels alone.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11"/>
                                        </p:tgtEl>
                                      </p:cBhvr>
                                    </p:animEffect>
                                    <p:set>
                                      <p:cBhvr>
                                        <p:cTn id="44" dur="1" fill="hold">
                                          <p:stCondLst>
                                            <p:cond delay="0"/>
                                          </p:stCondLst>
                                        </p:cTn>
                                        <p:tgtEl>
                                          <p:spTgt spid="1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animEffect transition="in" filter="fade">
                                      <p:cBhvr>
                                        <p:cTn id="48" dur="500"/>
                                        <p:tgtEl>
                                          <p:spTgt spid="5"/>
                                        </p:tgtEl>
                                      </p:cBhvr>
                                    </p:animEffect>
                                    <p:set>
                                      <p:cBhvr>
                                        <p:cTn id="49" dur="1" fill="hold">
                                          <p:stCondLst>
                                            <p:cond delay="0"/>
                                          </p:stCondLst>
                                        </p:cTn>
                                        <p:tgtEl>
                                          <p:spTgt spid="5"/>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2"/>
                                        </p:tgtEl>
                                      </p:cBhvr>
                                    </p:animEffect>
                                    <p:set>
                                      <p:cBhvr>
                                        <p:cTn id="52" dur="1" fill="hold">
                                          <p:stCondLst>
                                            <p:cond delay="0"/>
                                          </p:stCondLst>
                                        </p:cTn>
                                        <p:tgtEl>
                                          <p:spTgt spid="12"/>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3"/>
                                        </p:tgtEl>
                                      </p:cBhvr>
                                    </p:animEffect>
                                    <p:set>
                                      <p:cBhvr>
                                        <p:cTn id="58" dur="1" fill="hold">
                                          <p:stCondLst>
                                            <p:cond delay="0"/>
                                          </p:stCondLst>
                                        </p:cTn>
                                        <p:tgtEl>
                                          <p:spTgt spid="13"/>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8"/>
                                        </p:tgtEl>
                                      </p:cBhvr>
                                    </p:animEffect>
                                    <p:set>
                                      <p:cBhvr>
                                        <p:cTn id="61" dur="1" fill="hold">
                                          <p:stCondLst>
                                            <p:cond delay="0"/>
                                          </p:stCondLst>
                                        </p:cTn>
                                        <p:tgtEl>
                                          <p:spTgt spid="8"/>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4"/>
                                        </p:tgtEl>
                                      </p:cBhvr>
                                    </p:animEffect>
                                    <p:set>
                                      <p:cBhvr>
                                        <p:cTn id="64" dur="1" fill="hold">
                                          <p:stCondLst>
                                            <p:cond delay="0"/>
                                          </p:stCondLst>
                                        </p:cTn>
                                        <p:tgtEl>
                                          <p:spTgt spid="1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2: Distill World Model</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303020" cy="749808"/>
          </a:xfrm>
          <a:prstGeom prst="roundRect">
            <a:avLst/>
          </a:prstGeom>
          <a:solidFill>
            <a:srgbClr val="8FAAC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Many traces</a:t>
            </a:r>
          </a:p>
        </p:txBody>
      </p:sp>
      <p:cxnSp>
        <p:nvCxnSpPr>
          <p:cNvPr id="5" name="Connector 4"/>
          <p:cNvCxnSpPr/>
          <p:nvPr/>
        </p:nvCxnSpPr>
        <p:spPr>
          <a:xfrm>
            <a:off x="2034540" y="1746504"/>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10028" y="1371600"/>
            <a:ext cx="1150620" cy="749808"/>
          </a:xfrm>
          <a:prstGeom prst="roundRect">
            <a:avLst/>
          </a:prstGeom>
          <a:solidFill>
            <a:srgbClr val="D69A68"/>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Compress</a:t>
            </a:r>
          </a:p>
        </p:txBody>
      </p:sp>
      <p:cxnSp>
        <p:nvCxnSpPr>
          <p:cNvPr id="7" name="Connector 6"/>
          <p:cNvCxnSpPr/>
          <p:nvPr/>
        </p:nvCxnSpPr>
        <p:spPr>
          <a:xfrm>
            <a:off x="3660648" y="1746504"/>
            <a:ext cx="475488" cy="0"/>
          </a:xfrm>
          <a:prstGeom prst="line">
            <a:avLst/>
          </a:prstGeom>
          <a:ln w="19050">
            <a:solidFill>
              <a:srgbClr val="94A3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136136" y="1371600"/>
            <a:ext cx="1328420" cy="749808"/>
          </a:xfrm>
          <a:prstGeom prst="roundRect">
            <a:avLst/>
          </a:prstGeom>
          <a:solidFill>
            <a:srgbClr val="5C82AD"/>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223043"/>
                </a:solidFill>
                <a:latin typeface="Liberation Sans"/>
              </a:defRPr>
            </a:pPr>
            <a:r>
              <a:t>world model</a:t>
            </a:r>
          </a:p>
        </p:txBody>
      </p:sp>
      <p:sp>
        <p:nvSpPr>
          <p:cNvPr id="9" name="Rounded Rectangle 8"/>
          <p:cNvSpPr/>
          <p:nvPr/>
        </p:nvSpPr>
        <p:spPr>
          <a:xfrm>
            <a:off x="731520" y="2340864"/>
            <a:ext cx="3108960" cy="377444"/>
          </a:xfrm>
          <a:prstGeom prst="roundRect">
            <a:avLst/>
          </a:prstGeom>
          <a:solidFill>
            <a:srgbClr val="8FAA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Many traces</a:t>
            </a:r>
          </a:p>
        </p:txBody>
      </p:sp>
      <p:sp>
        <p:nvSpPr>
          <p:cNvPr id="10" name="Rounded Rectangle 9"/>
          <p:cNvSpPr/>
          <p:nvPr/>
        </p:nvSpPr>
        <p:spPr>
          <a:xfrm>
            <a:off x="731520" y="2846324"/>
            <a:ext cx="310896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A</a:t>
            </a:r>
          </a:p>
        </p:txBody>
      </p:sp>
      <p:sp>
        <p:nvSpPr>
          <p:cNvPr id="11" name="Rounded Rectangle 10"/>
          <p:cNvSpPr/>
          <p:nvPr/>
        </p:nvSpPr>
        <p:spPr>
          <a:xfrm>
            <a:off x="731520" y="3522980"/>
            <a:ext cx="310896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B</a:t>
            </a:r>
          </a:p>
        </p:txBody>
      </p:sp>
      <p:sp>
        <p:nvSpPr>
          <p:cNvPr id="12" name="Rounded Rectangle 11"/>
          <p:cNvSpPr/>
          <p:nvPr/>
        </p:nvSpPr>
        <p:spPr>
          <a:xfrm>
            <a:off x="731520" y="4199636"/>
            <a:ext cx="3108960" cy="548640"/>
          </a:xfrm>
          <a:prstGeom prst="roundRect">
            <a:avLst/>
          </a:prstGeom>
          <a:solidFill>
            <a:srgbClr val="F1F5FA"/>
          </a:solidFill>
          <a:ln w="12700">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223043"/>
                </a:solidFill>
                <a:latin typeface="Liberation Sans"/>
              </a:defRPr>
            </a:pPr>
            <a:r>
              <a:t>Incident trace C</a:t>
            </a:r>
          </a:p>
        </p:txBody>
      </p:sp>
      <p:sp>
        <p:nvSpPr>
          <p:cNvPr id="13" name="Rounded Rectangle 12"/>
          <p:cNvSpPr/>
          <p:nvPr/>
        </p:nvSpPr>
        <p:spPr>
          <a:xfrm>
            <a:off x="4343400" y="2340864"/>
            <a:ext cx="3840480"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Reusable core</a:t>
            </a:r>
          </a:p>
        </p:txBody>
      </p:sp>
      <p:sp>
        <p:nvSpPr>
          <p:cNvPr id="14" name="Oval 13"/>
          <p:cNvSpPr/>
          <p:nvPr/>
        </p:nvSpPr>
        <p:spPr>
          <a:xfrm>
            <a:off x="5280660" y="2864612"/>
            <a:ext cx="1965960" cy="1965960"/>
          </a:xfrm>
          <a:prstGeom prst="ellipse">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world</a:t>
            </a:r>
            <a:br/>
            <a:r>
              <a:t>model</a:t>
            </a:r>
          </a:p>
        </p:txBody>
      </p:sp>
      <p:sp>
        <p:nvSpPr>
          <p:cNvPr id="15" name="TextBox 14"/>
          <p:cNvSpPr txBox="1"/>
          <p:nvPr/>
        </p:nvSpPr>
        <p:spPr>
          <a:xfrm>
            <a:off x="4343400" y="4976876"/>
            <a:ext cx="3840480" cy="1316736"/>
          </a:xfrm>
          <a:prstGeom prst="rect">
            <a:avLst/>
          </a:prstGeom>
          <a:noFill/>
        </p:spPr>
        <p:txBody>
          <a:bodyPr wrap="square">
            <a:spAutoFit/>
          </a:bodyPr>
          <a:lstStyle/>
          <a:p>
            <a:pPr algn="l">
              <a:defRPr sz="1800" b="0" i="0">
                <a:solidFill>
                  <a:srgbClr val="223043"/>
                </a:solidFill>
                <a:latin typeface="Liberation Sans"/>
              </a:defRPr>
            </a:pPr>
            <a:r>
              <a:t>A compact causal representation that preserves propagation structure while dropping repetitive incident detail.</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animEffect transition="in" filter="fade">
                                      <p:cBhvr>
                                        <p:cTn id="39" dur="500"/>
                                        <p:tgtEl>
                                          <p:spTgt spid="9"/>
                                        </p:tgtEl>
                                      </p:cBhvr>
                                    </p:animEffect>
                                    <p:set>
                                      <p:cBhvr>
                                        <p:cTn id="40" dur="1" fill="hold">
                                          <p:stCondLst>
                                            <p:cond delay="0"/>
                                          </p:stCondLst>
                                        </p:cTn>
                                        <p:tgtEl>
                                          <p:spTgt spid="9"/>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0"/>
                                        </p:tgtEl>
                                      </p:cBhvr>
                                    </p:animEffec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1"/>
                                        </p:tgtEl>
                                      </p:cBhvr>
                                    </p:animEffect>
                                    <p:set>
                                      <p:cBhvr>
                                        <p:cTn id="46" dur="1" fill="hold">
                                          <p:stCondLst>
                                            <p:cond delay="0"/>
                                          </p:stCondLst>
                                        </p:cTn>
                                        <p:tgtEl>
                                          <p:spTgt spid="11"/>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2"/>
                                        </p:tgtEl>
                                      </p:cBhvr>
                                    </p:animEffect>
                                    <p:set>
                                      <p:cBhvr>
                                        <p:cTn id="49" dur="1" fill="hold">
                                          <p:stCondLst>
                                            <p:cond delay="0"/>
                                          </p:stCondLst>
                                        </p:cTn>
                                        <p:tgtEl>
                                          <p:spTgt spid="12"/>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animEffect transition="in" filter="fade">
                                      <p:cBhvr>
                                        <p:cTn id="53" dur="500"/>
                                        <p:tgtEl>
                                          <p:spTgt spid="13"/>
                                        </p:tgtEl>
                                      </p:cBhvr>
                                    </p:animEffect>
                                    <p:set>
                                      <p:cBhvr>
                                        <p:cTn id="54" dur="1" fill="hold">
                                          <p:stCondLst>
                                            <p:cond delay="0"/>
                                          </p:stCondLst>
                                        </p:cTn>
                                        <p:tgtEl>
                                          <p:spTgt spid="13"/>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4"/>
                                        </p:tgtEl>
                                      </p:cBhvr>
                                    </p:animEffect>
                                    <p:set>
                                      <p:cBhvr>
                                        <p:cTn id="57" dur="1" fill="hold">
                                          <p:stCondLst>
                                            <p:cond delay="0"/>
                                          </p:stCondLst>
                                        </p:cTn>
                                        <p:tgtEl>
                                          <p:spTgt spid="14"/>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5"/>
                                        </p:tgtEl>
                                      </p:cBhvr>
                                    </p:animEffect>
                                    <p:set>
                                      <p:cBhvr>
                                        <p:cTn id="6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Stage 3: Universal Expert</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353820" cy="1005840"/>
          </a:xfrm>
          <a:prstGeom prst="round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 model</a:t>
            </a:r>
          </a:p>
        </p:txBody>
      </p:sp>
      <p:cxnSp>
        <p:nvCxnSpPr>
          <p:cNvPr id="5" name="Connector 4"/>
          <p:cNvCxnSpPr/>
          <p:nvPr/>
        </p:nvCxnSpPr>
        <p:spPr>
          <a:xfrm>
            <a:off x="2085340" y="1874519"/>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828" y="1371600"/>
            <a:ext cx="1823720" cy="1005840"/>
          </a:xfrm>
          <a:prstGeom prst="round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Repair suggestion</a:t>
            </a:r>
          </a:p>
        </p:txBody>
      </p:sp>
      <p:cxnSp>
        <p:nvCxnSpPr>
          <p:cNvPr id="7" name="Connector 6"/>
          <p:cNvCxnSpPr/>
          <p:nvPr/>
        </p:nvCxnSpPr>
        <p:spPr>
          <a:xfrm>
            <a:off x="4384548" y="1874519"/>
            <a:ext cx="475488"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860036" y="1371600"/>
            <a:ext cx="2255519" cy="1005840"/>
          </a:xfrm>
          <a:prstGeom prst="round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Root-cause localization</a:t>
            </a:r>
          </a:p>
        </p:txBody>
      </p:sp>
      <p:cxnSp>
        <p:nvCxnSpPr>
          <p:cNvPr id="9" name="Connector 8"/>
          <p:cNvCxnSpPr/>
          <p:nvPr/>
        </p:nvCxnSpPr>
        <p:spPr>
          <a:xfrm>
            <a:off x="7115556" y="1874519"/>
            <a:ext cx="475487" cy="0"/>
          </a:xfrm>
          <a:prstGeom prst="line">
            <a:avLst/>
          </a:prstGeom>
          <a:ln w="19050">
            <a:solidFill>
              <a:srgbClr val="5C8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91043" y="1371600"/>
            <a:ext cx="1607820" cy="1005840"/>
          </a:xfrm>
          <a:prstGeom prst="round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prediction</a:t>
            </a:r>
          </a:p>
        </p:txBody>
      </p:sp>
      <p:sp>
        <p:nvSpPr>
          <p:cNvPr id="11" name="Rectangle 10"/>
          <p:cNvSpPr/>
          <p:nvPr/>
        </p:nvSpPr>
        <p:spPr>
          <a:xfrm>
            <a:off x="731520" y="2670048"/>
            <a:ext cx="54864" cy="1106932"/>
          </a:xfrm>
          <a:prstGeom prst="rect">
            <a:avLst/>
          </a:prstGeom>
          <a:solidFill>
            <a:srgbClr val="5C82AD"/>
          </a:solidFill>
          <a:ln w="12700">
            <a:solidFill>
              <a:srgbClr val="5C8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670048"/>
            <a:ext cx="10536631" cy="425196"/>
          </a:xfrm>
          <a:prstGeom prst="rect">
            <a:avLst/>
          </a:prstGeom>
          <a:noFill/>
        </p:spPr>
        <p:txBody>
          <a:bodyPr wrap="square">
            <a:spAutoFit/>
          </a:bodyPr>
          <a:lstStyle/>
          <a:p>
            <a:pPr algn="l">
              <a:defRPr sz="1800" b="1" i="0">
                <a:solidFill>
                  <a:srgbClr val="5C82AD"/>
                </a:solidFill>
                <a:latin typeface="Liberation Sans"/>
              </a:defRPr>
            </a:pPr>
            <a:r>
              <a:t>One reasoning core, many tasks</a:t>
            </a:r>
          </a:p>
        </p:txBody>
      </p:sp>
      <p:sp>
        <p:nvSpPr>
          <p:cNvPr id="13" name="TextBox 12"/>
          <p:cNvSpPr txBox="1"/>
          <p:nvPr/>
        </p:nvSpPr>
        <p:spPr>
          <a:xfrm>
            <a:off x="923544" y="3186684"/>
            <a:ext cx="10536631" cy="590296"/>
          </a:xfrm>
          <a:prstGeom prst="rect">
            <a:avLst/>
          </a:prstGeom>
          <a:noFill/>
        </p:spPr>
        <p:txBody>
          <a:bodyPr wrap="square">
            <a:spAutoFit/>
          </a:bodyPr>
          <a:lstStyle/>
          <a:p>
            <a:pPr algn="l">
              <a:defRPr sz="1400" b="0" i="0">
                <a:solidFill>
                  <a:srgbClr val="223043"/>
                </a:solidFill>
                <a:latin typeface="Liberation Sans"/>
              </a:defRPr>
            </a:pPr>
            <a:r>
              <a:t>The end state is a universal expert that reuses the same causal world model for localization, forecasting, and actionable support.</a:t>
            </a:r>
          </a:p>
        </p:txBody>
      </p:sp>
      <p:sp>
        <p:nvSpPr>
          <p:cNvPr id="14" name="TextBox 13"/>
          <p:cNvSpPr txBox="1"/>
          <p:nvPr/>
        </p:nvSpPr>
        <p:spPr>
          <a:xfrm>
            <a:off x="731520" y="4069588"/>
            <a:ext cx="10728655" cy="722376"/>
          </a:xfrm>
          <a:prstGeom prst="rect">
            <a:avLst/>
          </a:prstGeom>
          <a:noFill/>
        </p:spPr>
        <p:txBody>
          <a:bodyPr wrap="square">
            <a:spAutoFit/>
          </a:bodyPr>
          <a:lstStyle/>
          <a:p>
            <a:pPr algn="l">
              <a:defRPr sz="1800" b="0" i="1">
                <a:solidFill>
                  <a:srgbClr val="647489"/>
                </a:solidFill>
                <a:latin typeface="Liberation Sans"/>
              </a:defRPr>
            </a:pPr>
            <a:r>
              <a:t>The value of the world model is leverage: one internal representation fans out to multiple reliability workflows.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4"/>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animEffect transition="in" filter="fade">
                                      <p:cBhvr>
                                        <p:cTn id="45" dur="500"/>
                                        <p:tgtEl>
                                          <p:spTgt spid="4"/>
                                        </p:tgtEl>
                                      </p:cBhvr>
                                    </p:animEffect>
                                    <p:set>
                                      <p:cBhvr>
                                        <p:cTn id="46" dur="1" fill="hold">
                                          <p:stCondLst>
                                            <p:cond delay="0"/>
                                          </p:stCondLst>
                                        </p:cTn>
                                        <p:tgtEl>
                                          <p:spTgt spid="4"/>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1"/>
                                        </p:tgtEl>
                                      </p:cBhvr>
                                    </p:animEffect>
                                    <p:set>
                                      <p:cBhvr>
                                        <p:cTn id="49" dur="1" fill="hold">
                                          <p:stCondLst>
                                            <p:cond delay="0"/>
                                          </p:stCondLst>
                                        </p:cTn>
                                        <p:tgtEl>
                                          <p:spTgt spid="11"/>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2"/>
                                        </p:tgtEl>
                                      </p:cBhvr>
                                    </p:animEffect>
                                    <p:set>
                                      <p:cBhvr>
                                        <p:cTn id="55" dur="1" fill="hold">
                                          <p:stCondLst>
                                            <p:cond delay="0"/>
                                          </p:stCondLst>
                                        </p:cTn>
                                        <p:tgtEl>
                                          <p:spTgt spid="12"/>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3"/>
                                        </p:tgtEl>
                                      </p:cBhvr>
                                    </p:animEffect>
                                    <p:set>
                                      <p:cBhvr>
                                        <p:cTn id="61" dur="1" fill="hold">
                                          <p:stCondLst>
                                            <p:cond delay="0"/>
                                          </p:stCondLst>
                                        </p:cTn>
                                        <p:tgtEl>
                                          <p:spTgt spid="1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223043"/>
                </a:solidFill>
                <a:latin typeface="Liberation Sans"/>
              </a:defRPr>
            </a:pPr>
            <a:r>
              <a:t>My Research Philosophy</a:t>
            </a:r>
          </a:p>
        </p:txBody>
      </p:sp>
      <p:sp>
        <p:nvSpPr>
          <p:cNvPr id="3" name="Rectangle 2"/>
          <p:cNvSpPr/>
          <p:nvPr/>
        </p:nvSpPr>
        <p:spPr>
          <a:xfrm>
            <a:off x="731520" y="1143000"/>
            <a:ext cx="1097280" cy="36576"/>
          </a:xfrm>
          <a:prstGeom prst="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0728655" cy="377444"/>
          </a:xfrm>
          <a:prstGeom prst="roundRect">
            <a:avLst/>
          </a:prstGeom>
          <a:solidFill>
            <a:srgbClr val="5C82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Three research capabilities</a:t>
            </a:r>
          </a:p>
        </p:txBody>
      </p:sp>
      <p:sp>
        <p:nvSpPr>
          <p:cNvPr id="5" name="Rectangle 4"/>
          <p:cNvSpPr/>
          <p:nvPr/>
        </p:nvSpPr>
        <p:spPr>
          <a:xfrm>
            <a:off x="731520" y="2023364"/>
            <a:ext cx="54864" cy="1569212"/>
          </a:xfrm>
          <a:prstGeom prst="rect">
            <a:avLst/>
          </a:prstGeom>
          <a:solidFill>
            <a:srgbClr val="8FAAC8"/>
          </a:solidFill>
          <a:ln w="12700">
            <a:solidFill>
              <a:srgbClr val="8FAA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2023364"/>
            <a:ext cx="3262274" cy="425196"/>
          </a:xfrm>
          <a:prstGeom prst="rect">
            <a:avLst/>
          </a:prstGeom>
          <a:noFill/>
        </p:spPr>
        <p:txBody>
          <a:bodyPr wrap="square">
            <a:spAutoFit/>
          </a:bodyPr>
          <a:lstStyle/>
          <a:p>
            <a:pPr algn="l">
              <a:defRPr sz="1800" b="1" i="0">
                <a:solidFill>
                  <a:srgbClr val="8FAAC8"/>
                </a:solidFill>
                <a:latin typeface="Liberation Sans"/>
              </a:defRPr>
            </a:pPr>
            <a:r>
              <a:t>Simulate</a:t>
            </a:r>
          </a:p>
        </p:txBody>
      </p:sp>
      <p:sp>
        <p:nvSpPr>
          <p:cNvPr id="7" name="TextBox 6"/>
          <p:cNvSpPr txBox="1"/>
          <p:nvPr/>
        </p:nvSpPr>
        <p:spPr>
          <a:xfrm>
            <a:off x="923544" y="2540000"/>
            <a:ext cx="3262274" cy="1052576"/>
          </a:xfrm>
          <a:prstGeom prst="rect">
            <a:avLst/>
          </a:prstGeom>
          <a:noFill/>
        </p:spPr>
        <p:txBody>
          <a:bodyPr wrap="square">
            <a:spAutoFit/>
          </a:bodyPr>
          <a:lstStyle/>
          <a:p>
            <a:pPr algn="l">
              <a:defRPr sz="1400" b="0" i="0">
                <a:solidFill>
                  <a:srgbClr val="223043"/>
                </a:solidFill>
                <a:latin typeface="Liberation Sans"/>
              </a:defRPr>
            </a:pPr>
            <a:r>
              <a:t>Create controllable failures so the agent can learn from interventions and propagation, not only historical anecdotes.</a:t>
            </a:r>
          </a:p>
        </p:txBody>
      </p:sp>
      <p:sp>
        <p:nvSpPr>
          <p:cNvPr id="8" name="Rectangle 7"/>
          <p:cNvSpPr/>
          <p:nvPr/>
        </p:nvSpPr>
        <p:spPr>
          <a:xfrm>
            <a:off x="4368698" y="2023364"/>
            <a:ext cx="54864" cy="1569212"/>
          </a:xfrm>
          <a:prstGeom prst="rect">
            <a:avLst/>
          </a:prstGeom>
          <a:solidFill>
            <a:srgbClr val="D69A68"/>
          </a:solidFill>
          <a:ln w="12700">
            <a:solidFill>
              <a:srgbClr val="D69A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0722" y="2023364"/>
            <a:ext cx="3262274" cy="425196"/>
          </a:xfrm>
          <a:prstGeom prst="rect">
            <a:avLst/>
          </a:prstGeom>
          <a:noFill/>
        </p:spPr>
        <p:txBody>
          <a:bodyPr wrap="square">
            <a:spAutoFit/>
          </a:bodyPr>
          <a:lstStyle/>
          <a:p>
            <a:pPr algn="l">
              <a:defRPr sz="1800" b="1" i="0">
                <a:solidFill>
                  <a:srgbClr val="D69A68"/>
                </a:solidFill>
                <a:latin typeface="Liberation Sans"/>
              </a:defRPr>
            </a:pPr>
            <a:r>
              <a:t>Compress</a:t>
            </a:r>
          </a:p>
        </p:txBody>
      </p:sp>
      <p:sp>
        <p:nvSpPr>
          <p:cNvPr id="10" name="TextBox 9"/>
          <p:cNvSpPr txBox="1"/>
          <p:nvPr/>
        </p:nvSpPr>
        <p:spPr>
          <a:xfrm>
            <a:off x="4560722" y="2540000"/>
            <a:ext cx="3262274" cy="821436"/>
          </a:xfrm>
          <a:prstGeom prst="rect">
            <a:avLst/>
          </a:prstGeom>
          <a:noFill/>
        </p:spPr>
        <p:txBody>
          <a:bodyPr wrap="square">
            <a:spAutoFit/>
          </a:bodyPr>
          <a:lstStyle/>
          <a:p>
            <a:pPr algn="l">
              <a:defRPr sz="1400" b="0" i="0">
                <a:solidFill>
                  <a:srgbClr val="223043"/>
                </a:solidFill>
                <a:latin typeface="Liberation Sans"/>
              </a:defRPr>
            </a:pPr>
            <a:r>
              <a:t>Turn many incident traces into a compact world model that remains inspectable and reusable.</a:t>
            </a:r>
          </a:p>
        </p:txBody>
      </p:sp>
      <p:sp>
        <p:nvSpPr>
          <p:cNvPr id="11" name="Rectangle 10"/>
          <p:cNvSpPr/>
          <p:nvPr/>
        </p:nvSpPr>
        <p:spPr>
          <a:xfrm>
            <a:off x="8005876" y="2023364"/>
            <a:ext cx="54864" cy="1569212"/>
          </a:xfrm>
          <a:prstGeom prst="rect">
            <a:avLst/>
          </a:prstGeom>
          <a:solidFill>
            <a:srgbClr val="7FA195"/>
          </a:solidFill>
          <a:ln w="12700">
            <a:solidFill>
              <a:srgbClr val="7FA1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7900" y="2023364"/>
            <a:ext cx="3262274" cy="425196"/>
          </a:xfrm>
          <a:prstGeom prst="rect">
            <a:avLst/>
          </a:prstGeom>
          <a:noFill/>
        </p:spPr>
        <p:txBody>
          <a:bodyPr wrap="square">
            <a:spAutoFit/>
          </a:bodyPr>
          <a:lstStyle/>
          <a:p>
            <a:pPr algn="l">
              <a:defRPr sz="1800" b="1" i="0">
                <a:solidFill>
                  <a:srgbClr val="7FA195"/>
                </a:solidFill>
                <a:latin typeface="Liberation Sans"/>
              </a:defRPr>
            </a:pPr>
            <a:r>
              <a:t>Generalize</a:t>
            </a:r>
          </a:p>
        </p:txBody>
      </p:sp>
      <p:sp>
        <p:nvSpPr>
          <p:cNvPr id="13" name="TextBox 12"/>
          <p:cNvSpPr txBox="1"/>
          <p:nvPr/>
        </p:nvSpPr>
        <p:spPr>
          <a:xfrm>
            <a:off x="8197900" y="2540000"/>
            <a:ext cx="3262274" cy="821436"/>
          </a:xfrm>
          <a:prstGeom prst="rect">
            <a:avLst/>
          </a:prstGeom>
          <a:noFill/>
        </p:spPr>
        <p:txBody>
          <a:bodyPr wrap="square">
            <a:spAutoFit/>
          </a:bodyPr>
          <a:lstStyle/>
          <a:p>
            <a:pPr algn="l">
              <a:defRPr sz="1400" b="0" i="0">
                <a:solidFill>
                  <a:srgbClr val="223043"/>
                </a:solidFill>
                <a:latin typeface="Liberation Sans"/>
              </a:defRPr>
            </a:pPr>
            <a:r>
              <a:t>Reuse one reasoning core across triage, diagnosis, prediction, and repair support.</a:t>
            </a:r>
          </a:p>
        </p:txBody>
      </p:sp>
      <p:sp>
        <p:nvSpPr>
          <p:cNvPr id="14" name="TextBox 13"/>
          <p:cNvSpPr txBox="1"/>
          <p:nvPr/>
        </p:nvSpPr>
        <p:spPr>
          <a:xfrm>
            <a:off x="731520" y="3866896"/>
            <a:ext cx="10728655" cy="722376"/>
          </a:xfrm>
          <a:prstGeom prst="rect">
            <a:avLst/>
          </a:prstGeom>
          <a:noFill/>
        </p:spPr>
        <p:txBody>
          <a:bodyPr wrap="square">
            <a:spAutoFit/>
          </a:bodyPr>
          <a:lstStyle/>
          <a:p>
            <a:pPr algn="l">
              <a:defRPr sz="1800" b="0" i="1">
                <a:solidFill>
                  <a:srgbClr val="647489"/>
                </a:solidFill>
                <a:latin typeface="Liberation Sans"/>
              </a:defRPr>
            </a:pPr>
            <a:r>
              <a:t>My philosophy is to build diagnostic systems that can simulate reality, compress it into structure, and generalize that structure across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9"/>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0"/>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5"/>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1"/>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6"/>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2"/>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7"/>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0"/>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3"/>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4"/>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4"/>
                                        </p:tgtEl>
                                      </p:cBhvr>
                                    </p:animEffect>
                                    <p:set>
                                      <p:cBhvr>
                                        <p:cTn id="47" dur="1" fill="hold">
                                          <p:stCondLst>
                                            <p:cond delay="0"/>
                                          </p:stCondLst>
                                        </p:cTn>
                                        <p:tgtEl>
                                          <p:spTgt spid="4"/>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5"/>
                                        </p:tgtEl>
                                      </p:cBhvr>
                                    </p:animEffect>
                                    <p:set>
                                      <p:cBhvr>
                                        <p:cTn id="61" dur="1" fill="hold">
                                          <p:stCondLst>
                                            <p:cond delay="0"/>
                                          </p:stCondLst>
                                        </p:cTn>
                                        <p:tgtEl>
                                          <p:spTgt spid="5"/>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8"/>
                                        </p:tgtEl>
                                      </p:cBhvr>
                                    </p:animEffect>
                                    <p:set>
                                      <p:cBhvr>
                                        <p:cTn id="64" dur="1" fill="hold">
                                          <p:stCondLst>
                                            <p:cond delay="0"/>
                                          </p:stCondLst>
                                        </p:cTn>
                                        <p:tgtEl>
                                          <p:spTgt spid="8"/>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6"/>
                                        </p:tgtEl>
                                      </p:cBhvr>
                                    </p:animEffect>
                                    <p:set>
                                      <p:cBhvr>
                                        <p:cTn id="67" dur="1" fill="hold">
                                          <p:stCondLst>
                                            <p:cond delay="0"/>
                                          </p:stCondLst>
                                        </p:cTn>
                                        <p:tgtEl>
                                          <p:spTgt spid="6"/>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9"/>
                                        </p:tgtEl>
                                      </p:cBhvr>
                                    </p:animEffect>
                                    <p:set>
                                      <p:cBhvr>
                                        <p:cTn id="70" dur="1" fill="hold">
                                          <p:stCondLst>
                                            <p:cond delay="0"/>
                                          </p:stCondLst>
                                        </p:cTn>
                                        <p:tgtEl>
                                          <p:spTgt spid="9"/>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7"/>
                                        </p:tgtEl>
                                      </p:cBhvr>
                                    </p:animEffect>
                                    <p:set>
                                      <p:cBhvr>
                                        <p:cTn id="73" dur="1" fill="hold">
                                          <p:stCondLst>
                                            <p:cond delay="0"/>
                                          </p:stCondLst>
                                        </p:cTn>
                                        <p:tgtEl>
                                          <p:spTgt spid="7"/>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0"/>
                                        </p:tgtEl>
                                      </p:cBhvr>
                                    </p:animEffect>
                                    <p:set>
                                      <p:cBhvr>
                                        <p:cTn id="76" dur="1" fill="hold">
                                          <p:stCondLst>
                                            <p:cond delay="0"/>
                                          </p:stCondLst>
                                        </p:cTn>
                                        <p:tgtEl>
                                          <p:spTgt spid="10"/>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5"/>
                                        </p:tgtEl>
                                      </p:cBhvr>
                                    </p:animEffect>
                                    <p:set>
                                      <p:cBhvr>
                                        <p:cTn id="79" dur="1" fill="hold">
                                          <p:stCondLst>
                                            <p:cond delay="0"/>
                                          </p:stCondLst>
                                        </p:cTn>
                                        <p:tgtEl>
                                          <p:spTgt spid="5"/>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8"/>
                                        </p:tgtEl>
                                      </p:cBhvr>
                                    </p:animEffect>
                                    <p:set>
                                      <p:cBhvr>
                                        <p:cTn id="82" dur="1" fill="hold">
                                          <p:stCondLst>
                                            <p:cond delay="0"/>
                                          </p:stCondLst>
                                        </p:cTn>
                                        <p:tgtEl>
                                          <p:spTgt spid="8"/>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1"/>
                                        </p:tgtEl>
                                      </p:cBhvr>
                                    </p:animEffect>
                                    <p:set>
                                      <p:cBhvr>
                                        <p:cTn id="85" dur="1" fill="hold">
                                          <p:stCondLst>
                                            <p:cond delay="0"/>
                                          </p:stCondLst>
                                        </p:cTn>
                                        <p:tgtEl>
                                          <p:spTgt spid="11"/>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6"/>
                                        </p:tgtEl>
                                      </p:cBhvr>
                                    </p:animEffect>
                                    <p:set>
                                      <p:cBhvr>
                                        <p:cTn id="88" dur="1" fill="hold">
                                          <p:stCondLst>
                                            <p:cond delay="0"/>
                                          </p:stCondLst>
                                        </p:cTn>
                                        <p:tgtEl>
                                          <p:spTgt spid="6"/>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9"/>
                                        </p:tgtEl>
                                      </p:cBhvr>
                                    </p:animEffect>
                                    <p:set>
                                      <p:cBhvr>
                                        <p:cTn id="91" dur="1" fill="hold">
                                          <p:stCondLst>
                                            <p:cond delay="0"/>
                                          </p:stCondLst>
                                        </p:cTn>
                                        <p:tgtEl>
                                          <p:spTgt spid="9"/>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12"/>
                                        </p:tgtEl>
                                      </p:cBhvr>
                                    </p:animEffect>
                                    <p:set>
                                      <p:cBhvr>
                                        <p:cTn id="94" dur="1" fill="hold">
                                          <p:stCondLst>
                                            <p:cond delay="0"/>
                                          </p:stCondLst>
                                        </p:cTn>
                                        <p:tgtEl>
                                          <p:spTgt spid="12"/>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7"/>
                                        </p:tgtEl>
                                      </p:cBhvr>
                                    </p:animEffect>
                                    <p:set>
                                      <p:cBhvr>
                                        <p:cTn id="97" dur="1" fill="hold">
                                          <p:stCondLst>
                                            <p:cond delay="0"/>
                                          </p:stCondLst>
                                        </p:cTn>
                                        <p:tgtEl>
                                          <p:spTgt spid="7"/>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10"/>
                                        </p:tgtEl>
                                      </p:cBhvr>
                                    </p:animEffect>
                                    <p:set>
                                      <p:cBhvr>
                                        <p:cTn id="100" dur="1" fill="hold">
                                          <p:stCondLst>
                                            <p:cond delay="0"/>
                                          </p:stCondLst>
                                        </p:cTn>
                                        <p:tgtEl>
                                          <p:spTgt spid="10"/>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13"/>
                                        </p:tgtEl>
                                      </p:cBhvr>
                                    </p:animEffect>
                                    <p:set>
                                      <p:cBhvr>
                                        <p:cTn id="103" dur="1" fill="hold">
                                          <p:stCondLst>
                                            <p:cond delay="0"/>
                                          </p:stCondLst>
                                        </p:cTn>
                                        <p:tgtEl>
                                          <p:spTgt spid="13"/>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animEffect transition="in" filter="fade">
                                      <p:cBhvr>
                                        <p:cTn id="107" dur="500"/>
                                        <p:tgtEl>
                                          <p:spTgt spid="14"/>
                                        </p:tgtEl>
                                      </p:cBhvr>
                                    </p:animEffect>
                                    <p:set>
                                      <p:cBhvr>
                                        <p:cTn id="10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AF0F7"/>
        </a:solidFill>
        <a:effectLst/>
      </p:bgPr>
    </p:bg>
    <p:spTree>
      <p:nvGrpSpPr>
        <p:cNvPr id="1" name=""/>
        <p:cNvGrpSpPr/>
        <p:nvPr/>
      </p:nvGrpSpPr>
      <p:grpSpPr/>
      <p:sp>
        <p:nvSpPr>
          <p:cNvPr id="2" name="TextBox 1"/>
          <p:cNvSpPr txBox="1"/>
          <p:nvPr/>
        </p:nvSpPr>
        <p:spPr>
          <a:xfrm>
            <a:off x="731520" y="1371600"/>
            <a:ext cx="10728655" cy="623316"/>
          </a:xfrm>
          <a:prstGeom prst="rect">
            <a:avLst/>
          </a:prstGeom>
          <a:noFill/>
        </p:spPr>
        <p:txBody>
          <a:bodyPr wrap="square">
            <a:spAutoFit/>
          </a:bodyPr>
          <a:lstStyle/>
          <a:p>
            <a:pPr algn="l">
              <a:defRPr sz="3000" b="1" i="0">
                <a:solidFill>
                  <a:srgbClr val="5C82AD"/>
                </a:solidFill>
                <a:latin typeface="Liberation Sans"/>
              </a:defRPr>
            </a:pPr>
            <a:r>
              <a:t>Three Takeaways</a:t>
            </a:r>
          </a:p>
        </p:txBody>
      </p:sp>
      <p:sp>
        <p:nvSpPr>
          <p:cNvPr id="3" name="TextBox 2"/>
          <p:cNvSpPr txBox="1"/>
          <p:nvPr/>
        </p:nvSpPr>
        <p:spPr>
          <a:xfrm>
            <a:off x="731520" y="2104644"/>
            <a:ext cx="10728655" cy="722376"/>
          </a:xfrm>
          <a:prstGeom prst="rect">
            <a:avLst/>
          </a:prstGeom>
          <a:noFill/>
        </p:spPr>
        <p:txBody>
          <a:bodyPr wrap="square">
            <a:spAutoFit/>
          </a:bodyPr>
          <a:lstStyle/>
          <a:p>
            <a:pPr algn="l">
              <a:defRPr sz="1800" b="0" i="0">
                <a:solidFill>
                  <a:srgbClr val="647489"/>
                </a:solidFill>
                <a:latin typeface="Liberation Sans"/>
              </a:defRPr>
            </a:pPr>
            <a:r>
              <a:t>What matters is not only finding the right answer, but building a reasoning system we can trust and reuse.</a:t>
            </a:r>
          </a:p>
        </p:txBody>
      </p:sp>
      <p:sp>
        <p:nvSpPr>
          <p:cNvPr id="4" name="TextBox 3"/>
          <p:cNvSpPr txBox="1"/>
          <p:nvPr/>
        </p:nvSpPr>
        <p:spPr>
          <a:xfrm>
            <a:off x="731520" y="3211068"/>
            <a:ext cx="3154680" cy="623316"/>
          </a:xfrm>
          <a:prstGeom prst="rect">
            <a:avLst/>
          </a:prstGeom>
          <a:noFill/>
        </p:spPr>
        <p:txBody>
          <a:bodyPr wrap="square">
            <a:spAutoFit/>
          </a:bodyPr>
          <a:lstStyle/>
          <a:p>
            <a:pPr algn="l">
              <a:defRPr sz="3000" b="1" i="0">
                <a:solidFill>
                  <a:srgbClr val="D69A68"/>
                </a:solidFill>
                <a:latin typeface="Liberation Sans"/>
              </a:defRPr>
            </a:pPr>
            <a:r>
              <a:t>1</a:t>
            </a:r>
          </a:p>
        </p:txBody>
      </p:sp>
      <p:sp>
        <p:nvSpPr>
          <p:cNvPr id="5" name="TextBox 4"/>
          <p:cNvSpPr txBox="1"/>
          <p:nvPr/>
        </p:nvSpPr>
        <p:spPr>
          <a:xfrm>
            <a:off x="731520" y="3907536"/>
            <a:ext cx="3154680" cy="722376"/>
          </a:xfrm>
          <a:prstGeom prst="rect">
            <a:avLst/>
          </a:prstGeom>
          <a:noFill/>
        </p:spPr>
        <p:txBody>
          <a:bodyPr wrap="square">
            <a:spAutoFit/>
          </a:bodyPr>
          <a:lstStyle/>
          <a:p>
            <a:pPr algn="l">
              <a:defRPr sz="1800" b="1" i="0">
                <a:solidFill>
                  <a:srgbClr val="223043"/>
                </a:solidFill>
                <a:latin typeface="Liberation Sans"/>
              </a:defRPr>
            </a:pPr>
            <a:r>
              <a:t>Score the path, not just the answer.</a:t>
            </a:r>
          </a:p>
        </p:txBody>
      </p:sp>
      <p:sp>
        <p:nvSpPr>
          <p:cNvPr id="6" name="TextBox 5"/>
          <p:cNvSpPr txBox="1"/>
          <p:nvPr/>
        </p:nvSpPr>
        <p:spPr>
          <a:xfrm>
            <a:off x="4297680" y="3211068"/>
            <a:ext cx="3154680" cy="623316"/>
          </a:xfrm>
          <a:prstGeom prst="rect">
            <a:avLst/>
          </a:prstGeom>
          <a:noFill/>
        </p:spPr>
        <p:txBody>
          <a:bodyPr wrap="square">
            <a:spAutoFit/>
          </a:bodyPr>
          <a:lstStyle/>
          <a:p>
            <a:pPr algn="l">
              <a:defRPr sz="3000" b="1" i="0">
                <a:solidFill>
                  <a:srgbClr val="8FAAC8"/>
                </a:solidFill>
                <a:latin typeface="Liberation Sans"/>
              </a:defRPr>
            </a:pPr>
            <a:r>
              <a:t>2</a:t>
            </a:r>
          </a:p>
        </p:txBody>
      </p:sp>
      <p:sp>
        <p:nvSpPr>
          <p:cNvPr id="7" name="TextBox 6"/>
          <p:cNvSpPr txBox="1"/>
          <p:nvPr/>
        </p:nvSpPr>
        <p:spPr>
          <a:xfrm>
            <a:off x="4297680" y="3907536"/>
            <a:ext cx="3154680" cy="722376"/>
          </a:xfrm>
          <a:prstGeom prst="rect">
            <a:avLst/>
          </a:prstGeom>
          <a:noFill/>
        </p:spPr>
        <p:txBody>
          <a:bodyPr wrap="square">
            <a:spAutoFit/>
          </a:bodyPr>
          <a:lstStyle/>
          <a:p>
            <a:pPr algn="l">
              <a:defRPr sz="1800" b="1" i="0">
                <a:solidFill>
                  <a:srgbClr val="223043"/>
                </a:solidFill>
                <a:latin typeface="Liberation Sans"/>
              </a:defRPr>
            </a:pPr>
            <a:r>
              <a:t>Train on verification loops, not only labels.</a:t>
            </a:r>
          </a:p>
        </p:txBody>
      </p:sp>
      <p:sp>
        <p:nvSpPr>
          <p:cNvPr id="8" name="TextBox 7"/>
          <p:cNvSpPr txBox="1"/>
          <p:nvPr/>
        </p:nvSpPr>
        <p:spPr>
          <a:xfrm>
            <a:off x="7863840" y="3211068"/>
            <a:ext cx="3154680" cy="623316"/>
          </a:xfrm>
          <a:prstGeom prst="rect">
            <a:avLst/>
          </a:prstGeom>
          <a:noFill/>
        </p:spPr>
        <p:txBody>
          <a:bodyPr wrap="square">
            <a:spAutoFit/>
          </a:bodyPr>
          <a:lstStyle/>
          <a:p>
            <a:pPr algn="l">
              <a:defRPr sz="3000" b="1" i="0">
                <a:solidFill>
                  <a:srgbClr val="7FA195"/>
                </a:solidFill>
                <a:latin typeface="Liberation Sans"/>
              </a:defRPr>
            </a:pPr>
            <a:r>
              <a:t>3</a:t>
            </a:r>
          </a:p>
        </p:txBody>
      </p:sp>
      <p:sp>
        <p:nvSpPr>
          <p:cNvPr id="9" name="TextBox 8"/>
          <p:cNvSpPr txBox="1"/>
          <p:nvPr/>
        </p:nvSpPr>
        <p:spPr>
          <a:xfrm>
            <a:off x="7863840" y="3907536"/>
            <a:ext cx="3154680" cy="722376"/>
          </a:xfrm>
          <a:prstGeom prst="rect">
            <a:avLst/>
          </a:prstGeom>
          <a:noFill/>
        </p:spPr>
        <p:txBody>
          <a:bodyPr wrap="square">
            <a:spAutoFit/>
          </a:bodyPr>
          <a:lstStyle/>
          <a:p>
            <a:pPr algn="l">
              <a:defRPr sz="1800" b="1" i="0">
                <a:solidFill>
                  <a:srgbClr val="223043"/>
                </a:solidFill>
                <a:latin typeface="Liberation Sans"/>
              </a:defRPr>
            </a:pPr>
            <a:r>
              <a:t>Build the model once, then reuse it broadly.</a:t>
            </a:r>
          </a:p>
        </p:txBody>
      </p:sp>
      <p:sp>
        <p:nvSpPr>
          <p:cNvPr id="10" name="TextBox 9"/>
          <p:cNvSpPr txBox="1"/>
          <p:nvPr/>
        </p:nvSpPr>
        <p:spPr>
          <a:xfrm>
            <a:off x="731520" y="5013960"/>
            <a:ext cx="10728655" cy="491236"/>
          </a:xfrm>
          <a:prstGeom prst="rect">
            <a:avLst/>
          </a:prstGeom>
          <a:noFill/>
        </p:spPr>
        <p:txBody>
          <a:bodyPr wrap="square">
            <a:spAutoFit/>
          </a:bodyPr>
          <a:lstStyle/>
          <a:p>
            <a:pPr algn="ctr">
              <a:defRPr sz="2200" b="1" i="0">
                <a:solidFill>
                  <a:srgbClr val="5C82AD"/>
                </a:solidFill>
                <a:latin typeface="Liberation Sans"/>
              </a:defRPr>
            </a:pPr>
            <a:r>
              <a:t>Build the model once. Reuse it across diagnosis, prediction, and repair.</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2"/>
                                        </p:tgtEl>
                                      </p:cBhvr>
                                    </p:animEffect>
                                    <p:set>
                                      <p:cBhvr>
                                        <p:cTn id="23" dur="1" fill="hold">
                                          <p:stCondLst>
                                            <p:cond delay="0"/>
                                          </p:stCondLst>
                                        </p:cTn>
                                        <p:tgtEl>
                                          <p:spTgt spid="2"/>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3"/>
                                        </p:tgtEl>
                                      </p:cBhvr>
                                    </p:animEffec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4"/>
                                        </p:tgtEl>
                                      </p:cBhvr>
                                    </p:animEffect>
                                    <p:set>
                                      <p:cBhvr>
                                        <p:cTn id="31" dur="1" fill="hold">
                                          <p:stCondLst>
                                            <p:cond delay="0"/>
                                          </p:stCondLst>
                                        </p:cTn>
                                        <p:tgtEl>
                                          <p:spTgt spid="4"/>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5"/>
                                        </p:tgtEl>
                                      </p:cBhvr>
                                    </p:animEffect>
                                    <p:set>
                                      <p:cBhvr>
                                        <p:cTn id="34" dur="1" fill="hold">
                                          <p:stCondLst>
                                            <p:cond delay="0"/>
                                          </p:stCondLst>
                                        </p:cTn>
                                        <p:tgtEl>
                                          <p:spTgt spid="5"/>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6"/>
                                        </p:tgtEl>
                                      </p:cBhvr>
                                    </p:animEffect>
                                    <p:set>
                                      <p:cBhvr>
                                        <p:cTn id="37" dur="1" fill="hold">
                                          <p:stCondLst>
                                            <p:cond delay="0"/>
                                          </p:stCondLst>
                                        </p:cTn>
                                        <p:tgtEl>
                                          <p:spTgt spid="6"/>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7"/>
                                        </p:tgtEl>
                                      </p:cBhvr>
                                    </p:animEffect>
                                    <p:set>
                                      <p:cBhvr>
                                        <p:cTn id="40" dur="1" fill="hold">
                                          <p:stCondLst>
                                            <p:cond delay="0"/>
                                          </p:stCondLst>
                                        </p:cTn>
                                        <p:tgtEl>
                                          <p:spTgt spid="7"/>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8"/>
                                        </p:tgtEl>
                                      </p:cBhvr>
                                    </p:animEffect>
                                    <p:set>
                                      <p:cBhvr>
                                        <p:cTn id="43" dur="1" fill="hold">
                                          <p:stCondLst>
                                            <p:cond delay="0"/>
                                          </p:stCondLst>
                                        </p:cTn>
                                        <p:tgtEl>
                                          <p:spTgt spid="8"/>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9"/>
                                        </p:tgtEl>
                                      </p:cBhvr>
                                    </p:animEffec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10"/>
                                        </p:tgtEl>
                                      </p:cBhvr>
                                    </p:animEffect>
                                    <p:set>
                                      <p:cBhvr>
                                        <p:cTn id="5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