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604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ctr">
              <a:lnSpc>
                <a:spcPct val="125000"/>
              </a:lnSpc>
              <a:defRPr sz="3000" b="1" i="0">
                <a:solidFill>
                  <a:srgbClr val="2E5A88"/>
                </a:solidFill>
                <a:latin typeface="FangSong"/>
              </a:defRPr>
            </a:pPr>
            <a:r>
              <a:t>减少沟通摩擦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31898"/>
            <a:ext cx="10728655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ctr">
              <a:lnSpc>
                <a:spcPct val="125000"/>
              </a:lnSpc>
              <a:defRPr sz="1800" b="0" i="0">
                <a:solidFill>
                  <a:srgbClr val="7B8FA3"/>
                </a:solidFill>
                <a:latin typeface="FangSong"/>
              </a:defRPr>
            </a:pPr>
            <a:r>
              <a:t>信息的三层结构与研究元能力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这些场景是否似曾相识？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434840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0" i="0">
                <a:solidFill>
                  <a:srgbClr val="2C3E50"/>
                </a:solidFill>
                <a:latin typeface="FangSong"/>
              </a:defRPr>
            </a:pPr>
            <a:r>
              <a:t>论文读起来逻辑清晰，但实际过程完全不同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3966"/>
            <a:ext cx="4434840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0" i="0">
                <a:solidFill>
                  <a:srgbClr val="2C3E50"/>
                </a:solidFill>
                <a:latin typeface="FangSong"/>
              </a:defRPr>
            </a:pPr>
            <a:r>
              <a:t>初学者与高年级对话总是费劲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6332"/>
            <a:ext cx="4434840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0" i="0">
                <a:solidFill>
                  <a:srgbClr val="2C3E50"/>
                </a:solidFill>
                <a:latin typeface="FangSong"/>
              </a:defRPr>
            </a:pPr>
            <a:r>
              <a:t>提问只说"不work"，得不到有效回复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8698"/>
            <a:ext cx="4434840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0" i="0">
                <a:solidFill>
                  <a:srgbClr val="2C3E50"/>
                </a:solidFill>
                <a:latin typeface="FangSong"/>
              </a:defRPr>
            </a:pPr>
            <a:r>
              <a:t>组会讲了20分钟细节，听众不知道重点</a:t>
            </a:r>
          </a:p>
        </p:txBody>
      </p:sp>
      <p:pic>
        <p:nvPicPr>
          <p:cNvPr id="8" name="Picture 7" descr="tmpxz_tzq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59" y="1371600"/>
            <a:ext cx="164592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986783"/>
            <a:ext cx="10728655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E8805C"/>
                </a:solidFill>
                <a:latin typeface="FangSong"/>
              </a:defRPr>
            </a:pPr>
            <a:r>
              <a:t>共同根源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73701"/>
            <a:ext cx="10728655" cy="572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不是能力问题，不是态度问题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而是信息没有匹配接收方的 context 容量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set>
                          <p:cBhvr>
                            <p:cTn id="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模型：信息的三层结构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tt_hx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834640"/>
            <a:ext cx="2047240" cy="445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2000" b="1" i="0">
                <a:solidFill>
                  <a:srgbClr val="6BC4A6"/>
                </a:solidFill>
                <a:latin typeface="FangSong"/>
              </a:defRPr>
            </a:pPr>
            <a:r>
              <a:t>探索层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71596"/>
            <a:ext cx="2047240" cy="572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7B8FA3"/>
                </a:solidFill>
                <a:latin typeface="FangSong"/>
              </a:defRPr>
            </a:pPr>
            <a:r>
              <a:t>Notebook / 个人笔记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7B8FA3"/>
                </a:solidFill>
                <a:latin typeface="FangSong"/>
              </a:defRPr>
            </a:pPr>
            <a:r>
              <a:t>完整的实验过程与推理链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78760" y="3931920"/>
            <a:ext cx="219456" cy="0"/>
          </a:xfrm>
          <a:prstGeom prst="line">
            <a:avLst/>
          </a:prstGeom>
          <a:ln w="19050">
            <a:solidFill>
              <a:srgbClr val="E2E8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mpkus5loq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216" y="137160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98216" y="2834640"/>
            <a:ext cx="1844040" cy="445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2000" b="1" i="0">
                <a:solidFill>
                  <a:srgbClr val="3D8B8B"/>
                </a:solidFill>
                <a:latin typeface="FangSong"/>
              </a:defRPr>
            </a:pPr>
            <a:r>
              <a:t>协作层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8216" y="3371596"/>
            <a:ext cx="1844040" cy="572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7B8FA3"/>
                </a:solidFill>
                <a:latin typeface="FangSong"/>
              </a:defRPr>
            </a:pPr>
            <a:r>
              <a:t>组会讨论 / 合作者消息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7B8FA3"/>
                </a:solidFill>
                <a:latin typeface="FangSong"/>
              </a:defRPr>
            </a:pPr>
            <a:r>
              <a:t>支撑决策的关键信息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2256" y="3931920"/>
            <a:ext cx="219456" cy="0"/>
          </a:xfrm>
          <a:prstGeom prst="line">
            <a:avLst/>
          </a:prstGeom>
          <a:ln w="19050">
            <a:solidFill>
              <a:srgbClr val="E2E8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tmp8b_7x90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712" y="137160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61712" y="2834640"/>
            <a:ext cx="2110740" cy="445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2000" b="1" i="0">
                <a:solidFill>
                  <a:srgbClr val="2E5A88"/>
                </a:solidFill>
                <a:latin typeface="FangSong"/>
              </a:defRPr>
            </a:pPr>
            <a:r>
              <a:t>呈现层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1712" y="3371596"/>
            <a:ext cx="2110740" cy="572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7B8FA3"/>
                </a:solidFill>
                <a:latin typeface="FangSong"/>
              </a:defRPr>
            </a:pPr>
            <a:r>
              <a:t>论文 / Slides / Poster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7B8FA3"/>
                </a:solidFill>
                <a:latin typeface="FangSong"/>
              </a:defRPr>
            </a:pPr>
            <a:r>
              <a:t>面向外部读者的narrative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set>
                          <p:cBhvr>
                            <p:cTn id="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set>
                          <p:cBhvr>
                            <p:cTn id="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set>
                          <p:cBhvr>
                            <p:cTn id="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每层的特征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102412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FangSong"/>
                        </a:defRPr>
                      </a:pP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FangSong"/>
                        </a:defRPr>
                      </a:pPr>
                      <a:r>
                        <a:t>呈现层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FangSong"/>
                        </a:defRPr>
                      </a:pPr>
                      <a:r>
                        <a:t>协作层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FangSong"/>
                        </a:defRPr>
                      </a:pPr>
                      <a:r>
                        <a:t>探索层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受众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审稿人、读者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合作者、导师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自己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注意力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高（但会遗忘）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信息密度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极高压缩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聚焦决策点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保留推理链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载体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论文、slides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讨论记录、邮件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notebook、笔记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例子：基于LLM的自动程序修复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64592" cy="164592"/>
          </a:xfrm>
          <a:prstGeom prst="roundRect">
            <a:avLst/>
          </a:prstGeom>
          <a:solidFill>
            <a:srgbClr val="6BC4A6"/>
          </a:solidFill>
          <a:ln w="12700">
            <a:solidFill>
              <a:srgbClr val="6BC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371600"/>
            <a:ext cx="624840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1" i="0">
                <a:solidFill>
                  <a:srgbClr val="2C3E50"/>
                </a:solidFill>
                <a:latin typeface="FangSong"/>
              </a:defRPr>
            </a:pPr>
            <a:r>
              <a:t>探索层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59025"/>
            <a:ext cx="995679" cy="299897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尝试3种prompt策略</a:t>
            </a:r>
          </a:p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few-shot示例选择影响大</a:t>
            </a:r>
          </a:p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调tokenizer截断花两天</a:t>
            </a:r>
          </a:p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CoT对复杂bug引入噪声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27200" y="3931920"/>
            <a:ext cx="219455" cy="0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46655" y="1371600"/>
            <a:ext cx="164592" cy="164592"/>
          </a:xfrm>
          <a:prstGeom prst="roundRect">
            <a:avLst/>
          </a:prstGeom>
          <a:solidFill>
            <a:srgbClr val="3D8B8B"/>
          </a:solidFill>
          <a:ln w="12700">
            <a:solidFill>
              <a:srgbClr val="3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84399" y="1371600"/>
            <a:ext cx="624840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1" i="0">
                <a:solidFill>
                  <a:srgbClr val="2C3E50"/>
                </a:solidFill>
                <a:latin typeface="FangSong"/>
              </a:defRPr>
            </a:pPr>
            <a:r>
              <a:t>协作层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6655" y="1859025"/>
            <a:ext cx="906780" cy="233222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few-shot最优，关键在示例选择</a:t>
            </a:r>
          </a:p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CoT对复杂bug帮助有限</a:t>
            </a:r>
          </a:p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下一步：自动选择相关示例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53436" y="3931920"/>
            <a:ext cx="219456" cy="0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72892" y="1371600"/>
            <a:ext cx="164592" cy="164592"/>
          </a:xfrm>
          <a:prstGeom prst="roundRect">
            <a:avLst/>
          </a:prstGeom>
          <a:solidFill>
            <a:srgbClr val="2E5A88"/>
          </a:solidFill>
          <a:ln w="12700"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636" y="1371600"/>
            <a:ext cx="624840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1" i="0">
                <a:solidFill>
                  <a:srgbClr val="2C3E50"/>
                </a:solidFill>
                <a:latin typeface="FangSong"/>
              </a:defRPr>
            </a:pPr>
            <a:r>
              <a:t>呈现层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892" y="1859025"/>
            <a:ext cx="1173480" cy="1443227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提出检索式few-shot APR框架</a:t>
            </a:r>
          </a:p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两个benchmark超过SOTA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set>
                          <p:cBhvr>
                            <p:cTn id="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set>
                          <p:cBhvr>
                            <p:cTn id="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set>
                          <p:cBhvr>
                            <p:cTn id="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摩擦力 = 层级错配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FangSong"/>
                        </a:defRPr>
                      </a:pPr>
                      <a:r>
                        <a:t>现象</a:t>
                      </a:r>
                    </a:p>
                  </a:txBody>
                  <a:tcPr>
                    <a:solidFill>
                      <a:srgbClr val="E880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FangSong"/>
                        </a:defRPr>
                      </a:pPr>
                      <a:r>
                        <a:t>层级错配分析</a:t>
                      </a:r>
                    </a:p>
                  </a:txBody>
                  <a:tcPr>
                    <a:solidFill>
                      <a:srgbClr val="E880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论文 ≠ 真实过程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呈现层是对探索层的极度压缩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初学者对话困难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探索层不扎实 → 协作层无料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提问缺乏context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只给呈现层描述，未暴露协作层信息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组会抓不住重点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FangSong"/>
                        </a:defRPr>
                      </a:pPr>
                      <a:r>
                        <a:t>探索层内容搬到呈现层场合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703320"/>
            <a:ext cx="10728655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E8805C"/>
                </a:solidFill>
                <a:latin typeface="FangSong"/>
              </a:defRPr>
            </a:pPr>
            <a:r>
              <a:t>本质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90237"/>
            <a:ext cx="10728655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信息的层级与接收方的期待不匹配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540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ctr">
              <a:lnSpc>
                <a:spcPct val="125000"/>
              </a:lnSpc>
              <a:defRPr sz="2600" b="1" i="0">
                <a:solidFill>
                  <a:srgbClr val="2E5A88"/>
                </a:solidFill>
                <a:latin typeface="FangSong"/>
              </a:defRPr>
            </a:pPr>
            <a:r>
              <a:t>元能力：在三层之间自由切换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76957"/>
            <a:ext cx="10728655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ctr">
              <a:lnSpc>
                <a:spcPct val="125000"/>
              </a:lnSpc>
              <a:defRPr sz="1800" b="0" i="0">
                <a:solidFill>
                  <a:srgbClr val="7B8FA3"/>
                </a:solidFill>
                <a:latin typeface="FangSong"/>
              </a:defRPr>
            </a:pPr>
            <a:r>
              <a:t>正向构建 × 逆向解构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两个方向的层间切换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34843"/>
            <a:ext cx="8412480" cy="445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2000" b="1" i="0">
                <a:solidFill>
                  <a:srgbClr val="2C3E50"/>
                </a:solidFill>
                <a:latin typeface="FangSong"/>
              </a:defRPr>
            </a:pPr>
            <a:r>
              <a:t>正向构建：从探索到呈现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81527"/>
            <a:ext cx="935736" cy="749808"/>
          </a:xfrm>
          <a:prstGeom prst="roundRect">
            <a:avLst/>
          </a:prstGeom>
          <a:solidFill>
            <a:srgbClr val="6BC4A6"/>
          </a:solidFill>
          <a:ln w="12700">
            <a:solidFill>
              <a:srgbClr val="6BC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defRPr sz="1400" b="1">
                <a:solidFill>
                  <a:srgbClr val="FFFFFF"/>
                </a:solidFill>
                <a:latin typeface="FangSong"/>
              </a:defRPr>
            </a:pPr>
            <a:r>
              <a:t>探索层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67256" y="3456432"/>
            <a:ext cx="274320" cy="0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941576" y="3081527"/>
            <a:ext cx="935736" cy="749808"/>
          </a:xfrm>
          <a:prstGeom prst="roundRect">
            <a:avLst/>
          </a:prstGeom>
          <a:solidFill>
            <a:srgbClr val="3D8B8B"/>
          </a:solidFill>
          <a:ln w="12700">
            <a:solidFill>
              <a:srgbClr val="3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defRPr sz="1400" b="1">
                <a:solidFill>
                  <a:srgbClr val="FFFFFF"/>
                </a:solidFill>
                <a:latin typeface="FangSong"/>
              </a:defRPr>
            </a:pPr>
            <a:r>
              <a:t>协作层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77312" y="3456432"/>
            <a:ext cx="274320" cy="0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51632" y="3081527"/>
            <a:ext cx="935736" cy="749808"/>
          </a:xfrm>
          <a:prstGeom prst="roundRect">
            <a:avLst/>
          </a:prstGeom>
          <a:solidFill>
            <a:srgbClr val="2E5A88"/>
          </a:solidFill>
          <a:ln w="12700"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defRPr sz="1400" b="1">
                <a:solidFill>
                  <a:srgbClr val="FFFFFF"/>
                </a:solidFill>
                <a:latin typeface="FangSong"/>
              </a:defRPr>
            </a:pPr>
            <a:r>
              <a:t>呈现层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32504"/>
            <a:ext cx="8412480" cy="445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2000" b="1" i="0">
                <a:solidFill>
                  <a:srgbClr val="2C3E50"/>
                </a:solidFill>
                <a:latin typeface="FangSong"/>
              </a:defRPr>
            </a:pPr>
            <a:r>
              <a:t>逆向解构：从呈现到探索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79188"/>
            <a:ext cx="935736" cy="749808"/>
          </a:xfrm>
          <a:prstGeom prst="roundRect">
            <a:avLst/>
          </a:prstGeom>
          <a:solidFill>
            <a:srgbClr val="2E5A88"/>
          </a:solidFill>
          <a:ln w="12700"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defRPr sz="1400" b="1">
                <a:solidFill>
                  <a:srgbClr val="FFFFFF"/>
                </a:solidFill>
                <a:latin typeface="FangSong"/>
              </a:defRPr>
            </a:pPr>
            <a:r>
              <a:t>呈现层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67256" y="5054092"/>
            <a:ext cx="274320" cy="0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41576" y="4679188"/>
            <a:ext cx="935736" cy="749808"/>
          </a:xfrm>
          <a:prstGeom prst="roundRect">
            <a:avLst/>
          </a:prstGeom>
          <a:solidFill>
            <a:srgbClr val="3D8B8B"/>
          </a:solidFill>
          <a:ln w="12700">
            <a:solidFill>
              <a:srgbClr val="3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defRPr sz="1400" b="1">
                <a:solidFill>
                  <a:srgbClr val="FFFFFF"/>
                </a:solidFill>
                <a:latin typeface="FangSong"/>
              </a:defRPr>
            </a:pPr>
            <a:r>
              <a:t>协作层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77312" y="5054092"/>
            <a:ext cx="274320" cy="0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151632" y="4679188"/>
            <a:ext cx="935736" cy="749808"/>
          </a:xfrm>
          <a:prstGeom prst="roundRect">
            <a:avLst/>
          </a:prstGeom>
          <a:solidFill>
            <a:srgbClr val="6BC4A6"/>
          </a:solidFill>
          <a:ln w="12700">
            <a:solidFill>
              <a:srgbClr val="6BC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defRPr sz="1400" b="1">
                <a:solidFill>
                  <a:srgbClr val="FFFFFF"/>
                </a:solidFill>
                <a:latin typeface="FangSong"/>
              </a:defRPr>
            </a:pPr>
            <a:r>
              <a:t>探索层</a:t>
            </a:r>
          </a:p>
        </p:txBody>
      </p:sp>
      <p:pic>
        <p:nvPicPr>
          <p:cNvPr id="16" name="Picture 15" descr="tmp4mdxt2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3154679"/>
            <a:ext cx="1554480" cy="1554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set>
                          <p:cBhvr>
                            <p:cTn id="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set>
                          <p:cBhvr>
                            <p:cTn id="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set>
                          <p:cBhvr>
                            <p:cTn id="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18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正向构建：两次压缩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691640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6BC4A6"/>
                </a:solidFill>
                <a:latin typeface="FangSong"/>
              </a:defRPr>
            </a:pPr>
            <a:r>
              <a:t>探索 → 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58517"/>
            <a:ext cx="1691640" cy="572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提炼值得讨论的发现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和需要判断的决策点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23160" y="1901317"/>
            <a:ext cx="548640" cy="0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71800" y="1371600"/>
            <a:ext cx="1348740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2E5A88"/>
                </a:solidFill>
                <a:latin typeface="FangSong"/>
              </a:defRPr>
            </a:pPr>
            <a:r>
              <a:t>协作 → 呈现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58517"/>
            <a:ext cx="1348740" cy="572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构建对外部读者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自洽的叙事线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05354"/>
            <a:ext cx="10728655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0" i="1">
                <a:solidFill>
                  <a:srgbClr val="7B8FA3"/>
                </a:solidFill>
                <a:latin typeface="FangSong"/>
              </a:defRPr>
            </a:pPr>
            <a:r>
              <a:t>不需要列举所有尝试，但需要说明判断依据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set>
                          <p:cBhvr>
                            <p:cTn id="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逆向解构：透过论文还原过程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0" i="1">
                <a:solidFill>
                  <a:srgbClr val="7B8FA3"/>
                </a:solidFill>
                <a:latin typeface="FangSong"/>
              </a:defRPr>
            </a:pPr>
            <a:r>
              <a:t>论文："覆盖5种语言，1000个问题，评估8个LLM"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9686"/>
            <a:ext cx="10728655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为什么是这5种语言？可能其他语言数据收集困难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7112"/>
            <a:ext cx="10728655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1000个问题如何筛选？初始收集规模可能远大于此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34538"/>
            <a:ext cx="10728655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8个模型的选择标准？可能受限于API访问或算力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9124"/>
            <a:ext cx="10728655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2E5A88"/>
                </a:solidFill>
                <a:latin typeface="FangSong"/>
              </a:defRPr>
            </a:pPr>
            <a:r>
              <a:t>收益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46042"/>
            <a:ext cx="10728655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更准确评估贡献 · 更好判断边界 · 更高效改进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set>
                          <p:cBhvr>
                            <p:cTn id="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熟练度的差异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45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2000" b="1" i="0">
                <a:solidFill>
                  <a:srgbClr val="2E5A88"/>
                </a:solidFill>
                <a:latin typeface="FangSong"/>
              </a:defRPr>
            </a:pPr>
            <a:r>
              <a:t>初学者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3420"/>
            <a:ext cx="4572000" cy="125272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探索层：零散、无记录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协作层：全倒或太少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呈现层：流水账或空洞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读论文：只看到呈现层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96128" y="1371600"/>
            <a:ext cx="4572000" cy="445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2000" b="1" i="0">
                <a:solidFill>
                  <a:srgbClr val="6BC4A6"/>
                </a:solidFill>
                <a:latin typeface="FangSong"/>
              </a:defRPr>
            </a:pPr>
            <a:r>
              <a:t>熟练研究者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96128" y="1963420"/>
            <a:ext cx="4572000" cy="125272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探索层：结构化记录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协作层：精准高效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呈现层：清晰有力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读论文：读出弦外之音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540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ctr">
              <a:lnSpc>
                <a:spcPct val="125000"/>
              </a:lnSpc>
              <a:defRPr sz="2600" b="1" i="0">
                <a:solidFill>
                  <a:srgbClr val="2E5A88"/>
                </a:solidFill>
                <a:latin typeface="FangSong"/>
              </a:defRPr>
            </a:pPr>
            <a:r>
              <a:t>实践建议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76957"/>
            <a:ext cx="10728655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ctr">
              <a:lnSpc>
                <a:spcPct val="125000"/>
              </a:lnSpc>
              <a:defRPr sz="1800" b="0" i="0">
                <a:solidFill>
                  <a:srgbClr val="7B8FA3"/>
                </a:solidFill>
                <a:latin typeface="FangSong"/>
              </a:defRPr>
            </a:pPr>
            <a:r>
              <a:t>从探索层到呈现层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维护探索层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749039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6BC4A6"/>
                </a:solidFill>
                <a:latin typeface="FangSong"/>
              </a:defRPr>
            </a:pPr>
            <a:r>
              <a:t>核心原则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58517"/>
            <a:ext cx="3749039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以"两周后的自己能看懂"为标准记录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91664"/>
            <a:ext cx="3749039" cy="99872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做了什么：Defects4J + BM25检索few-shot</a:t>
            </a:r>
          </a:p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结果：plausible patch 18%→27%</a:t>
            </a:r>
          </a:p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分析：相似示例帮编译不帮语义</a:t>
            </a:r>
          </a:p>
          <a:p>
            <a:pPr>
              <a:lnSpc>
                <a:spcPct val="125000"/>
              </a:lnSpc>
              <a:defRPr sz="1400">
                <a:solidFill>
                  <a:srgbClr val="2C3E50"/>
                </a:solidFill>
                <a:latin typeface="FangSong"/>
              </a:defRPr>
              <a:buChar char="•"/>
            </a:pPr>
            <a:r>
              <a:t>下一步：尝试AST结构相似性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73272"/>
            <a:ext cx="3749039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3D8B8B"/>
                </a:solidFill>
                <a:latin typeface="FangSong"/>
              </a:defRPr>
            </a:pPr>
            <a:r>
              <a:t>关键：记录推理链，不只是记录操作</a:t>
            </a:r>
          </a:p>
        </p:txBody>
      </p:sp>
      <p:pic>
        <p:nvPicPr>
          <p:cNvPr id="8" name="Picture 7" descr="tmptt_hxb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在协作层找到合适的粒度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11480" cy="4054855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需要对方帮助判断什么？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对方需要哪些信息才能判断？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哪些是自己应处理的执行细节？</a:t>
            </a:r>
          </a:p>
        </p:txBody>
      </p:sp>
      <p:pic>
        <p:nvPicPr>
          <p:cNvPr id="5" name="Picture 4" descr="tmpkus5lo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371600"/>
            <a:ext cx="164592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55055"/>
            <a:ext cx="2758440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E8805C"/>
                </a:solidFill>
                <a:latin typeface="FangSong"/>
              </a:defRPr>
            </a:pPr>
            <a:r>
              <a:t>信息过载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41973"/>
            <a:ext cx="2758440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试了BM25、TF-IDF、CodeBERT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top-k试了1、3、5、10……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4279" y="5655055"/>
            <a:ext cx="3241040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3D8B8B"/>
                </a:solidFill>
                <a:latin typeface="FangSong"/>
              </a:defRPr>
            </a:pPr>
            <a:r>
              <a:t>聚焦决策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4279" y="6141973"/>
            <a:ext cx="3241040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三种策略对比，BM25和CodeBERT接近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倾向BM25，是否值得混合方案？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set>
                          <p:cBhvr>
                            <p:cTn id="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呈现层构建 与 逆向解构练习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64592" cy="164592"/>
          </a:xfrm>
          <a:prstGeom prst="roundRect">
            <a:avLst/>
          </a:prstGeom>
          <a:solidFill>
            <a:srgbClr val="2E5A88"/>
          </a:solidFill>
          <a:ln w="12700"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371600"/>
            <a:ext cx="980440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1" i="0">
                <a:solidFill>
                  <a:srgbClr val="2C3E50"/>
                </a:solidFill>
                <a:latin typeface="FangSong"/>
              </a:defRPr>
            </a:pPr>
            <a:r>
              <a:t>构建呈现层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59025"/>
            <a:ext cx="1218184" cy="239572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先结论后过程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只保留支撑结论的证据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时间线重构是正常的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6904" y="1371600"/>
            <a:ext cx="164592" cy="164592"/>
          </a:xfrm>
          <a:prstGeom prst="roundRect">
            <a:avLst/>
          </a:prstGeom>
          <a:solidFill>
            <a:srgbClr val="6BC4A6"/>
          </a:solidFill>
          <a:ln w="12700">
            <a:solidFill>
              <a:srgbClr val="6BC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44648" y="1371600"/>
            <a:ext cx="802640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1" i="0">
                <a:solidFill>
                  <a:srgbClr val="2C3E50"/>
                </a:solidFill>
                <a:latin typeface="FangSong"/>
              </a:defRPr>
            </a:pPr>
            <a:r>
              <a:t>逆向解构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6904" y="1859025"/>
            <a:ext cx="1040384" cy="296722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作者呈现了什么？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为什么是这个叙事？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哪些实验没写进论文？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set>
                          <p:cBhvr>
                            <p:cTn id="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AI时代下的三层模型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4v4uti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697480"/>
            <a:ext cx="1513840" cy="445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2000" b="1" i="0">
                <a:solidFill>
                  <a:srgbClr val="2C3E50"/>
                </a:solidFill>
                <a:latin typeface="FangSong"/>
              </a:defRPr>
            </a:pPr>
            <a:r>
              <a:t>AI可辅助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80156"/>
            <a:ext cx="1513840" cy="572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7B8FA3"/>
                </a:solidFill>
                <a:latin typeface="FangSong"/>
              </a:defRPr>
            </a:pPr>
            <a:r>
              <a:t>探索层的执行细节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7B8FA3"/>
                </a:solidFill>
                <a:latin typeface="FangSong"/>
              </a:defRPr>
            </a:pPr>
            <a:r>
              <a:t>呈现层的格式范式</a:t>
            </a:r>
          </a:p>
        </p:txBody>
      </p:sp>
      <p:pic>
        <p:nvPicPr>
          <p:cNvPr id="7" name="Picture 6" descr="tmppz78ys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880" y="1371600"/>
            <a:ext cx="1188720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76880" y="2697480"/>
            <a:ext cx="1526540" cy="445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2000" b="1" i="0">
                <a:solidFill>
                  <a:srgbClr val="2C3E50"/>
                </a:solidFill>
                <a:latin typeface="FangSong"/>
              </a:defRPr>
            </a:pPr>
            <a:r>
              <a:t>人不可替代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6880" y="3280156"/>
            <a:ext cx="1526540" cy="572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7B8FA3"/>
                </a:solidFill>
                <a:latin typeface="FangSong"/>
              </a:defRPr>
            </a:pPr>
            <a:r>
              <a:t>协作层的信息凝练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7B8FA3"/>
                </a:solidFill>
                <a:latin typeface="FangSong"/>
              </a:defRPr>
            </a:pPr>
            <a:r>
              <a:t>层间穿梭的判断力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26991"/>
            <a:ext cx="10728655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E8805C"/>
                </a:solidFill>
                <a:latin typeface="FangSong"/>
              </a:defRPr>
            </a:pPr>
            <a:r>
              <a:t>为什么协作层不能交给AI？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3909"/>
            <a:ext cx="10728655" cy="572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从探索到协作的压缩，本质上是在验证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自己是否真正理解了所做的事情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人的核心能力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749039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2E5A88"/>
                </a:solidFill>
                <a:latin typeface="FangSong"/>
              </a:defRPr>
            </a:pPr>
            <a:r>
              <a:t>层间穿梭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58517"/>
            <a:ext cx="3749039" cy="572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正向：从探索中提炼结构化理解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逆向：从呈现中还原决策过程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9634"/>
            <a:ext cx="3749039" cy="69951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0" i="1">
                <a:solidFill>
                  <a:srgbClr val="7B8FA3"/>
                </a:solidFill>
                <a:latin typeface="FangSong"/>
              </a:defRPr>
            </a:pPr>
            <a:r>
              <a:t>工具会不断迭代</a:t>
            </a:r>
          </a:p>
          <a:p>
            <a:pPr algn="l">
              <a:lnSpc>
                <a:spcPct val="125000"/>
              </a:lnSpc>
              <a:defRPr sz="1800" b="0" i="1">
                <a:solidFill>
                  <a:srgbClr val="7B8FA3"/>
                </a:solidFill>
                <a:latin typeface="FangSong"/>
              </a:defRPr>
            </a:pPr>
            <a:r>
              <a:t>但对信息结构的理解与掌控不会过时</a:t>
            </a:r>
          </a:p>
        </p:txBody>
      </p:sp>
      <p:pic>
        <p:nvPicPr>
          <p:cNvPr id="7" name="Picture 6" descr="tmp4mdxt2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59" y="1371600"/>
            <a:ext cx="2560320" cy="2560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set>
                          <p:cBhvr>
                            <p:cTn id="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术与道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64592" cy="164592"/>
          </a:xfrm>
          <a:prstGeom prst="roundRect">
            <a:avLst/>
          </a:prstGeom>
          <a:solidFill>
            <a:srgbClr val="2E5A88"/>
          </a:solidFill>
          <a:ln w="12700"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371600"/>
            <a:ext cx="269240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1" i="0">
                <a:solidFill>
                  <a:srgbClr val="2C3E50"/>
                </a:solidFill>
                <a:latin typeface="FangSong"/>
              </a:defRPr>
            </a:pPr>
            <a:r>
              <a:t>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3306"/>
            <a:ext cx="506983" cy="3613149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理解信息的三层结构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掌握层间穿梭的能力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判断何时在哪层操作</a:t>
            </a:r>
          </a:p>
        </p:txBody>
      </p:sp>
      <p:pic>
        <p:nvPicPr>
          <p:cNvPr id="7" name="Picture 6" descr="tmp5l_kx7y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24" y="1371600"/>
            <a:ext cx="1828800" cy="1828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15944" y="1371600"/>
            <a:ext cx="164592" cy="164592"/>
          </a:xfrm>
          <a:prstGeom prst="roundRect">
            <a:avLst/>
          </a:prstGeom>
          <a:solidFill>
            <a:srgbClr val="7B8FA3"/>
          </a:solidFill>
          <a:ln w="127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3688" y="1371600"/>
            <a:ext cx="269240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1" i="0">
                <a:solidFill>
                  <a:srgbClr val="2C3E50"/>
                </a:solidFill>
                <a:latin typeface="FangSong"/>
              </a:defRPr>
            </a:pPr>
            <a:r>
              <a:t>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5944" y="1813306"/>
            <a:ext cx="506983" cy="3613149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实验记录模板与工具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组会汇报准备流程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论文写作结构范式</a:t>
            </a:r>
          </a:p>
          <a:p>
            <a:pPr>
              <a:lnSpc>
                <a:spcPct val="125000"/>
              </a:lnSpc>
              <a:defRPr sz="1800">
                <a:solidFill>
                  <a:srgbClr val="2C3E50"/>
                </a:solidFill>
                <a:latin typeface="FangSong"/>
              </a:defRPr>
              <a:buChar char="•"/>
            </a:pPr>
            <a:r>
              <a:t>AI工具使用技巧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55055"/>
            <a:ext cx="10728655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3D8B8B"/>
                </a:solidFill>
                <a:latin typeface="FangSong"/>
              </a:defRPr>
            </a:pPr>
            <a:r>
              <a:t>关键区分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41973"/>
            <a:ext cx="10728655" cy="350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术是"怎么做"，道是"为什么这么做"</a:t>
            </a:r>
          </a:p>
          <a:p>
            <a:pPr algn="l">
              <a:lnSpc>
                <a:spcPct val="125000"/>
              </a:lnSpc>
              <a:defRPr sz="1400" b="0" i="0">
                <a:solidFill>
                  <a:srgbClr val="2C3E50"/>
                </a:solidFill>
                <a:latin typeface="FangSong"/>
              </a:defRPr>
            </a:pPr>
            <a:r>
              <a:t>术随工具更新，道不会过时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3" fill="hold">
                <p:stCondLst>
                  <p:cond delay="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FangSong"/>
              </a:defRPr>
            </a:pPr>
            <a:r>
              <a:t>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97280" cy="36576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66490" cy="822960"/>
          </a:xfrm>
          <a:prstGeom prst="roundRect">
            <a:avLst/>
          </a:prstGeom>
          <a:solidFill>
            <a:srgbClr val="2E5A88"/>
          </a:solidFill>
          <a:ln w="12700"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defRPr sz="1400" b="1">
                <a:solidFill>
                  <a:srgbClr val="FFFFFF"/>
                </a:solidFill>
                <a:latin typeface="FangSong"/>
              </a:defRPr>
            </a:pPr>
            <a:r>
              <a:t>沟通摩擦的根源</a:t>
            </a:r>
            <a:br/>
            <a:r>
              <a:t>层级与受众不匹配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2602" y="1371600"/>
            <a:ext cx="3466490" cy="822960"/>
          </a:xfrm>
          <a:prstGeom prst="roundRect">
            <a:avLst/>
          </a:prstGeom>
          <a:solidFill>
            <a:srgbClr val="3D8B8B"/>
          </a:solidFill>
          <a:ln w="12700">
            <a:solidFill>
              <a:srgbClr val="3D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defRPr sz="1400" b="1">
                <a:solidFill>
                  <a:srgbClr val="FFFFFF"/>
                </a:solidFill>
                <a:latin typeface="FangSong"/>
              </a:defRPr>
            </a:pPr>
            <a:r>
              <a:t>理解三层结构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3684" y="1371600"/>
            <a:ext cx="3466490" cy="822960"/>
          </a:xfrm>
          <a:prstGeom prst="roundRect">
            <a:avLst/>
          </a:prstGeom>
          <a:solidFill>
            <a:srgbClr val="6BC4A6"/>
          </a:solidFill>
          <a:ln w="12700">
            <a:solidFill>
              <a:srgbClr val="6BC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defRPr sz="1400" b="1">
                <a:solidFill>
                  <a:srgbClr val="FFFFFF"/>
                </a:solidFill>
                <a:latin typeface="FangSong"/>
              </a:defRPr>
            </a:pPr>
            <a:r>
              <a:t>练习层间切换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59152"/>
            <a:ext cx="3466490" cy="822960"/>
          </a:xfrm>
          <a:prstGeom prst="roundRect">
            <a:avLst/>
          </a:prstGeom>
          <a:solidFill>
            <a:srgbClr val="7B8FA3"/>
          </a:solidFill>
          <a:ln w="127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defRPr sz="1400" b="1">
                <a:solidFill>
                  <a:srgbClr val="FFFFFF"/>
                </a:solidFill>
                <a:latin typeface="FangSong"/>
              </a:defRPr>
            </a:pPr>
            <a:r>
              <a:t>区分术与道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6042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ctr">
              <a:lnSpc>
                <a:spcPct val="125000"/>
              </a:lnSpc>
              <a:defRPr sz="3000" b="1" i="0">
                <a:solidFill>
                  <a:srgbClr val="2E5A88"/>
                </a:solidFill>
                <a:latin typeface="FangSong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31898"/>
            <a:ext cx="10728655" cy="413766"/>
          </a:xfrm>
          <a:prstGeom prst="rect">
            <a:avLst/>
          </a:prstGeom>
          <a:noFill/>
        </p:spPr>
        <p:txBody>
          <a:bodyPr wrap="square" lIns="45720" rIns="45720" tIns="64008" bIns="64008">
            <a:spAutoFit/>
          </a:bodyPr>
          <a:lstStyle/>
          <a:p>
            <a:pPr algn="ctr">
              <a:lnSpc>
                <a:spcPct val="125000"/>
              </a:lnSpc>
              <a:defRPr sz="1800" b="0" i="0">
                <a:solidFill>
                  <a:srgbClr val="7B8FA3"/>
                </a:solidFill>
                <a:latin typeface="FangSong"/>
              </a:defRPr>
            </a:pPr>
            <a:r>
              <a:t>层间穿梭是值得刻意练习的研究元能力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