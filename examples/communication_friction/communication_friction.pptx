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0"/>
            <a:ext cx="1072865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1E293B"/>
                </a:solidFill>
                <a:latin typeface="FangSong"/>
              </a:defRPr>
            </a:pPr>
            <a:r>
              <a:t>减少沟通摩擦</a:t>
            </a:r>
          </a:p>
        </p:txBody>
      </p:sp>
      <p:sp>
        <p:nvSpPr>
          <p:cNvPr id="3" name="Rectangle 2"/>
          <p:cNvSpPr/>
          <p:nvPr/>
        </p:nvSpPr>
        <p:spPr>
          <a:xfrm>
            <a:off x="5181447" y="3383280"/>
            <a:ext cx="1828800" cy="45720"/>
          </a:xfrm>
          <a:prstGeom prst="rect">
            <a:avLst/>
          </a:prstGeom>
          <a:solidFill>
            <a:srgbClr val="3B6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>
                <a:solidFill>
                  <a:srgbClr val="64748B"/>
                </a:solidFill>
                <a:latin typeface="FangSong"/>
              </a:defRPr>
            </a:pPr>
            <a:r>
              <a:t>信息的三层结构与研究元能力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E293B"/>
                </a:solidFill>
                <a:latin typeface="FangSong"/>
              </a:defRPr>
            </a:pPr>
            <a:r>
              <a:t>这些场景是否似曾相识？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97280" cy="36576"/>
          </a:xfrm>
          <a:prstGeom prst="rect">
            <a:avLst/>
          </a:prstGeom>
          <a:solidFill>
            <a:srgbClr val="3B6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4724247" cy="1131569"/>
          </a:xfrm>
          <a:prstGeom prst="roundRect">
            <a:avLst/>
          </a:prstGeom>
          <a:solidFill>
            <a:srgbClr val="F7F8FA"/>
          </a:solidFill>
          <a:ln w="12700">
            <a:solidFill>
              <a:srgbClr val="C8C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0">
                <a:solidFill>
                  <a:srgbClr val="1E293B"/>
                </a:solidFill>
                <a:latin typeface="FangSong"/>
              </a:defRPr>
            </a:pPr>
            <a:r>
              <a:t>论文读起来逻辑清晰</a:t>
            </a:r>
            <a:br/>
            <a:r>
              <a:t>但实际过程完全不同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38647" y="1371600"/>
            <a:ext cx="4724247" cy="1131569"/>
          </a:xfrm>
          <a:prstGeom prst="roundRect">
            <a:avLst/>
          </a:prstGeom>
          <a:solidFill>
            <a:srgbClr val="F7F8FA"/>
          </a:solidFill>
          <a:ln w="12700">
            <a:solidFill>
              <a:srgbClr val="C8C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0">
                <a:solidFill>
                  <a:srgbClr val="1E293B"/>
                </a:solidFill>
                <a:latin typeface="FangSong"/>
              </a:defRPr>
            </a:pPr>
            <a:r>
              <a:t>初学者与高年级</a:t>
            </a:r>
            <a:br/>
            <a:r>
              <a:t>对话总是费劲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686050"/>
            <a:ext cx="4724247" cy="1131569"/>
          </a:xfrm>
          <a:prstGeom prst="roundRect">
            <a:avLst/>
          </a:prstGeom>
          <a:solidFill>
            <a:srgbClr val="F7F8FA"/>
          </a:solidFill>
          <a:ln w="12700">
            <a:solidFill>
              <a:srgbClr val="C8C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0">
                <a:solidFill>
                  <a:srgbClr val="1E293B"/>
                </a:solidFill>
                <a:latin typeface="FangSong"/>
              </a:defRPr>
            </a:pPr>
            <a:r>
              <a:t>提问只说"不work"</a:t>
            </a:r>
            <a:br/>
            <a:r>
              <a:t>得不到有效回复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38647" y="2686050"/>
            <a:ext cx="4724247" cy="1131569"/>
          </a:xfrm>
          <a:prstGeom prst="roundRect">
            <a:avLst/>
          </a:prstGeom>
          <a:solidFill>
            <a:srgbClr val="F7F8FA"/>
          </a:solidFill>
          <a:ln w="12700">
            <a:solidFill>
              <a:srgbClr val="C8C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0">
                <a:solidFill>
                  <a:srgbClr val="1E293B"/>
                </a:solidFill>
                <a:latin typeface="FangSong"/>
              </a:defRPr>
            </a:pPr>
            <a:r>
              <a:t>组会讲了20分钟细节</a:t>
            </a:r>
            <a:br/>
            <a:r>
              <a:t>听众不知道重点</a:t>
            </a:r>
          </a:p>
        </p:txBody>
      </p:sp>
      <p:pic>
        <p:nvPicPr>
          <p:cNvPr id="8" name="Picture 7" descr="tmpl128uz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45775" y="2137410"/>
            <a:ext cx="914400" cy="9144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31520" y="4046220"/>
            <a:ext cx="54864" cy="2446020"/>
          </a:xfrm>
          <a:prstGeom prst="rect">
            <a:avLst/>
          </a:prstGeom>
          <a:solidFill>
            <a:srgbClr val="3B6B9D"/>
          </a:solidFill>
          <a:ln w="12700">
            <a:solidFill>
              <a:srgbClr val="3B6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3544" y="4046220"/>
            <a:ext cx="10536631" cy="11772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3B6B9D"/>
                </a:solidFill>
                <a:latin typeface="FangSong"/>
              </a:defRPr>
            </a:pPr>
            <a:r>
              <a:t>共同根源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5314950"/>
            <a:ext cx="10536631" cy="11772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1E293B"/>
                </a:solidFill>
                <a:latin typeface="FangSong"/>
              </a:defRPr>
            </a:pPr>
            <a:r>
              <a:t>不是能力问题，不是态度问题</a:t>
            </a:r>
          </a:p>
          <a:p>
            <a:pPr algn="l">
              <a:defRPr sz="1400" b="0" i="0">
                <a:solidFill>
                  <a:srgbClr val="1E293B"/>
                </a:solidFill>
                <a:latin typeface="FangSong"/>
              </a:defRPr>
            </a:pPr>
            <a:r>
              <a:t>而是信息没有匹配接收方的 context 容量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par>
              <p:cTn id="3" fill="hold">
                <p:stCondLst>
                  <p:cond delay="0"/>
                </p:stCondLst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set>
                          <p:cBhvr>
                            <p:cTn id="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6" fill="hold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set>
                          <p:cBhvr>
                            <p:cTn id="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0" fill="hold">
                      <p:stCondLst>
                        <p:cond delay="0"/>
                      </p:stCondLst>
                      <p:childTnLst>
                        <p:set>
                          <p:cBhvr>
                            <p:cTn id="1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childTnLst>
              </p:cTn>
            </p:par>
            <p:seq concurrent="1" nextAc="seek">
              <p:cTn id="12" dur="indefinite" nodeType="mainSeq">
                <p:childTnLst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E293B"/>
                </a:solidFill>
                <a:latin typeface="FangSong"/>
              </a:defRPr>
            </a:pPr>
            <a:r>
              <a:t>模型：信息的三层结构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97280" cy="36576"/>
          </a:xfrm>
          <a:prstGeom prst="rect">
            <a:avLst/>
          </a:prstGeom>
          <a:solidFill>
            <a:srgbClr val="3B6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mpmvi0z5s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0881" y="1371600"/>
            <a:ext cx="1097280" cy="109728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31520" y="2560320"/>
            <a:ext cx="2036003" cy="1234439"/>
          </a:xfrm>
          <a:prstGeom prst="roundRect">
            <a:avLst/>
          </a:prstGeom>
          <a:solidFill>
            <a:srgbClr val="4A8B7F"/>
          </a:solidFill>
          <a:ln w="12700">
            <a:solidFill>
              <a:srgbClr val="C8C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0">
                <a:solidFill>
                  <a:srgbClr val="FFFFFF"/>
                </a:solidFill>
                <a:latin typeface="FangSong"/>
              </a:defRPr>
            </a:pPr>
            <a:r>
              <a:t>探索层</a:t>
            </a:r>
            <a:br/>
            <a:r>
              <a:t>Notebook / 个人笔记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767523" y="2583180"/>
            <a:ext cx="2310323" cy="0"/>
          </a:xfrm>
          <a:prstGeom prst="line">
            <a:avLst/>
          </a:prstGeom>
          <a:ln w="19050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tmpo8le8v4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47207" y="1371600"/>
            <a:ext cx="1097280" cy="10972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077846" y="2560320"/>
            <a:ext cx="2036003" cy="1234439"/>
          </a:xfrm>
          <a:prstGeom prst="roundRect">
            <a:avLst/>
          </a:prstGeom>
          <a:solidFill>
            <a:srgbClr val="C27C3E"/>
          </a:solidFill>
          <a:ln w="12700">
            <a:solidFill>
              <a:srgbClr val="C8C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0">
                <a:solidFill>
                  <a:srgbClr val="FFFFFF"/>
                </a:solidFill>
                <a:latin typeface="FangSong"/>
              </a:defRPr>
            </a:pPr>
            <a:r>
              <a:t>协作层</a:t>
            </a:r>
            <a:br/>
            <a:r>
              <a:t>组会 / 合作者讨论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13849" y="2583180"/>
            <a:ext cx="2310323" cy="0"/>
          </a:xfrm>
          <a:prstGeom prst="line">
            <a:avLst/>
          </a:prstGeom>
          <a:ln w="19050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tmprdx32qr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93533" y="1371600"/>
            <a:ext cx="1097280" cy="10972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9424172" y="2560320"/>
            <a:ext cx="2036003" cy="1234439"/>
          </a:xfrm>
          <a:prstGeom prst="roundRect">
            <a:avLst/>
          </a:prstGeom>
          <a:solidFill>
            <a:srgbClr val="3B6B9D"/>
          </a:solidFill>
          <a:ln w="12700">
            <a:solidFill>
              <a:srgbClr val="C8C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0">
                <a:solidFill>
                  <a:srgbClr val="FFFFFF"/>
                </a:solidFill>
                <a:latin typeface="FangSong"/>
              </a:defRPr>
            </a:pPr>
            <a:r>
              <a:t>呈现层</a:t>
            </a:r>
            <a:br/>
            <a:r>
              <a:t>论文 / Slides / Poster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069079"/>
            <a:ext cx="10728655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 i="0">
                <a:solidFill>
                  <a:srgbClr val="64748B"/>
                </a:solidFill>
                <a:latin typeface="FangSong"/>
              </a:defRPr>
            </a:pPr>
            <a:r>
              <a:t>每层有不同的受众、注意力容量、信息密度要求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par>
              <p:cTn id="3" fill="hold">
                <p:stCondLst>
                  <p:cond delay="0"/>
                </p:stCondLst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set>
                          <p:cBhvr>
                            <p:cTn id="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6" fill="hold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set>
                          <p:cBhvr>
                            <p:cTn id="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0" fill="hold">
                      <p:stCondLst>
                        <p:cond delay="0"/>
                      </p:stCondLst>
                      <p:childTnLst>
                        <p:set>
                          <p:cBhvr>
                            <p:cTn id="1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2" fill="hold">
                      <p:stCondLst>
                        <p:cond delay="0"/>
                      </p:stCondLst>
                      <p:childTnLst>
                        <p:set>
                          <p:cBhvr>
                            <p:cTn id="1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4" fill="hold">
                      <p:stCondLst>
                        <p:cond delay="0"/>
                      </p:stCondLst>
                      <p:childTnLst>
                        <p:set>
                          <p:cBhvr>
                            <p:cTn id="1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6" fill="hold">
                      <p:stCondLst>
                        <p:cond delay="0"/>
                      </p:stCondLst>
                      <p:childTnLst>
                        <p:set>
                          <p:cBhvr>
                            <p:cTn id="1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childTnLst>
              </p:cTn>
            </p:par>
            <p:seq concurrent="1" nextAc="seek">
              <p:cTn id="18" dur="indefinite" nodeType="mainSeq">
                <p:childTnLst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E293B"/>
                </a:solidFill>
                <a:latin typeface="FangSong"/>
              </a:defRPr>
            </a:pPr>
            <a:r>
              <a:t>每层的特征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97280" cy="36576"/>
          </a:xfrm>
          <a:prstGeom prst="rect">
            <a:avLst/>
          </a:prstGeom>
          <a:solidFill>
            <a:srgbClr val="3B6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371600"/>
          <a:ext cx="10728655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82163"/>
                <a:gridCol w="2682163"/>
                <a:gridCol w="2682163"/>
                <a:gridCol w="2682166"/>
              </a:tblGrid>
              <a:tr h="1024128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FangSong"/>
                        </a:defRPr>
                      </a:pPr>
                    </a:p>
                  </a:txBody>
                  <a:tcPr>
                    <a:solidFill>
                      <a:srgbClr val="3B6B9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FangSong"/>
                        </a:defRPr>
                      </a:pPr>
                      <a:r>
                        <a:t>呈现层</a:t>
                      </a:r>
                    </a:p>
                  </a:txBody>
                  <a:tcPr>
                    <a:solidFill>
                      <a:srgbClr val="3B6B9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FangSong"/>
                        </a:defRPr>
                      </a:pPr>
                      <a:r>
                        <a:t>协作层</a:t>
                      </a:r>
                    </a:p>
                  </a:txBody>
                  <a:tcPr>
                    <a:solidFill>
                      <a:srgbClr val="3B6B9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FangSong"/>
                        </a:defRPr>
                      </a:pPr>
                      <a:r>
                        <a:t>探索层</a:t>
                      </a:r>
                    </a:p>
                  </a:txBody>
                  <a:tcPr>
                    <a:solidFill>
                      <a:srgbClr val="3B6B9D"/>
                    </a:solidFill>
                  </a:tcPr>
                </a:tc>
              </a:tr>
              <a:tr h="1024128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FangSong"/>
                        </a:defRPr>
                      </a:pPr>
                      <a:r>
                        <a:t>受众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FangSong"/>
                        </a:defRPr>
                      </a:pPr>
                      <a:r>
                        <a:t>审稿人、读者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FangSong"/>
                        </a:defRPr>
                      </a:pPr>
                      <a:r>
                        <a:t>合作者、导师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FangSong"/>
                        </a:defRPr>
                      </a:pPr>
                      <a:r>
                        <a:t>自己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</a:tr>
              <a:tr h="1024128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FangSong"/>
                        </a:defRPr>
                      </a:pPr>
                      <a:r>
                        <a:t>注意力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FangSong"/>
                        </a:defRPr>
                      </a:pPr>
                      <a:r>
                        <a:t>低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FangSong"/>
                        </a:defRPr>
                      </a:pPr>
                      <a:r>
                        <a:t>中等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FangSong"/>
                        </a:defRPr>
                      </a:pPr>
                      <a:r>
                        <a:t>高（但会遗忘）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24128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FangSong"/>
                        </a:defRPr>
                      </a:pPr>
                      <a:r>
                        <a:t>信息密度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FangSong"/>
                        </a:defRPr>
                      </a:pPr>
                      <a:r>
                        <a:t>极高压缩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FangSong"/>
                        </a:defRPr>
                      </a:pPr>
                      <a:r>
                        <a:t>聚焦决策点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FangSong"/>
                        </a:defRPr>
                      </a:pPr>
                      <a:r>
                        <a:t>保留推理链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</a:tr>
              <a:tr h="1024128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FangSong"/>
                        </a:defRPr>
                      </a:pPr>
                      <a:r>
                        <a:t>载体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FangSong"/>
                        </a:defRPr>
                      </a:pPr>
                      <a:r>
                        <a:t>论文、slides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FangSong"/>
                        </a:defRPr>
                      </a:pPr>
                      <a:r>
                        <a:t>讨论记录、邮件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FangSong"/>
                        </a:defRPr>
                      </a:pPr>
                      <a:r>
                        <a:t>notebook、笔记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E293B"/>
                </a:solidFill>
                <a:latin typeface="FangSong"/>
              </a:defRPr>
            </a:pPr>
            <a:r>
              <a:t>例子：基于LLM的自动程序修复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97280" cy="36576"/>
          </a:xfrm>
          <a:prstGeom prst="rect">
            <a:avLst/>
          </a:prstGeom>
          <a:solidFill>
            <a:srgbClr val="3B6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mpmvi0z5s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308860"/>
            <a:ext cx="640080" cy="64008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1463040" y="1371600"/>
            <a:ext cx="1326428" cy="2514600"/>
          </a:xfrm>
          <a:prstGeom prst="roundRect">
            <a:avLst/>
          </a:prstGeom>
          <a:solidFill>
            <a:srgbClr val="4A8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FangSong"/>
              </a:defRPr>
            </a:pPr>
            <a:r>
              <a:t>探索层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977639"/>
            <a:ext cx="2057948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E293B"/>
                </a:solidFill>
                <a:latin typeface="FangSong"/>
              </a:defRPr>
              <a:buChar char="•"/>
            </a:pPr>
            <a:r>
              <a:t>尝试3种prompt策略</a:t>
            </a:r>
          </a:p>
          <a:p>
            <a:pPr>
              <a:defRPr sz="1400">
                <a:solidFill>
                  <a:srgbClr val="1E293B"/>
                </a:solidFill>
                <a:latin typeface="FangSong"/>
              </a:defRPr>
              <a:buChar char="•"/>
            </a:pPr>
            <a:r>
              <a:t>few-shot示例选择影响大</a:t>
            </a:r>
          </a:p>
          <a:p>
            <a:pPr>
              <a:defRPr sz="1400">
                <a:solidFill>
                  <a:srgbClr val="1E293B"/>
                </a:solidFill>
                <a:latin typeface="FangSong"/>
              </a:defRPr>
              <a:buChar char="•"/>
            </a:pPr>
            <a:r>
              <a:t>调tokenizer截断花两天</a:t>
            </a:r>
          </a:p>
          <a:p>
            <a:pPr>
              <a:defRPr sz="1400">
                <a:solidFill>
                  <a:srgbClr val="1E293B"/>
                </a:solidFill>
                <a:latin typeface="FangSong"/>
              </a:defRPr>
              <a:buChar char="•"/>
            </a:pPr>
            <a:r>
              <a:t>CoT对复杂bug引入噪声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789468" y="3931920"/>
            <a:ext cx="2277405" cy="0"/>
          </a:xfrm>
          <a:prstGeom prst="line">
            <a:avLst/>
          </a:prstGeom>
          <a:ln w="19050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" name="Picture 7" descr="tmpo8le8v4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6873" y="2308860"/>
            <a:ext cx="640080" cy="64008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798393" y="1371600"/>
            <a:ext cx="1326428" cy="2514600"/>
          </a:xfrm>
          <a:prstGeom prst="roundRect">
            <a:avLst/>
          </a:prstGeom>
          <a:solidFill>
            <a:srgbClr val="C27C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FangSong"/>
              </a:defRPr>
            </a:pPr>
            <a:r>
              <a:t>协作层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66873" y="3977639"/>
            <a:ext cx="2057948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E293B"/>
                </a:solidFill>
                <a:latin typeface="FangSong"/>
              </a:defRPr>
              <a:buChar char="•"/>
            </a:pPr>
            <a:r>
              <a:t>few-shot最优，关键在示例选择</a:t>
            </a:r>
          </a:p>
          <a:p>
            <a:pPr>
              <a:defRPr sz="1400">
                <a:solidFill>
                  <a:srgbClr val="1E293B"/>
                </a:solidFill>
                <a:latin typeface="FangSong"/>
              </a:defRPr>
              <a:buChar char="•"/>
            </a:pPr>
            <a:r>
              <a:t>CoT对复杂bug帮助有限</a:t>
            </a:r>
          </a:p>
          <a:p>
            <a:pPr>
              <a:defRPr sz="1400">
                <a:solidFill>
                  <a:srgbClr val="1E293B"/>
                </a:solidFill>
                <a:latin typeface="FangSong"/>
              </a:defRPr>
              <a:buChar char="•"/>
            </a:pPr>
            <a:r>
              <a:t>下一步：自动选择相关示例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124821" y="3931920"/>
            <a:ext cx="2277405" cy="0"/>
          </a:xfrm>
          <a:prstGeom prst="line">
            <a:avLst/>
          </a:prstGeom>
          <a:ln w="19050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2" name="Picture 11" descr="tmprdx32qr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2226" y="2308860"/>
            <a:ext cx="640080" cy="64008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10133746" y="1371600"/>
            <a:ext cx="1326428" cy="2514600"/>
          </a:xfrm>
          <a:prstGeom prst="roundRect">
            <a:avLst/>
          </a:prstGeom>
          <a:solidFill>
            <a:srgbClr val="3B6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FangSong"/>
              </a:defRPr>
            </a:pPr>
            <a:r>
              <a:t>呈现层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02226" y="3977639"/>
            <a:ext cx="2057948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E293B"/>
                </a:solidFill>
                <a:latin typeface="FangSong"/>
              </a:defRPr>
              <a:buChar char="•"/>
            </a:pPr>
            <a:r>
              <a:t>提出检索式few-shot APR框架</a:t>
            </a:r>
          </a:p>
          <a:p>
            <a:pPr>
              <a:defRPr sz="1400">
                <a:solidFill>
                  <a:srgbClr val="1E293B"/>
                </a:solidFill>
                <a:latin typeface="FangSong"/>
              </a:defRPr>
              <a:buChar char="•"/>
            </a:pPr>
            <a:r>
              <a:t>两个benchmark超过SOTA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par>
              <p:cTn id="3" fill="hold">
                <p:stCondLst>
                  <p:cond delay="0"/>
                </p:stCondLst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set>
                          <p:cBhvr>
                            <p:cTn id="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6" fill="hold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set>
                          <p:cBhvr>
                            <p:cTn id="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0" fill="hold">
                      <p:stCondLst>
                        <p:cond delay="0"/>
                      </p:stCondLst>
                      <p:childTnLst>
                        <p:set>
                          <p:cBhvr>
                            <p:cTn id="1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2" fill="hold">
                      <p:stCondLst>
                        <p:cond delay="0"/>
                      </p:stCondLst>
                      <p:childTnLst>
                        <p:set>
                          <p:cBhvr>
                            <p:cTn id="1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4" fill="hold">
                      <p:stCondLst>
                        <p:cond delay="0"/>
                      </p:stCondLst>
                      <p:childTnLst>
                        <p:set>
                          <p:cBhvr>
                            <p:cTn id="1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6" fill="hold">
                      <p:stCondLst>
                        <p:cond delay="0"/>
                      </p:stCondLst>
                      <p:childTnLst>
                        <p:set>
                          <p:cBhvr>
                            <p:cTn id="1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8" fill="hold">
                      <p:stCondLst>
                        <p:cond delay="0"/>
                      </p:stCondLst>
                      <p:childTnLst>
                        <p:set>
                          <p:cBhvr>
                            <p:cTn id="1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childTnLst>
              </p:cTn>
            </p:par>
            <p:seq concurrent="1" nextAc="seek">
              <p:cTn id="20" dur="indefinite" nodeType="mainSeq">
                <p:childTnLst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E293B"/>
                </a:solidFill>
                <a:latin typeface="FangSong"/>
              </a:defRPr>
            </a:pPr>
            <a:r>
              <a:t>摩擦力 = 层级错配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97280" cy="36576"/>
          </a:xfrm>
          <a:prstGeom prst="rect">
            <a:avLst/>
          </a:prstGeom>
          <a:solidFill>
            <a:srgbClr val="3B6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371600"/>
          <a:ext cx="10728655" cy="2423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64327"/>
                <a:gridCol w="5364328"/>
              </a:tblGrid>
              <a:tr h="484632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FangSong"/>
                        </a:defRPr>
                      </a:pPr>
                      <a:r>
                        <a:t>现象</a:t>
                      </a:r>
                    </a:p>
                  </a:txBody>
                  <a:tcPr>
                    <a:solidFill>
                      <a:srgbClr val="B854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FangSong"/>
                        </a:defRPr>
                      </a:pPr>
                      <a:r>
                        <a:t>层级错配分析</a:t>
                      </a:r>
                    </a:p>
                  </a:txBody>
                  <a:tcPr>
                    <a:solidFill>
                      <a:srgbClr val="B85450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FangSong"/>
                        </a:defRPr>
                      </a:pPr>
                      <a:r>
                        <a:t>论文 ≠ 真实过程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FangSong"/>
                        </a:defRPr>
                      </a:pPr>
                      <a:r>
                        <a:t>呈现层是对探索层的极度压缩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FangSong"/>
                        </a:defRPr>
                      </a:pPr>
                      <a:r>
                        <a:t>初学者对话困难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FangSong"/>
                        </a:defRPr>
                      </a:pPr>
                      <a:r>
                        <a:t>探索层不扎实 → 协作层无料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FangSong"/>
                        </a:defRPr>
                      </a:pPr>
                      <a:r>
                        <a:t>提问缺乏context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FangSong"/>
                        </a:defRPr>
                      </a:pPr>
                      <a:r>
                        <a:t>只给呈现层描述，未暴露协作层信息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FangSong"/>
                        </a:defRPr>
                      </a:pPr>
                      <a:r>
                        <a:t>组会抓不住重点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FangSong"/>
                        </a:defRPr>
                      </a:pPr>
                      <a:r>
                        <a:t>探索层内容搬到呈现层场合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731520" y="4069079"/>
            <a:ext cx="54864" cy="2423160"/>
          </a:xfrm>
          <a:prstGeom prst="rect">
            <a:avLst/>
          </a:prstGeom>
          <a:solidFill>
            <a:srgbClr val="B85450"/>
          </a:solidFill>
          <a:ln w="12700">
            <a:solidFill>
              <a:srgbClr val="B854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4069079"/>
            <a:ext cx="10536631" cy="11658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B85450"/>
                </a:solidFill>
                <a:latin typeface="FangSong"/>
              </a:defRPr>
            </a:pPr>
            <a:r>
              <a:t>本质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3544" y="5326379"/>
            <a:ext cx="10536631" cy="11658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1E293B"/>
                </a:solidFill>
                <a:latin typeface="FangSong"/>
              </a:defRPr>
            </a:pPr>
            <a:r>
              <a:t>信息的层级与接收方的期待不匹配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par>
              <p:cTn id="3" fill="hold">
                <p:stCondLst>
                  <p:cond delay="0"/>
                </p:stCondLst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set>
                          <p:cBhvr>
                            <p:cTn id="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6" fill="hold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set>
                          <p:cBhvr>
                            <p:cTn id="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childTnLst>
              </p:cTn>
            </p:par>
            <p:seq concurrent="1" nextAc="seek">
              <p:cTn id="10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0"/>
            <a:ext cx="1072865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1E293B"/>
                </a:solidFill>
                <a:latin typeface="FangSong"/>
              </a:defRPr>
            </a:pPr>
            <a:r>
              <a:t>元能力：在三层之间自由切换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>
                <a:solidFill>
                  <a:srgbClr val="64748B"/>
                </a:solidFill>
                <a:latin typeface="FangSong"/>
              </a:defRPr>
            </a:pPr>
            <a:r>
              <a:t>正向构建 × 逆向解构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E293B"/>
                </a:solidFill>
                <a:latin typeface="FangSong"/>
              </a:defRPr>
            </a:pPr>
            <a:r>
              <a:t>两个方向的层间切换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97280" cy="36576"/>
          </a:xfrm>
          <a:prstGeom prst="rect">
            <a:avLst/>
          </a:prstGeom>
          <a:solidFill>
            <a:srgbClr val="3B6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9082735" cy="11087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3B6B9D"/>
                </a:solidFill>
                <a:latin typeface="FangSong"/>
              </a:defRPr>
            </a:pPr>
            <a:r>
              <a:t>正向构建：从探索到呈现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708910"/>
            <a:ext cx="1706819" cy="1108710"/>
          </a:xfrm>
          <a:prstGeom prst="roundRect">
            <a:avLst/>
          </a:prstGeom>
          <a:solidFill>
            <a:srgbClr val="4A8B7F"/>
          </a:solidFill>
          <a:ln w="12700">
            <a:solidFill>
              <a:srgbClr val="C8C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0">
                <a:solidFill>
                  <a:srgbClr val="1E293B"/>
                </a:solidFill>
                <a:latin typeface="FangSong"/>
              </a:defRPr>
            </a:pPr>
            <a:r>
              <a:t>探索层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438339" y="3263264"/>
            <a:ext cx="1981139" cy="0"/>
          </a:xfrm>
          <a:prstGeom prst="line">
            <a:avLst/>
          </a:prstGeom>
          <a:ln w="1905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4419478" y="2708910"/>
            <a:ext cx="1706819" cy="1108710"/>
          </a:xfrm>
          <a:prstGeom prst="roundRect">
            <a:avLst/>
          </a:prstGeom>
          <a:solidFill>
            <a:srgbClr val="C27C3E"/>
          </a:solidFill>
          <a:ln w="12700">
            <a:solidFill>
              <a:srgbClr val="C8C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0">
                <a:solidFill>
                  <a:srgbClr val="1E293B"/>
                </a:solidFill>
                <a:latin typeface="FangSong"/>
              </a:defRPr>
            </a:pPr>
            <a:r>
              <a:t>协作层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126297" y="3263264"/>
            <a:ext cx="1981139" cy="0"/>
          </a:xfrm>
          <a:prstGeom prst="line">
            <a:avLst/>
          </a:prstGeom>
          <a:ln w="1905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8107436" y="2708910"/>
            <a:ext cx="1706819" cy="1108710"/>
          </a:xfrm>
          <a:prstGeom prst="roundRect">
            <a:avLst/>
          </a:prstGeom>
          <a:solidFill>
            <a:srgbClr val="3B6B9D"/>
          </a:solidFill>
          <a:ln w="12700">
            <a:solidFill>
              <a:srgbClr val="C8C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0">
                <a:solidFill>
                  <a:srgbClr val="1E293B"/>
                </a:solidFill>
                <a:latin typeface="FangSong"/>
              </a:defRPr>
            </a:pPr>
            <a:r>
              <a:t>呈现层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046220"/>
            <a:ext cx="9082735" cy="11087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4A8B7F"/>
                </a:solidFill>
                <a:latin typeface="FangSong"/>
              </a:defRPr>
            </a:pPr>
            <a:r>
              <a:t>逆向解构：从呈现到探索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383529"/>
            <a:ext cx="1706819" cy="1108710"/>
          </a:xfrm>
          <a:prstGeom prst="roundRect">
            <a:avLst/>
          </a:prstGeom>
          <a:solidFill>
            <a:srgbClr val="3B6B9D"/>
          </a:solidFill>
          <a:ln w="12700">
            <a:solidFill>
              <a:srgbClr val="C8C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0">
                <a:solidFill>
                  <a:srgbClr val="1E293B"/>
                </a:solidFill>
                <a:latin typeface="FangSong"/>
              </a:defRPr>
            </a:pPr>
            <a:r>
              <a:t>呈现层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438339" y="5937884"/>
            <a:ext cx="1981139" cy="0"/>
          </a:xfrm>
          <a:prstGeom prst="line">
            <a:avLst/>
          </a:prstGeom>
          <a:ln w="1905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4419478" y="5383529"/>
            <a:ext cx="1706819" cy="1108710"/>
          </a:xfrm>
          <a:prstGeom prst="roundRect">
            <a:avLst/>
          </a:prstGeom>
          <a:solidFill>
            <a:srgbClr val="C27C3E"/>
          </a:solidFill>
          <a:ln w="12700">
            <a:solidFill>
              <a:srgbClr val="C8C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0">
                <a:solidFill>
                  <a:srgbClr val="1E293B"/>
                </a:solidFill>
                <a:latin typeface="FangSong"/>
              </a:defRPr>
            </a:pPr>
            <a:r>
              <a:t>协作层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126297" y="5937884"/>
            <a:ext cx="1981139" cy="0"/>
          </a:xfrm>
          <a:prstGeom prst="line">
            <a:avLst/>
          </a:prstGeom>
          <a:ln w="1905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8107436" y="5383529"/>
            <a:ext cx="1706819" cy="1108710"/>
          </a:xfrm>
          <a:prstGeom prst="roundRect">
            <a:avLst/>
          </a:prstGeom>
          <a:solidFill>
            <a:srgbClr val="4A8B7F"/>
          </a:solidFill>
          <a:ln w="12700">
            <a:solidFill>
              <a:srgbClr val="C8C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0">
                <a:solidFill>
                  <a:srgbClr val="1E293B"/>
                </a:solidFill>
                <a:latin typeface="FangSong"/>
              </a:defRPr>
            </a:pPr>
            <a:r>
              <a:t>探索层</a:t>
            </a:r>
          </a:p>
        </p:txBody>
      </p:sp>
      <p:pic>
        <p:nvPicPr>
          <p:cNvPr id="16" name="Picture 15" descr="tmp171p6u4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88575" y="3246120"/>
            <a:ext cx="1371600" cy="13716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par>
              <p:cTn id="3" fill="hold">
                <p:stCondLst>
                  <p:cond delay="0"/>
                </p:stCondLst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set>
                          <p:cBhvr>
                            <p:cTn id="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6" fill="hold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set>
                          <p:cBhvr>
                            <p:cTn id="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0" fill="hold">
                      <p:stCondLst>
                        <p:cond delay="0"/>
                      </p:stCondLst>
                      <p:childTnLst>
                        <p:set>
                          <p:cBhvr>
                            <p:cTn id="1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2" fill="hold">
                      <p:stCondLst>
                        <p:cond delay="0"/>
                      </p:stCondLst>
                      <p:childTnLst>
                        <p:set>
                          <p:cBhvr>
                            <p:cTn id="1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4" fill="hold">
                      <p:stCondLst>
                        <p:cond delay="0"/>
                      </p:stCondLst>
                      <p:childTnLst>
                        <p:set>
                          <p:cBhvr>
                            <p:cTn id="1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6" fill="hold">
                      <p:stCondLst>
                        <p:cond delay="0"/>
                      </p:stCondLst>
                      <p:childTnLst>
                        <p:set>
                          <p:cBhvr>
                            <p:cTn id="1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8" fill="hold">
                      <p:stCondLst>
                        <p:cond delay="0"/>
                      </p:stCondLst>
                      <p:childTnLst>
                        <p:set>
                          <p:cBhvr>
                            <p:cTn id="1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0" fill="hold">
                      <p:stCondLst>
                        <p:cond delay="0"/>
                      </p:stCondLst>
                      <p:childTnLst>
                        <p:set>
                          <p:cBhvr>
                            <p:cTn id="2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2" fill="hold">
                      <p:stCondLst>
                        <p:cond delay="0"/>
                      </p:stCondLst>
                      <p:childTnLst>
                        <p:set>
                          <p:cBhvr>
                            <p:cTn id="2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4" fill="hold">
                      <p:stCondLst>
                        <p:cond delay="0"/>
                      </p:stCondLst>
                      <p:childTnLst>
                        <p:set>
                          <p:cBhvr>
                            <p:cTn id="2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childTnLst>
              </p:cTn>
            </p:par>
            <p:seq concurrent="1" nextAc="seek">
              <p:cTn id="26" dur="indefinite" nodeType="mainSeq">
                <p:childTnLst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E293B"/>
                </a:solidFill>
                <a:latin typeface="FangSong"/>
              </a:defRPr>
            </a:pPr>
            <a:r>
              <a:t>正向构建：两次压缩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97280" cy="36576"/>
          </a:xfrm>
          <a:prstGeom prst="rect">
            <a:avLst/>
          </a:prstGeom>
          <a:solidFill>
            <a:srgbClr val="3B6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3393338" cy="1120139"/>
          </a:xfrm>
          <a:prstGeom prst="roundRect">
            <a:avLst/>
          </a:prstGeom>
          <a:solidFill>
            <a:srgbClr val="4A8B7F"/>
          </a:solidFill>
          <a:ln w="12700">
            <a:solidFill>
              <a:srgbClr val="C8C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0">
                <a:solidFill>
                  <a:srgbClr val="FFFFFF"/>
                </a:solidFill>
                <a:latin typeface="FangSong"/>
              </a:defRPr>
            </a:pPr>
            <a:r>
              <a:t>探索 → 协作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74620"/>
            <a:ext cx="3393338" cy="11201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64748B"/>
                </a:solidFill>
                <a:latin typeface="FangSong"/>
              </a:defRPr>
            </a:pPr>
            <a:r>
              <a:t>提炼值得讨论的发现</a:t>
            </a:r>
          </a:p>
          <a:p>
            <a:pPr algn="l">
              <a:defRPr sz="1400" b="0" i="0">
                <a:solidFill>
                  <a:srgbClr val="64748B"/>
                </a:solidFill>
                <a:latin typeface="FangSong"/>
              </a:defRPr>
            </a:pPr>
            <a:r>
              <a:t>和需要判断的决策点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124858" y="2583180"/>
            <a:ext cx="3941978" cy="0"/>
          </a:xfrm>
          <a:prstGeom prst="line">
            <a:avLst/>
          </a:prstGeom>
          <a:ln w="19050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8066836" y="1371600"/>
            <a:ext cx="3393338" cy="1120139"/>
          </a:xfrm>
          <a:prstGeom prst="roundRect">
            <a:avLst/>
          </a:prstGeom>
          <a:solidFill>
            <a:srgbClr val="3B6B9D"/>
          </a:solidFill>
          <a:ln w="12700">
            <a:solidFill>
              <a:srgbClr val="C8C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0">
                <a:solidFill>
                  <a:srgbClr val="FFFFFF"/>
                </a:solidFill>
                <a:latin typeface="FangSong"/>
              </a:defRPr>
            </a:pPr>
            <a:r>
              <a:t>协作 → 呈现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66836" y="2674620"/>
            <a:ext cx="3393338" cy="11201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64748B"/>
                </a:solidFill>
                <a:latin typeface="FangSong"/>
              </a:defRPr>
            </a:pPr>
            <a:r>
              <a:t>构建对外部读者</a:t>
            </a:r>
          </a:p>
          <a:p>
            <a:pPr algn="l">
              <a:defRPr sz="1400" b="0" i="0">
                <a:solidFill>
                  <a:srgbClr val="64748B"/>
                </a:solidFill>
                <a:latin typeface="FangSong"/>
              </a:defRPr>
            </a:pPr>
            <a:r>
              <a:t>自洽的叙事线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4069079"/>
            <a:ext cx="54864" cy="2423160"/>
          </a:xfrm>
          <a:prstGeom prst="rect">
            <a:avLst/>
          </a:prstGeom>
          <a:solidFill>
            <a:srgbClr val="C27C3E"/>
          </a:solidFill>
          <a:ln w="12700">
            <a:solidFill>
              <a:srgbClr val="C27C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3544" y="4069079"/>
            <a:ext cx="10536631" cy="11658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C27C3E"/>
                </a:solidFill>
                <a:latin typeface="FangSong"/>
              </a:defRPr>
            </a:pPr>
            <a:r>
              <a:t>关键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5326379"/>
            <a:ext cx="10536631" cy="11658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1E293B"/>
                </a:solidFill>
                <a:latin typeface="FangSong"/>
              </a:defRPr>
            </a:pPr>
            <a:r>
              <a:t>不需要列举所有尝试，但需要说明判断依据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par>
              <p:cTn id="3" fill="hold">
                <p:stCondLst>
                  <p:cond delay="0"/>
                </p:stCondLst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set>
                          <p:cBhvr>
                            <p:cTn id="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6" fill="hold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set>
                          <p:cBhvr>
                            <p:cTn id="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0" fill="hold">
                      <p:stCondLst>
                        <p:cond delay="0"/>
                      </p:stCondLst>
                      <p:childTnLst>
                        <p:set>
                          <p:cBhvr>
                            <p:cTn id="1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2" fill="hold">
                      <p:stCondLst>
                        <p:cond delay="0"/>
                      </p:stCondLst>
                      <p:childTnLst>
                        <p:set>
                          <p:cBhvr>
                            <p:cTn id="1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4" fill="hold">
                      <p:stCondLst>
                        <p:cond delay="0"/>
                      </p:stCondLst>
                      <p:childTnLst>
                        <p:set>
                          <p:cBhvr>
                            <p:cTn id="1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childTnLst>
              </p:cTn>
            </p:par>
            <p:seq concurrent="1" nextAc="seek">
              <p:cTn id="16" dur="indefinite" nodeType="mainSeq">
                <p:childTnLst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E293B"/>
                </a:solidFill>
                <a:latin typeface="FangSong"/>
              </a:defRPr>
            </a:pPr>
            <a:r>
              <a:t>逆向解构：透过论文还原过程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97280" cy="36576"/>
          </a:xfrm>
          <a:prstGeom prst="rect">
            <a:avLst/>
          </a:prstGeom>
          <a:solidFill>
            <a:srgbClr val="3B6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728655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1">
                <a:solidFill>
                  <a:srgbClr val="64748B"/>
                </a:solidFill>
                <a:latin typeface="FangSong"/>
              </a:defRPr>
            </a:pPr>
            <a:r>
              <a:t>论文："覆盖5种语言，1000个问题，评估8个LLM"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154680"/>
            <a:ext cx="3393338" cy="1554480"/>
          </a:xfrm>
          <a:prstGeom prst="roundRect">
            <a:avLst/>
          </a:prstGeom>
          <a:solidFill>
            <a:srgbClr val="F7F8FA"/>
          </a:solidFill>
          <a:ln w="12700">
            <a:solidFill>
              <a:srgbClr val="C8C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0">
                <a:solidFill>
                  <a:srgbClr val="1E293B"/>
                </a:solidFill>
                <a:latin typeface="FangSong"/>
              </a:defRPr>
            </a:pPr>
            <a:r>
              <a:t>为什么是这5种语言？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99178" y="3154680"/>
            <a:ext cx="3393338" cy="1554480"/>
          </a:xfrm>
          <a:prstGeom prst="roundRect">
            <a:avLst/>
          </a:prstGeom>
          <a:solidFill>
            <a:srgbClr val="F7F8FA"/>
          </a:solidFill>
          <a:ln w="12700">
            <a:solidFill>
              <a:srgbClr val="C8C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0">
                <a:solidFill>
                  <a:srgbClr val="1E293B"/>
                </a:solidFill>
                <a:latin typeface="FangSong"/>
              </a:defRPr>
            </a:pPr>
            <a:r>
              <a:t>1000题如何筛选？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66836" y="3154680"/>
            <a:ext cx="3393338" cy="1554480"/>
          </a:xfrm>
          <a:prstGeom prst="roundRect">
            <a:avLst/>
          </a:prstGeom>
          <a:solidFill>
            <a:srgbClr val="F7F8FA"/>
          </a:solidFill>
          <a:ln w="12700">
            <a:solidFill>
              <a:srgbClr val="C8C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0">
                <a:solidFill>
                  <a:srgbClr val="1E293B"/>
                </a:solidFill>
                <a:latin typeface="FangSong"/>
              </a:defRPr>
            </a:pPr>
            <a:r>
              <a:t>8个模型选择标准？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4937760"/>
            <a:ext cx="54864" cy="1554480"/>
          </a:xfrm>
          <a:prstGeom prst="rect">
            <a:avLst/>
          </a:prstGeom>
          <a:solidFill>
            <a:srgbClr val="3B6B9D"/>
          </a:solidFill>
          <a:ln w="12700">
            <a:solidFill>
              <a:srgbClr val="3B6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4937760"/>
            <a:ext cx="10536631" cy="731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3B6B9D"/>
                </a:solidFill>
                <a:latin typeface="FangSong"/>
              </a:defRPr>
            </a:pPr>
            <a:r>
              <a:t>收益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" y="5760720"/>
            <a:ext cx="10536631" cy="731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1E293B"/>
                </a:solidFill>
                <a:latin typeface="FangSong"/>
              </a:defRPr>
            </a:pPr>
            <a:r>
              <a:t>更准确评估贡献 · 更好判断边界 · 更高效改进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par>
              <p:cTn id="3" fill="hold">
                <p:stCondLst>
                  <p:cond delay="0"/>
                </p:stCondLst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set>
                          <p:cBhvr>
                            <p:cTn id="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6" fill="hold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set>
                          <p:cBhvr>
                            <p:cTn id="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0" fill="hold">
                      <p:stCondLst>
                        <p:cond delay="0"/>
                      </p:stCondLst>
                      <p:childTnLst>
                        <p:set>
                          <p:cBhvr>
                            <p:cTn id="1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2" fill="hold">
                      <p:stCondLst>
                        <p:cond delay="0"/>
                      </p:stCondLst>
                      <p:childTnLst>
                        <p:set>
                          <p:cBhvr>
                            <p:cTn id="1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4" fill="hold">
                      <p:stCondLst>
                        <p:cond delay="0"/>
                      </p:stCondLst>
                      <p:childTnLst>
                        <p:set>
                          <p:cBhvr>
                            <p:cTn id="1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childTnLst>
              </p:cTn>
            </p:par>
            <p:seq concurrent="1" nextAc="seek">
              <p:cTn id="16" dur="indefinite" nodeType="mainSeq">
                <p:childTnLst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E293B"/>
                </a:solidFill>
                <a:latin typeface="FangSong"/>
              </a:defRPr>
            </a:pPr>
            <a:r>
              <a:t>熟练度的差异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97280" cy="36576"/>
          </a:xfrm>
          <a:prstGeom prst="rect">
            <a:avLst/>
          </a:prstGeom>
          <a:solidFill>
            <a:srgbClr val="3B6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3B6B9D"/>
                </a:solidFill>
                <a:latin typeface="FangSong"/>
              </a:defRPr>
            </a:pPr>
            <a:r>
              <a:t>初学者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5135727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1E293B"/>
                </a:solidFill>
                <a:latin typeface="FangSong"/>
              </a:defRPr>
              <a:buChar char="•"/>
            </a:pPr>
            <a:r>
              <a:t>探索层：零散、无记录</a:t>
            </a:r>
          </a:p>
          <a:p>
            <a:pPr>
              <a:defRPr sz="1800">
                <a:solidFill>
                  <a:srgbClr val="1E293B"/>
                </a:solidFill>
                <a:latin typeface="FangSong"/>
              </a:defRPr>
              <a:buChar char="•"/>
            </a:pPr>
            <a:r>
              <a:t>协作层：全倒或太少</a:t>
            </a:r>
          </a:p>
          <a:p>
            <a:pPr>
              <a:defRPr sz="1800">
                <a:solidFill>
                  <a:srgbClr val="1E293B"/>
                </a:solidFill>
                <a:latin typeface="FangSong"/>
              </a:defRPr>
              <a:buChar char="•"/>
            </a:pPr>
            <a:r>
              <a:t>呈现层：流水账或空洞</a:t>
            </a:r>
          </a:p>
          <a:p>
            <a:pPr>
              <a:defRPr sz="1800">
                <a:solidFill>
                  <a:srgbClr val="1E293B"/>
                </a:solidFill>
                <a:latin typeface="FangSong"/>
              </a:defRPr>
              <a:buChar char="•"/>
            </a:pPr>
            <a:r>
              <a:t>读论文：只看到呈现层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24447" y="137160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4A8B7F"/>
                </a:solidFill>
                <a:latin typeface="FangSong"/>
              </a:defRPr>
            </a:pPr>
            <a:r>
              <a:t>熟练研究者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4447" y="2103120"/>
            <a:ext cx="5135727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1E293B"/>
                </a:solidFill>
                <a:latin typeface="FangSong"/>
              </a:defRPr>
              <a:buChar char="•"/>
            </a:pPr>
            <a:r>
              <a:t>探索层：结构化记录</a:t>
            </a:r>
          </a:p>
          <a:p>
            <a:pPr>
              <a:defRPr sz="1800">
                <a:solidFill>
                  <a:srgbClr val="1E293B"/>
                </a:solidFill>
                <a:latin typeface="FangSong"/>
              </a:defRPr>
              <a:buChar char="•"/>
            </a:pPr>
            <a:r>
              <a:t>协作层：精准高效</a:t>
            </a:r>
          </a:p>
          <a:p>
            <a:pPr>
              <a:defRPr sz="1800">
                <a:solidFill>
                  <a:srgbClr val="1E293B"/>
                </a:solidFill>
                <a:latin typeface="FangSong"/>
              </a:defRPr>
              <a:buChar char="•"/>
            </a:pPr>
            <a:r>
              <a:t>呈现层：清晰有力</a:t>
            </a:r>
          </a:p>
          <a:p>
            <a:pPr>
              <a:defRPr sz="1800">
                <a:solidFill>
                  <a:srgbClr val="1E293B"/>
                </a:solidFill>
                <a:latin typeface="FangSong"/>
              </a:defRPr>
              <a:buChar char="•"/>
            </a:pPr>
            <a:r>
              <a:t>读论文：读出弦外之音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0"/>
            <a:ext cx="1072865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1E293B"/>
                </a:solidFill>
                <a:latin typeface="FangSong"/>
              </a:defRPr>
            </a:pPr>
            <a:r>
              <a:t>实践建议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>
                <a:solidFill>
                  <a:srgbClr val="64748B"/>
                </a:solidFill>
                <a:latin typeface="FangSong"/>
              </a:defRPr>
            </a:pPr>
            <a:r>
              <a:t>从探索层到呈现层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E293B"/>
                </a:solidFill>
                <a:latin typeface="FangSong"/>
              </a:defRPr>
            </a:pPr>
            <a:r>
              <a:t>维护探索层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97280" cy="36576"/>
          </a:xfrm>
          <a:prstGeom prst="rect">
            <a:avLst/>
          </a:prstGeom>
          <a:solidFill>
            <a:srgbClr val="3B6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54864" cy="1554480"/>
          </a:xfrm>
          <a:prstGeom prst="rect">
            <a:avLst/>
          </a:prstGeom>
          <a:solidFill>
            <a:srgbClr val="3B6B9D"/>
          </a:solidFill>
          <a:ln w="12700">
            <a:solidFill>
              <a:srgbClr val="3B6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23544" y="1371600"/>
            <a:ext cx="8890711" cy="731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3B6B9D"/>
                </a:solidFill>
                <a:latin typeface="FangSong"/>
              </a:defRPr>
            </a:pPr>
            <a:r>
              <a:t>核心原则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23544" y="2194560"/>
            <a:ext cx="8890711" cy="731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1E293B"/>
                </a:solidFill>
                <a:latin typeface="FangSong"/>
              </a:defRPr>
            </a:pPr>
            <a:r>
              <a:t>以"两周后的自己能看懂"为标准记录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154680"/>
            <a:ext cx="9082735" cy="731519"/>
          </a:xfrm>
          <a:prstGeom prst="round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FangSong"/>
              </a:defRPr>
            </a:pPr>
            <a:r>
              <a:t>实验记录模板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977639"/>
            <a:ext cx="9082735" cy="731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E293B"/>
                </a:solidFill>
                <a:latin typeface="FangSong"/>
              </a:defRPr>
              <a:buChar char="•"/>
            </a:pPr>
            <a:r>
              <a:t>做了什么：Defects4J + BM25检索few-shot</a:t>
            </a:r>
          </a:p>
          <a:p>
            <a:pPr>
              <a:defRPr sz="1400">
                <a:solidFill>
                  <a:srgbClr val="1E293B"/>
                </a:solidFill>
                <a:latin typeface="FangSong"/>
              </a:defRPr>
              <a:buChar char="•"/>
            </a:pPr>
            <a:r>
              <a:t>结果：plausible patch 18%→27%</a:t>
            </a:r>
          </a:p>
          <a:p>
            <a:pPr>
              <a:defRPr sz="1400">
                <a:solidFill>
                  <a:srgbClr val="1E293B"/>
                </a:solidFill>
                <a:latin typeface="FangSong"/>
              </a:defRPr>
              <a:buChar char="•"/>
            </a:pPr>
            <a:r>
              <a:t>分析：相似示例帮编译不帮语义</a:t>
            </a:r>
          </a:p>
          <a:p>
            <a:pPr>
              <a:defRPr sz="1400">
                <a:solidFill>
                  <a:srgbClr val="1E293B"/>
                </a:solidFill>
                <a:latin typeface="FangSong"/>
              </a:defRPr>
              <a:buChar char="•"/>
            </a:pPr>
            <a:r>
              <a:t>下一步：尝试AST结构相似性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937760"/>
            <a:ext cx="9082735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C27C3E"/>
                </a:solidFill>
                <a:latin typeface="FangSong"/>
              </a:defRPr>
            </a:pPr>
            <a:r>
              <a:t>关键：记录推理链，不只是记录操作</a:t>
            </a:r>
          </a:p>
        </p:txBody>
      </p:sp>
      <p:pic>
        <p:nvPicPr>
          <p:cNvPr id="10" name="Picture 9" descr="tmpmvi0z5s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88575" y="3246120"/>
            <a:ext cx="1371600" cy="13716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par>
              <p:cTn id="3" fill="hold">
                <p:stCondLst>
                  <p:cond delay="0"/>
                </p:stCondLst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set>
                          <p:cBhvr>
                            <p:cTn id="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6" fill="hold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set>
                          <p:cBhvr>
                            <p:cTn id="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0" fill="hold">
                      <p:stCondLst>
                        <p:cond delay="0"/>
                      </p:stCondLst>
                      <p:childTnLst>
                        <p:set>
                          <p:cBhvr>
                            <p:cTn id="1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childTnLst>
              </p:cTn>
            </p:par>
            <p:seq concurrent="1" nextAc="seek">
              <p:cTn id="12" dur="indefinite" nodeType="mainSeq">
                <p:childTnLst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E293B"/>
                </a:solidFill>
                <a:latin typeface="FangSong"/>
              </a:defRPr>
            </a:pPr>
            <a:r>
              <a:t>在协作层找到合适的粒度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97280" cy="36576"/>
          </a:xfrm>
          <a:prstGeom prst="rect">
            <a:avLst/>
          </a:prstGeom>
          <a:solidFill>
            <a:srgbClr val="3B6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9265615" cy="2446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1E293B"/>
                </a:solidFill>
                <a:latin typeface="FangSong"/>
              </a:defRPr>
              <a:buChar char="•"/>
            </a:pPr>
            <a:r>
              <a:t>需要对方帮助判断什么？</a:t>
            </a:r>
          </a:p>
          <a:p>
            <a:pPr>
              <a:defRPr sz="1800">
                <a:solidFill>
                  <a:srgbClr val="1E293B"/>
                </a:solidFill>
                <a:latin typeface="FangSong"/>
              </a:defRPr>
              <a:buChar char="•"/>
            </a:pPr>
            <a:r>
              <a:t>对方需要哪些信息才能判断？</a:t>
            </a:r>
          </a:p>
          <a:p>
            <a:pPr>
              <a:defRPr sz="1800">
                <a:solidFill>
                  <a:srgbClr val="1E293B"/>
                </a:solidFill>
                <a:latin typeface="FangSong"/>
              </a:defRPr>
              <a:buChar char="•"/>
            </a:pPr>
            <a:r>
              <a:t>哪些是自己应处理的执行细节？</a:t>
            </a:r>
          </a:p>
        </p:txBody>
      </p:sp>
      <p:pic>
        <p:nvPicPr>
          <p:cNvPr id="5" name="Picture 4" descr="tmpo8le8v4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2000250"/>
            <a:ext cx="1188720" cy="11887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4046220"/>
            <a:ext cx="5227167" cy="1177289"/>
          </a:xfrm>
          <a:prstGeom prst="roundRect">
            <a:avLst/>
          </a:prstGeom>
          <a:solidFill>
            <a:srgbClr val="B854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FangSong"/>
              </a:defRPr>
            </a:pPr>
            <a:r>
              <a:t>信息过载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314950"/>
            <a:ext cx="5227167" cy="11772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E293B"/>
                </a:solidFill>
                <a:latin typeface="FangSong"/>
              </a:defRPr>
              <a:buChar char="•"/>
            </a:pPr>
            <a:r>
              <a:t>试了BM25、TF-IDF、CodeBERT</a:t>
            </a:r>
          </a:p>
          <a:p>
            <a:pPr>
              <a:defRPr sz="1400">
                <a:solidFill>
                  <a:srgbClr val="1E293B"/>
                </a:solidFill>
                <a:latin typeface="FangSong"/>
              </a:defRPr>
              <a:buChar char="•"/>
            </a:pPr>
            <a:r>
              <a:t>top-k试了1、3、5、10</a:t>
            </a:r>
          </a:p>
          <a:p>
            <a:pPr>
              <a:defRPr sz="1400">
                <a:solidFill>
                  <a:srgbClr val="1E293B"/>
                </a:solidFill>
                <a:latin typeface="FangSong"/>
              </a:defRPr>
              <a:buChar char="•"/>
            </a:pPr>
            <a:r>
              <a:t>CodeBERT遇到OOM……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3007" y="4046220"/>
            <a:ext cx="5227167" cy="1177289"/>
          </a:xfrm>
          <a:prstGeom prst="roundRect">
            <a:avLst/>
          </a:prstGeom>
          <a:solidFill>
            <a:srgbClr val="4A7C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FangSong"/>
              </a:defRPr>
            </a:pPr>
            <a:r>
              <a:t>聚焦决策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33007" y="5314950"/>
            <a:ext cx="5227167" cy="11772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E293B"/>
                </a:solidFill>
                <a:latin typeface="FangSong"/>
              </a:defRPr>
              <a:buChar char="•"/>
            </a:pPr>
            <a:r>
              <a:t>三种策略对比，BM25和CodeBERT接近</a:t>
            </a:r>
          </a:p>
          <a:p>
            <a:pPr>
              <a:defRPr sz="1400">
                <a:solidFill>
                  <a:srgbClr val="1E293B"/>
                </a:solidFill>
                <a:latin typeface="FangSong"/>
              </a:defRPr>
              <a:buChar char="•"/>
            </a:pPr>
            <a:r>
              <a:t>计算开销差异大，倾向BM25</a:t>
            </a:r>
          </a:p>
          <a:p>
            <a:pPr>
              <a:defRPr sz="1400">
                <a:solidFill>
                  <a:srgbClr val="1E293B"/>
                </a:solidFill>
                <a:latin typeface="FangSong"/>
              </a:defRPr>
              <a:buChar char="•"/>
            </a:pPr>
            <a:r>
              <a:t>是否值得混合方案？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par>
              <p:cTn id="3" fill="hold">
                <p:stCondLst>
                  <p:cond delay="0"/>
                </p:stCondLst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set>
                          <p:cBhvr>
                            <p:cTn id="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6" fill="hold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set>
                          <p:cBhvr>
                            <p:cTn id="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0" fill="hold">
                      <p:stCondLst>
                        <p:cond delay="0"/>
                      </p:stCondLst>
                      <p:childTnLst>
                        <p:set>
                          <p:cBhvr>
                            <p:cTn id="1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childTnLst>
              </p:cTn>
            </p:par>
            <p:seq concurrent="1" nextAc="seek">
              <p:cTn id="12" dur="indefinite" nodeType="mainSeq">
                <p:childTnLst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E293B"/>
                </a:solidFill>
                <a:latin typeface="FangSong"/>
              </a:defRPr>
            </a:pPr>
            <a:r>
              <a:t>呈现层构建 与 逆向解构练习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97280" cy="36576"/>
          </a:xfrm>
          <a:prstGeom prst="rect">
            <a:avLst/>
          </a:prstGeom>
          <a:solidFill>
            <a:srgbClr val="3B6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135727" cy="2468879"/>
          </a:xfrm>
          <a:prstGeom prst="roundRect">
            <a:avLst/>
          </a:prstGeom>
          <a:solidFill>
            <a:srgbClr val="3B6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FangSong"/>
              </a:defRPr>
            </a:pPr>
            <a:r>
              <a:t>构建呈现层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023360"/>
            <a:ext cx="5135727" cy="2468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1E293B"/>
                </a:solidFill>
                <a:latin typeface="FangSong"/>
              </a:defRPr>
              <a:buChar char="•"/>
            </a:pPr>
            <a:r>
              <a:t>先结论后过程</a:t>
            </a:r>
          </a:p>
          <a:p>
            <a:pPr>
              <a:defRPr sz="1800">
                <a:solidFill>
                  <a:srgbClr val="1E293B"/>
                </a:solidFill>
                <a:latin typeface="FangSong"/>
              </a:defRPr>
              <a:buChar char="•"/>
            </a:pPr>
            <a:r>
              <a:t>只保留支撑结论的证据</a:t>
            </a:r>
          </a:p>
          <a:p>
            <a:pPr>
              <a:defRPr sz="1800">
                <a:solidFill>
                  <a:srgbClr val="1E293B"/>
                </a:solidFill>
                <a:latin typeface="FangSong"/>
              </a:defRPr>
              <a:buChar char="•"/>
            </a:pPr>
            <a:r>
              <a:t>时间线重构是正常的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24447" y="1371600"/>
            <a:ext cx="5135727" cy="2468879"/>
          </a:xfrm>
          <a:prstGeom prst="roundRect">
            <a:avLst/>
          </a:prstGeom>
          <a:solidFill>
            <a:srgbClr val="4A8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FangSong"/>
              </a:defRPr>
            </a:pPr>
            <a:r>
              <a:t>逆向解构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4447" y="4023360"/>
            <a:ext cx="5135727" cy="2468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1E293B"/>
                </a:solidFill>
                <a:latin typeface="FangSong"/>
              </a:defRPr>
              <a:buChar char="•"/>
            </a:pPr>
            <a:r>
              <a:t>作者呈现了什么？</a:t>
            </a:r>
          </a:p>
          <a:p>
            <a:pPr>
              <a:defRPr sz="1800">
                <a:solidFill>
                  <a:srgbClr val="1E293B"/>
                </a:solidFill>
                <a:latin typeface="FangSong"/>
              </a:defRPr>
              <a:buChar char="•"/>
            </a:pPr>
            <a:r>
              <a:t>为什么是这个叙事？</a:t>
            </a:r>
          </a:p>
          <a:p>
            <a:pPr>
              <a:defRPr sz="1800">
                <a:solidFill>
                  <a:srgbClr val="1E293B"/>
                </a:solidFill>
                <a:latin typeface="FangSong"/>
              </a:defRPr>
              <a:buChar char="•"/>
            </a:pPr>
            <a:r>
              <a:t>哪些实验没写进论文？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par>
              <p:cTn id="3" fill="hold">
                <p:stCondLst>
                  <p:cond delay="0"/>
                </p:stCondLst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set>
                          <p:cBhvr>
                            <p:cTn id="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6" fill="hold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childTnLst>
              </p:cTn>
            </p:par>
            <p:seq concurrent="1" nextAc="seek">
              <p:cTn id="8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E293B"/>
                </a:solidFill>
                <a:latin typeface="FangSong"/>
              </a:defRPr>
            </a:pPr>
            <a:r>
              <a:t>AI时代下的三层模型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97280" cy="36576"/>
          </a:xfrm>
          <a:prstGeom prst="rect">
            <a:avLst/>
          </a:prstGeom>
          <a:solidFill>
            <a:srgbClr val="3B6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mp3_8eld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75825" y="1371600"/>
            <a:ext cx="914400" cy="9144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31520" y="2377440"/>
            <a:ext cx="3454298" cy="1440179"/>
          </a:xfrm>
          <a:prstGeom prst="roundRect">
            <a:avLst/>
          </a:prstGeom>
          <a:solidFill>
            <a:srgbClr val="4A8B7F"/>
          </a:solidFill>
          <a:ln w="12700">
            <a:solidFill>
              <a:srgbClr val="C8C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0">
                <a:solidFill>
                  <a:srgbClr val="FFFFFF"/>
                </a:solidFill>
                <a:latin typeface="FangSong"/>
              </a:defRPr>
            </a:pPr>
            <a:r>
              <a:t>探索层 — AI可辅助</a:t>
            </a:r>
            <a:br/>
            <a:r>
              <a:t>执行、代码、记录</a:t>
            </a:r>
          </a:p>
        </p:txBody>
      </p:sp>
      <p:pic>
        <p:nvPicPr>
          <p:cNvPr id="6" name="Picture 5" descr="tmp4cex89s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8647" y="1371600"/>
            <a:ext cx="914400" cy="9144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368698" y="2377440"/>
            <a:ext cx="3454298" cy="1440179"/>
          </a:xfrm>
          <a:prstGeom prst="roundRect">
            <a:avLst/>
          </a:prstGeom>
          <a:solidFill>
            <a:srgbClr val="B85450"/>
          </a:solidFill>
          <a:ln w="12700">
            <a:solidFill>
              <a:srgbClr val="C8C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0">
                <a:solidFill>
                  <a:srgbClr val="FFFFFF"/>
                </a:solidFill>
                <a:latin typeface="FangSong"/>
              </a:defRPr>
            </a:pPr>
            <a:r>
              <a:t>协作层 — 不宜AI代劳</a:t>
            </a:r>
            <a:br/>
            <a:r>
              <a:t>凝练过程即核心价值</a:t>
            </a:r>
          </a:p>
        </p:txBody>
      </p:sp>
      <p:pic>
        <p:nvPicPr>
          <p:cNvPr id="8" name="Picture 7" descr="tmp3_8eld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75825" y="1371600"/>
            <a:ext cx="914400" cy="9144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005876" y="2377440"/>
            <a:ext cx="3454298" cy="1440179"/>
          </a:xfrm>
          <a:prstGeom prst="roundRect">
            <a:avLst/>
          </a:prstGeom>
          <a:solidFill>
            <a:srgbClr val="3B6B9D"/>
          </a:solidFill>
          <a:ln w="12700">
            <a:solidFill>
              <a:srgbClr val="C8C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0">
                <a:solidFill>
                  <a:srgbClr val="FFFFFF"/>
                </a:solidFill>
                <a:latin typeface="FangSong"/>
              </a:defRPr>
            </a:pPr>
            <a:r>
              <a:t>呈现层 — AI可辅助</a:t>
            </a:r>
            <a:br/>
            <a:r>
              <a:t>范式固定、执行可外包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4046220"/>
            <a:ext cx="54864" cy="2446020"/>
          </a:xfrm>
          <a:prstGeom prst="rect">
            <a:avLst/>
          </a:prstGeom>
          <a:solidFill>
            <a:srgbClr val="B85450"/>
          </a:solidFill>
          <a:ln w="12700">
            <a:solidFill>
              <a:srgbClr val="B854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3544" y="4046220"/>
            <a:ext cx="10536631" cy="11772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B85450"/>
                </a:solidFill>
                <a:latin typeface="FangSong"/>
              </a:defRPr>
            </a:pPr>
            <a:r>
              <a:t>为什么协作层不能交给AI？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3544" y="5314950"/>
            <a:ext cx="10536631" cy="11772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1E293B"/>
                </a:solidFill>
                <a:latin typeface="FangSong"/>
              </a:defRPr>
            </a:pPr>
            <a:r>
              <a:t>从探索到协作的压缩，本质上是在验证</a:t>
            </a:r>
          </a:p>
          <a:p>
            <a:pPr algn="l">
              <a:defRPr sz="1400" b="0" i="0">
                <a:solidFill>
                  <a:srgbClr val="1E293B"/>
                </a:solidFill>
                <a:latin typeface="FangSong"/>
              </a:defRPr>
            </a:pPr>
            <a:r>
              <a:t>自己是否真正理解了所做的事情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par>
              <p:cTn id="3" fill="hold">
                <p:stCondLst>
                  <p:cond delay="0"/>
                </p:stCondLst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set>
                          <p:cBhvr>
                            <p:cTn id="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6" fill="hold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set>
                          <p:cBhvr>
                            <p:cTn id="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childTnLst>
              </p:cTn>
            </p:par>
            <p:seq concurrent="1" nextAc="seek">
              <p:cTn id="10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E293B"/>
                </a:solidFill>
                <a:latin typeface="FangSong"/>
              </a:defRPr>
            </a:pPr>
            <a:r>
              <a:t>人的核心能力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97280" cy="36576"/>
          </a:xfrm>
          <a:prstGeom prst="rect">
            <a:avLst/>
          </a:prstGeom>
          <a:solidFill>
            <a:srgbClr val="3B6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54864" cy="2423160"/>
          </a:xfrm>
          <a:prstGeom prst="rect">
            <a:avLst/>
          </a:prstGeom>
          <a:solidFill>
            <a:srgbClr val="3B6B9D"/>
          </a:solidFill>
          <a:ln w="12700">
            <a:solidFill>
              <a:srgbClr val="3B6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23544" y="1371600"/>
            <a:ext cx="7884871" cy="11658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3B6B9D"/>
                </a:solidFill>
                <a:latin typeface="FangSong"/>
              </a:defRPr>
            </a:pPr>
            <a:r>
              <a:t>层间穿梭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23544" y="2628900"/>
            <a:ext cx="7884871" cy="11658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1E293B"/>
                </a:solidFill>
                <a:latin typeface="FangSong"/>
              </a:defRPr>
            </a:pPr>
            <a:r>
              <a:t>正向：从探索中提炼结构化理解</a:t>
            </a:r>
          </a:p>
          <a:p>
            <a:pPr algn="l">
              <a:defRPr sz="1400" b="0" i="0">
                <a:solidFill>
                  <a:srgbClr val="1E293B"/>
                </a:solidFill>
                <a:latin typeface="FangSong"/>
              </a:defRPr>
            </a:pPr>
            <a:r>
              <a:t>逆向：从呈现中还原决策过程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069079"/>
            <a:ext cx="8076895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1">
                <a:solidFill>
                  <a:srgbClr val="64748B"/>
                </a:solidFill>
                <a:latin typeface="FangSong"/>
              </a:defRPr>
            </a:pPr>
            <a:r>
              <a:t>工具会不断迭代</a:t>
            </a:r>
          </a:p>
          <a:p>
            <a:pPr algn="l">
              <a:defRPr sz="1800" b="0" i="1">
                <a:solidFill>
                  <a:srgbClr val="64748B"/>
                </a:solidFill>
                <a:latin typeface="FangSong"/>
              </a:defRPr>
            </a:pPr>
            <a:r>
              <a:t>但对信息结构的理解与掌控不会过时</a:t>
            </a:r>
          </a:p>
        </p:txBody>
      </p:sp>
      <p:pic>
        <p:nvPicPr>
          <p:cNvPr id="8" name="Picture 7" descr="tmp171p6u4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74175" y="2788920"/>
            <a:ext cx="2286000" cy="2286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par>
              <p:cTn id="3" fill="hold">
                <p:stCondLst>
                  <p:cond delay="0"/>
                </p:stCondLst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set>
                          <p:cBhvr>
                            <p:cTn id="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6" fill="hold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set>
                          <p:cBhvr>
                            <p:cTn id="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0" fill="hold">
                      <p:stCondLst>
                        <p:cond delay="0"/>
                      </p:stCondLst>
                      <p:childTnLst>
                        <p:set>
                          <p:cBhvr>
                            <p:cTn id="1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childTnLst>
              </p:cTn>
            </p:par>
            <p:seq concurrent="1" nextAc="seek">
              <p:cTn id="12" dur="indefinite" nodeType="mainSeq">
                <p:childTnLst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E293B"/>
                </a:solidFill>
                <a:latin typeface="FangSong"/>
              </a:defRPr>
            </a:pPr>
            <a:r>
              <a:t>术与道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97280" cy="36576"/>
          </a:xfrm>
          <a:prstGeom prst="rect">
            <a:avLst/>
          </a:prstGeom>
          <a:solidFill>
            <a:srgbClr val="3B6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4267047" cy="1154430"/>
          </a:xfrm>
          <a:prstGeom prst="roundRect">
            <a:avLst/>
          </a:prstGeom>
          <a:solidFill>
            <a:srgbClr val="3B6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FangSong"/>
              </a:defRPr>
            </a:pPr>
            <a:r>
              <a:t>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63189"/>
            <a:ext cx="4267047" cy="1154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1E293B"/>
                </a:solidFill>
                <a:latin typeface="FangSong"/>
              </a:defRPr>
              <a:buChar char="•"/>
            </a:pPr>
            <a:r>
              <a:t>理解信息的三层结构</a:t>
            </a:r>
          </a:p>
          <a:p>
            <a:pPr>
              <a:defRPr sz="1800">
                <a:solidFill>
                  <a:srgbClr val="1E293B"/>
                </a:solidFill>
                <a:latin typeface="FangSong"/>
              </a:defRPr>
              <a:buChar char="•"/>
            </a:pPr>
            <a:r>
              <a:t>掌握层间穿梭的能力</a:t>
            </a:r>
          </a:p>
          <a:p>
            <a:pPr>
              <a:defRPr sz="1800">
                <a:solidFill>
                  <a:srgbClr val="1E293B"/>
                </a:solidFill>
                <a:latin typeface="FangSong"/>
              </a:defRPr>
              <a:buChar char="•"/>
            </a:pPr>
            <a:r>
              <a:t>判断何时在哪层操作</a:t>
            </a:r>
          </a:p>
        </p:txBody>
      </p:sp>
      <p:pic>
        <p:nvPicPr>
          <p:cNvPr id="6" name="Picture 5" descr="tmp3um3w2p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2887" y="1771650"/>
            <a:ext cx="1645920" cy="16459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193127" y="1371600"/>
            <a:ext cx="4267047" cy="1154430"/>
          </a:xfrm>
          <a:prstGeom prst="round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FangSong"/>
              </a:defRPr>
            </a:pPr>
            <a:r>
              <a:t>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93127" y="2663189"/>
            <a:ext cx="4267047" cy="1154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1E293B"/>
                </a:solidFill>
                <a:latin typeface="FangSong"/>
              </a:defRPr>
              <a:buChar char="•"/>
            </a:pPr>
            <a:r>
              <a:t>实验记录模板与工具</a:t>
            </a:r>
          </a:p>
          <a:p>
            <a:pPr>
              <a:defRPr sz="1800">
                <a:solidFill>
                  <a:srgbClr val="1E293B"/>
                </a:solidFill>
                <a:latin typeface="FangSong"/>
              </a:defRPr>
              <a:buChar char="•"/>
            </a:pPr>
            <a:r>
              <a:t>组会汇报准备流程</a:t>
            </a:r>
          </a:p>
          <a:p>
            <a:pPr>
              <a:defRPr sz="1800">
                <a:solidFill>
                  <a:srgbClr val="1E293B"/>
                </a:solidFill>
                <a:latin typeface="FangSong"/>
              </a:defRPr>
              <a:buChar char="•"/>
            </a:pPr>
            <a:r>
              <a:t>论文写作结构范式</a:t>
            </a:r>
          </a:p>
          <a:p>
            <a:pPr>
              <a:defRPr sz="1800">
                <a:solidFill>
                  <a:srgbClr val="1E293B"/>
                </a:solidFill>
                <a:latin typeface="FangSong"/>
              </a:defRPr>
              <a:buChar char="•"/>
            </a:pPr>
            <a:r>
              <a:t>AI工具使用技巧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4046220"/>
            <a:ext cx="54864" cy="2446020"/>
          </a:xfrm>
          <a:prstGeom prst="rect">
            <a:avLst/>
          </a:prstGeom>
          <a:solidFill>
            <a:srgbClr val="C27C3E"/>
          </a:solidFill>
          <a:ln w="12700">
            <a:solidFill>
              <a:srgbClr val="C27C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3544" y="4046220"/>
            <a:ext cx="10536631" cy="11772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C27C3E"/>
                </a:solidFill>
                <a:latin typeface="FangSong"/>
              </a:defRPr>
            </a:pPr>
            <a:r>
              <a:t>关键区分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5314950"/>
            <a:ext cx="10536631" cy="11772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1E293B"/>
                </a:solidFill>
                <a:latin typeface="FangSong"/>
              </a:defRPr>
            </a:pPr>
            <a:r>
              <a:t>术是"怎么做"，道是"为什么这么做"</a:t>
            </a:r>
          </a:p>
          <a:p>
            <a:pPr algn="l">
              <a:defRPr sz="1400" b="0" i="0">
                <a:solidFill>
                  <a:srgbClr val="1E293B"/>
                </a:solidFill>
                <a:latin typeface="FangSong"/>
              </a:defRPr>
            </a:pPr>
            <a:r>
              <a:t>术随工具更新，道不会过时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par>
              <p:cTn id="3" fill="hold">
                <p:stCondLst>
                  <p:cond delay="0"/>
                </p:stCondLst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set>
                          <p:cBhvr>
                            <p:cTn id="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6" fill="hold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set>
                          <p:cBhvr>
                            <p:cTn id="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childTnLst>
              </p:cTn>
            </p:par>
            <p:seq concurrent="1" nextAc="seek">
              <p:cTn id="10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E293B"/>
                </a:solidFill>
                <a:latin typeface="FangSong"/>
              </a:defRPr>
            </a:pPr>
            <a:r>
              <a:t>小结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97280" cy="36576"/>
          </a:xfrm>
          <a:prstGeom prst="rect">
            <a:avLst/>
          </a:prstGeom>
          <a:solidFill>
            <a:srgbClr val="3B6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10728655" cy="822960"/>
          </a:xfrm>
          <a:prstGeom prst="roundRect">
            <a:avLst/>
          </a:prstGeom>
          <a:solidFill>
            <a:srgbClr val="3B6B9D"/>
          </a:solidFill>
          <a:ln w="12700">
            <a:solidFill>
              <a:srgbClr val="3B6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FangSong"/>
              </a:defRPr>
            </a:pPr>
            <a:r>
              <a:t>沟通摩擦的根源</a:t>
            </a:r>
            <a:br/>
            <a:r>
              <a:t>层级与受众不匹配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095847" y="2194560"/>
            <a:ext cx="0" cy="609600"/>
          </a:xfrm>
          <a:prstGeom prst="line">
            <a:avLst/>
          </a:prstGeom>
          <a:ln w="19050">
            <a:solidFill>
              <a:srgbClr val="3B6B9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731520" y="2804160"/>
            <a:ext cx="10728655" cy="822960"/>
          </a:xfrm>
          <a:prstGeom prst="roundRect">
            <a:avLst/>
          </a:prstGeom>
          <a:solidFill>
            <a:srgbClr val="64748B"/>
          </a:solidFill>
          <a:ln w="1270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FangSong"/>
              </a:defRPr>
            </a:pPr>
            <a:r>
              <a:t>区分术与道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095847" y="3627119"/>
            <a:ext cx="0" cy="609601"/>
          </a:xfrm>
          <a:prstGeom prst="line">
            <a:avLst/>
          </a:prstGeom>
          <a:ln w="19050">
            <a:solidFill>
              <a:srgbClr val="3B6B9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731520" y="4236720"/>
            <a:ext cx="10728655" cy="822960"/>
          </a:xfrm>
          <a:prstGeom prst="roundRect">
            <a:avLst/>
          </a:prstGeom>
          <a:solidFill>
            <a:srgbClr val="C27C3E"/>
          </a:solidFill>
          <a:ln w="12700">
            <a:solidFill>
              <a:srgbClr val="C27C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FangSong"/>
              </a:defRPr>
            </a:pPr>
            <a:r>
              <a:t>理解三层结构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095847" y="5059680"/>
            <a:ext cx="0" cy="609599"/>
          </a:xfrm>
          <a:prstGeom prst="line">
            <a:avLst/>
          </a:prstGeom>
          <a:ln w="19050">
            <a:solidFill>
              <a:srgbClr val="3B6B9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31520" y="5669279"/>
            <a:ext cx="10728655" cy="822960"/>
          </a:xfrm>
          <a:prstGeom prst="roundRect">
            <a:avLst/>
          </a:prstGeom>
          <a:solidFill>
            <a:srgbClr val="4A8B7F"/>
          </a:solidFill>
          <a:ln w="12700">
            <a:solidFill>
              <a:srgbClr val="4A8B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FangSong"/>
              </a:defRPr>
            </a:pPr>
            <a:r>
              <a:t>练习层间切换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0"/>
            <a:ext cx="1072865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1E293B"/>
                </a:solidFill>
                <a:latin typeface="FangSong"/>
              </a:defRPr>
            </a:pPr>
            <a:r>
              <a:t>谢谢</a:t>
            </a:r>
          </a:p>
        </p:txBody>
      </p:sp>
      <p:sp>
        <p:nvSpPr>
          <p:cNvPr id="3" name="Rectangle 2"/>
          <p:cNvSpPr/>
          <p:nvPr/>
        </p:nvSpPr>
        <p:spPr>
          <a:xfrm>
            <a:off x="5181447" y="3840480"/>
            <a:ext cx="1828800" cy="45720"/>
          </a:xfrm>
          <a:prstGeom prst="rect">
            <a:avLst/>
          </a:prstGeom>
          <a:solidFill>
            <a:srgbClr val="3B6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1148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>
                <a:solidFill>
                  <a:srgbClr val="64748B"/>
                </a:solidFill>
                <a:latin typeface="FangSong"/>
              </a:defRPr>
            </a:pPr>
            <a:r>
              <a:t>层间穿梭是值得刻意练习的研究元能力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