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FangSong"/>
              </a:defRPr>
            </a:pPr>
            <a:r>
              <a:t>减少沟通摩擦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383280"/>
            <a:ext cx="1828800" cy="4572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7B8FA3"/>
                </a:solidFill>
                <a:latin typeface="FangSong"/>
              </a:defRPr>
            </a:pPr>
            <a:r>
              <a:t>信息的三层结构与研究元能力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这些场景是否似曾相识？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2979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论文读起来逻辑清晰，但实际过程完全不同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3966"/>
            <a:ext cx="12979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初学者与高年级对话总是费劲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6332"/>
            <a:ext cx="12979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提问只说"不work"，得不到有效回复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8698"/>
            <a:ext cx="12979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组会讲了20分钟细节，听众不知道重点</a:t>
            </a:r>
          </a:p>
        </p:txBody>
      </p:sp>
      <p:pic>
        <p:nvPicPr>
          <p:cNvPr id="8" name="Picture 7" descr="tmphyq3w6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660" y="1371600"/>
            <a:ext cx="1645920" cy="1645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986783"/>
            <a:ext cx="54864" cy="1077722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986783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共同根源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491990"/>
            <a:ext cx="10536631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不是能力问题，不是态度问题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而是信息没有匹配接收方的 context 容量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模型：信息的三层结构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ipvijmj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834640"/>
            <a:ext cx="137160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BC4A6"/>
                </a:solidFill>
                <a:latin typeface="FangSong"/>
              </a:defRPr>
            </a:pPr>
            <a:r>
              <a:t>探索层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71596"/>
            <a:ext cx="137160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Notebook / 个人笔记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完整的实验过程与推理链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3931920"/>
            <a:ext cx="219456" cy="0"/>
          </a:xfrm>
          <a:prstGeom prst="line">
            <a:avLst/>
          </a:prstGeom>
          <a:ln w="19050">
            <a:solidFill>
              <a:srgbClr val="E2E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mpj8qs2x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576" y="137160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22576" y="2834640"/>
            <a:ext cx="137160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D8B8B"/>
                </a:solidFill>
                <a:latin typeface="FangSong"/>
              </a:defRPr>
            </a:pPr>
            <a:r>
              <a:t>协作层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3371596"/>
            <a:ext cx="137160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组会讨论 / 合作者消息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支撑决策的关键信息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94176" y="3931920"/>
            <a:ext cx="219456" cy="0"/>
          </a:xfrm>
          <a:prstGeom prst="line">
            <a:avLst/>
          </a:prstGeom>
          <a:ln w="19050">
            <a:solidFill>
              <a:srgbClr val="E2E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tmphkwplr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371600"/>
            <a:ext cx="13716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3632" y="2834640"/>
            <a:ext cx="137160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5A88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3371596"/>
            <a:ext cx="137160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论文 / Slides / Poster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面向外部读者的narrative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每层的特征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呈现层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协作层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探索层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受众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审稿人、读者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合作者、导师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自己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注意力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高（但会遗忘）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信息密度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极高压缩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聚焦决策点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保留推理链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载体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论文、slides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讨论记录、邮件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notebook、笔记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例子：基于LLM的自动程序修复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64592" cy="164592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2819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9025"/>
            <a:ext cx="767079" cy="210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尝试3种prompt策略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few-shot示例选择影响大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调tokenizer截断花两天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CoT对复杂bug引入噪声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8600" y="3931920"/>
            <a:ext cx="219456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18056" y="1371600"/>
            <a:ext cx="164592" cy="164592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55800" y="1371600"/>
            <a:ext cx="2819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8056" y="1859025"/>
            <a:ext cx="678180" cy="1665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few-shot最优，关键在示例选择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CoT对复杂bug帮助有限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下一步：自动选择相关示例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96236" y="3931920"/>
            <a:ext cx="219456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15692" y="1371600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3436" y="1371600"/>
            <a:ext cx="2819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692" y="1859025"/>
            <a:ext cx="881379" cy="1443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提出检索式few-shot APR框架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两个benchmark超过SOTA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摩擦力 = 层级错配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现象</a:t>
                      </a:r>
                    </a:p>
                  </a:txBody>
                  <a:tcPr>
                    <a:solidFill>
                      <a:srgbClr val="E880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层级错配分析</a:t>
                      </a:r>
                    </a:p>
                  </a:txBody>
                  <a:tcPr>
                    <a:solidFill>
                      <a:srgbClr val="E880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论文 ≠ 真实过程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呈现层是对探索层的极度压缩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初学者对话困难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探索层不扎实 → 协作层无料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提问缺乏context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只给呈现层描述，未暴露协作层信息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组会抓不住重点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探索层内容搬到呈现层场合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703320"/>
            <a:ext cx="54864" cy="855472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370332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本质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420852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信息的层级与接收方的期待不匹配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FangSong"/>
              </a:defRPr>
            </a:pPr>
            <a:r>
              <a:t>元能力：在三层之间自由切换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7B8FA3"/>
                </a:solidFill>
                <a:latin typeface="FangSong"/>
              </a:defRPr>
            </a:pPr>
            <a:r>
              <a:t>正向构建 × 逆向解构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两个方向的层间切换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34843"/>
            <a:ext cx="841248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正向构建：从探索到呈现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81527"/>
            <a:ext cx="592836" cy="749808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24356" y="3456432"/>
            <a:ext cx="475488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799844" y="3081527"/>
            <a:ext cx="592836" cy="749808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92680" y="3456432"/>
            <a:ext cx="475488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68168" y="3081527"/>
            <a:ext cx="592836" cy="749808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32504"/>
            <a:ext cx="841248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逆向解构：从呈现到探索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79188"/>
            <a:ext cx="592836" cy="749808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24356" y="5054092"/>
            <a:ext cx="475488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799844" y="4679188"/>
            <a:ext cx="592836" cy="749808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92680" y="5054092"/>
            <a:ext cx="475488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68168" y="4679188"/>
            <a:ext cx="592836" cy="749808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pic>
        <p:nvPicPr>
          <p:cNvPr id="16" name="Picture 15" descr="tmpkur6j0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0032" y="3154679"/>
            <a:ext cx="1554480" cy="1554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正向构建：两次压缩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1077722"/>
          </a:xfrm>
          <a:prstGeom prst="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662939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BC4A6"/>
                </a:solidFill>
                <a:latin typeface="FangSong"/>
              </a:defRPr>
            </a:pPr>
            <a:r>
              <a:t>探索 → 协作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76806"/>
            <a:ext cx="662939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提炼值得讨论的发现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和需要判断的决策点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6484" y="1910461"/>
            <a:ext cx="548640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35124" y="1371600"/>
            <a:ext cx="54864" cy="1077722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7148" y="1371600"/>
            <a:ext cx="535939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协作 → 呈现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7148" y="1876806"/>
            <a:ext cx="535939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构建对外部读者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自洽的叙事线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23642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不需要列举所有尝试，但需要说明判断依据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逆向解构：透过论文还原过程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论文："覆盖5种语言，1000个问题，评估8个LLM"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9686"/>
            <a:ext cx="10728655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为什么是这5种语言？可能其他语言数据收集困难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7112"/>
            <a:ext cx="10728655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1000个问题如何筛选？初始收集规模可能远大于此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34538"/>
            <a:ext cx="10728655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8个模型的选择标准？可能受限于API访问或算力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659124"/>
            <a:ext cx="54864" cy="855472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659124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4164330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更准确评估贡献 · 更好判断边界 · 更高效改进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熟练度的差异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819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5A88"/>
                </a:solidFill>
                <a:latin typeface="FangSong"/>
              </a:defRPr>
            </a:pPr>
            <a:r>
              <a:t>初学者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281940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探索层：零散、无记录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协作层：全倒或太少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呈现层：流水账或空洞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读论文：只看到呈现层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0660" y="1371600"/>
            <a:ext cx="4089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BC4A6"/>
                </a:solidFill>
                <a:latin typeface="FangSong"/>
              </a:defRPr>
            </a:pPr>
            <a:r>
              <a:t>熟练研究者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0660" y="2103120"/>
            <a:ext cx="408939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探索层：结构化记录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协作层：精准高效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呈现层：清晰有力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读论文：读出弦外之音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FangSong"/>
              </a:defRPr>
            </a:pPr>
            <a:r>
              <a:t>实践建议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7B8FA3"/>
                </a:solidFill>
                <a:latin typeface="FangSong"/>
              </a:defRPr>
            </a:pPr>
            <a:r>
              <a:t>从探索层到呈现层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维护探索层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855472"/>
          </a:xfrm>
          <a:prstGeom prst="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11201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BC4A6"/>
                </a:solidFill>
                <a:latin typeface="FangSong"/>
              </a:defRPr>
            </a:pPr>
            <a:r>
              <a:t>核心原则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76806"/>
            <a:ext cx="11201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以"两周后的自己能看懂"为标准记录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09952"/>
            <a:ext cx="1312164" cy="1443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做了什么：Defects4J + BM25检索few-shot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结果：plausible patch 18%→27%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分析：相似示例帮编译不帮语义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下一步：尝试AST结构相似性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36060"/>
            <a:ext cx="131216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关键：记录推理链，不只是记录操作</a:t>
            </a:r>
          </a:p>
        </p:txBody>
      </p:sp>
      <p:pic>
        <p:nvPicPr>
          <p:cNvPr id="9" name="Picture 8" descr="tmpipvijmj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444" y="1371600"/>
            <a:ext cx="18288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8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在协作层找到合适的粒度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463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需要对方帮助判断什么？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对方需要哪些信息才能判断？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哪些是自己应处理的执行细节？</a:t>
            </a:r>
          </a:p>
        </p:txBody>
      </p:sp>
      <p:pic>
        <p:nvPicPr>
          <p:cNvPr id="5" name="Picture 4" descr="tmpj8qs2x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660" y="1371600"/>
            <a:ext cx="1645920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3246120"/>
            <a:ext cx="54864" cy="1077722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246120"/>
            <a:ext cx="17043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信息过载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751326"/>
            <a:ext cx="170434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试了BM25、TF-IDF、CodeBERT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top-k试了1、3、5、10……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902203" y="3246120"/>
            <a:ext cx="54864" cy="1077722"/>
          </a:xfrm>
          <a:prstGeom prst="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4227" y="3246120"/>
            <a:ext cx="16789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聚焦决策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4227" y="3751326"/>
            <a:ext cx="167894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三种策略对比，BM25和CodeBERT接近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倾向BM25，是否值得混合方案？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呈现层构建 与 逆向解构练习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408939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构建呈现层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9025"/>
            <a:ext cx="646683" cy="153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先结论后过程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只保留支撑结论的证据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时间线重构是正常的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5404" y="1371600"/>
            <a:ext cx="164592" cy="164592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73148" y="1371600"/>
            <a:ext cx="3454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逆向解构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5404" y="1859025"/>
            <a:ext cx="583183" cy="1824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作者呈现了什么？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为什么是这个叙事？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哪些实验没写进论文？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AI时代下的三层模型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evnx71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697480"/>
            <a:ext cx="118872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AI可辅助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80156"/>
            <a:ext cx="118872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探索层的执行细节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呈现层的格式范式</a:t>
            </a:r>
          </a:p>
        </p:txBody>
      </p:sp>
      <p:pic>
        <p:nvPicPr>
          <p:cNvPr id="7" name="Picture 6" descr="tmpeli9cgw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371600"/>
            <a:ext cx="118872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2697480"/>
            <a:ext cx="118872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人不可替代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280156"/>
            <a:ext cx="118872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协作层的信息凝练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层间穿梭的判断力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26991"/>
            <a:ext cx="54864" cy="1077722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126991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为什么协作层不能交给AI？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4632198"/>
            <a:ext cx="10536631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从探索到协作的压缩，本质上是在验证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自己是否真正理解了所做的事情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人的核心能力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1077722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9804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层间穿梭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76806"/>
            <a:ext cx="98044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正向：从探索中提炼结构化理解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逆向：从呈现中还原决策过程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77922"/>
            <a:ext cx="1172464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工具会不断迭代</a:t>
            </a:r>
          </a:p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但对信息结构的理解与掌控不会过时</a:t>
            </a:r>
          </a:p>
        </p:txBody>
      </p:sp>
      <p:pic>
        <p:nvPicPr>
          <p:cNvPr id="8" name="Picture 7" descr="tmpkur6j0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184" y="1371600"/>
            <a:ext cx="256032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术与道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1549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3306"/>
            <a:ext cx="392684" cy="1387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理解信息的三层结构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掌握层间穿梭的能力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判断何时在哪层操作</a:t>
            </a:r>
          </a:p>
        </p:txBody>
      </p:sp>
      <p:pic>
        <p:nvPicPr>
          <p:cNvPr id="7" name="Picture 6" descr="tmp7g679y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524" y="1371600"/>
            <a:ext cx="182880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501644" y="1371600"/>
            <a:ext cx="164592" cy="164592"/>
          </a:xfrm>
          <a:prstGeom prst="roundRect">
            <a:avLst/>
          </a:prstGeom>
          <a:solidFill>
            <a:srgbClr val="7B8FA3"/>
          </a:solidFill>
          <a:ln w="12700">
            <a:solidFill>
              <a:srgbClr val="7B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388" y="1371600"/>
            <a:ext cx="15494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644" y="1813306"/>
            <a:ext cx="392684" cy="1387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实验记录模板与工具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组会汇报准备流程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论文写作结构范式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AI工具使用技巧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429000"/>
            <a:ext cx="54864" cy="1077722"/>
          </a:xfrm>
          <a:prstGeom prst="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42900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关键区分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934206"/>
            <a:ext cx="10536631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术是"怎么做"，道是"为什么这么做"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术随工具更新，道不会过时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22960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沟通摩擦的根源</a:t>
            </a:r>
            <a:br/>
            <a:r>
              <a:t>层级与受众不匹配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5847" y="2194560"/>
            <a:ext cx="0" cy="274319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468879"/>
            <a:ext cx="10728655" cy="822960"/>
          </a:xfrm>
          <a:prstGeom prst="roundRect">
            <a:avLst/>
          </a:prstGeom>
          <a:solidFill>
            <a:srgbClr val="7B8FA3"/>
          </a:solidFill>
          <a:ln w="12700">
            <a:solidFill>
              <a:srgbClr val="7B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区分术与道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3291839"/>
            <a:ext cx="0" cy="274321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3566160"/>
            <a:ext cx="10728655" cy="822960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理解三层结构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4389120"/>
            <a:ext cx="0" cy="274320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4663440"/>
            <a:ext cx="10728655" cy="822960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练习层间切换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FangSong"/>
              </a:defRPr>
            </a:pPr>
            <a:r>
              <a:t>谢谢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840480"/>
            <a:ext cx="1828800" cy="4572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7B8FA3"/>
                </a:solidFill>
                <a:latin typeface="FangSong"/>
              </a:defRPr>
            </a:pPr>
            <a:r>
              <a:t>层间穿梭是值得刻意练习的研究元能力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