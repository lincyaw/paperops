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FangSong"/>
              </a:defRPr>
            </a:pPr>
            <a:r>
              <a:t>减少沟通摩擦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383280"/>
            <a:ext cx="1828800" cy="4572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7B8FA3"/>
                </a:solidFill>
                <a:latin typeface="FangSong"/>
              </a:defRPr>
            </a:pPr>
            <a:r>
              <a:t>信息的三层结构与研究元能力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这些场景是否似曾相识？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625535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论文读起来逻辑清晰，但实际过程完全不同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34540"/>
            <a:ext cx="8625535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初学者与高年级对话总是费劲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625535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提问只说"不work"，得不到有效回复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60420"/>
            <a:ext cx="8625535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C3E50"/>
                </a:solidFill>
                <a:latin typeface="FangSong"/>
              </a:defRPr>
            </a:pPr>
            <a:r>
              <a:t>组会讲了20分钟细节，听众不知道重点</a:t>
            </a:r>
          </a:p>
        </p:txBody>
      </p:sp>
      <p:pic>
        <p:nvPicPr>
          <p:cNvPr id="8" name="Picture 7" descr="tmpar7kn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1760219"/>
            <a:ext cx="1645920" cy="16459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4069079"/>
            <a:ext cx="54864" cy="2423160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690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共同根源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3263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不是能力问题，不是态度问题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而是信息没有匹配接收方的 context 容量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模型：信息的三层结构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z1_ymq4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" y="137160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834640"/>
            <a:ext cx="2057948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BC4A6"/>
                </a:solidFill>
                <a:latin typeface="FangSong"/>
              </a:defRPr>
            </a:pPr>
            <a:r>
              <a:t>探索层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09160"/>
            <a:ext cx="2057948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Notebook / 个人笔记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完整的实验过程与推理链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89468" y="3931920"/>
            <a:ext cx="2277405" cy="0"/>
          </a:xfrm>
          <a:prstGeom prst="line">
            <a:avLst/>
          </a:prstGeom>
          <a:ln w="19050">
            <a:solidFill>
              <a:srgbClr val="E2E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mpyh77ad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137160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66873" y="2834640"/>
            <a:ext cx="2057948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D8B8B"/>
                </a:solidFill>
                <a:latin typeface="FangSong"/>
              </a:defRPr>
            </a:pPr>
            <a:r>
              <a:t>协作层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6873" y="4709160"/>
            <a:ext cx="2057948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组会讨论 / 合作者消息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支撑决策的关键信息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4821" y="3931920"/>
            <a:ext cx="2277405" cy="0"/>
          </a:xfrm>
          <a:prstGeom prst="line">
            <a:avLst/>
          </a:prstGeom>
          <a:ln w="19050">
            <a:solidFill>
              <a:srgbClr val="E2E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tmp03gj_bh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5400" y="1371600"/>
            <a:ext cx="137160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02226" y="2834640"/>
            <a:ext cx="2057948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5A88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2226" y="4709160"/>
            <a:ext cx="2057948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论文 / Slides / Poster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面向外部读者的narrative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每层的特征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</a:p>
                  </a:txBody>
                  <a:tcPr>
                    <a:solidFill>
                      <a:srgbClr val="2E5A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呈现层</a:t>
                      </a:r>
                    </a:p>
                  </a:txBody>
                  <a:tcPr>
                    <a:solidFill>
                      <a:srgbClr val="2E5A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协作层</a:t>
                      </a:r>
                    </a:p>
                  </a:txBody>
                  <a:tcPr>
                    <a:solidFill>
                      <a:srgbClr val="2E5A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探索层</a:t>
                      </a:r>
                    </a:p>
                  </a:txBody>
                  <a:tcPr>
                    <a:solidFill>
                      <a:srgbClr val="2E5A88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受众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审稿人、读者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合作者、导师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自己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注意力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高（但会遗忘）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信息密度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极高压缩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聚焦决策点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保留推理链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载体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论文、slides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讨论记录、邮件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notebook、笔记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例子：基于LLM的自动程序修复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535174"/>
            <a:ext cx="164592" cy="164592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371600"/>
            <a:ext cx="1820204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探索层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00500"/>
            <a:ext cx="2057948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尝试3种prompt策略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few-shot示例选择影响大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调tokenizer截断花两天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CoT对复杂bug引入噪声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89468" y="3931920"/>
            <a:ext cx="2277405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66873" y="2535174"/>
            <a:ext cx="164592" cy="164592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4617" y="1371600"/>
            <a:ext cx="1820204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协作层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6873" y="4000500"/>
            <a:ext cx="2057948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few-shot最优，关键在示例选择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CoT对复杂bug帮助有限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下一步：自动选择相关示例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4821" y="3931920"/>
            <a:ext cx="2277405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402226" y="2535174"/>
            <a:ext cx="164592" cy="164592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39970" y="1371600"/>
            <a:ext cx="1820204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2226" y="4000500"/>
            <a:ext cx="2057948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提出检索式few-shot APR框架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两个benchmark超过SOTA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摩擦力 = 层级错配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8463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现象</a:t>
                      </a:r>
                    </a:p>
                  </a:txBody>
                  <a:tcPr>
                    <a:solidFill>
                      <a:srgbClr val="E880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层级错配分析</a:t>
                      </a:r>
                    </a:p>
                  </a:txBody>
                  <a:tcPr>
                    <a:solidFill>
                      <a:srgbClr val="E8805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论文 ≠ 真实过程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呈现层是对探索层的极度压缩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初学者对话困难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探索层不扎实 → 协作层无料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提问缺乏context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只给呈现层描述，未暴露协作层信息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组会抓不住重点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  <a:latin typeface="FangSong"/>
                        </a:defRPr>
                      </a:pPr>
                      <a:r>
                        <a:t>探索层内容搬到呈现层场合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4069079"/>
            <a:ext cx="54864" cy="2423160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40690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本质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53263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信息的层级与接收方的期待不匹配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FangSong"/>
              </a:defRPr>
            </a:pPr>
            <a:r>
              <a:t>元能力：在三层之间自由切换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7B8FA3"/>
                </a:solidFill>
                <a:latin typeface="FangSong"/>
              </a:defRPr>
            </a:pPr>
            <a:r>
              <a:t>正向构建 × 逆向解构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两个方向的层间切换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534095" cy="110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正向构建：从探索到呈现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08910"/>
            <a:ext cx="1597091" cy="1108710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C3E50"/>
                </a:solidFill>
                <a:latin typeface="FangSong"/>
              </a:defRPr>
            </a:pPr>
            <a:r>
              <a:t>探索层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28611" y="3263264"/>
            <a:ext cx="1871411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200022" y="2708910"/>
            <a:ext cx="1597091" cy="1108710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C3E50"/>
                </a:solidFill>
                <a:latin typeface="FangSong"/>
              </a:defRPr>
            </a:pPr>
            <a:r>
              <a:t>协作层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97113" y="3263264"/>
            <a:ext cx="1871411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668524" y="2708910"/>
            <a:ext cx="1597091" cy="1108710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C3E50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46220"/>
            <a:ext cx="8534095" cy="110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逆向解构：从呈现到探索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83529"/>
            <a:ext cx="1597091" cy="1108710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C3E50"/>
                </a:solidFill>
                <a:latin typeface="FangSong"/>
              </a:defRPr>
            </a:pPr>
            <a:r>
              <a:t>呈现层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28611" y="5937884"/>
            <a:ext cx="1871411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00022" y="5383529"/>
            <a:ext cx="1597091" cy="1108710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C3E50"/>
                </a:solidFill>
                <a:latin typeface="FangSong"/>
              </a:defRPr>
            </a:pPr>
            <a:r>
              <a:t>协作层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97113" y="5937884"/>
            <a:ext cx="1871411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68524" y="5383529"/>
            <a:ext cx="1597091" cy="1108710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C3E50"/>
                </a:solidFill>
                <a:latin typeface="FangSong"/>
              </a:defRPr>
            </a:pPr>
            <a:r>
              <a:t>探索层</a:t>
            </a:r>
          </a:p>
        </p:txBody>
      </p:sp>
      <p:pic>
        <p:nvPicPr>
          <p:cNvPr id="16" name="Picture 15" descr="tmptkz4agj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3017520"/>
            <a:ext cx="18288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正向构建：两次压缩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2423160"/>
          </a:xfrm>
          <a:prstGeom prst="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3201314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BC4A6"/>
                </a:solidFill>
                <a:latin typeface="FangSong"/>
              </a:defRPr>
            </a:pPr>
            <a:r>
              <a:t>探索 → 协作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628900"/>
            <a:ext cx="3201314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提炼值得讨论的发现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和需要判断的决策点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24858" y="2583180"/>
            <a:ext cx="3941978" cy="0"/>
          </a:xfrm>
          <a:prstGeom prst="line">
            <a:avLst/>
          </a:prstGeom>
          <a:ln w="1905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066836" y="1371600"/>
            <a:ext cx="54864" cy="2423160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8860" y="1371600"/>
            <a:ext cx="3201314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5A88"/>
                </a:solidFill>
                <a:latin typeface="FangSong"/>
              </a:defRPr>
            </a:pPr>
            <a:r>
              <a:t>协作 → 呈现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8860" y="2628900"/>
            <a:ext cx="3201314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构建对外部读者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自洽的叙事线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79"/>
            <a:ext cx="10728655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不需要列举所有尝试，但需要说明判断依据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逆向解构：透过论文还原过程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论文："覆盖5种语言，1000个问题，评估8个LLM"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69920"/>
            <a:ext cx="10728655" cy="41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为什么是这5种语言？可能其他语言数据收集困难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23639"/>
            <a:ext cx="10728655" cy="41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1000个问题如何筛选？初始收集规模可能远大于此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77359"/>
            <a:ext cx="10728655" cy="41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8个模型的选择标准？可能受限于API访问或算力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68240"/>
            <a:ext cx="54864" cy="1524000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4968240"/>
            <a:ext cx="10536631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5A88"/>
                </a:solidFill>
                <a:latin typeface="FangSong"/>
              </a:defRPr>
            </a:pPr>
            <a:r>
              <a:t>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5775960"/>
            <a:ext cx="10536631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更准确评估贡献 · 更好判断边界 · 更高效改进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熟练度的差异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5A88"/>
                </a:solidFill>
                <a:latin typeface="FangSong"/>
              </a:defRPr>
            </a:pPr>
            <a:r>
              <a:t>初学者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135727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探索层：零散、无记录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协作层：全倒或太少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呈现层：流水账或空洞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读论文：只看到呈现层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BC4A6"/>
                </a:solidFill>
                <a:latin typeface="FangSong"/>
              </a:defRPr>
            </a:pPr>
            <a:r>
              <a:t>熟练研究者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03120"/>
            <a:ext cx="5135727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探索层：结构化记录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协作层：精准高效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呈现层：清晰有力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读论文：读出弦外之音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FangSong"/>
              </a:defRPr>
            </a:pPr>
            <a:r>
              <a:t>实践建议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7B8FA3"/>
                </a:solidFill>
                <a:latin typeface="FangSong"/>
              </a:defRPr>
            </a:pPr>
            <a:r>
              <a:t>从探索层到呈现层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维护探索层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1584959"/>
          </a:xfrm>
          <a:prstGeom prst="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8342071" cy="746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BC4A6"/>
                </a:solidFill>
                <a:latin typeface="FangSong"/>
              </a:defRPr>
            </a:pPr>
            <a:r>
              <a:t>核心原则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209800"/>
            <a:ext cx="8342071" cy="746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以"两周后的自己能看懂"为标准记录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39440"/>
            <a:ext cx="8534095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做了什么：Defects4J + BM25检索few-shot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结果：plausible patch 18%→27%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分析：相似示例帮编译不帮语义</a:t>
            </a:r>
          </a:p>
          <a:p>
            <a:pPr>
              <a:defRPr sz="14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下一步：尝试AST结构相似性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07280"/>
            <a:ext cx="8534095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D8B8B"/>
                </a:solidFill>
                <a:latin typeface="FangSong"/>
              </a:defRPr>
            </a:pPr>
            <a:r>
              <a:t>关键：记录推理链，不只是记录操作</a:t>
            </a:r>
          </a:p>
        </p:txBody>
      </p:sp>
      <p:pic>
        <p:nvPicPr>
          <p:cNvPr id="9" name="Picture 8" descr="tmpz1_ymq4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3017520"/>
            <a:ext cx="182880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8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在协作层找到合适的粒度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716975" cy="244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需要对方帮助判断什么？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对方需要哪些信息才能判断？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哪些是自己应处理的执行细节？</a:t>
            </a:r>
          </a:p>
        </p:txBody>
      </p:sp>
      <p:pic>
        <p:nvPicPr>
          <p:cNvPr id="5" name="Picture 4" descr="tmpyh77ad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1771650"/>
            <a:ext cx="1645920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4046220"/>
            <a:ext cx="54864" cy="2446020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4046220"/>
            <a:ext cx="5035143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信息过载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5314950"/>
            <a:ext cx="5035143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试了BM25、TF-IDF、CodeBERT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top-k试了1、3、5、10……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046220"/>
            <a:ext cx="54864" cy="2446020"/>
          </a:xfrm>
          <a:prstGeom prst="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5031" y="4046220"/>
            <a:ext cx="5035143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D8B8B"/>
                </a:solidFill>
                <a:latin typeface="FangSong"/>
              </a:defRPr>
            </a:pPr>
            <a:r>
              <a:t>聚焦决策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5031" y="5314950"/>
            <a:ext cx="5035143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三种策略对比，BM25和CodeBERT接近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倾向BM25，是否值得混合方案？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呈现层构建 与 逆向解构练习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535174"/>
            <a:ext cx="164592" cy="164592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371600"/>
            <a:ext cx="4897983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构建呈现层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00500"/>
            <a:ext cx="5135727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先结论后过程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只保留支撑结论的证据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时间线重构是正常的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535174"/>
            <a:ext cx="164592" cy="164592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2191" y="1371600"/>
            <a:ext cx="4897983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逆向解构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4000500"/>
            <a:ext cx="5135727" cy="2491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作者呈现了什么？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为什么是这个叙事？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哪些实验没写进论文？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AI时代下的三层模型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cw9h_o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3" y="137160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697480"/>
            <a:ext cx="4998567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AI可辅助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4700"/>
            <a:ext cx="4998567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探索层的执行细节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呈现层的格式范式</a:t>
            </a:r>
          </a:p>
        </p:txBody>
      </p:sp>
      <p:pic>
        <p:nvPicPr>
          <p:cNvPr id="7" name="Picture 6" descr="tmproqhgz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531" y="1371600"/>
            <a:ext cx="1188720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61607" y="2697480"/>
            <a:ext cx="4998567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C3E50"/>
                </a:solidFill>
                <a:latin typeface="FangSong"/>
              </a:defRPr>
            </a:pPr>
            <a:r>
              <a:t>人不可替代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1607" y="3314700"/>
            <a:ext cx="4998567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协作层的信息凝练</a:t>
            </a:r>
          </a:p>
          <a:p>
            <a:pPr algn="l">
              <a:defRPr sz="1400" b="0" i="0">
                <a:solidFill>
                  <a:srgbClr val="7B8FA3"/>
                </a:solidFill>
                <a:latin typeface="FangSong"/>
              </a:defRPr>
            </a:pPr>
            <a:r>
              <a:t>层间穿梭的判断力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69079"/>
            <a:ext cx="54864" cy="2423160"/>
          </a:xfrm>
          <a:prstGeom prst="rect">
            <a:avLst/>
          </a:prstGeom>
          <a:solidFill>
            <a:srgbClr val="E8805C"/>
          </a:solidFill>
          <a:ln w="12700">
            <a:solidFill>
              <a:srgbClr val="E88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0690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805C"/>
                </a:solidFill>
                <a:latin typeface="FangSong"/>
              </a:defRPr>
            </a:pPr>
            <a:r>
              <a:t>为什么协作层不能交给AI？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263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从探索到协作的压缩，本质上是在验证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自己是否真正理解了所做的事情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人的核心能力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2446020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751911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5A88"/>
                </a:solidFill>
                <a:latin typeface="FangSong"/>
              </a:defRPr>
            </a:pPr>
            <a:r>
              <a:t>层间穿梭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640330"/>
            <a:ext cx="751911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正向：从探索中提炼结构化理解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逆向：从呈现中还原决策过程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46220"/>
            <a:ext cx="7711135" cy="244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工具会不断迭代</a:t>
            </a:r>
          </a:p>
          <a:p>
            <a:pPr algn="l">
              <a:defRPr sz="1800" b="0" i="1">
                <a:solidFill>
                  <a:srgbClr val="7B8FA3"/>
                </a:solidFill>
                <a:latin typeface="FangSong"/>
              </a:defRPr>
            </a:pPr>
            <a:r>
              <a:t>但对信息结构的理解与掌控不会过时</a:t>
            </a:r>
          </a:p>
        </p:txBody>
      </p:sp>
      <p:pic>
        <p:nvPicPr>
          <p:cNvPr id="8" name="Picture 7" descr="tmptkz4agj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855" y="2651760"/>
            <a:ext cx="2560320" cy="2560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术与道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77949"/>
            <a:ext cx="164592" cy="164592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371600"/>
            <a:ext cx="3937863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40330"/>
            <a:ext cx="4175607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理解信息的三层结构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掌握层间穿梭的能力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判断何时在哪层操作</a:t>
            </a:r>
          </a:p>
        </p:txBody>
      </p:sp>
      <p:pic>
        <p:nvPicPr>
          <p:cNvPr id="7" name="Picture 6" descr="tmpry3cf57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447" y="1680210"/>
            <a:ext cx="1828800" cy="1828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84567" y="1877949"/>
            <a:ext cx="164592" cy="164592"/>
          </a:xfrm>
          <a:prstGeom prst="roundRect">
            <a:avLst/>
          </a:prstGeom>
          <a:solidFill>
            <a:srgbClr val="7B8FA3"/>
          </a:solidFill>
          <a:ln w="12700">
            <a:solidFill>
              <a:srgbClr val="7B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22311" y="1371600"/>
            <a:ext cx="3937863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C3E50"/>
                </a:solidFill>
                <a:latin typeface="FangSong"/>
              </a:defRPr>
            </a:pPr>
            <a:r>
              <a:t>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4567" y="2640330"/>
            <a:ext cx="4175607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实验记录模板与工具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组会汇报准备流程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论文写作结构范式</a:t>
            </a:r>
          </a:p>
          <a:p>
            <a:pPr>
              <a:defRPr sz="1800">
                <a:solidFill>
                  <a:srgbClr val="2C3E50"/>
                </a:solidFill>
                <a:latin typeface="FangSong"/>
              </a:defRPr>
              <a:buChar char="•"/>
            </a:pPr>
            <a:r>
              <a:t>AI工具使用技巧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46220"/>
            <a:ext cx="54864" cy="2446020"/>
          </a:xfrm>
          <a:prstGeom prst="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04622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D8B8B"/>
                </a:solidFill>
                <a:latin typeface="FangSong"/>
              </a:defRPr>
            </a:pPr>
            <a:r>
              <a:t>关键区分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31495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术是"怎么做"，道是"为什么这么做"</a:t>
            </a:r>
          </a:p>
          <a:p>
            <a:pPr algn="l">
              <a:defRPr sz="1400" b="0" i="0">
                <a:solidFill>
                  <a:srgbClr val="2C3E50"/>
                </a:solidFill>
                <a:latin typeface="FangSong"/>
              </a:defRPr>
            </a:pPr>
            <a:r>
              <a:t>术随工具更新，道不会过时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FangSong"/>
              </a:defRPr>
            </a:pPr>
            <a: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822960"/>
          </a:xfrm>
          <a:prstGeom prst="roundRect">
            <a:avLst/>
          </a:prstGeom>
          <a:solidFill>
            <a:srgbClr val="2E5A88"/>
          </a:solidFill>
          <a:ln w="12700">
            <a:solidFill>
              <a:srgbClr val="2E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沟通摩擦的根源</a:t>
            </a:r>
            <a:br/>
            <a:r>
              <a:t>层级与受众不匹配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5847" y="2194560"/>
            <a:ext cx="0" cy="609600"/>
          </a:xfrm>
          <a:prstGeom prst="line">
            <a:avLst/>
          </a:prstGeom>
          <a:ln w="19050">
            <a:solidFill>
              <a:srgbClr val="2E5A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804160"/>
            <a:ext cx="10728655" cy="822960"/>
          </a:xfrm>
          <a:prstGeom prst="roundRect">
            <a:avLst/>
          </a:prstGeom>
          <a:solidFill>
            <a:srgbClr val="7B8FA3"/>
          </a:solidFill>
          <a:ln w="12700">
            <a:solidFill>
              <a:srgbClr val="7B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区分术与道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3627119"/>
            <a:ext cx="0" cy="609601"/>
          </a:xfrm>
          <a:prstGeom prst="line">
            <a:avLst/>
          </a:prstGeom>
          <a:ln w="19050">
            <a:solidFill>
              <a:srgbClr val="2E5A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4236720"/>
            <a:ext cx="10728655" cy="822960"/>
          </a:xfrm>
          <a:prstGeom prst="roundRect">
            <a:avLst/>
          </a:prstGeom>
          <a:solidFill>
            <a:srgbClr val="3D8B8B"/>
          </a:solidFill>
          <a:ln w="12700">
            <a:solidFill>
              <a:srgbClr val="3D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理解三层结构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5059680"/>
            <a:ext cx="0" cy="609599"/>
          </a:xfrm>
          <a:prstGeom prst="line">
            <a:avLst/>
          </a:prstGeom>
          <a:ln w="19050">
            <a:solidFill>
              <a:srgbClr val="2E5A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5669279"/>
            <a:ext cx="10728655" cy="822960"/>
          </a:xfrm>
          <a:prstGeom prst="roundRect">
            <a:avLst/>
          </a:prstGeom>
          <a:solidFill>
            <a:srgbClr val="6BC4A6"/>
          </a:solidFill>
          <a:ln w="12700">
            <a:solidFill>
              <a:srgbClr val="6BC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练习层间切换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FangSong"/>
              </a:defRPr>
            </a:pPr>
            <a:r>
              <a:t>谢谢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840480"/>
            <a:ext cx="1828800" cy="4572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7B8FA3"/>
                </a:solidFill>
                <a:latin typeface="FangSong"/>
              </a:defRPr>
            </a:pPr>
            <a:r>
              <a:t>层间穿梭是值得刻意练习的研究元能力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